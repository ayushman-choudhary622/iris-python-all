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3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7403-07CB-9DA0-A9A6-E5D95AF8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>
            <a:extLst>
              <a:ext uri="{FF2B5EF4-FFF2-40B4-BE49-F238E27FC236}">
                <a16:creationId xmlns:a16="http://schemas.microsoft.com/office/drawing/2014/main" id="{5F8CDA4D-BD65-2AE5-73F2-4AAED95FB9B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!!prog_track">
            <a:extLst>
              <a:ext uri="{FF2B5EF4-FFF2-40B4-BE49-F238E27FC236}">
                <a16:creationId xmlns:a16="http://schemas.microsoft.com/office/drawing/2014/main" id="{B2573417-1846-5F37-857B-4F5BEF6C1999}"/>
              </a:ext>
            </a:extLst>
          </p:cNvPr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>
            <a:extLst>
              <a:ext uri="{FF2B5EF4-FFF2-40B4-BE49-F238E27FC236}">
                <a16:creationId xmlns:a16="http://schemas.microsoft.com/office/drawing/2014/main" id="{4DEFBC54-C9C7-227D-9D68-ADDA7E1EB045}"/>
              </a:ext>
            </a:extLst>
          </p:cNvPr>
          <p:cNvSpPr/>
          <p:nvPr/>
        </p:nvSpPr>
        <p:spPr>
          <a:xfrm>
            <a:off x="411480" y="6656832"/>
            <a:ext cx="405928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!!hero_center_card">
            <a:extLst>
              <a:ext uri="{FF2B5EF4-FFF2-40B4-BE49-F238E27FC236}">
                <a16:creationId xmlns:a16="http://schemas.microsoft.com/office/drawing/2014/main" id="{1D3D3669-7D31-F6E9-9160-7BE54EB9A227}"/>
              </a:ext>
            </a:extLst>
          </p:cNvPr>
          <p:cNvSpPr/>
          <p:nvPr/>
        </p:nvSpPr>
        <p:spPr>
          <a:xfrm>
            <a:off x="411480" y="506068"/>
            <a:ext cx="11365992" cy="57466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_hero_big_iris">
            <a:extLst>
              <a:ext uri="{FF2B5EF4-FFF2-40B4-BE49-F238E27FC236}">
                <a16:creationId xmlns:a16="http://schemas.microsoft.com/office/drawing/2014/main" id="{D7D1AD02-4154-81E0-FAE5-0F30F30DDAB9}"/>
              </a:ext>
            </a:extLst>
          </p:cNvPr>
          <p:cNvSpPr txBox="1"/>
          <p:nvPr/>
        </p:nvSpPr>
        <p:spPr>
          <a:xfrm>
            <a:off x="1828800" y="1228846"/>
            <a:ext cx="8049718" cy="445352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700" b="1" dirty="0">
                <a:solidFill>
                  <a:srgbClr val="F8FAFF"/>
                </a:solidFill>
                <a:latin typeface="Inter"/>
              </a:rPr>
              <a:t>IRIS</a:t>
            </a:r>
          </a:p>
        </p:txBody>
      </p:sp>
    </p:spTree>
    <p:extLst>
      <p:ext uri="{BB962C8B-B14F-4D97-AF65-F5344CB8AC3E}">
        <p14:creationId xmlns:p14="http://schemas.microsoft.com/office/powerpoint/2010/main" val="2426005656"/>
      </p:ext>
    </p:extLst>
  </p:cSld>
  <p:clrMapOvr>
    <a:masterClrMapping/>
  </p:clrMapOvr>
  <p:transition spd="med" advTm="9000">
    <p:circl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01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HERO LAUNCH  ·  HANDS-FREE ASSISTIVE INTERFACE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0:00 – 0:09   [01/28]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405928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!!hero_center_card"/>
          <p:cNvSpPr/>
          <p:nvPr/>
        </p:nvSpPr>
        <p:spPr>
          <a:xfrm>
            <a:off x="1508760" y="1051560"/>
            <a:ext cx="9171432" cy="502920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nim_hero_kicker"/>
          <p:cNvSpPr/>
          <p:nvPr/>
        </p:nvSpPr>
        <p:spPr>
          <a:xfrm>
            <a:off x="4251960" y="1371600"/>
            <a:ext cx="3685032" cy="402336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142640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nim_hero_kicker_t"/>
          <p:cNvSpPr txBox="1"/>
          <p:nvPr/>
        </p:nvSpPr>
        <p:spPr>
          <a:xfrm>
            <a:off x="4297680" y="1399032"/>
            <a:ext cx="3593592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B800"/>
                </a:solidFill>
                <a:latin typeface="Inter"/>
              </a:rPr>
              <a:t>INFRARED REFLECTIVE INTERFACE SYSTEM</a:t>
            </a:r>
          </a:p>
        </p:txBody>
      </p:sp>
      <p:sp>
        <p:nvSpPr>
          <p:cNvPr id="15" name="anim_hero_big_iris"/>
          <p:cNvSpPr txBox="1"/>
          <p:nvPr/>
        </p:nvSpPr>
        <p:spPr>
          <a:xfrm>
            <a:off x="1828800" y="1874519"/>
            <a:ext cx="8531352" cy="1417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800" b="1">
                <a:solidFill>
                  <a:srgbClr val="F8FAFF"/>
                </a:solidFill>
                <a:latin typeface="Inter"/>
              </a:rPr>
              <a:t>IRIS</a:t>
            </a:r>
          </a:p>
        </p:txBody>
      </p:sp>
      <p:sp>
        <p:nvSpPr>
          <p:cNvPr id="16" name="anim_hero_sub_line"/>
          <p:cNvSpPr txBox="1"/>
          <p:nvPr/>
        </p:nvSpPr>
        <p:spPr>
          <a:xfrm>
            <a:off x="1828800" y="3337560"/>
            <a:ext cx="8531352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00E5FF"/>
                </a:solidFill>
                <a:latin typeface="Inter"/>
              </a:rPr>
              <a:t>A Tilt Becomes a Cursor.   A Blink Becomes a Click.</a:t>
            </a:r>
          </a:p>
        </p:txBody>
      </p:sp>
      <p:sp>
        <p:nvSpPr>
          <p:cNvPr id="17" name="!!hpill_2.15"/>
          <p:cNvSpPr/>
          <p:nvPr/>
        </p:nvSpPr>
        <p:spPr>
          <a:xfrm>
            <a:off x="1965960" y="4343400"/>
            <a:ext cx="2468880" cy="1325880"/>
          </a:xfrm>
          <a:prstGeom prst="round2DiagRect">
            <a:avLst>
              <a:gd name="adj1" fmla="val 8000"/>
              <a:gd name="adj2" fmla="val 0"/>
            </a:avLst>
          </a:prstGeom>
          <a:solidFill>
            <a:srgbClr val="0C1321"/>
          </a:solidFill>
          <a:ln w="2286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nim_hpill_t_2.15"/>
          <p:cNvSpPr txBox="1"/>
          <p:nvPr/>
        </p:nvSpPr>
        <p:spPr>
          <a:xfrm>
            <a:off x="2075688" y="4480560"/>
            <a:ext cx="2249424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00E676"/>
                </a:solidFill>
                <a:latin typeface="Inter"/>
              </a:rPr>
              <a:t>₹885 BUILD COST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F8FAFF"/>
                </a:solidFill>
                <a:latin typeface="Inter"/>
              </a:rPr>
              <a:t>99.96% Cheaper</a:t>
            </a:r>
          </a:p>
        </p:txBody>
      </p:sp>
      <p:sp>
        <p:nvSpPr>
          <p:cNvPr id="19" name="!!hpill_5.3"/>
          <p:cNvSpPr/>
          <p:nvPr/>
        </p:nvSpPr>
        <p:spPr>
          <a:xfrm>
            <a:off x="4846320" y="4343400"/>
            <a:ext cx="2468880" cy="1325880"/>
          </a:xfrm>
          <a:prstGeom prst="round2DiagRect">
            <a:avLst>
              <a:gd name="adj1" fmla="val 8000"/>
              <a:gd name="adj2" fmla="val 0"/>
            </a:avLst>
          </a:prstGeom>
          <a:solidFill>
            <a:srgbClr val="0C1321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_hpill_t_5.3"/>
          <p:cNvSpPr txBox="1"/>
          <p:nvPr/>
        </p:nvSpPr>
        <p:spPr>
          <a:xfrm>
            <a:off x="4956048" y="4480560"/>
            <a:ext cx="2249424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00E5FF"/>
                </a:solidFill>
                <a:latin typeface="Inter"/>
              </a:rPr>
              <a:t>2–3 SEC SETUP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F8FAFF"/>
                </a:solidFill>
                <a:latin typeface="Inter"/>
              </a:rPr>
              <a:t>Self-Calibrating</a:t>
            </a:r>
          </a:p>
        </p:txBody>
      </p:sp>
      <p:sp>
        <p:nvSpPr>
          <p:cNvPr id="21" name="!!hpill_8.45"/>
          <p:cNvSpPr/>
          <p:nvPr/>
        </p:nvSpPr>
        <p:spPr>
          <a:xfrm>
            <a:off x="7726679" y="4343400"/>
            <a:ext cx="2468880" cy="1325880"/>
          </a:xfrm>
          <a:prstGeom prst="round2DiagRect">
            <a:avLst>
              <a:gd name="adj1" fmla="val 8000"/>
              <a:gd name="adj2" fmla="val 0"/>
            </a:avLst>
          </a:prstGeom>
          <a:solidFill>
            <a:srgbClr val="0C1321"/>
          </a:solidFill>
          <a:ln w="2286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hpill_t_8.45"/>
          <p:cNvSpPr txBox="1"/>
          <p:nvPr/>
        </p:nvSpPr>
        <p:spPr>
          <a:xfrm>
            <a:off x="7836407" y="4480560"/>
            <a:ext cx="2249424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FFB800"/>
                </a:solidFill>
                <a:latin typeface="Inter"/>
              </a:rPr>
              <a:t>98.4% ACCURACY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F8FAFF"/>
                </a:solidFill>
                <a:latin typeface="Inter"/>
              </a:rPr>
              <a:t>12h Battery Life</a:t>
            </a:r>
          </a:p>
        </p:txBody>
      </p:sp>
    </p:spTree>
  </p:cSld>
  <p:clrMapOvr>
    <a:masterClrMapping/>
  </p:clrMapOvr>
  <p:transition spd="med" advTm="9000">
    <p:circl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1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2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31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01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ORIGIN &amp; STAKEHOLDERS  ·  WHO NEEDS IRIS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0:09 – 0:17   [02/28]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811856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How It All Started:  A Real Human Need.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Seeing a paralyzed person on a wheelchair inspired a mission to serve patients, caregivers &amp; hospitals.</a:t>
            </a:r>
          </a:p>
        </p:txBody>
      </p:sp>
      <p:sp>
        <p:nvSpPr>
          <p:cNvPr id="14" name="!!hero_center_card"/>
          <p:cNvSpPr/>
          <p:nvPr/>
        </p:nvSpPr>
        <p:spPr>
          <a:xfrm>
            <a:off x="502920" y="1737360"/>
            <a:ext cx="4352544" cy="461772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279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anim_wheel_pic" descr="k28_whe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810512"/>
            <a:ext cx="4206240" cy="4471416"/>
          </a:xfrm>
          <a:prstGeom prst="rect">
            <a:avLst/>
          </a:prstGeom>
        </p:spPr>
      </p:pic>
      <p:sp>
        <p:nvSpPr>
          <p:cNvPr id="16" name="!!orig_b1_bg"/>
          <p:cNvSpPr/>
          <p:nvPr/>
        </p:nvSpPr>
        <p:spPr>
          <a:xfrm>
            <a:off x="5166360" y="1737360"/>
            <a:ext cx="6583680" cy="141732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orig_b1_bar"/>
          <p:cNvSpPr/>
          <p:nvPr/>
        </p:nvSpPr>
        <p:spPr>
          <a:xfrm>
            <a:off x="5312664" y="176479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orig_b1_hex"/>
          <p:cNvSpPr/>
          <p:nvPr/>
        </p:nvSpPr>
        <p:spPr>
          <a:xfrm>
            <a:off x="11439144" y="2843784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orig_b1_pill"/>
          <p:cNvSpPr/>
          <p:nvPr/>
        </p:nvSpPr>
        <p:spPr>
          <a:xfrm>
            <a:off x="5330952" y="1901952"/>
            <a:ext cx="1952243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orig_b1_pill_t"/>
          <p:cNvSpPr txBox="1"/>
          <p:nvPr/>
        </p:nvSpPr>
        <p:spPr>
          <a:xfrm>
            <a:off x="5367528" y="1920240"/>
            <a:ext cx="1879091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THE SILENT PRISON</a:t>
            </a:r>
          </a:p>
        </p:txBody>
      </p:sp>
      <p:sp>
        <p:nvSpPr>
          <p:cNvPr id="21" name="anim_orig_b1_txt"/>
          <p:cNvSpPr txBox="1"/>
          <p:nvPr/>
        </p:nvSpPr>
        <p:spPr>
          <a:xfrm>
            <a:off x="5330952" y="2267712"/>
            <a:ext cx="6254496" cy="7955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50" b="1" dirty="0">
                <a:solidFill>
                  <a:srgbClr val="F8FAFF"/>
                </a:solidFill>
                <a:latin typeface="Inter"/>
              </a:rPr>
              <a:t>100% Conscious Mind Inside a Paralyzed Body</a:t>
            </a:r>
          </a:p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ACBEDA"/>
                </a:solidFill>
                <a:latin typeface="Inter"/>
              </a:rPr>
              <a:t>ALS, Locked-In Syndrome, stroke &amp; spinal injury trap an active mind with only eye blink &amp; subtle head tilt intact.</a:t>
            </a:r>
          </a:p>
        </p:txBody>
      </p:sp>
      <p:sp>
        <p:nvSpPr>
          <p:cNvPr id="22" name="!!orig_b2_bg"/>
          <p:cNvSpPr/>
          <p:nvPr/>
        </p:nvSpPr>
        <p:spPr>
          <a:xfrm>
            <a:off x="5166360" y="3337560"/>
            <a:ext cx="6583680" cy="141732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orig_b2_bar"/>
          <p:cNvSpPr/>
          <p:nvPr/>
        </p:nvSpPr>
        <p:spPr>
          <a:xfrm>
            <a:off x="5312664" y="3364991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orig_b2_hex"/>
          <p:cNvSpPr/>
          <p:nvPr/>
        </p:nvSpPr>
        <p:spPr>
          <a:xfrm>
            <a:off x="11439144" y="4443984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orig_b2_pill"/>
          <p:cNvSpPr/>
          <p:nvPr/>
        </p:nvSpPr>
        <p:spPr>
          <a:xfrm>
            <a:off x="5330952" y="3502152"/>
            <a:ext cx="1856231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orig_b2_pill_t"/>
          <p:cNvSpPr txBox="1"/>
          <p:nvPr/>
        </p:nvSpPr>
        <p:spPr>
          <a:xfrm>
            <a:off x="5367528" y="3520440"/>
            <a:ext cx="178307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KEY STAKEHOLDERS</a:t>
            </a:r>
          </a:p>
        </p:txBody>
      </p:sp>
      <p:sp>
        <p:nvSpPr>
          <p:cNvPr id="27" name="anim_orig_b2_txt"/>
          <p:cNvSpPr txBox="1"/>
          <p:nvPr/>
        </p:nvSpPr>
        <p:spPr>
          <a:xfrm>
            <a:off x="5211032" y="3867912"/>
            <a:ext cx="6583680" cy="83202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50" b="1" dirty="0">
                <a:solidFill>
                  <a:srgbClr val="F8FAFF"/>
                </a:solidFill>
                <a:latin typeface="Inter"/>
              </a:rPr>
              <a:t>Patients · Family Caregivers · Neurology Wards · NGOs</a:t>
            </a:r>
          </a:p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ACBEDA"/>
                </a:solidFill>
                <a:latin typeface="Inter"/>
              </a:rPr>
              <a:t>Relieves 24/7 caregiver burnout and equips AIIMS, NIMHANS &amp; rural rehab clinics with bedside autonomy.</a:t>
            </a:r>
          </a:p>
        </p:txBody>
      </p:sp>
      <p:sp>
        <p:nvSpPr>
          <p:cNvPr id="28" name="!!orig_b3_bg"/>
          <p:cNvSpPr/>
          <p:nvPr/>
        </p:nvSpPr>
        <p:spPr>
          <a:xfrm>
            <a:off x="5166360" y="4937760"/>
            <a:ext cx="6583680" cy="141732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orig_b3_bar"/>
          <p:cNvSpPr/>
          <p:nvPr/>
        </p:nvSpPr>
        <p:spPr>
          <a:xfrm>
            <a:off x="5312664" y="496519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orig_b3_hex"/>
          <p:cNvSpPr/>
          <p:nvPr/>
        </p:nvSpPr>
        <p:spPr>
          <a:xfrm>
            <a:off x="11439144" y="6044184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orig_b3_pill"/>
          <p:cNvSpPr/>
          <p:nvPr/>
        </p:nvSpPr>
        <p:spPr>
          <a:xfrm>
            <a:off x="5330952" y="5102352"/>
            <a:ext cx="1376172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orig_b3_pill_t"/>
          <p:cNvSpPr txBox="1"/>
          <p:nvPr/>
        </p:nvSpPr>
        <p:spPr>
          <a:xfrm>
            <a:off x="5367528" y="5120640"/>
            <a:ext cx="130301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THE MISSION</a:t>
            </a:r>
          </a:p>
        </p:txBody>
      </p:sp>
      <p:sp>
        <p:nvSpPr>
          <p:cNvPr id="33" name="anim_orig_b3_txt"/>
          <p:cNvSpPr txBox="1"/>
          <p:nvPr/>
        </p:nvSpPr>
        <p:spPr>
          <a:xfrm>
            <a:off x="5330952" y="5438132"/>
            <a:ext cx="6254496" cy="79552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50" b="1" dirty="0">
                <a:solidFill>
                  <a:srgbClr val="F8FAFF"/>
                </a:solidFill>
                <a:latin typeface="Inter"/>
              </a:rPr>
              <a:t>Turn Head Tilt &amp; Blink Into a Complete Voice</a:t>
            </a:r>
          </a:p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ACBEDA"/>
                </a:solidFill>
                <a:latin typeface="Inter"/>
              </a:rPr>
              <a:t>Converts gentle head motion into smooth cursor steering and deliberate blinks into speech, SOS &amp; room control.</a:t>
            </a:r>
          </a:p>
        </p:txBody>
      </p:sp>
    </p:spTree>
  </p:cSld>
  <p:clrMapOvr>
    <a:masterClrMapping/>
  </p:clrMapOvr>
  <p:transition spd="med" advTm="8500">
    <p:fade/>
    <p:extLst>
      <p:ext uri="{D84E410A-3911-4435-9328-F4292B5D5B2B}">
        <p159:morph xmlns:p159="http://schemas.microsoft.com/office/powerpoint/2015/09/main" xmlns="" option="byObject"/>
      </p:ext>
    </p:extLst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1" grpId="0"/>
      <p:bldP spid="22" grpId="0" animBg="1"/>
      <p:bldP spid="23" grpId="0" animBg="1"/>
      <p:bldP spid="27" grpId="0"/>
      <p:bldP spid="28" grpId="0" animBg="1"/>
      <p:bldP spid="29" grpId="0" animBg="1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01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THE SCALE  ·  HOW MANY PEOPLE NEED THIS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0:17 – 0:26   [03/28]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1217784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Not Rare — Just Invisible:  1.5M+ in India, 50M+ Globally.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Most rural cases go undiagnosed. The people who need assistive tech most are completely priced out.</a:t>
            </a:r>
          </a:p>
        </p:txBody>
      </p:sp>
      <p:sp>
        <p:nvSpPr>
          <p:cNvPr id="12" name="!!ind_box_0.45"/>
          <p:cNvSpPr/>
          <p:nvPr/>
        </p:nvSpPr>
        <p:spPr>
          <a:xfrm>
            <a:off x="411480" y="1691640"/>
            <a:ext cx="3639312" cy="21488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ind_tag_0.45"/>
          <p:cNvSpPr/>
          <p:nvPr/>
        </p:nvSpPr>
        <p:spPr>
          <a:xfrm>
            <a:off x="594360" y="1847088"/>
            <a:ext cx="150876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ind_tagt_0.45"/>
          <p:cNvSpPr txBox="1"/>
          <p:nvPr/>
        </p:nvSpPr>
        <p:spPr>
          <a:xfrm>
            <a:off x="630936" y="1865376"/>
            <a:ext cx="143560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INDIA ESTIMATE</a:t>
            </a:r>
          </a:p>
        </p:txBody>
      </p:sp>
      <p:sp>
        <p:nvSpPr>
          <p:cNvPr id="15" name="anim_ind_txt_0.45"/>
          <p:cNvSpPr txBox="1"/>
          <p:nvPr/>
        </p:nvSpPr>
        <p:spPr>
          <a:xfrm>
            <a:off x="594360" y="2240280"/>
            <a:ext cx="3273552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00E5FF"/>
                </a:solidFill>
                <a:latin typeface="Inter"/>
              </a:rPr>
              <a:t>1,00,000+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ALS Patients in India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Motor neuron degeneration</a:t>
            </a:r>
          </a:p>
        </p:txBody>
      </p:sp>
      <p:sp>
        <p:nvSpPr>
          <p:cNvPr id="16" name="!!ind_box_4.68"/>
          <p:cNvSpPr/>
          <p:nvPr/>
        </p:nvSpPr>
        <p:spPr>
          <a:xfrm>
            <a:off x="4279392" y="1691640"/>
            <a:ext cx="3639312" cy="21488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ind_tag_4.68"/>
          <p:cNvSpPr/>
          <p:nvPr/>
        </p:nvSpPr>
        <p:spPr>
          <a:xfrm>
            <a:off x="4462272" y="1847088"/>
            <a:ext cx="150876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ind_tagt_4.68"/>
          <p:cNvSpPr txBox="1"/>
          <p:nvPr/>
        </p:nvSpPr>
        <p:spPr>
          <a:xfrm>
            <a:off x="4498848" y="1865376"/>
            <a:ext cx="143560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INDIA ESTIMATE</a:t>
            </a:r>
          </a:p>
        </p:txBody>
      </p:sp>
      <p:sp>
        <p:nvSpPr>
          <p:cNvPr id="19" name="anim_ind_txt_4.68"/>
          <p:cNvSpPr txBox="1"/>
          <p:nvPr/>
        </p:nvSpPr>
        <p:spPr>
          <a:xfrm>
            <a:off x="4462272" y="2240280"/>
            <a:ext cx="3273552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B800"/>
                </a:solidFill>
                <a:latin typeface="Inter"/>
              </a:rPr>
              <a:t>4,000+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Locked-In Syndrome (India)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Complete paralysis, intact mind</a:t>
            </a:r>
          </a:p>
        </p:txBody>
      </p:sp>
      <p:sp>
        <p:nvSpPr>
          <p:cNvPr id="20" name="!!ind_box_8.9"/>
          <p:cNvSpPr/>
          <p:nvPr/>
        </p:nvSpPr>
        <p:spPr>
          <a:xfrm>
            <a:off x="8138160" y="1691640"/>
            <a:ext cx="3639312" cy="21488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ind_tag_8.9"/>
          <p:cNvSpPr/>
          <p:nvPr/>
        </p:nvSpPr>
        <p:spPr>
          <a:xfrm>
            <a:off x="8321040" y="1847088"/>
            <a:ext cx="150876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ind_tagt_8.9"/>
          <p:cNvSpPr txBox="1"/>
          <p:nvPr/>
        </p:nvSpPr>
        <p:spPr>
          <a:xfrm>
            <a:off x="8357616" y="1865376"/>
            <a:ext cx="143560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INDIA ESTIMATE</a:t>
            </a:r>
          </a:p>
        </p:txBody>
      </p:sp>
      <p:sp>
        <p:nvSpPr>
          <p:cNvPr id="23" name="anim_ind_txt_8.9"/>
          <p:cNvSpPr txBox="1"/>
          <p:nvPr/>
        </p:nvSpPr>
        <p:spPr>
          <a:xfrm>
            <a:off x="8321040" y="2240280"/>
            <a:ext cx="3273552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dirty="0">
                <a:solidFill>
                  <a:srgbClr val="00E676"/>
                </a:solidFill>
                <a:latin typeface="Inter"/>
              </a:rPr>
              <a:t>14,00,000+</a:t>
            </a:r>
          </a:p>
          <a:p>
            <a:pPr algn="l">
              <a:spcAft>
                <a:spcPts val="400"/>
              </a:spcAft>
            </a:pPr>
            <a:r>
              <a:rPr sz="1750" b="1" dirty="0">
                <a:solidFill>
                  <a:srgbClr val="F8FAFF"/>
                </a:solidFill>
                <a:latin typeface="Inter"/>
              </a:rPr>
              <a:t>Spinal Paralysis (India)</a:t>
            </a:r>
          </a:p>
          <a:p>
            <a:pPr algn="l">
              <a:spcAft>
                <a:spcPts val="0"/>
              </a:spcAft>
            </a:pPr>
            <a:r>
              <a:rPr sz="1350" b="0" dirty="0">
                <a:solidFill>
                  <a:srgbClr val="ACBEDA"/>
                </a:solidFill>
                <a:latin typeface="Inter"/>
              </a:rPr>
              <a:t>Quadriplegia &amp; severe motor loss</a:t>
            </a:r>
          </a:p>
        </p:txBody>
      </p:sp>
      <p:sp>
        <p:nvSpPr>
          <p:cNvPr id="24" name="!!wld_box_0.45"/>
          <p:cNvSpPr/>
          <p:nvPr/>
        </p:nvSpPr>
        <p:spPr>
          <a:xfrm>
            <a:off x="411480" y="4069080"/>
            <a:ext cx="3639312" cy="21488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0C1321"/>
          </a:solidFill>
          <a:ln w="1905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wld_tag_0.45"/>
          <p:cNvSpPr/>
          <p:nvPr/>
        </p:nvSpPr>
        <p:spPr>
          <a:xfrm>
            <a:off x="594360" y="4224528"/>
            <a:ext cx="160020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101A2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wld_tagt_0.45"/>
          <p:cNvSpPr txBox="1"/>
          <p:nvPr/>
        </p:nvSpPr>
        <p:spPr>
          <a:xfrm>
            <a:off x="630936" y="4242816"/>
            <a:ext cx="152704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GLOBAL ESTIMATE</a:t>
            </a:r>
          </a:p>
        </p:txBody>
      </p:sp>
      <p:sp>
        <p:nvSpPr>
          <p:cNvPr id="27" name="anim_wld_txt_0.45"/>
          <p:cNvSpPr txBox="1"/>
          <p:nvPr/>
        </p:nvSpPr>
        <p:spPr>
          <a:xfrm>
            <a:off x="594360" y="4617720"/>
            <a:ext cx="3273552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8FAFF"/>
                </a:solidFill>
                <a:latin typeface="Inter"/>
              </a:rPr>
              <a:t>4,50,000+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00E5FF"/>
                </a:solidFill>
                <a:latin typeface="Inter"/>
              </a:rPr>
              <a:t>ALS Patients Worldwide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Growing global incidence</a:t>
            </a:r>
          </a:p>
        </p:txBody>
      </p:sp>
      <p:sp>
        <p:nvSpPr>
          <p:cNvPr id="28" name="!!wld_box_4.68"/>
          <p:cNvSpPr/>
          <p:nvPr/>
        </p:nvSpPr>
        <p:spPr>
          <a:xfrm>
            <a:off x="4279392" y="4069080"/>
            <a:ext cx="3639312" cy="21488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0C1321"/>
          </a:solidFill>
          <a:ln w="1905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wld_tag_4.68"/>
          <p:cNvSpPr/>
          <p:nvPr/>
        </p:nvSpPr>
        <p:spPr>
          <a:xfrm>
            <a:off x="4462272" y="4224528"/>
            <a:ext cx="160020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101A2C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wld_tagt_4.68"/>
          <p:cNvSpPr txBox="1"/>
          <p:nvPr/>
        </p:nvSpPr>
        <p:spPr>
          <a:xfrm>
            <a:off x="4498848" y="4242816"/>
            <a:ext cx="152704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GLOBAL ESTIMATE</a:t>
            </a:r>
          </a:p>
        </p:txBody>
      </p:sp>
      <p:sp>
        <p:nvSpPr>
          <p:cNvPr id="31" name="anim_wld_txt_4.68"/>
          <p:cNvSpPr txBox="1"/>
          <p:nvPr/>
        </p:nvSpPr>
        <p:spPr>
          <a:xfrm>
            <a:off x="4462272" y="4617720"/>
            <a:ext cx="3273552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8FAFF"/>
                </a:solidFill>
                <a:latin typeface="Inter"/>
              </a:rPr>
              <a:t>24,000+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FFB800"/>
                </a:solidFill>
                <a:latin typeface="Inter"/>
              </a:rPr>
              <a:t>Locked-In Syndrome (World)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100% reliant on eye gaze</a:t>
            </a:r>
          </a:p>
        </p:txBody>
      </p:sp>
      <p:sp>
        <p:nvSpPr>
          <p:cNvPr id="32" name="!!wld_box_8.9"/>
          <p:cNvSpPr/>
          <p:nvPr/>
        </p:nvSpPr>
        <p:spPr>
          <a:xfrm>
            <a:off x="8138160" y="4069080"/>
            <a:ext cx="3639312" cy="21488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0C1321"/>
          </a:solidFill>
          <a:ln w="1905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wld_tag_8.9"/>
          <p:cNvSpPr/>
          <p:nvPr/>
        </p:nvSpPr>
        <p:spPr>
          <a:xfrm>
            <a:off x="8321040" y="4224528"/>
            <a:ext cx="160020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101A2C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wld_tagt_8.9"/>
          <p:cNvSpPr txBox="1"/>
          <p:nvPr/>
        </p:nvSpPr>
        <p:spPr>
          <a:xfrm>
            <a:off x="8357616" y="4242816"/>
            <a:ext cx="152704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GLOBAL ESTIMATE</a:t>
            </a:r>
          </a:p>
        </p:txBody>
      </p:sp>
      <p:sp>
        <p:nvSpPr>
          <p:cNvPr id="35" name="anim_wld_txt_8.9"/>
          <p:cNvSpPr txBox="1"/>
          <p:nvPr/>
        </p:nvSpPr>
        <p:spPr>
          <a:xfrm>
            <a:off x="8321040" y="4617720"/>
            <a:ext cx="3273552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8FAFF"/>
                </a:solidFill>
                <a:latin typeface="Inter"/>
              </a:rPr>
              <a:t>74,20,000+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00E676"/>
                </a:solidFill>
                <a:latin typeface="Inter"/>
              </a:rPr>
              <a:t>Spinal Paralysis (World)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50M+ total severe motor need</a:t>
            </a:r>
          </a:p>
        </p:txBody>
      </p:sp>
    </p:spTree>
  </p:cSld>
  <p:clrMapOvr>
    <a:masterClrMapping/>
  </p:clrMapOvr>
  <p:transition spd="med" advTm="8500">
    <p:push dir="u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2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31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35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01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PREVIOUS SOLUTION  ·  THE ₹25 LAKH BARRIER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0:26 – 0:34   [04/28]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1623713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Why Previous Commercial Solutions Fail India.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Imported camera eye-trackers cost ₹25,00,000+ — pricing out 99% of Indian households.</a:t>
            </a:r>
          </a:p>
        </p:txBody>
      </p:sp>
      <p:sp>
        <p:nvSpPr>
          <p:cNvPr id="12" name="!!prev_img_box"/>
          <p:cNvSpPr/>
          <p:nvPr/>
        </p:nvSpPr>
        <p:spPr>
          <a:xfrm>
            <a:off x="411480" y="1691640"/>
            <a:ext cx="4901184" cy="452628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2794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anim_prev_img" descr="k28_tobi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4718304" cy="3703320"/>
          </a:xfrm>
          <a:prstGeom prst="rect">
            <a:avLst/>
          </a:prstGeom>
        </p:spPr>
      </p:pic>
      <p:sp>
        <p:nvSpPr>
          <p:cNvPr id="14" name="!!prev_cap"/>
          <p:cNvSpPr txBox="1"/>
          <p:nvPr/>
        </p:nvSpPr>
        <p:spPr>
          <a:xfrm>
            <a:off x="548640" y="5577840"/>
            <a:ext cx="4626864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5252"/>
                </a:solidFill>
                <a:latin typeface="Inter"/>
              </a:rPr>
              <a:t>Commercial Tobii Dynavox Setup:  ₹25,00,000+ in India</a:t>
            </a:r>
          </a:p>
        </p:txBody>
      </p:sp>
      <p:sp>
        <p:nvSpPr>
          <p:cNvPr id="15" name="!!morph_price_red"/>
          <p:cNvSpPr/>
          <p:nvPr/>
        </p:nvSpPr>
        <p:spPr>
          <a:xfrm>
            <a:off x="5532120" y="1691640"/>
            <a:ext cx="6245352" cy="150876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44121A"/>
          </a:solidFill>
          <a:ln w="317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morph_price_red_t"/>
          <p:cNvSpPr txBox="1"/>
          <p:nvPr/>
        </p:nvSpPr>
        <p:spPr>
          <a:xfrm>
            <a:off x="5760720" y="1828800"/>
            <a:ext cx="5806440" cy="1234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252"/>
                </a:solidFill>
                <a:latin typeface="Inter"/>
              </a:rPr>
              <a:t>₹25,00,000+  COMMERCIAL COST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F8FAFF"/>
                </a:solidFill>
                <a:latin typeface="Inter"/>
              </a:rPr>
              <a:t>40–60% import duties, forced rugged tablet &amp; corporate markups</a:t>
            </a:r>
          </a:p>
        </p:txBody>
      </p:sp>
      <p:sp>
        <p:nvSpPr>
          <p:cNvPr id="17" name="!!morph_mid_card"/>
          <p:cNvSpPr/>
          <p:nvPr/>
        </p:nvSpPr>
        <p:spPr>
          <a:xfrm>
            <a:off x="5532120" y="3383280"/>
            <a:ext cx="6245352" cy="132588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286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morph_mid_t"/>
          <p:cNvSpPr txBox="1"/>
          <p:nvPr/>
        </p:nvSpPr>
        <p:spPr>
          <a:xfrm>
            <a:off x="5760720" y="3520440"/>
            <a:ext cx="58064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B800"/>
                </a:solidFill>
                <a:latin typeface="Inter"/>
              </a:rPr>
              <a:t>30+ Minutes Specialist Calibration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ACBEDA"/>
                </a:solidFill>
                <a:latin typeface="Inter"/>
              </a:rPr>
              <a:t>Sensitive to room lighting &amp; sunlight; requires rigid mount</a:t>
            </a:r>
          </a:p>
        </p:txBody>
      </p:sp>
      <p:sp>
        <p:nvSpPr>
          <p:cNvPr id="19" name="!!morph_price_green"/>
          <p:cNvSpPr/>
          <p:nvPr/>
        </p:nvSpPr>
        <p:spPr>
          <a:xfrm>
            <a:off x="5532120" y="4892040"/>
            <a:ext cx="2560320" cy="132588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0A3A26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morph_price_green_t"/>
          <p:cNvSpPr txBox="1"/>
          <p:nvPr/>
        </p:nvSpPr>
        <p:spPr>
          <a:xfrm>
            <a:off x="5669280" y="5029200"/>
            <a:ext cx="228600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0E676"/>
                </a:solidFill>
                <a:latin typeface="Inter"/>
              </a:rPr>
              <a:t>IRIS: ₹885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8FAFF"/>
                </a:solidFill>
                <a:latin typeface="Inter"/>
              </a:rPr>
              <a:t>Watch the breakthrough →</a:t>
            </a:r>
          </a:p>
        </p:txBody>
      </p:sp>
    </p:spTree>
  </p:cSld>
  <p:clrMapOvr>
    <a:masterClrMapping/>
  </p:clrMapOvr>
  <p:transition spd="med" advTm="8500">
    <p:cover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01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NEW SOLUTION  ·  99.96% COST REDUCTION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0:34 – 0:43   [05/28]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2029641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The IRIS Breakthrough:  ₹25,00,000+  Collapsed to  ₹885.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Same core hands-free cursor &amp; communication independence — built from ₹885 of open hardware.</a:t>
            </a:r>
          </a:p>
        </p:txBody>
      </p:sp>
      <p:sp>
        <p:nvSpPr>
          <p:cNvPr id="12" name="!!morph_price_red"/>
          <p:cNvSpPr/>
          <p:nvPr/>
        </p:nvSpPr>
        <p:spPr>
          <a:xfrm>
            <a:off x="411480" y="1691640"/>
            <a:ext cx="2926080" cy="150876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44121A"/>
          </a:solidFill>
          <a:ln w="2286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morph_price_red_t"/>
          <p:cNvSpPr txBox="1"/>
          <p:nvPr/>
        </p:nvSpPr>
        <p:spPr>
          <a:xfrm>
            <a:off x="594360" y="1847088"/>
            <a:ext cx="256032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5252"/>
                </a:solidFill>
                <a:latin typeface="Inter"/>
              </a:rPr>
              <a:t>Tobii: ₹25L+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Priced out of India</a:t>
            </a:r>
          </a:p>
        </p:txBody>
      </p:sp>
      <p:sp>
        <p:nvSpPr>
          <p:cNvPr id="14" name="!!morph_mid_card"/>
          <p:cNvSpPr/>
          <p:nvPr/>
        </p:nvSpPr>
        <p:spPr>
          <a:xfrm>
            <a:off x="411480" y="3383280"/>
            <a:ext cx="2926080" cy="28346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1905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morph_mid_t"/>
          <p:cNvSpPr txBox="1"/>
          <p:nvPr/>
        </p:nvSpPr>
        <p:spPr>
          <a:xfrm>
            <a:off x="594360" y="3566160"/>
            <a:ext cx="2560320" cy="2468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0E5FF"/>
                </a:solidFill>
                <a:latin typeface="Inter"/>
              </a:rPr>
              <a:t>Why IRIS Wins</a:t>
            </a:r>
          </a:p>
          <a:p>
            <a:pPr algn="l">
              <a:spcAft>
                <a:spcPts val="0"/>
              </a:spcAft>
            </a:pPr>
            <a:r>
              <a:rPr sz="1550" b="0">
                <a:solidFill>
                  <a:srgbClr val="F8FAFF"/>
                </a:solidFill>
                <a:latin typeface="Inter"/>
              </a:rPr>
              <a:t>Runs on any existing family laptop or phone in any lighting.</a:t>
            </a:r>
          </a:p>
        </p:txBody>
      </p:sp>
      <p:sp>
        <p:nvSpPr>
          <p:cNvPr id="16" name="!!morph_price_green"/>
          <p:cNvSpPr/>
          <p:nvPr/>
        </p:nvSpPr>
        <p:spPr>
          <a:xfrm>
            <a:off x="3566160" y="1691640"/>
            <a:ext cx="8211312" cy="452628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A3A26"/>
          </a:solidFill>
          <a:ln w="381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morph_price_green_t"/>
          <p:cNvSpPr txBox="1"/>
          <p:nvPr/>
        </p:nvSpPr>
        <p:spPr>
          <a:xfrm>
            <a:off x="3886200" y="1965960"/>
            <a:ext cx="7589520" cy="39776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0E5FF"/>
                </a:solidFill>
                <a:latin typeface="Inter"/>
              </a:rPr>
              <a:t>NEW SOLUTION  ·  IRIS PROTOTYPE</a:t>
            </a:r>
          </a:p>
          <a:p>
            <a:pPr algn="l">
              <a:spcAft>
                <a:spcPts val="1000"/>
              </a:spcAft>
            </a:pPr>
            <a:r>
              <a:rPr sz="5200" b="1">
                <a:solidFill>
                  <a:srgbClr val="F8FAFF"/>
                </a:solidFill>
                <a:latin typeface="Inter"/>
              </a:rPr>
              <a:t>₹885  Total Build Cost</a:t>
            </a:r>
          </a:p>
          <a:p>
            <a:pPr algn="l">
              <a:spcAft>
                <a:spcPts val="1000"/>
              </a:spcAft>
            </a:pPr>
            <a:r>
              <a:rPr sz="2300" b="1">
                <a:solidFill>
                  <a:srgbClr val="00E676"/>
                </a:solidFill>
                <a:latin typeface="Inter"/>
              </a:rPr>
              <a:t>99.96% Cheaper Than Commercial Eye-Trackers</a:t>
            </a:r>
          </a:p>
          <a:p>
            <a:pPr algn="l">
              <a:spcAft>
                <a:spcPts val="0"/>
              </a:spcAft>
            </a:pPr>
            <a:r>
              <a:rPr sz="1700" b="1">
                <a:solidFill>
                  <a:srgbClr val="FFB800"/>
                </a:solidFill>
                <a:latin typeface="Inter"/>
              </a:rPr>
              <a:t>2–3 Second Self-Calibration   ·   12-Hour Battery   ·   ±7D Lens Compatible</a:t>
            </a:r>
          </a:p>
        </p:txBody>
      </p:sp>
    </p:spTree>
  </p:cSld>
  <p:clrMapOvr>
    <a:masterClrMapping/>
  </p:clrMapOvr>
  <p:transition spd="med" advTm="8500">
    <p:fade/>
    <p:extLst>
      <p:ext uri="{D84E410A-3911-4435-9328-F4292B5D5B2B}">
        <p159:morph xmlns:p159="http://schemas.microsoft.com/office/powerpoint/2015/09/main" xmlns="" option="byObject"/>
      </p:ext>
    </p:extLst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02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MODULAR WEARABLE BENTO  ·  MODULE 01 OF 04 OPEN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0:43 – 0:51   [06/28]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2435569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Wear Glasses First. Snap Magnet Second.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Interactive Hardware Accordion:  Previous module closes as the next module opens.</a:t>
            </a:r>
          </a:p>
        </p:txBody>
      </p:sp>
      <p:sp>
        <p:nvSpPr>
          <p:cNvPr id="12" name="!!acc_blade_0"/>
          <p:cNvSpPr/>
          <p:nvPr/>
        </p:nvSpPr>
        <p:spPr>
          <a:xfrm>
            <a:off x="411480" y="1664208"/>
            <a:ext cx="6355080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42640"/>
          </a:solidFill>
          <a:ln w="3302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acc_badge_0"/>
          <p:cNvSpPr/>
          <p:nvPr/>
        </p:nvSpPr>
        <p:spPr>
          <a:xfrm>
            <a:off x="612648" y="1847088"/>
            <a:ext cx="3474720" cy="329184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acc_badget_0"/>
          <p:cNvSpPr txBox="1"/>
          <p:nvPr/>
        </p:nvSpPr>
        <p:spPr>
          <a:xfrm>
            <a:off x="649224" y="1874519"/>
            <a:ext cx="340156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E5FF"/>
                </a:solidFill>
                <a:latin typeface="Inter"/>
              </a:rPr>
              <a:t>01 · MODULAR MAGNETIC + NUT-BOLT PIVOT</a:t>
            </a:r>
          </a:p>
        </p:txBody>
      </p:sp>
      <p:sp>
        <p:nvSpPr>
          <p:cNvPr id="15" name="!!acc_body_0"/>
          <p:cNvSpPr txBox="1"/>
          <p:nvPr/>
        </p:nvSpPr>
        <p:spPr>
          <a:xfrm>
            <a:off x="612648" y="2304288"/>
            <a:ext cx="3520440" cy="3794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Separates the headband and glasses so putting IRIS on takes 3 seconds.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Neodymium magnet snaps onto any frame — including ±7D high-power lenses.</a:t>
            </a:r>
          </a:p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Miniature nut-bolt joint locks the 950nm IR beam angle with zero wire bending.</a:t>
            </a:r>
          </a:p>
        </p:txBody>
      </p:sp>
      <p:pic>
        <p:nvPicPr>
          <p:cNvPr id="16" name="!!acc_img_0" descr="k28_eye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847088"/>
            <a:ext cx="2331720" cy="4279392"/>
          </a:xfrm>
          <a:prstGeom prst="rect">
            <a:avLst/>
          </a:prstGeom>
        </p:spPr>
      </p:pic>
      <p:sp>
        <p:nvSpPr>
          <p:cNvPr id="17" name="!!acc_blade_1"/>
          <p:cNvSpPr/>
          <p:nvPr/>
        </p:nvSpPr>
        <p:spPr>
          <a:xfrm>
            <a:off x="6894576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acc_badge_1"/>
          <p:cNvSpPr/>
          <p:nvPr/>
        </p:nvSpPr>
        <p:spPr>
          <a:xfrm>
            <a:off x="7059168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acc_badget_1"/>
          <p:cNvSpPr txBox="1"/>
          <p:nvPr/>
        </p:nvSpPr>
        <p:spPr>
          <a:xfrm>
            <a:off x="7077456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B800"/>
                </a:solidFill>
                <a:latin typeface="Inter"/>
              </a:rPr>
              <a:t>02</a:t>
            </a:r>
          </a:p>
        </p:txBody>
      </p:sp>
      <p:sp>
        <p:nvSpPr>
          <p:cNvPr id="20" name="!!acc_body_1"/>
          <p:cNvSpPr txBox="1"/>
          <p:nvPr/>
        </p:nvSpPr>
        <p:spPr>
          <a:xfrm>
            <a:off x="7022592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VELCRO BELT</a:t>
            </a:r>
          </a:p>
        </p:txBody>
      </p:sp>
      <p:pic>
        <p:nvPicPr>
          <p:cNvPr id="21" name="!!acc_img_1" descr="k28_pr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4" y="3794760"/>
            <a:ext cx="1133856" cy="2286000"/>
          </a:xfrm>
          <a:prstGeom prst="rect">
            <a:avLst/>
          </a:prstGeom>
        </p:spPr>
      </p:pic>
      <p:sp>
        <p:nvSpPr>
          <p:cNvPr id="22" name="!!acc_blade_2"/>
          <p:cNvSpPr/>
          <p:nvPr/>
        </p:nvSpPr>
        <p:spPr>
          <a:xfrm>
            <a:off x="8558784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acc_badge_2"/>
          <p:cNvSpPr/>
          <p:nvPr/>
        </p:nvSpPr>
        <p:spPr>
          <a:xfrm>
            <a:off x="8723376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acc_badget_2"/>
          <p:cNvSpPr txBox="1"/>
          <p:nvPr/>
        </p:nvSpPr>
        <p:spPr>
          <a:xfrm>
            <a:off x="8741663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00E676"/>
                </a:solidFill>
                <a:latin typeface="Inter"/>
              </a:rPr>
              <a:t>03</a:t>
            </a:r>
          </a:p>
        </p:txBody>
      </p:sp>
      <p:sp>
        <p:nvSpPr>
          <p:cNvPr id="25" name="!!acc_body_2"/>
          <p:cNvSpPr txBox="1"/>
          <p:nvPr/>
        </p:nvSpPr>
        <p:spPr>
          <a:xfrm>
            <a:off x="8686800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XIAO &amp; 12H LIPO</a:t>
            </a:r>
          </a:p>
        </p:txBody>
      </p:sp>
      <p:pic>
        <p:nvPicPr>
          <p:cNvPr id="26" name="!!acc_img_2" descr="k28_xi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3794760"/>
            <a:ext cx="1133856" cy="2286000"/>
          </a:xfrm>
          <a:prstGeom prst="rect">
            <a:avLst/>
          </a:prstGeom>
        </p:spPr>
      </p:pic>
      <p:sp>
        <p:nvSpPr>
          <p:cNvPr id="27" name="!!acc_blade_3"/>
          <p:cNvSpPr/>
          <p:nvPr/>
        </p:nvSpPr>
        <p:spPr>
          <a:xfrm>
            <a:off x="10222992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acc_badge_3"/>
          <p:cNvSpPr/>
          <p:nvPr/>
        </p:nvSpPr>
        <p:spPr>
          <a:xfrm>
            <a:off x="10387584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acc_badget_3"/>
          <p:cNvSpPr txBox="1"/>
          <p:nvPr/>
        </p:nvSpPr>
        <p:spPr>
          <a:xfrm>
            <a:off x="10405872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A855F7"/>
                </a:solidFill>
                <a:latin typeface="Inter"/>
              </a:rPr>
              <a:t>04</a:t>
            </a:r>
          </a:p>
        </p:txBody>
      </p:sp>
      <p:sp>
        <p:nvSpPr>
          <p:cNvPr id="30" name="!!acc_body_3"/>
          <p:cNvSpPr txBox="1"/>
          <p:nvPr/>
        </p:nvSpPr>
        <p:spPr>
          <a:xfrm>
            <a:off x="10351008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2–3s SETUP</a:t>
            </a:r>
          </a:p>
        </p:txBody>
      </p:sp>
      <p:pic>
        <p:nvPicPr>
          <p:cNvPr id="31" name="!!acc_img_3" descr="k28_calthum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3794760"/>
            <a:ext cx="1133856" cy="2286000"/>
          </a:xfrm>
          <a:prstGeom prst="rect">
            <a:avLst/>
          </a:prstGeom>
        </p:spPr>
      </p:pic>
    </p:spTree>
  </p:cSld>
  <p:clrMapOvr>
    <a:masterClrMapping/>
  </p:clrMapOvr>
  <p:transition spd="med" advTm="8500">
    <p:split orient="vert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02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MODULAR WEARABLE BENTO  ·  MODULE 02 OF 04 OPEN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0:51 – 1:00   [07/28]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2841498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Perforated Airflow Mesh. Zero Sweat.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Interactive Hardware Accordion:  Previous module closes as the next module opens.</a:t>
            </a:r>
          </a:p>
        </p:txBody>
      </p:sp>
      <p:sp>
        <p:nvSpPr>
          <p:cNvPr id="12" name="!!acc_blade_0"/>
          <p:cNvSpPr/>
          <p:nvPr/>
        </p:nvSpPr>
        <p:spPr>
          <a:xfrm>
            <a:off x="411480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acc_badge_0"/>
          <p:cNvSpPr/>
          <p:nvPr/>
        </p:nvSpPr>
        <p:spPr>
          <a:xfrm>
            <a:off x="576072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acc_badget_0"/>
          <p:cNvSpPr txBox="1"/>
          <p:nvPr/>
        </p:nvSpPr>
        <p:spPr>
          <a:xfrm>
            <a:off x="594360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00E5FF"/>
                </a:solidFill>
                <a:latin typeface="Inter"/>
              </a:rPr>
              <a:t>01</a:t>
            </a:r>
          </a:p>
        </p:txBody>
      </p:sp>
      <p:sp>
        <p:nvSpPr>
          <p:cNvPr id="15" name="!!acc_body_0"/>
          <p:cNvSpPr txBox="1"/>
          <p:nvPr/>
        </p:nvSpPr>
        <p:spPr>
          <a:xfrm>
            <a:off x="539496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MAGNET PIVOT</a:t>
            </a:r>
          </a:p>
        </p:txBody>
      </p:sp>
      <p:pic>
        <p:nvPicPr>
          <p:cNvPr id="16" name="!!acc_img_0" descr="k28_eye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794760"/>
            <a:ext cx="1133856" cy="2286000"/>
          </a:xfrm>
          <a:prstGeom prst="rect">
            <a:avLst/>
          </a:prstGeom>
        </p:spPr>
      </p:pic>
      <p:sp>
        <p:nvSpPr>
          <p:cNvPr id="17" name="!!acc_blade_1"/>
          <p:cNvSpPr/>
          <p:nvPr/>
        </p:nvSpPr>
        <p:spPr>
          <a:xfrm>
            <a:off x="2075688" y="1664208"/>
            <a:ext cx="6355080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42640"/>
          </a:solidFill>
          <a:ln w="3302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acc_badge_1"/>
          <p:cNvSpPr/>
          <p:nvPr/>
        </p:nvSpPr>
        <p:spPr>
          <a:xfrm>
            <a:off x="2276856" y="1847088"/>
            <a:ext cx="3474720" cy="329184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acc_badget_1"/>
          <p:cNvSpPr txBox="1"/>
          <p:nvPr/>
        </p:nvSpPr>
        <p:spPr>
          <a:xfrm>
            <a:off x="2313432" y="1874519"/>
            <a:ext cx="340156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B800"/>
                </a:solidFill>
                <a:latin typeface="Inter"/>
              </a:rPr>
              <a:t>02 · BREATHABLE VELCRO FOREHEAD BELT</a:t>
            </a:r>
          </a:p>
        </p:txBody>
      </p:sp>
      <p:sp>
        <p:nvSpPr>
          <p:cNvPr id="20" name="!!acc_body_1"/>
          <p:cNvSpPr txBox="1"/>
          <p:nvPr/>
        </p:nvSpPr>
        <p:spPr>
          <a:xfrm>
            <a:off x="2276856" y="2304288"/>
            <a:ext cx="3520440" cy="3794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Replaces rigid plastic buckles with soft, adjustable perforated Velcro mesh.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Continuous scalp airflow prevents heat buildup during 12-hour bedside wear.</a:t>
            </a:r>
          </a:p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Houses the MPU6050 IMU and XIAO ESP32C3 safely away from the eyes.</a:t>
            </a:r>
          </a:p>
        </p:txBody>
      </p:sp>
      <p:pic>
        <p:nvPicPr>
          <p:cNvPr id="21" name="!!acc_img_1" descr="k28_pr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1847088"/>
            <a:ext cx="2331720" cy="4279392"/>
          </a:xfrm>
          <a:prstGeom prst="rect">
            <a:avLst/>
          </a:prstGeom>
        </p:spPr>
      </p:pic>
      <p:sp>
        <p:nvSpPr>
          <p:cNvPr id="22" name="!!acc_blade_2"/>
          <p:cNvSpPr/>
          <p:nvPr/>
        </p:nvSpPr>
        <p:spPr>
          <a:xfrm>
            <a:off x="8558784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acc_badge_2"/>
          <p:cNvSpPr/>
          <p:nvPr/>
        </p:nvSpPr>
        <p:spPr>
          <a:xfrm>
            <a:off x="8723376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acc_badget_2"/>
          <p:cNvSpPr txBox="1"/>
          <p:nvPr/>
        </p:nvSpPr>
        <p:spPr>
          <a:xfrm>
            <a:off x="8741663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00E676"/>
                </a:solidFill>
                <a:latin typeface="Inter"/>
              </a:rPr>
              <a:t>03</a:t>
            </a:r>
          </a:p>
        </p:txBody>
      </p:sp>
      <p:sp>
        <p:nvSpPr>
          <p:cNvPr id="25" name="!!acc_body_2"/>
          <p:cNvSpPr txBox="1"/>
          <p:nvPr/>
        </p:nvSpPr>
        <p:spPr>
          <a:xfrm>
            <a:off x="8686800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XIAO &amp; 12H LIPO</a:t>
            </a:r>
          </a:p>
        </p:txBody>
      </p:sp>
      <p:pic>
        <p:nvPicPr>
          <p:cNvPr id="26" name="!!acc_img_2" descr="k28_xi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3794760"/>
            <a:ext cx="1133856" cy="2286000"/>
          </a:xfrm>
          <a:prstGeom prst="rect">
            <a:avLst/>
          </a:prstGeom>
        </p:spPr>
      </p:pic>
      <p:sp>
        <p:nvSpPr>
          <p:cNvPr id="27" name="!!acc_blade_3"/>
          <p:cNvSpPr/>
          <p:nvPr/>
        </p:nvSpPr>
        <p:spPr>
          <a:xfrm>
            <a:off x="10222992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acc_badge_3"/>
          <p:cNvSpPr/>
          <p:nvPr/>
        </p:nvSpPr>
        <p:spPr>
          <a:xfrm>
            <a:off x="10387584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acc_badget_3"/>
          <p:cNvSpPr txBox="1"/>
          <p:nvPr/>
        </p:nvSpPr>
        <p:spPr>
          <a:xfrm>
            <a:off x="10405872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A855F7"/>
                </a:solidFill>
                <a:latin typeface="Inter"/>
              </a:rPr>
              <a:t>04</a:t>
            </a:r>
          </a:p>
        </p:txBody>
      </p:sp>
      <p:sp>
        <p:nvSpPr>
          <p:cNvPr id="30" name="!!acc_body_3"/>
          <p:cNvSpPr txBox="1"/>
          <p:nvPr/>
        </p:nvSpPr>
        <p:spPr>
          <a:xfrm>
            <a:off x="10351008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2–3s SETUP</a:t>
            </a:r>
          </a:p>
        </p:txBody>
      </p:sp>
      <p:pic>
        <p:nvPicPr>
          <p:cNvPr id="31" name="!!acc_img_3" descr="k28_calthum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3794760"/>
            <a:ext cx="1133856" cy="2286000"/>
          </a:xfrm>
          <a:prstGeom prst="rect">
            <a:avLst/>
          </a:prstGeom>
        </p:spPr>
      </p:pic>
    </p:spTree>
  </p:cSld>
  <p:clrMapOvr>
    <a:masterClrMapping/>
  </p:clrMapOvr>
  <p:transition spd="med" advTm="8500">
    <p:fade/>
    <p:extLst>
      <p:ext uri="{D84E410A-3911-4435-9328-F4292B5D5B2B}">
        <p159:morph xmlns:p159="http://schemas.microsoft.com/office/powerpoint/2015/09/main" xmlns="" option="byObject"/>
      </p:ext>
    </p:extLst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02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MODULAR WEARABLE BENTO  ·  MODULE 03 OF 04 OPEN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1:00 – 1:08   [08/28]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3247426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Thumb-Sized Brain. Direct Li-Po Charge.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Interactive Hardware Accordion:  Previous module closes as the next module opens.</a:t>
            </a:r>
          </a:p>
        </p:txBody>
      </p:sp>
      <p:sp>
        <p:nvSpPr>
          <p:cNvPr id="12" name="!!acc_blade_0"/>
          <p:cNvSpPr/>
          <p:nvPr/>
        </p:nvSpPr>
        <p:spPr>
          <a:xfrm>
            <a:off x="411480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acc_badge_0"/>
          <p:cNvSpPr/>
          <p:nvPr/>
        </p:nvSpPr>
        <p:spPr>
          <a:xfrm>
            <a:off x="576072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acc_badget_0"/>
          <p:cNvSpPr txBox="1"/>
          <p:nvPr/>
        </p:nvSpPr>
        <p:spPr>
          <a:xfrm>
            <a:off x="594360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00E5FF"/>
                </a:solidFill>
                <a:latin typeface="Inter"/>
              </a:rPr>
              <a:t>01</a:t>
            </a:r>
          </a:p>
        </p:txBody>
      </p:sp>
      <p:sp>
        <p:nvSpPr>
          <p:cNvPr id="15" name="!!acc_body_0"/>
          <p:cNvSpPr txBox="1"/>
          <p:nvPr/>
        </p:nvSpPr>
        <p:spPr>
          <a:xfrm>
            <a:off x="539496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MAGNET PIVOT</a:t>
            </a:r>
          </a:p>
        </p:txBody>
      </p:sp>
      <p:pic>
        <p:nvPicPr>
          <p:cNvPr id="16" name="!!acc_img_0" descr="k28_eye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794760"/>
            <a:ext cx="1133856" cy="2286000"/>
          </a:xfrm>
          <a:prstGeom prst="rect">
            <a:avLst/>
          </a:prstGeom>
        </p:spPr>
      </p:pic>
      <p:sp>
        <p:nvSpPr>
          <p:cNvPr id="17" name="!!acc_blade_1"/>
          <p:cNvSpPr/>
          <p:nvPr/>
        </p:nvSpPr>
        <p:spPr>
          <a:xfrm>
            <a:off x="2075688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acc_badge_1"/>
          <p:cNvSpPr/>
          <p:nvPr/>
        </p:nvSpPr>
        <p:spPr>
          <a:xfrm>
            <a:off x="2240280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acc_badget_1"/>
          <p:cNvSpPr txBox="1"/>
          <p:nvPr/>
        </p:nvSpPr>
        <p:spPr>
          <a:xfrm>
            <a:off x="2258568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B800"/>
                </a:solidFill>
                <a:latin typeface="Inter"/>
              </a:rPr>
              <a:t>02</a:t>
            </a:r>
          </a:p>
        </p:txBody>
      </p:sp>
      <p:sp>
        <p:nvSpPr>
          <p:cNvPr id="20" name="!!acc_body_1"/>
          <p:cNvSpPr txBox="1"/>
          <p:nvPr/>
        </p:nvSpPr>
        <p:spPr>
          <a:xfrm>
            <a:off x="2203704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VELCRO BELT</a:t>
            </a:r>
          </a:p>
        </p:txBody>
      </p:sp>
      <p:pic>
        <p:nvPicPr>
          <p:cNvPr id="21" name="!!acc_img_1" descr="k28_pr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3794760"/>
            <a:ext cx="1133856" cy="2286000"/>
          </a:xfrm>
          <a:prstGeom prst="rect">
            <a:avLst/>
          </a:prstGeom>
        </p:spPr>
      </p:pic>
      <p:sp>
        <p:nvSpPr>
          <p:cNvPr id="22" name="!!acc_blade_2"/>
          <p:cNvSpPr/>
          <p:nvPr/>
        </p:nvSpPr>
        <p:spPr>
          <a:xfrm>
            <a:off x="3739896" y="1664208"/>
            <a:ext cx="6355080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42640"/>
          </a:solidFill>
          <a:ln w="3302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acc_badge_2"/>
          <p:cNvSpPr/>
          <p:nvPr/>
        </p:nvSpPr>
        <p:spPr>
          <a:xfrm>
            <a:off x="3941063" y="1847088"/>
            <a:ext cx="3474720" cy="329184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acc_badget_2"/>
          <p:cNvSpPr txBox="1"/>
          <p:nvPr/>
        </p:nvSpPr>
        <p:spPr>
          <a:xfrm>
            <a:off x="3977639" y="1874519"/>
            <a:ext cx="340156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E676"/>
                </a:solidFill>
                <a:latin typeface="Inter"/>
              </a:rPr>
              <a:t>03 · SEEED STUDIO XIAO ESP32C3 + 1000mAh LI-PO</a:t>
            </a:r>
          </a:p>
        </p:txBody>
      </p:sp>
      <p:sp>
        <p:nvSpPr>
          <p:cNvPr id="25" name="!!acc_body_2"/>
          <p:cNvSpPr txBox="1"/>
          <p:nvPr/>
        </p:nvSpPr>
        <p:spPr>
          <a:xfrm>
            <a:off x="3941063" y="2304288"/>
            <a:ext cx="3520440" cy="3794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3.7V 1000mAh Li-Po wires straight to XIAO BAT+/BAT- pads with a 2A fuse.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Onboard 3.3V regulator eliminates heavy, hot external buck converters.</a:t>
            </a:r>
          </a:p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BLE 5.0 primary link + automatic Wi-Fi failover + 12h Deep Sleep runtime.</a:t>
            </a:r>
          </a:p>
        </p:txBody>
      </p:sp>
      <p:pic>
        <p:nvPicPr>
          <p:cNvPr id="26" name="!!acc_img_2" descr="k28_xi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5" y="1847088"/>
            <a:ext cx="2331720" cy="4279392"/>
          </a:xfrm>
          <a:prstGeom prst="rect">
            <a:avLst/>
          </a:prstGeom>
        </p:spPr>
      </p:pic>
      <p:sp>
        <p:nvSpPr>
          <p:cNvPr id="27" name="!!acc_blade_3"/>
          <p:cNvSpPr/>
          <p:nvPr/>
        </p:nvSpPr>
        <p:spPr>
          <a:xfrm>
            <a:off x="10222992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acc_badge_3"/>
          <p:cNvSpPr/>
          <p:nvPr/>
        </p:nvSpPr>
        <p:spPr>
          <a:xfrm>
            <a:off x="10387584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acc_badget_3"/>
          <p:cNvSpPr txBox="1"/>
          <p:nvPr/>
        </p:nvSpPr>
        <p:spPr>
          <a:xfrm>
            <a:off x="10405872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A855F7"/>
                </a:solidFill>
                <a:latin typeface="Inter"/>
              </a:rPr>
              <a:t>04</a:t>
            </a:r>
          </a:p>
        </p:txBody>
      </p:sp>
      <p:sp>
        <p:nvSpPr>
          <p:cNvPr id="30" name="!!acc_body_3"/>
          <p:cNvSpPr txBox="1"/>
          <p:nvPr/>
        </p:nvSpPr>
        <p:spPr>
          <a:xfrm>
            <a:off x="10351008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2–3s SETUP</a:t>
            </a:r>
          </a:p>
        </p:txBody>
      </p:sp>
      <p:pic>
        <p:nvPicPr>
          <p:cNvPr id="31" name="!!acc_img_3" descr="k28_calthum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3794760"/>
            <a:ext cx="1133856" cy="2286000"/>
          </a:xfrm>
          <a:prstGeom prst="rect">
            <a:avLst/>
          </a:prstGeom>
        </p:spPr>
      </p:pic>
    </p:spTree>
  </p:cSld>
  <p:clrMapOvr>
    <a:masterClrMapping/>
  </p:clrMapOvr>
  <p:transition spd="med" advTm="8500">
    <p:fade/>
    <p:extLst>
      <p:ext uri="{D84E410A-3911-4435-9328-F4292B5D5B2B}">
        <p159:morph xmlns:p159="http://schemas.microsoft.com/office/powerpoint/2015/09/main" xmlns="" option="byObject"/>
      </p:ext>
    </p:extLst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02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MODULAR WEARABLE BENTO  ·  MODULE 04 OF 04 OPEN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1:08 – 1:17   [09/28]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3653354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Ready in 2–3 Seconds. Saved Profiles &lt;5s.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Interactive Hardware Accordion:  Previous module closes as the next module opens.</a:t>
            </a:r>
          </a:p>
        </p:txBody>
      </p:sp>
      <p:sp>
        <p:nvSpPr>
          <p:cNvPr id="12" name="!!acc_blade_0"/>
          <p:cNvSpPr/>
          <p:nvPr/>
        </p:nvSpPr>
        <p:spPr>
          <a:xfrm>
            <a:off x="411480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acc_badge_0"/>
          <p:cNvSpPr/>
          <p:nvPr/>
        </p:nvSpPr>
        <p:spPr>
          <a:xfrm>
            <a:off x="576072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acc_badget_0"/>
          <p:cNvSpPr txBox="1"/>
          <p:nvPr/>
        </p:nvSpPr>
        <p:spPr>
          <a:xfrm>
            <a:off x="594360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00E5FF"/>
                </a:solidFill>
                <a:latin typeface="Inter"/>
              </a:rPr>
              <a:t>01</a:t>
            </a:r>
          </a:p>
        </p:txBody>
      </p:sp>
      <p:sp>
        <p:nvSpPr>
          <p:cNvPr id="15" name="!!acc_body_0"/>
          <p:cNvSpPr txBox="1"/>
          <p:nvPr/>
        </p:nvSpPr>
        <p:spPr>
          <a:xfrm>
            <a:off x="539496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MAGNET PIVOT</a:t>
            </a:r>
          </a:p>
        </p:txBody>
      </p:sp>
      <p:pic>
        <p:nvPicPr>
          <p:cNvPr id="16" name="!!acc_img_0" descr="k28_eye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794760"/>
            <a:ext cx="1133856" cy="2286000"/>
          </a:xfrm>
          <a:prstGeom prst="rect">
            <a:avLst/>
          </a:prstGeom>
        </p:spPr>
      </p:pic>
      <p:sp>
        <p:nvSpPr>
          <p:cNvPr id="17" name="!!acc_blade_1"/>
          <p:cNvSpPr/>
          <p:nvPr/>
        </p:nvSpPr>
        <p:spPr>
          <a:xfrm>
            <a:off x="2075688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acc_badge_1"/>
          <p:cNvSpPr/>
          <p:nvPr/>
        </p:nvSpPr>
        <p:spPr>
          <a:xfrm>
            <a:off x="2240280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acc_badget_1"/>
          <p:cNvSpPr txBox="1"/>
          <p:nvPr/>
        </p:nvSpPr>
        <p:spPr>
          <a:xfrm>
            <a:off x="2258568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B800"/>
                </a:solidFill>
                <a:latin typeface="Inter"/>
              </a:rPr>
              <a:t>02</a:t>
            </a:r>
          </a:p>
        </p:txBody>
      </p:sp>
      <p:sp>
        <p:nvSpPr>
          <p:cNvPr id="20" name="!!acc_body_1"/>
          <p:cNvSpPr txBox="1"/>
          <p:nvPr/>
        </p:nvSpPr>
        <p:spPr>
          <a:xfrm>
            <a:off x="2203704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VELCRO BELT</a:t>
            </a:r>
          </a:p>
        </p:txBody>
      </p:sp>
      <p:pic>
        <p:nvPicPr>
          <p:cNvPr id="21" name="!!acc_img_1" descr="k28_pr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3794760"/>
            <a:ext cx="1133856" cy="2286000"/>
          </a:xfrm>
          <a:prstGeom prst="rect">
            <a:avLst/>
          </a:prstGeom>
        </p:spPr>
      </p:pic>
      <p:sp>
        <p:nvSpPr>
          <p:cNvPr id="22" name="!!acc_blade_2"/>
          <p:cNvSpPr/>
          <p:nvPr/>
        </p:nvSpPr>
        <p:spPr>
          <a:xfrm>
            <a:off x="3739896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acc_badge_2"/>
          <p:cNvSpPr/>
          <p:nvPr/>
        </p:nvSpPr>
        <p:spPr>
          <a:xfrm>
            <a:off x="3904487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acc_badget_2"/>
          <p:cNvSpPr txBox="1"/>
          <p:nvPr/>
        </p:nvSpPr>
        <p:spPr>
          <a:xfrm>
            <a:off x="3922776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00E676"/>
                </a:solidFill>
                <a:latin typeface="Inter"/>
              </a:rPr>
              <a:t>03</a:t>
            </a:r>
          </a:p>
        </p:txBody>
      </p:sp>
      <p:sp>
        <p:nvSpPr>
          <p:cNvPr id="25" name="!!acc_body_2"/>
          <p:cNvSpPr txBox="1"/>
          <p:nvPr/>
        </p:nvSpPr>
        <p:spPr>
          <a:xfrm>
            <a:off x="3867911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XIAO &amp; 12H LIPO</a:t>
            </a:r>
          </a:p>
        </p:txBody>
      </p:sp>
      <p:pic>
        <p:nvPicPr>
          <p:cNvPr id="26" name="!!acc_img_2" descr="k28_xi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794760"/>
            <a:ext cx="1133856" cy="2286000"/>
          </a:xfrm>
          <a:prstGeom prst="rect">
            <a:avLst/>
          </a:prstGeom>
        </p:spPr>
      </p:pic>
      <p:sp>
        <p:nvSpPr>
          <p:cNvPr id="27" name="!!acc_blade_3"/>
          <p:cNvSpPr/>
          <p:nvPr/>
        </p:nvSpPr>
        <p:spPr>
          <a:xfrm>
            <a:off x="5404104" y="1664208"/>
            <a:ext cx="6355080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42640"/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acc_badge_3"/>
          <p:cNvSpPr/>
          <p:nvPr/>
        </p:nvSpPr>
        <p:spPr>
          <a:xfrm>
            <a:off x="5605272" y="1847088"/>
            <a:ext cx="3474720" cy="329184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acc_badget_3"/>
          <p:cNvSpPr txBox="1"/>
          <p:nvPr/>
        </p:nvSpPr>
        <p:spPr>
          <a:xfrm>
            <a:off x="5641848" y="1874519"/>
            <a:ext cx="340156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A855F7"/>
                </a:solidFill>
                <a:latin typeface="Inter"/>
              </a:rPr>
              <a:t>04 · INSTANT 5-STEP AUTO-CALIBRATION</a:t>
            </a:r>
          </a:p>
        </p:txBody>
      </p:sp>
      <p:sp>
        <p:nvSpPr>
          <p:cNvPr id="30" name="!!acc_body_3"/>
          <p:cNvSpPr txBox="1"/>
          <p:nvPr/>
        </p:nvSpPr>
        <p:spPr>
          <a:xfrm>
            <a:off x="5605272" y="2304288"/>
            <a:ext cx="3520440" cy="3794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1. Connect via BLE/Wi-Fi   →   2. Load Saved User Profile in &lt;5 seconds.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3. Quick Head Nod/Tilt sets comfortable 25° ergonomic dead-zone.</a:t>
            </a:r>
          </a:p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4. 2–3s Blink Check syncs Live Python Eye Twin   →   5. Cursor Goes Live!</a:t>
            </a:r>
          </a:p>
        </p:txBody>
      </p:sp>
      <p:pic>
        <p:nvPicPr>
          <p:cNvPr id="31" name="!!acc_img_3" descr="k28_calthum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4584" y="1847088"/>
            <a:ext cx="2331720" cy="4279392"/>
          </a:xfrm>
          <a:prstGeom prst="rect">
            <a:avLst/>
          </a:prstGeom>
        </p:spPr>
      </p:pic>
    </p:spTree>
  </p:cSld>
  <p:clrMapOvr>
    <a:masterClrMapping/>
  </p:clrMapOvr>
  <p:transition spd="med" advTm="8500">
    <p:fade/>
    <p:extLst>
      <p:ext uri="{D84E410A-3911-4435-9328-F4292B5D5B2B}">
        <p159:morph xmlns:p159="http://schemas.microsoft.com/office/powerpoint/2015/09/main" xmlns="" option="byObject"/>
      </p:ext>
    </p:extLst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03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IRIS UNIVERSAL APP  ·  01 HOME SCREEN (4 MAIN HUBS)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1:17 – 1:25   [10/28]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405928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One App.  4 Clutter-Free Hubs.  Zero Mis-Clicks.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Oversized tiles engineered for head-tilt steering and 200–500ms blink clicking.</a:t>
            </a:r>
          </a:p>
        </p:txBody>
      </p:sp>
      <p:sp>
        <p:nvSpPr>
          <p:cNvPr id="12" name="!!ui_browser_win"/>
          <p:cNvSpPr/>
          <p:nvPr/>
        </p:nvSpPr>
        <p:spPr>
          <a:xfrm>
            <a:off x="411480" y="1664208"/>
            <a:ext cx="6720840" cy="4709160"/>
          </a:xfrm>
          <a:prstGeom prst="round2DiagRect">
            <a:avLst>
              <a:gd name="adj1" fmla="val 4000"/>
              <a:gd name="adj2" fmla="val 0"/>
            </a:avLst>
          </a:prstGeom>
          <a:solidFill>
            <a:srgbClr val="0C1321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ui_browser_top"/>
          <p:cNvSpPr/>
          <p:nvPr/>
        </p:nvSpPr>
        <p:spPr>
          <a:xfrm>
            <a:off x="411480" y="1664208"/>
            <a:ext cx="6720840" cy="347472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ui_browser_url"/>
          <p:cNvSpPr txBox="1"/>
          <p:nvPr/>
        </p:nvSpPr>
        <p:spPr>
          <a:xfrm>
            <a:off x="594360" y="1700784"/>
            <a:ext cx="6355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E5FF"/>
                </a:solidFill>
                <a:latin typeface="Inter"/>
              </a:rPr>
              <a:t>https://projectiris.dev/universal-app   ·   SCREEN 01 OF 04</a:t>
            </a:r>
          </a:p>
        </p:txBody>
      </p:sp>
      <p:pic>
        <p:nvPicPr>
          <p:cNvPr id="15" name="anim_ui_browser_img" descr="k28_app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6543"/>
            <a:ext cx="6537960" cy="4206240"/>
          </a:xfrm>
          <a:prstGeom prst="rect">
            <a:avLst/>
          </a:prstGeom>
        </p:spPr>
      </p:pic>
      <p:sp>
        <p:nvSpPr>
          <p:cNvPr id="16" name="!!uib_0_bg"/>
          <p:cNvSpPr/>
          <p:nvPr/>
        </p:nvSpPr>
        <p:spPr>
          <a:xfrm>
            <a:off x="7315200" y="16642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uib_0_bar"/>
          <p:cNvSpPr/>
          <p:nvPr/>
        </p:nvSpPr>
        <p:spPr>
          <a:xfrm>
            <a:off x="7461504" y="16916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uib_0_hex"/>
          <p:cNvSpPr/>
          <p:nvPr/>
        </p:nvSpPr>
        <p:spPr>
          <a:xfrm>
            <a:off x="11466576" y="28346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uib_0_pill"/>
          <p:cNvSpPr/>
          <p:nvPr/>
        </p:nvSpPr>
        <p:spPr>
          <a:xfrm>
            <a:off x="7479792" y="1828800"/>
            <a:ext cx="1376172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uib_0_pill_t"/>
          <p:cNvSpPr txBox="1"/>
          <p:nvPr/>
        </p:nvSpPr>
        <p:spPr>
          <a:xfrm>
            <a:off x="7516368" y="1847088"/>
            <a:ext cx="130301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HUB 01 &amp; 02</a:t>
            </a:r>
          </a:p>
        </p:txBody>
      </p:sp>
      <p:sp>
        <p:nvSpPr>
          <p:cNvPr id="21" name="anim_uib_0_txt"/>
          <p:cNvSpPr txBox="1"/>
          <p:nvPr/>
        </p:nvSpPr>
        <p:spPr>
          <a:xfrm>
            <a:off x="7479792" y="21945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Communication &amp; SOS Siren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Instant access to daily phrase tiles and one-blink emergency alarm.</a:t>
            </a:r>
          </a:p>
        </p:txBody>
      </p:sp>
      <p:sp>
        <p:nvSpPr>
          <p:cNvPr id="22" name="!!uib_1_bg"/>
          <p:cNvSpPr/>
          <p:nvPr/>
        </p:nvSpPr>
        <p:spPr>
          <a:xfrm>
            <a:off x="7315200" y="32644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uib_1_bar"/>
          <p:cNvSpPr/>
          <p:nvPr/>
        </p:nvSpPr>
        <p:spPr>
          <a:xfrm>
            <a:off x="7461504" y="32918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uib_1_hex"/>
          <p:cNvSpPr/>
          <p:nvPr/>
        </p:nvSpPr>
        <p:spPr>
          <a:xfrm>
            <a:off x="11466576" y="44348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uib_1_pill"/>
          <p:cNvSpPr/>
          <p:nvPr/>
        </p:nvSpPr>
        <p:spPr>
          <a:xfrm>
            <a:off x="7479792" y="3429000"/>
            <a:ext cx="128016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uib_1_pill_t"/>
          <p:cNvSpPr txBox="1"/>
          <p:nvPr/>
        </p:nvSpPr>
        <p:spPr>
          <a:xfrm>
            <a:off x="7516368" y="3447288"/>
            <a:ext cx="1207007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HUB 03</a:t>
            </a:r>
          </a:p>
        </p:txBody>
      </p:sp>
      <p:sp>
        <p:nvSpPr>
          <p:cNvPr id="27" name="anim_uib_1_txt"/>
          <p:cNvSpPr txBox="1"/>
          <p:nvPr/>
        </p:nvSpPr>
        <p:spPr>
          <a:xfrm>
            <a:off x="7479792" y="37947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Patient Health Tracker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Log daily pain locations, pillow adjustments &amp; comfort scores.</a:t>
            </a:r>
          </a:p>
        </p:txBody>
      </p:sp>
      <p:sp>
        <p:nvSpPr>
          <p:cNvPr id="28" name="!!uib_2_bg"/>
          <p:cNvSpPr/>
          <p:nvPr/>
        </p:nvSpPr>
        <p:spPr>
          <a:xfrm>
            <a:off x="7315200" y="48646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uib_2_bar"/>
          <p:cNvSpPr/>
          <p:nvPr/>
        </p:nvSpPr>
        <p:spPr>
          <a:xfrm>
            <a:off x="7461504" y="48920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uib_2_hex"/>
          <p:cNvSpPr/>
          <p:nvPr/>
        </p:nvSpPr>
        <p:spPr>
          <a:xfrm>
            <a:off x="11466576" y="60350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uib_2_pill"/>
          <p:cNvSpPr/>
          <p:nvPr/>
        </p:nvSpPr>
        <p:spPr>
          <a:xfrm>
            <a:off x="7479792" y="5029200"/>
            <a:ext cx="128016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uib_2_pill_t"/>
          <p:cNvSpPr txBox="1"/>
          <p:nvPr/>
        </p:nvSpPr>
        <p:spPr>
          <a:xfrm>
            <a:off x="7516368" y="5047488"/>
            <a:ext cx="1207007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HUB 04</a:t>
            </a:r>
          </a:p>
        </p:txBody>
      </p:sp>
      <p:sp>
        <p:nvSpPr>
          <p:cNvPr id="33" name="anim_uib_2_txt"/>
          <p:cNvSpPr txBox="1"/>
          <p:nvPr/>
        </p:nvSpPr>
        <p:spPr>
          <a:xfrm>
            <a:off x="7479792" y="53949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Master Settings Hub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Houses all 6 advanced menus so the home screen stays simple.</a:t>
            </a:r>
          </a:p>
        </p:txBody>
      </p:sp>
    </p:spTree>
  </p:cSld>
  <p:clrMapOvr>
    <a:masterClrMapping/>
  </p:clrMapOvr>
  <p:transition spd="med" advTm="8500">
    <p:comb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1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3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7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03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IRIS UNIVERSAL APP  ·  02 AI-AUGMENTED COMMUNICATION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1:25 – 1:34   [11/28]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4465211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Telegraphic Blinks In.  Full Spoken Sentences Out.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Selects 'pain / left shoulder / sharp' → Google Gemini AI expands &amp; speaks in English or Hindi.</a:t>
            </a:r>
          </a:p>
        </p:txBody>
      </p:sp>
      <p:sp>
        <p:nvSpPr>
          <p:cNvPr id="12" name="!!ui_browser_win"/>
          <p:cNvSpPr/>
          <p:nvPr/>
        </p:nvSpPr>
        <p:spPr>
          <a:xfrm>
            <a:off x="411480" y="1664208"/>
            <a:ext cx="6720840" cy="4709160"/>
          </a:xfrm>
          <a:prstGeom prst="round2DiagRect">
            <a:avLst>
              <a:gd name="adj1" fmla="val 4000"/>
              <a:gd name="adj2" fmla="val 0"/>
            </a:avLst>
          </a:prstGeom>
          <a:solidFill>
            <a:srgbClr val="0C1321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ui_browser_top"/>
          <p:cNvSpPr/>
          <p:nvPr/>
        </p:nvSpPr>
        <p:spPr>
          <a:xfrm>
            <a:off x="411480" y="1664208"/>
            <a:ext cx="6720840" cy="347472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ui_browser_url"/>
          <p:cNvSpPr txBox="1"/>
          <p:nvPr/>
        </p:nvSpPr>
        <p:spPr>
          <a:xfrm>
            <a:off x="594360" y="1700784"/>
            <a:ext cx="6355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E5FF"/>
                </a:solidFill>
                <a:latin typeface="Inter"/>
              </a:rPr>
              <a:t>https://projectiris.dev/universal-app   ·   SCREEN 02 OF 04</a:t>
            </a:r>
          </a:p>
        </p:txBody>
      </p:sp>
      <p:pic>
        <p:nvPicPr>
          <p:cNvPr id="15" name="!!ui_img_1" descr="k28_appcom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6543"/>
            <a:ext cx="6537960" cy="4206240"/>
          </a:xfrm>
          <a:prstGeom prst="rect">
            <a:avLst/>
          </a:prstGeom>
        </p:spPr>
      </p:pic>
      <p:sp>
        <p:nvSpPr>
          <p:cNvPr id="16" name="!!uib_0_bg"/>
          <p:cNvSpPr/>
          <p:nvPr/>
        </p:nvSpPr>
        <p:spPr>
          <a:xfrm>
            <a:off x="7315200" y="16642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uib_0_bar"/>
          <p:cNvSpPr/>
          <p:nvPr/>
        </p:nvSpPr>
        <p:spPr>
          <a:xfrm>
            <a:off x="7461504" y="16916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uib_0_hex"/>
          <p:cNvSpPr/>
          <p:nvPr/>
        </p:nvSpPr>
        <p:spPr>
          <a:xfrm>
            <a:off x="11466576" y="28346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uib_0_pill"/>
          <p:cNvSpPr/>
          <p:nvPr/>
        </p:nvSpPr>
        <p:spPr>
          <a:xfrm>
            <a:off x="7479792" y="1828800"/>
            <a:ext cx="2144268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uib_0_pill_t"/>
          <p:cNvSpPr txBox="1"/>
          <p:nvPr/>
        </p:nvSpPr>
        <p:spPr>
          <a:xfrm>
            <a:off x="7516368" y="1847088"/>
            <a:ext cx="2071115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OFFLINE-READY TILES</a:t>
            </a:r>
          </a:p>
        </p:txBody>
      </p:sp>
      <p:sp>
        <p:nvSpPr>
          <p:cNvPr id="21" name="anim_uib_0_txt"/>
          <p:cNvSpPr txBox="1"/>
          <p:nvPr/>
        </p:nvSpPr>
        <p:spPr>
          <a:xfrm>
            <a:off x="7479792" y="21945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Water, Food, Medicine, Pain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High-contrast numbered tiles work 100% offline with 99.6% hit accuracy.</a:t>
            </a:r>
          </a:p>
        </p:txBody>
      </p:sp>
      <p:sp>
        <p:nvSpPr>
          <p:cNvPr id="22" name="!!uib_1_bg"/>
          <p:cNvSpPr/>
          <p:nvPr/>
        </p:nvSpPr>
        <p:spPr>
          <a:xfrm>
            <a:off x="7315200" y="32644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uib_1_bar"/>
          <p:cNvSpPr/>
          <p:nvPr/>
        </p:nvSpPr>
        <p:spPr>
          <a:xfrm>
            <a:off x="7461504" y="32918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uib_1_hex"/>
          <p:cNvSpPr/>
          <p:nvPr/>
        </p:nvSpPr>
        <p:spPr>
          <a:xfrm>
            <a:off x="11466576" y="44348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uib_1_pill"/>
          <p:cNvSpPr/>
          <p:nvPr/>
        </p:nvSpPr>
        <p:spPr>
          <a:xfrm>
            <a:off x="7479792" y="3429000"/>
            <a:ext cx="1952243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uib_1_pill_t"/>
          <p:cNvSpPr txBox="1"/>
          <p:nvPr/>
        </p:nvSpPr>
        <p:spPr>
          <a:xfrm>
            <a:off x="7516368" y="3447288"/>
            <a:ext cx="1879091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GOOGLE GEMINI LLM</a:t>
            </a:r>
          </a:p>
        </p:txBody>
      </p:sp>
      <p:sp>
        <p:nvSpPr>
          <p:cNvPr id="27" name="anim_uib_1_txt"/>
          <p:cNvSpPr txBox="1"/>
          <p:nvPr/>
        </p:nvSpPr>
        <p:spPr>
          <a:xfrm>
            <a:off x="7479792" y="37947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Telegraphic Sentence Expansion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Cuts blink-typing effort by over 60% for fatigued ALS patients.</a:t>
            </a:r>
          </a:p>
        </p:txBody>
      </p:sp>
      <p:sp>
        <p:nvSpPr>
          <p:cNvPr id="28" name="!!uib_2_bg"/>
          <p:cNvSpPr/>
          <p:nvPr/>
        </p:nvSpPr>
        <p:spPr>
          <a:xfrm>
            <a:off x="7315200" y="48646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uib_2_bar"/>
          <p:cNvSpPr/>
          <p:nvPr/>
        </p:nvSpPr>
        <p:spPr>
          <a:xfrm>
            <a:off x="7461504" y="48920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uib_2_hex"/>
          <p:cNvSpPr/>
          <p:nvPr/>
        </p:nvSpPr>
        <p:spPr>
          <a:xfrm>
            <a:off x="11466576" y="60350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uib_2_pill"/>
          <p:cNvSpPr/>
          <p:nvPr/>
        </p:nvSpPr>
        <p:spPr>
          <a:xfrm>
            <a:off x="7479792" y="5029200"/>
            <a:ext cx="224028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uib_2_pill_t"/>
          <p:cNvSpPr txBox="1"/>
          <p:nvPr/>
        </p:nvSpPr>
        <p:spPr>
          <a:xfrm>
            <a:off x="7516368" y="5047488"/>
            <a:ext cx="216712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LOCAL WEB SPEECH TTS</a:t>
            </a:r>
          </a:p>
        </p:txBody>
      </p:sp>
      <p:sp>
        <p:nvSpPr>
          <p:cNvPr id="33" name="anim_uib_2_txt"/>
          <p:cNvSpPr txBox="1"/>
          <p:nvPr/>
        </p:nvSpPr>
        <p:spPr>
          <a:xfrm>
            <a:off x="7479792" y="53949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Hindi &amp; English Voice Output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Patient confirms before speaking — zero cloud audio recording.</a:t>
            </a:r>
          </a:p>
        </p:txBody>
      </p:sp>
    </p:spTree>
  </p:cSld>
  <p:clrMapOvr>
    <a:masterClrMapping/>
  </p:clrMapOvr>
  <p:transition spd="med" advTm="8500">
    <p:fade/>
    <p:extLst>
      <p:ext uri="{D84E410A-3911-4435-9328-F4292B5D5B2B}">
        <p159:morph xmlns:p159="http://schemas.microsoft.com/office/powerpoint/2015/09/main" xmlns="" option="byObject"/>
      </p:ext>
    </p:extLst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03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IRIS UNIVERSAL APP  ·  03 280ms CARETAKER ALERT &amp; IOT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1:34 – 1:42   [12/28]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4871139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One Blink on Screen  →  Caretaker's Phone Rings in 280ms.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Two-tier ntfy.sh push pipeline + Wi-Fi Smart-Room relays for bedroom lights &amp; fans.</a:t>
            </a:r>
          </a:p>
        </p:txBody>
      </p:sp>
      <p:sp>
        <p:nvSpPr>
          <p:cNvPr id="12" name="!!ui_browser_win"/>
          <p:cNvSpPr/>
          <p:nvPr/>
        </p:nvSpPr>
        <p:spPr>
          <a:xfrm>
            <a:off x="411480" y="1664208"/>
            <a:ext cx="6720840" cy="4709160"/>
          </a:xfrm>
          <a:prstGeom prst="round2DiagRect">
            <a:avLst>
              <a:gd name="adj1" fmla="val 4000"/>
              <a:gd name="adj2" fmla="val 0"/>
            </a:avLst>
          </a:prstGeom>
          <a:solidFill>
            <a:srgbClr val="0C1321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ui_browser_top"/>
          <p:cNvSpPr/>
          <p:nvPr/>
        </p:nvSpPr>
        <p:spPr>
          <a:xfrm>
            <a:off x="411480" y="1664208"/>
            <a:ext cx="6720840" cy="347472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ui_browser_url"/>
          <p:cNvSpPr txBox="1"/>
          <p:nvPr/>
        </p:nvSpPr>
        <p:spPr>
          <a:xfrm>
            <a:off x="594360" y="1700784"/>
            <a:ext cx="6355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E5FF"/>
                </a:solidFill>
                <a:latin typeface="Inter"/>
              </a:rPr>
              <a:t>https://projectiris.dev/universal-app   ·   SCREEN 03 OF 04</a:t>
            </a:r>
          </a:p>
        </p:txBody>
      </p:sp>
      <p:pic>
        <p:nvPicPr>
          <p:cNvPr id="15" name="!!ui_img_2" descr="k28_appc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6543"/>
            <a:ext cx="6537960" cy="4206240"/>
          </a:xfrm>
          <a:prstGeom prst="rect">
            <a:avLst/>
          </a:prstGeom>
        </p:spPr>
      </p:pic>
      <p:sp>
        <p:nvSpPr>
          <p:cNvPr id="16" name="!!uib_0_bg"/>
          <p:cNvSpPr/>
          <p:nvPr/>
        </p:nvSpPr>
        <p:spPr>
          <a:xfrm>
            <a:off x="7315200" y="16642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uib_0_bar"/>
          <p:cNvSpPr/>
          <p:nvPr/>
        </p:nvSpPr>
        <p:spPr>
          <a:xfrm>
            <a:off x="7461504" y="16916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uib_0_hex"/>
          <p:cNvSpPr/>
          <p:nvPr/>
        </p:nvSpPr>
        <p:spPr>
          <a:xfrm>
            <a:off x="11466576" y="28346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uib_0_pill"/>
          <p:cNvSpPr/>
          <p:nvPr/>
        </p:nvSpPr>
        <p:spPr>
          <a:xfrm>
            <a:off x="7479792" y="1828800"/>
            <a:ext cx="1856231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uib_0_pill_t"/>
          <p:cNvSpPr txBox="1"/>
          <p:nvPr/>
        </p:nvSpPr>
        <p:spPr>
          <a:xfrm>
            <a:off x="7516368" y="1847088"/>
            <a:ext cx="178307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TWO-TIER NTFY.SH</a:t>
            </a:r>
          </a:p>
        </p:txBody>
      </p:sp>
      <p:sp>
        <p:nvSpPr>
          <p:cNvPr id="21" name="anim_uib_0_txt"/>
          <p:cNvSpPr txBox="1"/>
          <p:nvPr/>
        </p:nvSpPr>
        <p:spPr>
          <a:xfrm>
            <a:off x="7479792" y="21945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Server Proxy + Direct Fallback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Delivers emergency sirens in 145ms (Wi-Fi) &amp; 280ms (cellular).</a:t>
            </a:r>
          </a:p>
        </p:txBody>
      </p:sp>
      <p:sp>
        <p:nvSpPr>
          <p:cNvPr id="22" name="!!uib_1_bg"/>
          <p:cNvSpPr/>
          <p:nvPr/>
        </p:nvSpPr>
        <p:spPr>
          <a:xfrm>
            <a:off x="7315200" y="32644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uib_1_bar"/>
          <p:cNvSpPr/>
          <p:nvPr/>
        </p:nvSpPr>
        <p:spPr>
          <a:xfrm>
            <a:off x="7461504" y="32918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uib_1_hex"/>
          <p:cNvSpPr/>
          <p:nvPr/>
        </p:nvSpPr>
        <p:spPr>
          <a:xfrm>
            <a:off x="11466576" y="44348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uib_1_pill"/>
          <p:cNvSpPr/>
          <p:nvPr/>
        </p:nvSpPr>
        <p:spPr>
          <a:xfrm>
            <a:off x="7479792" y="3429000"/>
            <a:ext cx="1856231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uib_1_pill_t"/>
          <p:cNvSpPr txBox="1"/>
          <p:nvPr/>
        </p:nvSpPr>
        <p:spPr>
          <a:xfrm>
            <a:off x="7516368" y="3447288"/>
            <a:ext cx="178307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87.2% FASTER AID</a:t>
            </a:r>
          </a:p>
        </p:txBody>
      </p:sp>
      <p:sp>
        <p:nvSpPr>
          <p:cNvPr id="27" name="anim_uib_1_txt"/>
          <p:cNvSpPr txBox="1"/>
          <p:nvPr/>
        </p:nvSpPr>
        <p:spPr>
          <a:xfrm>
            <a:off x="7479792" y="37947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18.2s vs. 4.2 Min Call Bell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Deep-link opens live Caregiver Portal on Android, iPhone &amp; Watch.</a:t>
            </a:r>
          </a:p>
        </p:txBody>
      </p:sp>
      <p:sp>
        <p:nvSpPr>
          <p:cNvPr id="28" name="!!uib_2_bg"/>
          <p:cNvSpPr/>
          <p:nvPr/>
        </p:nvSpPr>
        <p:spPr>
          <a:xfrm>
            <a:off x="7315200" y="48646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uib_2_bar"/>
          <p:cNvSpPr/>
          <p:nvPr/>
        </p:nvSpPr>
        <p:spPr>
          <a:xfrm>
            <a:off x="7461504" y="48920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uib_2_hex"/>
          <p:cNvSpPr/>
          <p:nvPr/>
        </p:nvSpPr>
        <p:spPr>
          <a:xfrm>
            <a:off x="11466576" y="60350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uib_2_pill"/>
          <p:cNvSpPr/>
          <p:nvPr/>
        </p:nvSpPr>
        <p:spPr>
          <a:xfrm>
            <a:off x="7479792" y="5029200"/>
            <a:ext cx="224028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uib_2_pill_t"/>
          <p:cNvSpPr txBox="1"/>
          <p:nvPr/>
        </p:nvSpPr>
        <p:spPr>
          <a:xfrm>
            <a:off x="7516368" y="5047488"/>
            <a:ext cx="216712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SMART ROOM WI-FI IOT</a:t>
            </a:r>
          </a:p>
        </p:txBody>
      </p:sp>
      <p:sp>
        <p:nvSpPr>
          <p:cNvPr id="33" name="anim_uib_2_txt"/>
          <p:cNvSpPr txBox="1"/>
          <p:nvPr/>
        </p:nvSpPr>
        <p:spPr>
          <a:xfrm>
            <a:off x="7479792" y="53949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Control Lights &amp; Fans via Blink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Restores 2 a.m. bedroom autonomy + auto Wi-Fi failover if BLE drops.</a:t>
            </a:r>
          </a:p>
        </p:txBody>
      </p:sp>
    </p:spTree>
  </p:cSld>
  <p:clrMapOvr>
    <a:masterClrMapping/>
  </p:clrMapOvr>
  <p:transition spd="med" advTm="8500">
    <p:fade/>
    <p:extLst>
      <p:ext uri="{D84E410A-3911-4435-9328-F4292B5D5B2B}">
        <p159:morph xmlns:p159="http://schemas.microsoft.com/office/powerpoint/2015/09/main" xmlns="" option="byObject"/>
      </p:ext>
    </p:extLst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03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IRIS UNIVERSAL APP  ·  04 360° FLIGHT SIM &amp; REHAB ARCADE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1:42 – 1:51   [13/28]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5277067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Sensory &amp; Cognitive Rehab:  Joy, Play &amp; Recovery.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Settings Hub houses a 60 FPS 360° Cockpit Flight Simulator, Blink Arcade, Music &amp; Audiobooks.</a:t>
            </a:r>
          </a:p>
        </p:txBody>
      </p:sp>
      <p:sp>
        <p:nvSpPr>
          <p:cNvPr id="12" name="!!ui_browser_win"/>
          <p:cNvSpPr/>
          <p:nvPr/>
        </p:nvSpPr>
        <p:spPr>
          <a:xfrm>
            <a:off x="411480" y="1664208"/>
            <a:ext cx="6720840" cy="4709160"/>
          </a:xfrm>
          <a:prstGeom prst="round2DiagRect">
            <a:avLst>
              <a:gd name="adj1" fmla="val 4000"/>
              <a:gd name="adj2" fmla="val 0"/>
            </a:avLst>
          </a:prstGeom>
          <a:solidFill>
            <a:srgbClr val="0C1321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ui_browser_top"/>
          <p:cNvSpPr/>
          <p:nvPr/>
        </p:nvSpPr>
        <p:spPr>
          <a:xfrm>
            <a:off x="411480" y="1664208"/>
            <a:ext cx="6720840" cy="347472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ui_browser_url"/>
          <p:cNvSpPr txBox="1"/>
          <p:nvPr/>
        </p:nvSpPr>
        <p:spPr>
          <a:xfrm>
            <a:off x="594360" y="1700784"/>
            <a:ext cx="6355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E5FF"/>
                </a:solidFill>
                <a:latin typeface="Inter"/>
              </a:rPr>
              <a:t>https://projectiris.dev/universal-app   ·   SCREEN 04 OF 04</a:t>
            </a:r>
          </a:p>
        </p:txBody>
      </p:sp>
      <p:pic>
        <p:nvPicPr>
          <p:cNvPr id="15" name="!!ui_img_3" descr="k28_appdi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6543"/>
            <a:ext cx="6537960" cy="4206240"/>
          </a:xfrm>
          <a:prstGeom prst="rect">
            <a:avLst/>
          </a:prstGeom>
        </p:spPr>
      </p:pic>
      <p:sp>
        <p:nvSpPr>
          <p:cNvPr id="16" name="!!uib_0_bg"/>
          <p:cNvSpPr/>
          <p:nvPr/>
        </p:nvSpPr>
        <p:spPr>
          <a:xfrm>
            <a:off x="7315200" y="16642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uib_0_bar"/>
          <p:cNvSpPr/>
          <p:nvPr/>
        </p:nvSpPr>
        <p:spPr>
          <a:xfrm>
            <a:off x="7461504" y="16916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uib_0_hex"/>
          <p:cNvSpPr/>
          <p:nvPr/>
        </p:nvSpPr>
        <p:spPr>
          <a:xfrm>
            <a:off x="11466576" y="28346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uib_0_pill"/>
          <p:cNvSpPr/>
          <p:nvPr/>
        </p:nvSpPr>
        <p:spPr>
          <a:xfrm>
            <a:off x="7479792" y="1828800"/>
            <a:ext cx="2336292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uib_0_pill_t"/>
          <p:cNvSpPr txBox="1"/>
          <p:nvPr/>
        </p:nvSpPr>
        <p:spPr>
          <a:xfrm>
            <a:off x="7516368" y="1847088"/>
            <a:ext cx="22631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360° FLIGHT SIMULATOR</a:t>
            </a:r>
          </a:p>
        </p:txBody>
      </p:sp>
      <p:sp>
        <p:nvSpPr>
          <p:cNvPr id="21" name="anim_uib_0_txt"/>
          <p:cNvSpPr txBox="1"/>
          <p:nvPr/>
        </p:nvSpPr>
        <p:spPr>
          <a:xfrm>
            <a:off x="7479792" y="21945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60 FPS Cockpit Photosphere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Head tilt banks yaw &amp; pitch with live airspeed &amp; horizon HUD.</a:t>
            </a:r>
          </a:p>
        </p:txBody>
      </p:sp>
      <p:sp>
        <p:nvSpPr>
          <p:cNvPr id="22" name="!!uib_1_bg"/>
          <p:cNvSpPr/>
          <p:nvPr/>
        </p:nvSpPr>
        <p:spPr>
          <a:xfrm>
            <a:off x="7315200" y="32644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uib_1_bar"/>
          <p:cNvSpPr/>
          <p:nvPr/>
        </p:nvSpPr>
        <p:spPr>
          <a:xfrm>
            <a:off x="7461504" y="32918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uib_1_hex"/>
          <p:cNvSpPr/>
          <p:nvPr/>
        </p:nvSpPr>
        <p:spPr>
          <a:xfrm>
            <a:off x="11466576" y="44348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uib_1_pill"/>
          <p:cNvSpPr/>
          <p:nvPr/>
        </p:nvSpPr>
        <p:spPr>
          <a:xfrm>
            <a:off x="7479792" y="3429000"/>
            <a:ext cx="2048255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uib_1_pill_t"/>
          <p:cNvSpPr txBox="1"/>
          <p:nvPr/>
        </p:nvSpPr>
        <p:spPr>
          <a:xfrm>
            <a:off x="7516368" y="3447288"/>
            <a:ext cx="1975103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OCULAR REHAB GAMES</a:t>
            </a:r>
          </a:p>
        </p:txBody>
      </p:sp>
      <p:sp>
        <p:nvSpPr>
          <p:cNvPr id="27" name="anim_uib_1_txt"/>
          <p:cNvSpPr txBox="1"/>
          <p:nvPr/>
        </p:nvSpPr>
        <p:spPr>
          <a:xfrm>
            <a:off x="7479792" y="37947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Dino Glide &amp; Flappy Gaze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Turns daily saccadic &amp; ocular elevation exercise into fun play.</a:t>
            </a:r>
          </a:p>
        </p:txBody>
      </p:sp>
      <p:sp>
        <p:nvSpPr>
          <p:cNvPr id="28" name="!!uib_2_bg"/>
          <p:cNvSpPr/>
          <p:nvPr/>
        </p:nvSpPr>
        <p:spPr>
          <a:xfrm>
            <a:off x="7315200" y="48646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uib_2_bar"/>
          <p:cNvSpPr/>
          <p:nvPr/>
        </p:nvSpPr>
        <p:spPr>
          <a:xfrm>
            <a:off x="7461504" y="48920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uib_2_hex"/>
          <p:cNvSpPr/>
          <p:nvPr/>
        </p:nvSpPr>
        <p:spPr>
          <a:xfrm>
            <a:off x="11466576" y="60350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uib_2_pill"/>
          <p:cNvSpPr/>
          <p:nvPr/>
        </p:nvSpPr>
        <p:spPr>
          <a:xfrm>
            <a:off x="7479792" y="5029200"/>
            <a:ext cx="2048255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uib_2_pill_t"/>
          <p:cNvSpPr txBox="1"/>
          <p:nvPr/>
        </p:nvSpPr>
        <p:spPr>
          <a:xfrm>
            <a:off x="7516368" y="5047488"/>
            <a:ext cx="1975103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AUDIO THERAPEUTICS</a:t>
            </a:r>
          </a:p>
        </p:txBody>
      </p:sp>
      <p:sp>
        <p:nvSpPr>
          <p:cNvPr id="33" name="anim_uib_2_txt"/>
          <p:cNvSpPr txBox="1"/>
          <p:nvPr/>
        </p:nvSpPr>
        <p:spPr>
          <a:xfrm>
            <a:off x="7479792" y="53949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Binaural Music &amp; Audiobooks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Hindi &amp; English audiobooks with smooth Web Audio volume curves.</a:t>
            </a:r>
          </a:p>
        </p:txBody>
      </p:sp>
    </p:spTree>
  </p:cSld>
  <p:clrMapOvr>
    <a:masterClrMapping/>
  </p:clrMapOvr>
  <p:transition spd="med" advTm="8500">
    <p:fade/>
    <p:extLst>
      <p:ext uri="{D84E410A-3911-4435-9328-F4292B5D5B2B}">
        <p159:morph xmlns:p159="http://schemas.microsoft.com/office/powerpoint/2015/09/main" xmlns="" option="byObject"/>
      </p:ext>
    </p:extLst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04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TECHNICAL SECTION  ·  COMPLETE CIRCUIT SCHEMATIC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1:51 – 2:00   [14/28]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5682996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Hardware Schematic:  Direct XIAO Li-Po Architecture.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Connects the 3.7V 1000mAh Li-Po straight to XIAO BAT+/BAT- via a 2A fuse — zero buck converter.</a:t>
            </a:r>
          </a:p>
        </p:txBody>
      </p:sp>
      <p:sp>
        <p:nvSpPr>
          <p:cNvPr id="12" name="!!sch_box"/>
          <p:cNvSpPr/>
          <p:nvPr/>
        </p:nvSpPr>
        <p:spPr>
          <a:xfrm>
            <a:off x="411480" y="1664208"/>
            <a:ext cx="6720840" cy="4709160"/>
          </a:xfrm>
          <a:prstGeom prst="round2DiagRect">
            <a:avLst>
              <a:gd name="adj1" fmla="val 4000"/>
              <a:gd name="adj2" fmla="val 0"/>
            </a:avLst>
          </a:prstGeom>
          <a:solidFill>
            <a:srgbClr val="F8FAFF"/>
          </a:solidFill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anim_sch_pic" descr="k28_circu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55648"/>
            <a:ext cx="6537960" cy="4526280"/>
          </a:xfrm>
          <a:prstGeom prst="rect">
            <a:avLst/>
          </a:prstGeom>
        </p:spPr>
      </p:pic>
      <p:sp>
        <p:nvSpPr>
          <p:cNvPr id="14" name="!!sch_c_0"/>
          <p:cNvSpPr/>
          <p:nvPr/>
        </p:nvSpPr>
        <p:spPr>
          <a:xfrm>
            <a:off x="7315200" y="1664208"/>
            <a:ext cx="4462272" cy="1078992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_sch_ct_0"/>
          <p:cNvSpPr txBox="1"/>
          <p:nvPr/>
        </p:nvSpPr>
        <p:spPr>
          <a:xfrm>
            <a:off x="7498079" y="1755648"/>
            <a:ext cx="4096512" cy="8961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E5FF"/>
                </a:solidFill>
                <a:latin typeface="Inter"/>
              </a:rPr>
              <a:t>MCU &amp; WIRELESS</a:t>
            </a:r>
          </a:p>
          <a:p>
            <a:pPr algn="l">
              <a:spcAft>
                <a:spcPts val="2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Seeed XIAO ESP32C3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32-bit RISC-V @ 160MHz · BLE 5.0 + Wi-Fi</a:t>
            </a:r>
          </a:p>
        </p:txBody>
      </p:sp>
      <p:sp>
        <p:nvSpPr>
          <p:cNvPr id="16" name="!!sch_c_1"/>
          <p:cNvSpPr/>
          <p:nvPr/>
        </p:nvSpPr>
        <p:spPr>
          <a:xfrm>
            <a:off x="7315200" y="2871216"/>
            <a:ext cx="4462272" cy="1078992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286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sch_ct_1"/>
          <p:cNvSpPr txBox="1"/>
          <p:nvPr/>
        </p:nvSpPr>
        <p:spPr>
          <a:xfrm>
            <a:off x="7498079" y="2962656"/>
            <a:ext cx="4096512" cy="8961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B800"/>
                </a:solidFill>
                <a:latin typeface="Inter"/>
              </a:rPr>
              <a:t>INERTIAL SENSOR</a:t>
            </a:r>
          </a:p>
          <a:p>
            <a:pPr algn="l">
              <a:spcAft>
                <a:spcPts val="2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MPU6050 6-DOF MEMS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400kHz I2C bus · 50Hz pitch/roll sampling</a:t>
            </a:r>
          </a:p>
        </p:txBody>
      </p:sp>
      <p:sp>
        <p:nvSpPr>
          <p:cNvPr id="18" name="!!sch_c_2"/>
          <p:cNvSpPr/>
          <p:nvPr/>
        </p:nvSpPr>
        <p:spPr>
          <a:xfrm>
            <a:off x="7315200" y="4078224"/>
            <a:ext cx="4462272" cy="1078992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286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sch_ct_2"/>
          <p:cNvSpPr txBox="1"/>
          <p:nvPr/>
        </p:nvSpPr>
        <p:spPr>
          <a:xfrm>
            <a:off x="7498079" y="4169663"/>
            <a:ext cx="4096512" cy="8961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E676"/>
                </a:solidFill>
                <a:latin typeface="Inter"/>
              </a:rPr>
              <a:t>OPTICAL SENSOR</a:t>
            </a:r>
          </a:p>
          <a:p>
            <a:pPr algn="l">
              <a:spcAft>
                <a:spcPts val="2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950nm Multi-Beam IR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Onboard LM393 comparator · &lt;0.5 mW/cm²</a:t>
            </a:r>
          </a:p>
        </p:txBody>
      </p:sp>
      <p:sp>
        <p:nvSpPr>
          <p:cNvPr id="20" name="!!sch_c_3"/>
          <p:cNvSpPr/>
          <p:nvPr/>
        </p:nvSpPr>
        <p:spPr>
          <a:xfrm>
            <a:off x="7315200" y="5285232"/>
            <a:ext cx="4462272" cy="1078992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28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im_sch_ct_3"/>
          <p:cNvSpPr txBox="1"/>
          <p:nvPr/>
        </p:nvSpPr>
        <p:spPr>
          <a:xfrm>
            <a:off x="7498079" y="5376672"/>
            <a:ext cx="4096512" cy="8961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A855F7"/>
                </a:solidFill>
                <a:latin typeface="Inter"/>
              </a:rPr>
              <a:t>POWER &amp; SAFETY</a:t>
            </a:r>
          </a:p>
          <a:p>
            <a:pPr algn="l">
              <a:spcAft>
                <a:spcPts val="2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3.7V 1000mAh Li-Po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2A fuse · Onboard 3.3V reg · 12h Deep Sleep</a:t>
            </a:r>
          </a:p>
        </p:txBody>
      </p:sp>
    </p:spTree>
  </p:cSld>
  <p:clrMapOvr>
    <a:masterClrMapping/>
  </p:clrMapOvr>
  <p:transition spd="med" advTm="9000">
    <p:split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1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3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3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04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SIGNAL PIPELINE  ·  STAGE 01 OF 03 (OPTICAL + INERTIAL SENSORS)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2:00 – 2:08   [15/28]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6088924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Stage 1 (The Wearable):  Two Physical Signals, Zero Guessing.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3-Stage Chevron Architecture:  Previous stage compacts as the next stage expands.</a:t>
            </a:r>
          </a:p>
        </p:txBody>
      </p:sp>
      <p:sp>
        <p:nvSpPr>
          <p:cNvPr id="12" name="!!pipe_chev_1"/>
          <p:cNvSpPr/>
          <p:nvPr/>
        </p:nvSpPr>
        <p:spPr>
          <a:xfrm>
            <a:off x="411480" y="1664208"/>
            <a:ext cx="4709160" cy="1143000"/>
          </a:xfrm>
          <a:prstGeom prst="chevron">
            <a:avLst>
              <a:gd name="adj" fmla="val 12000"/>
            </a:avLst>
          </a:prstGeom>
          <a:solidFill>
            <a:srgbClr val="142640"/>
          </a:solidFill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pipe_chevt_1"/>
          <p:cNvSpPr txBox="1"/>
          <p:nvPr/>
        </p:nvSpPr>
        <p:spPr>
          <a:xfrm>
            <a:off x="813816" y="1792224"/>
            <a:ext cx="3995928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>
                <a:solidFill>
                  <a:srgbClr val="00E5FF"/>
                </a:solidFill>
                <a:latin typeface="Inter"/>
              </a:rPr>
              <a:t>STAGE 01 · WEARABLE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8FAFF"/>
                </a:solidFill>
                <a:latin typeface="Inter"/>
              </a:rPr>
              <a:t>950nm IR + MPU6050</a:t>
            </a:r>
          </a:p>
        </p:txBody>
      </p:sp>
      <p:sp>
        <p:nvSpPr>
          <p:cNvPr id="14" name="!!pipe_chev_2"/>
          <p:cNvSpPr/>
          <p:nvPr/>
        </p:nvSpPr>
        <p:spPr>
          <a:xfrm>
            <a:off x="5321808" y="1664208"/>
            <a:ext cx="3127248" cy="1143000"/>
          </a:xfrm>
          <a:prstGeom prst="chevron">
            <a:avLst>
              <a:gd name="adj" fmla="val 12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pipe_chevt_2"/>
          <p:cNvSpPr txBox="1"/>
          <p:nvPr/>
        </p:nvSpPr>
        <p:spPr>
          <a:xfrm>
            <a:off x="5724144" y="1792224"/>
            <a:ext cx="2414015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ACBEDA"/>
                </a:solidFill>
                <a:latin typeface="Inter"/>
              </a:rPr>
              <a:t>STAGE 02 · XIAO BRAIN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8FAFF"/>
                </a:solidFill>
                <a:latin typeface="Inter"/>
              </a:rPr>
              <a:t>RISC-V + LM393 Gate</a:t>
            </a:r>
          </a:p>
        </p:txBody>
      </p:sp>
      <p:sp>
        <p:nvSpPr>
          <p:cNvPr id="16" name="!!pipe_chev_3"/>
          <p:cNvSpPr/>
          <p:nvPr/>
        </p:nvSpPr>
        <p:spPr>
          <a:xfrm>
            <a:off x="8650224" y="1664208"/>
            <a:ext cx="3127248" cy="1143000"/>
          </a:xfrm>
          <a:prstGeom prst="chevron">
            <a:avLst>
              <a:gd name="adj" fmla="val 12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pipe_chevt_3"/>
          <p:cNvSpPr txBox="1"/>
          <p:nvPr/>
        </p:nvSpPr>
        <p:spPr>
          <a:xfrm>
            <a:off x="9052560" y="1792224"/>
            <a:ext cx="2414015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ACBEDA"/>
                </a:solidFill>
                <a:latin typeface="Inter"/>
              </a:rPr>
              <a:t>STAGE 03 · PYTHON BRIDGE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8FAFF"/>
                </a:solidFill>
                <a:latin typeface="Inter"/>
              </a:rPr>
              <a:t>Eye Twin + PyAutoGUI</a:t>
            </a:r>
          </a:p>
        </p:txBody>
      </p:sp>
      <p:sp>
        <p:nvSpPr>
          <p:cNvPr id="18" name="!!pipe_det_0_bg"/>
          <p:cNvSpPr/>
          <p:nvPr/>
        </p:nvSpPr>
        <p:spPr>
          <a:xfrm>
            <a:off x="411480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pipe_det_0_bar"/>
          <p:cNvSpPr/>
          <p:nvPr/>
        </p:nvSpPr>
        <p:spPr>
          <a:xfrm>
            <a:off x="557784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pipe_det_0_hex"/>
          <p:cNvSpPr/>
          <p:nvPr/>
        </p:nvSpPr>
        <p:spPr>
          <a:xfrm>
            <a:off x="3739896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pipe_det_0_pill"/>
          <p:cNvSpPr/>
          <p:nvPr/>
        </p:nvSpPr>
        <p:spPr>
          <a:xfrm>
            <a:off x="576072" y="3227832"/>
            <a:ext cx="2144268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pipe_det_0_pill_t"/>
          <p:cNvSpPr txBox="1"/>
          <p:nvPr/>
        </p:nvSpPr>
        <p:spPr>
          <a:xfrm>
            <a:off x="612648" y="3246120"/>
            <a:ext cx="2071115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950nm MULTI-BEAM IR</a:t>
            </a:r>
          </a:p>
        </p:txBody>
      </p:sp>
      <p:sp>
        <p:nvSpPr>
          <p:cNvPr id="23" name="anim_pipe_det_0_txt"/>
          <p:cNvSpPr txBox="1"/>
          <p:nvPr/>
        </p:nvSpPr>
        <p:spPr>
          <a:xfrm>
            <a:off x="576072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Sclera Reflects, Eyelid Blocks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Open white sclera reflects IR strongly; closed eyelid blocks reflection for crisp blink edges.</a:t>
            </a:r>
          </a:p>
        </p:txBody>
      </p:sp>
      <p:sp>
        <p:nvSpPr>
          <p:cNvPr id="24" name="!!pipe_det_1_bg"/>
          <p:cNvSpPr/>
          <p:nvPr/>
        </p:nvSpPr>
        <p:spPr>
          <a:xfrm>
            <a:off x="4270248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pipe_det_1_bar"/>
          <p:cNvSpPr/>
          <p:nvPr/>
        </p:nvSpPr>
        <p:spPr>
          <a:xfrm>
            <a:off x="4416552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pipe_det_1_hex"/>
          <p:cNvSpPr/>
          <p:nvPr/>
        </p:nvSpPr>
        <p:spPr>
          <a:xfrm>
            <a:off x="7598664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pipe_det_1_pill"/>
          <p:cNvSpPr/>
          <p:nvPr/>
        </p:nvSpPr>
        <p:spPr>
          <a:xfrm>
            <a:off x="4434840" y="3227832"/>
            <a:ext cx="224028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pipe_det_1_pill_t"/>
          <p:cNvSpPr txBox="1"/>
          <p:nvPr/>
        </p:nvSpPr>
        <p:spPr>
          <a:xfrm>
            <a:off x="4471416" y="3246120"/>
            <a:ext cx="216712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MPU6050 PITCH &amp; ROLL</a:t>
            </a:r>
          </a:p>
        </p:txBody>
      </p:sp>
      <p:sp>
        <p:nvSpPr>
          <p:cNvPr id="29" name="anim_pipe_det_1_txt"/>
          <p:cNvSpPr txBox="1"/>
          <p:nvPr/>
        </p:nvSpPr>
        <p:spPr>
          <a:xfrm>
            <a:off x="4434840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Gravity-Anchored 50Hz Tilt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Pitch &amp; Roll reference Earth's 1g gravity vector to cancel gyro drift (unlike horizontal Yaw).</a:t>
            </a:r>
          </a:p>
        </p:txBody>
      </p:sp>
      <p:sp>
        <p:nvSpPr>
          <p:cNvPr id="30" name="!!pipe_det_2_bg"/>
          <p:cNvSpPr/>
          <p:nvPr/>
        </p:nvSpPr>
        <p:spPr>
          <a:xfrm>
            <a:off x="8129015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pipe_det_2_bar"/>
          <p:cNvSpPr/>
          <p:nvPr/>
        </p:nvSpPr>
        <p:spPr>
          <a:xfrm>
            <a:off x="8275319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pipe_det_2_hex"/>
          <p:cNvSpPr/>
          <p:nvPr/>
        </p:nvSpPr>
        <p:spPr>
          <a:xfrm>
            <a:off x="11457432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pipe_det_2_pill"/>
          <p:cNvSpPr/>
          <p:nvPr/>
        </p:nvSpPr>
        <p:spPr>
          <a:xfrm>
            <a:off x="8293607" y="3227832"/>
            <a:ext cx="2432304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pipe_det_2_pill_t"/>
          <p:cNvSpPr txBox="1"/>
          <p:nvPr/>
        </p:nvSpPr>
        <p:spPr>
          <a:xfrm>
            <a:off x="8330183" y="3246120"/>
            <a:ext cx="2359152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25° DEAD-ZONE + CLUTCH</a:t>
            </a:r>
          </a:p>
        </p:txBody>
      </p:sp>
      <p:sp>
        <p:nvSpPr>
          <p:cNvPr id="35" name="anim_pipe_det_2_txt"/>
          <p:cNvSpPr txBox="1"/>
          <p:nvPr/>
        </p:nvSpPr>
        <p:spPr>
          <a:xfrm>
            <a:off x="8293607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Zero Involuntary Drift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Filters micro-tremors inside a 25° zone; future revision upgrades to BNO085 9-DOF quaternion IMU.</a:t>
            </a:r>
          </a:p>
        </p:txBody>
      </p:sp>
    </p:spTree>
  </p:cSld>
  <p:clrMapOvr>
    <a:masterClrMapping/>
  </p:clrMapOvr>
  <p:transition spd="med" advTm="8500">
    <p:push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1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04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SIGNAL PIPELINE  ·  STAGE 02 OF 03 (SEEED XIAO ESP32C3 BRAIN)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2:08 – 2:17   [16/28]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64948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Stage 2 (The Brain):  How the XIAO ESP32C3 Thinks.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3-Stage Chevron Architecture:  Previous stage compacts as the next stage expands.</a:t>
            </a:r>
          </a:p>
        </p:txBody>
      </p:sp>
      <p:sp>
        <p:nvSpPr>
          <p:cNvPr id="12" name="!!pipe_chev_1"/>
          <p:cNvSpPr/>
          <p:nvPr/>
        </p:nvSpPr>
        <p:spPr>
          <a:xfrm>
            <a:off x="411480" y="1664208"/>
            <a:ext cx="3127248" cy="1143000"/>
          </a:xfrm>
          <a:prstGeom prst="chevron">
            <a:avLst>
              <a:gd name="adj" fmla="val 12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pipe_chevt_1"/>
          <p:cNvSpPr txBox="1"/>
          <p:nvPr/>
        </p:nvSpPr>
        <p:spPr>
          <a:xfrm>
            <a:off x="813816" y="1792224"/>
            <a:ext cx="2414015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ACBEDA"/>
                </a:solidFill>
                <a:latin typeface="Inter"/>
              </a:rPr>
              <a:t>STAGE 01 · WEARABLE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8FAFF"/>
                </a:solidFill>
                <a:latin typeface="Inter"/>
              </a:rPr>
              <a:t>950nm IR + MPU6050</a:t>
            </a:r>
          </a:p>
        </p:txBody>
      </p:sp>
      <p:sp>
        <p:nvSpPr>
          <p:cNvPr id="14" name="!!pipe_chev_2"/>
          <p:cNvSpPr/>
          <p:nvPr/>
        </p:nvSpPr>
        <p:spPr>
          <a:xfrm>
            <a:off x="3739896" y="1664208"/>
            <a:ext cx="4709160" cy="1143000"/>
          </a:xfrm>
          <a:prstGeom prst="chevron">
            <a:avLst>
              <a:gd name="adj" fmla="val 12000"/>
            </a:avLst>
          </a:prstGeom>
          <a:solidFill>
            <a:srgbClr val="142640"/>
          </a:solidFill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pipe_chevt_2"/>
          <p:cNvSpPr txBox="1"/>
          <p:nvPr/>
        </p:nvSpPr>
        <p:spPr>
          <a:xfrm>
            <a:off x="4142232" y="1792224"/>
            <a:ext cx="3995928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>
                <a:solidFill>
                  <a:srgbClr val="00E5FF"/>
                </a:solidFill>
                <a:latin typeface="Inter"/>
              </a:rPr>
              <a:t>STAGE 02 · XIAO BRAIN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8FAFF"/>
                </a:solidFill>
                <a:latin typeface="Inter"/>
              </a:rPr>
              <a:t>RISC-V + LM393 Gate</a:t>
            </a:r>
          </a:p>
        </p:txBody>
      </p:sp>
      <p:sp>
        <p:nvSpPr>
          <p:cNvPr id="16" name="!!pipe_chev_3"/>
          <p:cNvSpPr/>
          <p:nvPr/>
        </p:nvSpPr>
        <p:spPr>
          <a:xfrm>
            <a:off x="8650224" y="1664208"/>
            <a:ext cx="3127248" cy="1143000"/>
          </a:xfrm>
          <a:prstGeom prst="chevron">
            <a:avLst>
              <a:gd name="adj" fmla="val 12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pipe_chevt_3"/>
          <p:cNvSpPr txBox="1"/>
          <p:nvPr/>
        </p:nvSpPr>
        <p:spPr>
          <a:xfrm>
            <a:off x="9052560" y="1792224"/>
            <a:ext cx="2414015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ACBEDA"/>
                </a:solidFill>
                <a:latin typeface="Inter"/>
              </a:rPr>
              <a:t>STAGE 03 · PYTHON BRIDGE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8FAFF"/>
                </a:solidFill>
                <a:latin typeface="Inter"/>
              </a:rPr>
              <a:t>Eye Twin + PyAutoGUI</a:t>
            </a:r>
          </a:p>
        </p:txBody>
      </p:sp>
      <p:sp>
        <p:nvSpPr>
          <p:cNvPr id="18" name="!!pipe_det_0_bg"/>
          <p:cNvSpPr/>
          <p:nvPr/>
        </p:nvSpPr>
        <p:spPr>
          <a:xfrm>
            <a:off x="411480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pipe_det_0_bar"/>
          <p:cNvSpPr/>
          <p:nvPr/>
        </p:nvSpPr>
        <p:spPr>
          <a:xfrm>
            <a:off x="557784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pipe_det_0_hex"/>
          <p:cNvSpPr/>
          <p:nvPr/>
        </p:nvSpPr>
        <p:spPr>
          <a:xfrm>
            <a:off x="3739896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pipe_det_0_pill"/>
          <p:cNvSpPr/>
          <p:nvPr/>
        </p:nvSpPr>
        <p:spPr>
          <a:xfrm>
            <a:off x="576072" y="3227832"/>
            <a:ext cx="224028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pipe_det_0_pill_t"/>
          <p:cNvSpPr txBox="1"/>
          <p:nvPr/>
        </p:nvSpPr>
        <p:spPr>
          <a:xfrm>
            <a:off x="612648" y="3246120"/>
            <a:ext cx="216712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DECISION TRUTH TABLE</a:t>
            </a:r>
          </a:p>
        </p:txBody>
      </p:sp>
      <p:sp>
        <p:nvSpPr>
          <p:cNvPr id="23" name="anim_pipe_det_0_txt"/>
          <p:cNvSpPr txBox="1"/>
          <p:nvPr/>
        </p:nvSpPr>
        <p:spPr>
          <a:xfrm>
            <a:off x="576072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L / R / U / D / LC / RC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Maps tilt beyond dead-zone to L/R/U/D, single blink to LC, double blink to RC, fast blink ignored.</a:t>
            </a:r>
          </a:p>
        </p:txBody>
      </p:sp>
      <p:sp>
        <p:nvSpPr>
          <p:cNvPr id="24" name="!!pipe_det_1_bg"/>
          <p:cNvSpPr/>
          <p:nvPr/>
        </p:nvSpPr>
        <p:spPr>
          <a:xfrm>
            <a:off x="4270248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pipe_det_1_bar"/>
          <p:cNvSpPr/>
          <p:nvPr/>
        </p:nvSpPr>
        <p:spPr>
          <a:xfrm>
            <a:off x="4416552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pipe_det_1_hex"/>
          <p:cNvSpPr/>
          <p:nvPr/>
        </p:nvSpPr>
        <p:spPr>
          <a:xfrm>
            <a:off x="7598664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pipe_det_1_pill"/>
          <p:cNvSpPr/>
          <p:nvPr/>
        </p:nvSpPr>
        <p:spPr>
          <a:xfrm>
            <a:off x="4434840" y="3227832"/>
            <a:ext cx="1856231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pipe_det_1_pill_t"/>
          <p:cNvSpPr txBox="1"/>
          <p:nvPr/>
        </p:nvSpPr>
        <p:spPr>
          <a:xfrm>
            <a:off x="4471416" y="3246120"/>
            <a:ext cx="178307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WHY digitalRead?</a:t>
            </a:r>
          </a:p>
        </p:txBody>
      </p:sp>
      <p:sp>
        <p:nvSpPr>
          <p:cNvPr id="29" name="anim_pipe_det_1_txt"/>
          <p:cNvSpPr txBox="1"/>
          <p:nvPr/>
        </p:nvSpPr>
        <p:spPr>
          <a:xfrm>
            <a:off x="4434840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&lt;2µs Hardware Comparator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Onboard LM393 comparator thresholds open/closed eye state in hardware — faster than analogRead.</a:t>
            </a:r>
          </a:p>
        </p:txBody>
      </p:sp>
      <p:sp>
        <p:nvSpPr>
          <p:cNvPr id="30" name="!!pipe_det_2_bg"/>
          <p:cNvSpPr/>
          <p:nvPr/>
        </p:nvSpPr>
        <p:spPr>
          <a:xfrm>
            <a:off x="8129015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pipe_det_2_bar"/>
          <p:cNvSpPr/>
          <p:nvPr/>
        </p:nvSpPr>
        <p:spPr>
          <a:xfrm>
            <a:off x="8275319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pipe_det_2_hex"/>
          <p:cNvSpPr/>
          <p:nvPr/>
        </p:nvSpPr>
        <p:spPr>
          <a:xfrm>
            <a:off x="11457432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pipe_det_2_pill"/>
          <p:cNvSpPr/>
          <p:nvPr/>
        </p:nvSpPr>
        <p:spPr>
          <a:xfrm>
            <a:off x="8293607" y="3227832"/>
            <a:ext cx="224028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pipe_det_2_pill_t"/>
          <p:cNvSpPr txBox="1"/>
          <p:nvPr/>
        </p:nvSpPr>
        <p:spPr>
          <a:xfrm>
            <a:off x="8330183" y="3246120"/>
            <a:ext cx="216712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DUAL WIRELESS STREAM</a:t>
            </a:r>
          </a:p>
        </p:txBody>
      </p:sp>
      <p:sp>
        <p:nvSpPr>
          <p:cNvPr id="35" name="anim_pipe_det_2_txt"/>
          <p:cNvSpPr txBox="1"/>
          <p:nvPr/>
        </p:nvSpPr>
        <p:spPr>
          <a:xfrm>
            <a:off x="8293607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BLE 5.0 + Wi-Fi Failover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Streams lightweight gesture tokens wirelessly with automatic Wi-Fi backup and USB-C support.</a:t>
            </a:r>
          </a:p>
        </p:txBody>
      </p:sp>
    </p:spTree>
  </p:cSld>
  <p:clrMapOvr>
    <a:masterClrMapping/>
  </p:clrMapOvr>
  <p:transition spd="med" advTm="8500">
    <p:fade/>
    <p:extLst>
      <p:ext uri="{D84E410A-3911-4435-9328-F4292B5D5B2B}">
        <p159:morph xmlns:p159="http://schemas.microsoft.com/office/powerpoint/2015/09/main" xmlns="" option="byObject"/>
      </p:ext>
    </p:extLst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04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SIGNAL PIPELINE  ·  STAGE 03 OF 03 (PYTHON BRIDGE &amp; EYE TWIN)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2:17 – 2:25   [17/28]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6900780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Stage 3 (The Bridge):  Live Eye Simulation &amp; OS Cursor.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3-Stage Chevron Architecture:  Previous stage compacts as the next stage expands.</a:t>
            </a:r>
          </a:p>
        </p:txBody>
      </p:sp>
      <p:sp>
        <p:nvSpPr>
          <p:cNvPr id="12" name="!!pipe_chev_1"/>
          <p:cNvSpPr/>
          <p:nvPr/>
        </p:nvSpPr>
        <p:spPr>
          <a:xfrm>
            <a:off x="411480" y="1664208"/>
            <a:ext cx="3127248" cy="1143000"/>
          </a:xfrm>
          <a:prstGeom prst="chevron">
            <a:avLst>
              <a:gd name="adj" fmla="val 12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pipe_chevt_1"/>
          <p:cNvSpPr txBox="1"/>
          <p:nvPr/>
        </p:nvSpPr>
        <p:spPr>
          <a:xfrm>
            <a:off x="813816" y="1792224"/>
            <a:ext cx="2414015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ACBEDA"/>
                </a:solidFill>
                <a:latin typeface="Inter"/>
              </a:rPr>
              <a:t>STAGE 01 · WEARABLE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8FAFF"/>
                </a:solidFill>
                <a:latin typeface="Inter"/>
              </a:rPr>
              <a:t>950nm IR + MPU6050</a:t>
            </a:r>
          </a:p>
        </p:txBody>
      </p:sp>
      <p:sp>
        <p:nvSpPr>
          <p:cNvPr id="14" name="!!pipe_chev_2"/>
          <p:cNvSpPr/>
          <p:nvPr/>
        </p:nvSpPr>
        <p:spPr>
          <a:xfrm>
            <a:off x="3739896" y="1664208"/>
            <a:ext cx="3127248" cy="1143000"/>
          </a:xfrm>
          <a:prstGeom prst="chevron">
            <a:avLst>
              <a:gd name="adj" fmla="val 12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pipe_chevt_2"/>
          <p:cNvSpPr txBox="1"/>
          <p:nvPr/>
        </p:nvSpPr>
        <p:spPr>
          <a:xfrm>
            <a:off x="4142232" y="1792224"/>
            <a:ext cx="2414015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ACBEDA"/>
                </a:solidFill>
                <a:latin typeface="Inter"/>
              </a:rPr>
              <a:t>STAGE 02 · XIAO BRAIN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8FAFF"/>
                </a:solidFill>
                <a:latin typeface="Inter"/>
              </a:rPr>
              <a:t>RISC-V + LM393 Gate</a:t>
            </a:r>
          </a:p>
        </p:txBody>
      </p:sp>
      <p:sp>
        <p:nvSpPr>
          <p:cNvPr id="16" name="!!pipe_chev_3"/>
          <p:cNvSpPr/>
          <p:nvPr/>
        </p:nvSpPr>
        <p:spPr>
          <a:xfrm>
            <a:off x="7068312" y="1664208"/>
            <a:ext cx="4709160" cy="1143000"/>
          </a:xfrm>
          <a:prstGeom prst="chevron">
            <a:avLst>
              <a:gd name="adj" fmla="val 12000"/>
            </a:avLst>
          </a:prstGeom>
          <a:solidFill>
            <a:srgbClr val="142640"/>
          </a:solidFill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pipe_chevt_3"/>
          <p:cNvSpPr txBox="1"/>
          <p:nvPr/>
        </p:nvSpPr>
        <p:spPr>
          <a:xfrm>
            <a:off x="7470648" y="1792224"/>
            <a:ext cx="3995928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>
                <a:solidFill>
                  <a:srgbClr val="00E5FF"/>
                </a:solidFill>
                <a:latin typeface="Inter"/>
              </a:rPr>
              <a:t>STAGE 03 · PYTHON BRIDGE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8FAFF"/>
                </a:solidFill>
                <a:latin typeface="Inter"/>
              </a:rPr>
              <a:t>Eye Twin + PyAutoGUI</a:t>
            </a:r>
          </a:p>
        </p:txBody>
      </p:sp>
      <p:sp>
        <p:nvSpPr>
          <p:cNvPr id="18" name="!!pipe_det_0_bg"/>
          <p:cNvSpPr/>
          <p:nvPr/>
        </p:nvSpPr>
        <p:spPr>
          <a:xfrm>
            <a:off x="411480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pipe_det_0_bar"/>
          <p:cNvSpPr/>
          <p:nvPr/>
        </p:nvSpPr>
        <p:spPr>
          <a:xfrm>
            <a:off x="557784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pipe_det_0_hex"/>
          <p:cNvSpPr/>
          <p:nvPr/>
        </p:nvSpPr>
        <p:spPr>
          <a:xfrm>
            <a:off x="3739896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pipe_det_0_pill"/>
          <p:cNvSpPr/>
          <p:nvPr/>
        </p:nvSpPr>
        <p:spPr>
          <a:xfrm>
            <a:off x="576072" y="3227832"/>
            <a:ext cx="224028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pipe_det_0_pill_t"/>
          <p:cNvSpPr txBox="1"/>
          <p:nvPr/>
        </p:nvSpPr>
        <p:spPr>
          <a:xfrm>
            <a:off x="612648" y="3246120"/>
            <a:ext cx="216712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LIVE PYTHON EYE TWIN</a:t>
            </a:r>
          </a:p>
        </p:txBody>
      </p:sp>
      <p:sp>
        <p:nvSpPr>
          <p:cNvPr id="23" name="anim_pipe_det_0_txt"/>
          <p:cNvSpPr txBox="1"/>
          <p:nvPr/>
        </p:nvSpPr>
        <p:spPr>
          <a:xfrm>
            <a:off x="576072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Mirrors Every Blink Live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TensorFlow denoiser strips ambient light noise and reconstructs the user's blinking eye in real time.</a:t>
            </a:r>
          </a:p>
        </p:txBody>
      </p:sp>
      <p:sp>
        <p:nvSpPr>
          <p:cNvPr id="24" name="!!pipe_det_1_bg"/>
          <p:cNvSpPr/>
          <p:nvPr/>
        </p:nvSpPr>
        <p:spPr>
          <a:xfrm>
            <a:off x="4270248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pipe_det_1_bar"/>
          <p:cNvSpPr/>
          <p:nvPr/>
        </p:nvSpPr>
        <p:spPr>
          <a:xfrm>
            <a:off x="4416552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pipe_det_1_hex"/>
          <p:cNvSpPr/>
          <p:nvPr/>
        </p:nvSpPr>
        <p:spPr>
          <a:xfrm>
            <a:off x="7598664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pipe_det_1_pill"/>
          <p:cNvSpPr/>
          <p:nvPr/>
        </p:nvSpPr>
        <p:spPr>
          <a:xfrm>
            <a:off x="4434840" y="3227832"/>
            <a:ext cx="2336292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pipe_det_1_pill_t"/>
          <p:cNvSpPr txBox="1"/>
          <p:nvPr/>
        </p:nvSpPr>
        <p:spPr>
          <a:xfrm>
            <a:off x="4471416" y="3246120"/>
            <a:ext cx="22631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CROSS-PLATFORM CURSOR</a:t>
            </a:r>
          </a:p>
        </p:txBody>
      </p:sp>
      <p:sp>
        <p:nvSpPr>
          <p:cNvPr id="29" name="anim_pipe_det_1_txt"/>
          <p:cNvSpPr txBox="1"/>
          <p:nvPr/>
        </p:nvSpPr>
        <p:spPr>
          <a:xfrm>
            <a:off x="4434840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PyAutoGUI + PySerial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Identical Python loop drives Windows, macOS, Linux &amp; Android over BLE, Wi-Fi, or USB-C.</a:t>
            </a:r>
          </a:p>
        </p:txBody>
      </p:sp>
      <p:sp>
        <p:nvSpPr>
          <p:cNvPr id="30" name="!!pipe_det_2_bg"/>
          <p:cNvSpPr/>
          <p:nvPr/>
        </p:nvSpPr>
        <p:spPr>
          <a:xfrm>
            <a:off x="8129015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pipe_det_2_bar"/>
          <p:cNvSpPr/>
          <p:nvPr/>
        </p:nvSpPr>
        <p:spPr>
          <a:xfrm>
            <a:off x="8275319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pipe_det_2_hex"/>
          <p:cNvSpPr/>
          <p:nvPr/>
        </p:nvSpPr>
        <p:spPr>
          <a:xfrm>
            <a:off x="11457432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pipe_det_2_pill"/>
          <p:cNvSpPr/>
          <p:nvPr/>
        </p:nvSpPr>
        <p:spPr>
          <a:xfrm>
            <a:off x="8293607" y="3227832"/>
            <a:ext cx="2528316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pipe_det_2_pill_t"/>
          <p:cNvSpPr txBox="1"/>
          <p:nvPr/>
        </p:nvSpPr>
        <p:spPr>
          <a:xfrm>
            <a:off x="8330183" y="3246120"/>
            <a:ext cx="2455164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ON-FRAME RGB STATUS LED</a:t>
            </a:r>
          </a:p>
        </p:txBody>
      </p:sp>
      <p:sp>
        <p:nvSpPr>
          <p:cNvPr id="35" name="anim_pipe_det_2_txt"/>
          <p:cNvSpPr txBox="1"/>
          <p:nvPr/>
        </p:nvSpPr>
        <p:spPr>
          <a:xfrm>
            <a:off x="8293607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Green · Blue 2Hz · Yellow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Solid Green = Booting (2s) · Blinking Blue 2Hz = Pairing · Solid Yellow = Connected &amp; Active.</a:t>
            </a:r>
          </a:p>
        </p:txBody>
      </p:sp>
    </p:spTree>
  </p:cSld>
  <p:clrMapOvr>
    <a:masterClrMapping/>
  </p:clrMapOvr>
  <p:transition spd="med" advTm="8500">
    <p:fade/>
    <p:extLst>
      <p:ext uri="{D84E410A-3911-4435-9328-F4292B5D5B2B}">
        <p159:morph xmlns:p159="http://schemas.microsoft.com/office/powerpoint/2015/09/main" xmlns="" option="byObject"/>
      </p:ext>
    </p:extLst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04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CLICK TIMING &amp; EYE SAFETY  ·  DETERMINISTIC &amp; IEC 62471 SAFE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2:25 – 2:34   [18/28]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7306709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3 Strict Blink Timing Windows  ·  20× Safer Than IEC Limit.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Separates involuntary reflex blinks from intentional clicks with &lt;0.5 mW/cm² eye-safe IR.</a:t>
            </a:r>
          </a:p>
        </p:txBody>
      </p:sp>
      <p:sp>
        <p:nvSpPr>
          <p:cNvPr id="12" name="!!tbar_bg_1.85"/>
          <p:cNvSpPr/>
          <p:nvPr/>
        </p:nvSpPr>
        <p:spPr>
          <a:xfrm>
            <a:off x="411480" y="1691640"/>
            <a:ext cx="11365992" cy="96012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1778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nim_bar_1.85"/>
          <p:cNvSpPr/>
          <p:nvPr/>
        </p:nvSpPr>
        <p:spPr>
          <a:xfrm>
            <a:off x="530352" y="1783080"/>
            <a:ext cx="4251960" cy="384048"/>
          </a:xfrm>
          <a:prstGeom prst="roundRect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tbar_ms_1.85"/>
          <p:cNvSpPr txBox="1"/>
          <p:nvPr/>
        </p:nvSpPr>
        <p:spPr>
          <a:xfrm>
            <a:off x="658368" y="1801368"/>
            <a:ext cx="3995928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60A12"/>
                </a:solidFill>
                <a:latin typeface="Inter"/>
              </a:rPr>
              <a:t>&lt; 200 ms   ·   NATURAL REFLEX BLINK</a:t>
            </a:r>
          </a:p>
        </p:txBody>
      </p:sp>
      <p:sp>
        <p:nvSpPr>
          <p:cNvPr id="15" name="anim_tbar_act_1.85"/>
          <p:cNvSpPr txBox="1"/>
          <p:nvPr/>
        </p:nvSpPr>
        <p:spPr>
          <a:xfrm>
            <a:off x="658368" y="2203704"/>
            <a:ext cx="1078992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IGNORED COMPLETELY  (0 Misfires)</a:t>
            </a:r>
          </a:p>
        </p:txBody>
      </p:sp>
      <p:sp>
        <p:nvSpPr>
          <p:cNvPr id="16" name="!!tbar_bg_3.05"/>
          <p:cNvSpPr/>
          <p:nvPr/>
        </p:nvSpPr>
        <p:spPr>
          <a:xfrm>
            <a:off x="411480" y="2788920"/>
            <a:ext cx="11365992" cy="96012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1778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bar_3.05"/>
          <p:cNvSpPr/>
          <p:nvPr/>
        </p:nvSpPr>
        <p:spPr>
          <a:xfrm>
            <a:off x="530352" y="2880360"/>
            <a:ext cx="6766560" cy="384048"/>
          </a:xfrm>
          <a:prstGeom prst="roundRect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tbar_ms_3.05"/>
          <p:cNvSpPr txBox="1"/>
          <p:nvPr/>
        </p:nvSpPr>
        <p:spPr>
          <a:xfrm>
            <a:off x="658368" y="2898648"/>
            <a:ext cx="6510528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60A12"/>
                </a:solidFill>
                <a:latin typeface="Inter"/>
              </a:rPr>
              <a:t>200 – 500 ms   ·   SINGLE DELIBERATE HOLD</a:t>
            </a:r>
          </a:p>
        </p:txBody>
      </p:sp>
      <p:sp>
        <p:nvSpPr>
          <p:cNvPr id="19" name="anim_tbar_act_3.05"/>
          <p:cNvSpPr txBox="1"/>
          <p:nvPr/>
        </p:nvSpPr>
        <p:spPr>
          <a:xfrm>
            <a:off x="658368" y="3300984"/>
            <a:ext cx="1078992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FIRES LEFT CLICK  (→ LC Token)</a:t>
            </a:r>
          </a:p>
        </p:txBody>
      </p:sp>
      <p:sp>
        <p:nvSpPr>
          <p:cNvPr id="20" name="!!tbar_bg_4.25"/>
          <p:cNvSpPr/>
          <p:nvPr/>
        </p:nvSpPr>
        <p:spPr>
          <a:xfrm>
            <a:off x="411480" y="3886200"/>
            <a:ext cx="11365992" cy="96012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1778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im_bar_4.25"/>
          <p:cNvSpPr/>
          <p:nvPr/>
        </p:nvSpPr>
        <p:spPr>
          <a:xfrm>
            <a:off x="530352" y="3977639"/>
            <a:ext cx="9326880" cy="384048"/>
          </a:xfrm>
          <a:prstGeom prst="roundRect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tbar_ms_4.25"/>
          <p:cNvSpPr txBox="1"/>
          <p:nvPr/>
        </p:nvSpPr>
        <p:spPr>
          <a:xfrm>
            <a:off x="658368" y="3995928"/>
            <a:ext cx="9070848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60A12"/>
                </a:solidFill>
                <a:latin typeface="Inter"/>
              </a:rPr>
              <a:t>2 × 200–500 ms   ·   DOUBLE DELIBERATE BLINK</a:t>
            </a:r>
          </a:p>
        </p:txBody>
      </p:sp>
      <p:sp>
        <p:nvSpPr>
          <p:cNvPr id="23" name="anim_tbar_act_4.25"/>
          <p:cNvSpPr txBox="1"/>
          <p:nvPr/>
        </p:nvSpPr>
        <p:spPr>
          <a:xfrm>
            <a:off x="658368" y="4398264"/>
            <a:ext cx="1078992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FIRES RIGHT CLICK / BACK  (→ RC)</a:t>
            </a:r>
          </a:p>
        </p:txBody>
      </p:sp>
      <p:sp>
        <p:nvSpPr>
          <p:cNvPr id="24" name="!!safe_banner"/>
          <p:cNvSpPr/>
          <p:nvPr/>
        </p:nvSpPr>
        <p:spPr>
          <a:xfrm>
            <a:off x="411480" y="5029200"/>
            <a:ext cx="11365992" cy="1389888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A3A26"/>
          </a:solidFill>
          <a:ln w="279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nim_safe_banner_t"/>
          <p:cNvSpPr txBox="1"/>
          <p:nvPr/>
        </p:nvSpPr>
        <p:spPr>
          <a:xfrm>
            <a:off x="658368" y="5138928"/>
            <a:ext cx="10881360" cy="1170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00E676"/>
                </a:solidFill>
                <a:latin typeface="Inter"/>
              </a:rPr>
              <a:t>IEC 62471 PHOTOBIOLOGICAL EYE SAFETY:   &lt; 0.5 mW/cm²   (OVER 20× BELOW THE 10 mW/cm² SAFETY LIMIT)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F8FAFF"/>
                </a:solidFill>
                <a:latin typeface="Inter"/>
              </a:rPr>
              <a:t>Diffused non-coherent 950nm LED (never a laser) — emits less IR than indoor daylight or a TV remote. Safe for 12+ hours daily.</a:t>
            </a:r>
          </a:p>
        </p:txBody>
      </p:sp>
    </p:spTree>
  </p:cSld>
  <p:clrMapOvr>
    <a:masterClrMapping/>
  </p:clrMapOvr>
  <p:transition spd="med" advTm="8500">
    <p:strips dir="rd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5" dur="8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9" dur="8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3" dur="8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7" dur="8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1" dur="8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5" dur="8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40"/>
                            </p:stCondLst>
                            <p:childTnLst>
                              <p:par>
                                <p:cTn id="37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39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04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SYSTEM DEBUGGING &amp; OPEN SOURCE  ·  REAL-WORLD ENGINEERING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2:34 – 2:42   [19/28]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7712637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4 Engineering Challenges Debugged  ·  100% Open-Source.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Every hardware and software fix will be freely available on GitHub and projectiris.dev.</a:t>
            </a:r>
          </a:p>
        </p:txBody>
      </p:sp>
      <p:sp>
        <p:nvSpPr>
          <p:cNvPr id="12" name="!!dbg_0.45_1.82_bg"/>
          <p:cNvSpPr/>
          <p:nvPr/>
        </p:nvSpPr>
        <p:spPr>
          <a:xfrm>
            <a:off x="411480" y="1664208"/>
            <a:ext cx="5577840" cy="160020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dbg_0.45_1.82_bar"/>
          <p:cNvSpPr/>
          <p:nvPr/>
        </p:nvSpPr>
        <p:spPr>
          <a:xfrm>
            <a:off x="557784" y="16916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dbg_0.45_1.82_hex"/>
          <p:cNvSpPr/>
          <p:nvPr/>
        </p:nvSpPr>
        <p:spPr>
          <a:xfrm>
            <a:off x="5678424" y="295351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dbg_0.45_1.82_pill"/>
          <p:cNvSpPr/>
          <p:nvPr/>
        </p:nvSpPr>
        <p:spPr>
          <a:xfrm>
            <a:off x="576072" y="1828800"/>
            <a:ext cx="224028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dbg_0.45_1.82_pill_t"/>
          <p:cNvSpPr txBox="1"/>
          <p:nvPr/>
        </p:nvSpPr>
        <p:spPr>
          <a:xfrm>
            <a:off x="612648" y="1847088"/>
            <a:ext cx="216712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01 · FALSE POSITIVES</a:t>
            </a:r>
          </a:p>
        </p:txBody>
      </p:sp>
      <p:sp>
        <p:nvSpPr>
          <p:cNvPr id="17" name="anim_dbg_0.45_1.82_txt"/>
          <p:cNvSpPr txBox="1"/>
          <p:nvPr/>
        </p:nvSpPr>
        <p:spPr>
          <a:xfrm>
            <a:off x="576072" y="2194560"/>
            <a:ext cx="5248655" cy="9784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8FAFF"/>
                </a:solidFill>
                <a:latin typeface="Inter"/>
              </a:rPr>
              <a:t>Reflex Blinks (&lt;200ms) Fired Clicks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Fix: LM393 comparator + 200–500ms timing gate → 0 misfires.</a:t>
            </a:r>
          </a:p>
        </p:txBody>
      </p:sp>
      <p:sp>
        <p:nvSpPr>
          <p:cNvPr id="18" name="!!dbg_6.78_1.82_bg"/>
          <p:cNvSpPr/>
          <p:nvPr/>
        </p:nvSpPr>
        <p:spPr>
          <a:xfrm>
            <a:off x="6199632" y="1664208"/>
            <a:ext cx="5577840" cy="160020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dbg_6.78_1.82_bar"/>
          <p:cNvSpPr/>
          <p:nvPr/>
        </p:nvSpPr>
        <p:spPr>
          <a:xfrm>
            <a:off x="6345936" y="16916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dbg_6.78_1.82_hex"/>
          <p:cNvSpPr/>
          <p:nvPr/>
        </p:nvSpPr>
        <p:spPr>
          <a:xfrm>
            <a:off x="11466576" y="295351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dbg_6.78_1.82_pill"/>
          <p:cNvSpPr/>
          <p:nvPr/>
        </p:nvSpPr>
        <p:spPr>
          <a:xfrm>
            <a:off x="6364224" y="1828800"/>
            <a:ext cx="224028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dbg_6.78_1.82_pill_t"/>
          <p:cNvSpPr txBox="1"/>
          <p:nvPr/>
        </p:nvSpPr>
        <p:spPr>
          <a:xfrm>
            <a:off x="6400800" y="1847088"/>
            <a:ext cx="216712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02 · FALSE NEGATIVES</a:t>
            </a:r>
          </a:p>
        </p:txBody>
      </p:sp>
      <p:sp>
        <p:nvSpPr>
          <p:cNvPr id="23" name="anim_dbg_6.78_1.82_txt"/>
          <p:cNvSpPr txBox="1"/>
          <p:nvPr/>
        </p:nvSpPr>
        <p:spPr>
          <a:xfrm>
            <a:off x="6364224" y="2194560"/>
            <a:ext cx="5248655" cy="9784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8FAFF"/>
                </a:solidFill>
                <a:latin typeface="Inter"/>
              </a:rPr>
              <a:t>Rx Frame Slip Missed Weak Blinks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Fix: Multi-beam 950nm IR + 2–3s setup + Magnet Pivot → 98.4% accuracy.</a:t>
            </a:r>
          </a:p>
        </p:txBody>
      </p:sp>
      <p:sp>
        <p:nvSpPr>
          <p:cNvPr id="24" name="!!dbg_0.45_3.75_bg"/>
          <p:cNvSpPr/>
          <p:nvPr/>
        </p:nvSpPr>
        <p:spPr>
          <a:xfrm>
            <a:off x="411480" y="3429000"/>
            <a:ext cx="5577840" cy="160020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dbg_0.45_3.75_bar"/>
          <p:cNvSpPr/>
          <p:nvPr/>
        </p:nvSpPr>
        <p:spPr>
          <a:xfrm>
            <a:off x="557784" y="345643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dbg_0.45_3.75_hex"/>
          <p:cNvSpPr/>
          <p:nvPr/>
        </p:nvSpPr>
        <p:spPr>
          <a:xfrm>
            <a:off x="5678424" y="4718304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dbg_0.45_3.75_pill"/>
          <p:cNvSpPr/>
          <p:nvPr/>
        </p:nvSpPr>
        <p:spPr>
          <a:xfrm>
            <a:off x="576072" y="3593592"/>
            <a:ext cx="2816352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dbg_0.45_3.75_pill_t"/>
          <p:cNvSpPr txBox="1"/>
          <p:nvPr/>
        </p:nvSpPr>
        <p:spPr>
          <a:xfrm>
            <a:off x="612648" y="3611880"/>
            <a:ext cx="27432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03 · SUNLIGHT &amp; BULB NOISE</a:t>
            </a:r>
          </a:p>
        </p:txBody>
      </p:sp>
      <p:sp>
        <p:nvSpPr>
          <p:cNvPr id="29" name="anim_dbg_0.45_3.75_txt"/>
          <p:cNvSpPr txBox="1"/>
          <p:nvPr/>
        </p:nvSpPr>
        <p:spPr>
          <a:xfrm>
            <a:off x="576072" y="3959352"/>
            <a:ext cx="5248655" cy="97840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8FAFF"/>
                </a:solidFill>
                <a:latin typeface="Inter"/>
              </a:rPr>
              <a:t>Daylight Flooded Raw IR Readings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Fix: Python + TensorFlow rolling baseline denoiser &amp; Live Eye Twin.</a:t>
            </a:r>
          </a:p>
        </p:txBody>
      </p:sp>
      <p:sp>
        <p:nvSpPr>
          <p:cNvPr id="30" name="!!dbg_6.78_3.75_bg"/>
          <p:cNvSpPr/>
          <p:nvPr/>
        </p:nvSpPr>
        <p:spPr>
          <a:xfrm>
            <a:off x="6199632" y="3429000"/>
            <a:ext cx="5577840" cy="160020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dbg_6.78_3.75_bar"/>
          <p:cNvSpPr/>
          <p:nvPr/>
        </p:nvSpPr>
        <p:spPr>
          <a:xfrm>
            <a:off x="6345936" y="345643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dbg_6.78_3.75_hex"/>
          <p:cNvSpPr/>
          <p:nvPr/>
        </p:nvSpPr>
        <p:spPr>
          <a:xfrm>
            <a:off x="11466576" y="4718304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dbg_6.78_3.75_pill"/>
          <p:cNvSpPr/>
          <p:nvPr/>
        </p:nvSpPr>
        <p:spPr>
          <a:xfrm>
            <a:off x="6364224" y="3593592"/>
            <a:ext cx="2912364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dbg_6.78_3.75_pill_t"/>
          <p:cNvSpPr txBox="1"/>
          <p:nvPr/>
        </p:nvSpPr>
        <p:spPr>
          <a:xfrm>
            <a:off x="6400800" y="3611880"/>
            <a:ext cx="2839212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A855F7"/>
                </a:solidFill>
                <a:latin typeface="Inter"/>
              </a:rPr>
              <a:t>04 · GYRO DRIFT &amp; BUCK HEAT</a:t>
            </a:r>
          </a:p>
        </p:txBody>
      </p:sp>
      <p:sp>
        <p:nvSpPr>
          <p:cNvPr id="35" name="anim_dbg_6.78_3.75_txt"/>
          <p:cNvSpPr txBox="1"/>
          <p:nvPr/>
        </p:nvSpPr>
        <p:spPr>
          <a:xfrm>
            <a:off x="6364224" y="3959352"/>
            <a:ext cx="5248655" cy="97840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8FAFF"/>
                </a:solidFill>
                <a:latin typeface="Inter"/>
              </a:rPr>
              <a:t>Heavy Buck Module Warmed Forehead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Fix: Direct Li-Po on XIAO C3 + Velcro air belt + re-zero clutch.</a:t>
            </a:r>
          </a:p>
        </p:txBody>
      </p:sp>
      <p:sp>
        <p:nvSpPr>
          <p:cNvPr id="36" name="!!oss_banner"/>
          <p:cNvSpPr/>
          <p:nvPr/>
        </p:nvSpPr>
        <p:spPr>
          <a:xfrm>
            <a:off x="411480" y="5230368"/>
            <a:ext cx="11365992" cy="1170432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42640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anim_oss_txt"/>
          <p:cNvSpPr txBox="1"/>
          <p:nvPr/>
        </p:nvSpPr>
        <p:spPr>
          <a:xfrm>
            <a:off x="658368" y="5340096"/>
            <a:ext cx="10881360" cy="960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50" b="1">
                <a:solidFill>
                  <a:srgbClr val="00E5FF"/>
                </a:solidFill>
                <a:latin typeface="Inter"/>
              </a:rPr>
              <a:t>100% OPEN-SOURCE REPOSITORY   ·   github.com/project-iris/iris   ·   projectiris.dev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F8FAFF"/>
                </a:solidFill>
                <a:latin typeface="Inter"/>
              </a:rPr>
              <a:t>Full XIAO C3 firmware, Python bridge, 2–3s calibration, schematics &amp; 3D STL mounts open for anyone to build for ₹885.</a:t>
            </a:r>
          </a:p>
        </p:txBody>
      </p:sp>
    </p:spTree>
  </p:cSld>
  <p:clrMapOvr>
    <a:masterClrMapping/>
  </p:clrMapOvr>
  <p:transition spd="med" advTm="8500">
    <p:comb dir="vert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19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23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7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3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05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HARDWARE EVOLUTION  ·  PAST PROTOTYPES TO PRESENT RIG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2:42 – 2:51   [20/28]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811856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Evolution of IRIS:  4 Generations of Prototyping.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From a heavy wired breadboard devkit to our featherweight ₹885 magnetic-pivot wearable.</a:t>
            </a:r>
          </a:p>
        </p:txBody>
      </p:sp>
      <p:sp>
        <p:nvSpPr>
          <p:cNvPr id="12" name="!!gen_0.45_bg"/>
          <p:cNvSpPr/>
          <p:nvPr/>
        </p:nvSpPr>
        <p:spPr>
          <a:xfrm>
            <a:off x="411480" y="1691640"/>
            <a:ext cx="2670048" cy="46634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gen_0.45_bar"/>
          <p:cNvSpPr/>
          <p:nvPr/>
        </p:nvSpPr>
        <p:spPr>
          <a:xfrm>
            <a:off x="557784" y="17190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22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gen_0.45_hex"/>
          <p:cNvSpPr/>
          <p:nvPr/>
        </p:nvSpPr>
        <p:spPr>
          <a:xfrm>
            <a:off x="2770632" y="6044183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gen_0.45_pill"/>
          <p:cNvSpPr/>
          <p:nvPr/>
        </p:nvSpPr>
        <p:spPr>
          <a:xfrm>
            <a:off x="576072" y="1856232"/>
            <a:ext cx="2340864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gen_0.45_pill_t"/>
          <p:cNvSpPr txBox="1"/>
          <p:nvPr/>
        </p:nvSpPr>
        <p:spPr>
          <a:xfrm>
            <a:off x="612648" y="1874520"/>
            <a:ext cx="2267712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23658"/>
                </a:solidFill>
                <a:latin typeface="Inter"/>
              </a:rPr>
              <a:t>STAGE 01 · EARLY WIRED</a:t>
            </a:r>
          </a:p>
        </p:txBody>
      </p:sp>
      <p:sp>
        <p:nvSpPr>
          <p:cNvPr id="17" name="anim_gen_0.45_txt"/>
          <p:cNvSpPr txBox="1"/>
          <p:nvPr/>
        </p:nvSpPr>
        <p:spPr>
          <a:xfrm>
            <a:off x="576072" y="2221992"/>
            <a:ext cx="2340864" cy="40416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F8FAFF"/>
                </a:solidFill>
                <a:latin typeface="Inter"/>
              </a:rPr>
              <a:t>ESP32-WROOM + Buck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Tethered USB power, rigid buckle strap &amp; glued IR sensor (~6h runtime).</a:t>
            </a:r>
          </a:p>
        </p:txBody>
      </p:sp>
      <p:sp>
        <p:nvSpPr>
          <p:cNvPr id="18" name="!!gen_3.62_bg"/>
          <p:cNvSpPr/>
          <p:nvPr/>
        </p:nvSpPr>
        <p:spPr>
          <a:xfrm>
            <a:off x="3310128" y="1691640"/>
            <a:ext cx="2670048" cy="46634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gen_3.62_bar"/>
          <p:cNvSpPr/>
          <p:nvPr/>
        </p:nvSpPr>
        <p:spPr>
          <a:xfrm>
            <a:off x="3456432" y="17190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gen_3.62_hex"/>
          <p:cNvSpPr/>
          <p:nvPr/>
        </p:nvSpPr>
        <p:spPr>
          <a:xfrm>
            <a:off x="5669280" y="6044183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gen_3.62_pill"/>
          <p:cNvSpPr/>
          <p:nvPr/>
        </p:nvSpPr>
        <p:spPr>
          <a:xfrm>
            <a:off x="3474720" y="1856232"/>
            <a:ext cx="2340864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gen_3.62_pill_t"/>
          <p:cNvSpPr txBox="1"/>
          <p:nvPr/>
        </p:nvSpPr>
        <p:spPr>
          <a:xfrm>
            <a:off x="3511296" y="1874520"/>
            <a:ext cx="2267712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STAGE 02 · WIRELESS BLE</a:t>
            </a:r>
          </a:p>
        </p:txBody>
      </p:sp>
      <p:sp>
        <p:nvSpPr>
          <p:cNvPr id="23" name="anim_gen_3.62_txt"/>
          <p:cNvSpPr txBox="1"/>
          <p:nvPr/>
        </p:nvSpPr>
        <p:spPr>
          <a:xfrm>
            <a:off x="3474720" y="2221992"/>
            <a:ext cx="2340864" cy="40416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F8FAFF"/>
                </a:solidFill>
                <a:latin typeface="Inter"/>
              </a:rPr>
              <a:t>Bluetooth + LM393 Gate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Cut USB cable via BLE serial; exposed heat &amp; ±7D prescription lens limits.</a:t>
            </a:r>
          </a:p>
        </p:txBody>
      </p:sp>
      <p:sp>
        <p:nvSpPr>
          <p:cNvPr id="24" name="!!gen_6.79_bg"/>
          <p:cNvSpPr/>
          <p:nvPr/>
        </p:nvSpPr>
        <p:spPr>
          <a:xfrm>
            <a:off x="6208776" y="1691640"/>
            <a:ext cx="2670048" cy="46634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gen_6.79_bar"/>
          <p:cNvSpPr/>
          <p:nvPr/>
        </p:nvSpPr>
        <p:spPr>
          <a:xfrm>
            <a:off x="6355080" y="17190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gen_6.79_hex"/>
          <p:cNvSpPr/>
          <p:nvPr/>
        </p:nvSpPr>
        <p:spPr>
          <a:xfrm>
            <a:off x="8567928" y="6044183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gen_6.79_pill"/>
          <p:cNvSpPr/>
          <p:nvPr/>
        </p:nvSpPr>
        <p:spPr>
          <a:xfrm>
            <a:off x="6373368" y="1856232"/>
            <a:ext cx="2340864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gen_6.79_pill_t"/>
          <p:cNvSpPr txBox="1"/>
          <p:nvPr/>
        </p:nvSpPr>
        <p:spPr>
          <a:xfrm>
            <a:off x="6409944" y="1874520"/>
            <a:ext cx="2267712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STAGE 03 · FIXED FRAME</a:t>
            </a:r>
          </a:p>
        </p:txBody>
      </p:sp>
      <p:sp>
        <p:nvSpPr>
          <p:cNvPr id="29" name="anim_gen_6.79_txt"/>
          <p:cNvSpPr txBox="1"/>
          <p:nvPr/>
        </p:nvSpPr>
        <p:spPr>
          <a:xfrm>
            <a:off x="6373368" y="2221992"/>
            <a:ext cx="2340864" cy="40416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F8FAFF"/>
                </a:solidFill>
                <a:latin typeface="Inter"/>
              </a:rPr>
              <a:t>Thermal &amp; Lens Testing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Identified reflection bottlenecks on thick lenses — inspiring our magnetic pivot.</a:t>
            </a:r>
          </a:p>
        </p:txBody>
      </p:sp>
      <p:sp>
        <p:nvSpPr>
          <p:cNvPr id="30" name="!!gen_9.96_bg"/>
          <p:cNvSpPr/>
          <p:nvPr/>
        </p:nvSpPr>
        <p:spPr>
          <a:xfrm>
            <a:off x="9107424" y="1691640"/>
            <a:ext cx="2670048" cy="46634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42640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gen_9.96_bar"/>
          <p:cNvSpPr/>
          <p:nvPr/>
        </p:nvSpPr>
        <p:spPr>
          <a:xfrm>
            <a:off x="9253728" y="17190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gen_9.96_hex"/>
          <p:cNvSpPr/>
          <p:nvPr/>
        </p:nvSpPr>
        <p:spPr>
          <a:xfrm>
            <a:off x="11466576" y="6044183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gen_9.96_pill"/>
          <p:cNvSpPr/>
          <p:nvPr/>
        </p:nvSpPr>
        <p:spPr>
          <a:xfrm>
            <a:off x="9272016" y="1856232"/>
            <a:ext cx="2340864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gen_9.96_pill_t"/>
          <p:cNvSpPr txBox="1"/>
          <p:nvPr/>
        </p:nvSpPr>
        <p:spPr>
          <a:xfrm>
            <a:off x="9308592" y="1874520"/>
            <a:ext cx="2267712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STAGE 04 · CURRENT IRIS</a:t>
            </a:r>
          </a:p>
        </p:txBody>
      </p:sp>
      <p:sp>
        <p:nvSpPr>
          <p:cNvPr id="35" name="anim_gen_9.96_txt"/>
          <p:cNvSpPr txBox="1"/>
          <p:nvPr/>
        </p:nvSpPr>
        <p:spPr>
          <a:xfrm>
            <a:off x="9272016" y="2221992"/>
            <a:ext cx="2340864" cy="40416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F8FAFF"/>
                </a:solidFill>
                <a:latin typeface="Inter"/>
              </a:rPr>
              <a:t>XIAO C3 + Magnet Pivot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₹885 BOM · Direct Li-Po · Breathable Velcro · Live Eye Twin · 12h Deep Sleep.</a:t>
            </a:r>
          </a:p>
        </p:txBody>
      </p:sp>
    </p:spTree>
  </p:cSld>
  <p:clrMapOvr>
    <a:masterClrMapping/>
  </p:clrMapOvr>
  <p:transition spd="med" advTm="8500">
    <p:push dir="u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19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3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7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05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FUTURE PRODUCT ROADMAP  ·  SPOTLIGHT 01 OF 03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2:51 – 2:59   [21/28]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8524494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Hands-Free Gaming &amp; Consumer Tech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Spotlight Carousel:  Previous edition compacts as the next edition expands into the spotlight.</a:t>
            </a:r>
          </a:p>
        </p:txBody>
      </p:sp>
      <p:sp>
        <p:nvSpPr>
          <p:cNvPr id="12" name="!!fspot_card_0"/>
          <p:cNvSpPr/>
          <p:nvPr/>
        </p:nvSpPr>
        <p:spPr>
          <a:xfrm>
            <a:off x="411480" y="1645920"/>
            <a:ext cx="5897880" cy="475488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42640"/>
          </a:solidFill>
          <a:ln w="355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!!fspot_img_0" descr="k28_fu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810512"/>
            <a:ext cx="5568696" cy="2697480"/>
          </a:xfrm>
          <a:prstGeom prst="rect">
            <a:avLst/>
          </a:prstGeom>
        </p:spPr>
      </p:pic>
      <p:sp>
        <p:nvSpPr>
          <p:cNvPr id="14" name="!!fspot_txt_0"/>
          <p:cNvSpPr txBox="1"/>
          <p:nvPr/>
        </p:nvSpPr>
        <p:spPr>
          <a:xfrm>
            <a:off x="612648" y="4590288"/>
            <a:ext cx="5495544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EDITION 01 · FOR GAMERS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Hands-Free Gaming &amp; Consumer Tech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ACBEDA"/>
                </a:solidFill>
                <a:latin typeface="Inter"/>
              </a:rPr>
              <a:t>MPU6050 head tilt maps to smooth 360° crosshair aiming while single/double blinks fire triggers. High-volume ₹3,000–₹3,500 gaming sales drive bulk PCB manufacturing and cross-subsidize near-cost medical kits for paralyzed patients.</a:t>
            </a:r>
          </a:p>
        </p:txBody>
      </p:sp>
      <p:sp>
        <p:nvSpPr>
          <p:cNvPr id="15" name="!!fspot_card_1"/>
          <p:cNvSpPr/>
          <p:nvPr/>
        </p:nvSpPr>
        <p:spPr>
          <a:xfrm>
            <a:off x="6464808" y="1965960"/>
            <a:ext cx="2578608" cy="411480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!!fspot_img_1" descr="k28_fu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093976"/>
            <a:ext cx="2322576" cy="1783080"/>
          </a:xfrm>
          <a:prstGeom prst="rect">
            <a:avLst/>
          </a:prstGeom>
        </p:spPr>
      </p:pic>
      <p:sp>
        <p:nvSpPr>
          <p:cNvPr id="17" name="!!fspot_txt_1"/>
          <p:cNvSpPr txBox="1"/>
          <p:nvPr/>
        </p:nvSpPr>
        <p:spPr>
          <a:xfrm>
            <a:off x="6611112" y="3995928"/>
            <a:ext cx="228600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B800"/>
                </a:solidFill>
                <a:latin typeface="Inter"/>
              </a:rPr>
              <a:t>EDITION 02 · FOR COMPLETE PARALYSIS</a:t>
            </a:r>
          </a:p>
          <a:p>
            <a:pPr algn="l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Zero Neck Movement: AI + CV Pure Iris Gaze</a:t>
            </a:r>
          </a:p>
        </p:txBody>
      </p:sp>
      <p:sp>
        <p:nvSpPr>
          <p:cNvPr id="18" name="!!fspot_card_2"/>
          <p:cNvSpPr/>
          <p:nvPr/>
        </p:nvSpPr>
        <p:spPr>
          <a:xfrm>
            <a:off x="9198864" y="1965960"/>
            <a:ext cx="2578608" cy="411480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!!fspot_img_2" descr="k28_fut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093976"/>
            <a:ext cx="2322576" cy="1783080"/>
          </a:xfrm>
          <a:prstGeom prst="rect">
            <a:avLst/>
          </a:prstGeom>
        </p:spPr>
      </p:pic>
      <p:sp>
        <p:nvSpPr>
          <p:cNvPr id="20" name="!!fspot_txt_2"/>
          <p:cNvSpPr txBox="1"/>
          <p:nvPr/>
        </p:nvSpPr>
        <p:spPr>
          <a:xfrm>
            <a:off x="9345168" y="3995928"/>
            <a:ext cx="228600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0E676"/>
                </a:solidFill>
                <a:latin typeface="Inter"/>
              </a:rPr>
              <a:t>EDITION 03 · FOR AI DEVS &amp; ROBOT TRAINERS</a:t>
            </a:r>
          </a:p>
          <a:p>
            <a:pPr algn="l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Open-Hardware Gaze + IMU Teleoperation</a:t>
            </a:r>
          </a:p>
        </p:txBody>
      </p:sp>
    </p:spTree>
  </p:cSld>
  <p:clrMapOvr>
    <a:masterClrMapping/>
  </p:clrMapOvr>
  <p:transition spd="med" advTm="8500">
    <p:wheel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05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FUTURE PRODUCT ROADMAP  ·  SPOTLIGHT 02 OF 03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2:59 – 3:08   [22/28]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893042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Zero Neck Movement: AI + CV Pure Iris Gaze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Spotlight Carousel:  Previous edition compacts as the next edition expands into the spotlight.</a:t>
            </a:r>
          </a:p>
        </p:txBody>
      </p:sp>
      <p:sp>
        <p:nvSpPr>
          <p:cNvPr id="12" name="!!fspot_card_0"/>
          <p:cNvSpPr/>
          <p:nvPr/>
        </p:nvSpPr>
        <p:spPr>
          <a:xfrm>
            <a:off x="411480" y="1965960"/>
            <a:ext cx="2578608" cy="411480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!!fspot_img_0" descr="k28_fu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93976"/>
            <a:ext cx="2322576" cy="1783080"/>
          </a:xfrm>
          <a:prstGeom prst="rect">
            <a:avLst/>
          </a:prstGeom>
        </p:spPr>
      </p:pic>
      <p:sp>
        <p:nvSpPr>
          <p:cNvPr id="14" name="!!fspot_txt_0"/>
          <p:cNvSpPr txBox="1"/>
          <p:nvPr/>
        </p:nvSpPr>
        <p:spPr>
          <a:xfrm>
            <a:off x="557784" y="3995928"/>
            <a:ext cx="228600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0E5FF"/>
                </a:solidFill>
                <a:latin typeface="Inter"/>
              </a:rPr>
              <a:t>EDITION 01 · FOR GAMERS</a:t>
            </a:r>
          </a:p>
          <a:p>
            <a:pPr algn="l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Hands-Free Gaming &amp; Consumer Tech</a:t>
            </a:r>
          </a:p>
        </p:txBody>
      </p:sp>
      <p:sp>
        <p:nvSpPr>
          <p:cNvPr id="15" name="!!fspot_card_1"/>
          <p:cNvSpPr/>
          <p:nvPr/>
        </p:nvSpPr>
        <p:spPr>
          <a:xfrm>
            <a:off x="3145536" y="1645920"/>
            <a:ext cx="5897880" cy="475488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42640"/>
          </a:solidFill>
          <a:ln w="3556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!!fspot_img_1" descr="k28_fu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810512"/>
            <a:ext cx="5568696" cy="2697480"/>
          </a:xfrm>
          <a:prstGeom prst="rect">
            <a:avLst/>
          </a:prstGeom>
        </p:spPr>
      </p:pic>
      <p:sp>
        <p:nvSpPr>
          <p:cNvPr id="17" name="!!fspot_txt_1"/>
          <p:cNvSpPr txBox="1"/>
          <p:nvPr/>
        </p:nvSpPr>
        <p:spPr>
          <a:xfrm>
            <a:off x="3346704" y="4590288"/>
            <a:ext cx="5495544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B800"/>
                </a:solidFill>
                <a:latin typeface="Inter"/>
              </a:rPr>
              <a:t>EDITION 02 · FOR COMPLETE PARALYSIS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Zero Neck Movement: AI + CV Pure Iris Gaze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ACBEDA"/>
                </a:solidFill>
                <a:latin typeface="Inter"/>
              </a:rPr>
              <a:t>In total paralysis where head tilt is impossible, ocular iris motion stays intact. Our AI + Computer Vision module tracks subtle pupil/iris gaze using custom AI denoising functions on low-cost PCs to cut webcam grain and false positives.</a:t>
            </a:r>
          </a:p>
        </p:txBody>
      </p:sp>
      <p:sp>
        <p:nvSpPr>
          <p:cNvPr id="18" name="!!fspot_card_2"/>
          <p:cNvSpPr/>
          <p:nvPr/>
        </p:nvSpPr>
        <p:spPr>
          <a:xfrm>
            <a:off x="9198864" y="1965960"/>
            <a:ext cx="2578608" cy="411480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!!fspot_img_2" descr="k28_fut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093976"/>
            <a:ext cx="2322576" cy="1783080"/>
          </a:xfrm>
          <a:prstGeom prst="rect">
            <a:avLst/>
          </a:prstGeom>
        </p:spPr>
      </p:pic>
      <p:sp>
        <p:nvSpPr>
          <p:cNvPr id="20" name="!!fspot_txt_2"/>
          <p:cNvSpPr txBox="1"/>
          <p:nvPr/>
        </p:nvSpPr>
        <p:spPr>
          <a:xfrm>
            <a:off x="9345168" y="3995928"/>
            <a:ext cx="228600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0E676"/>
                </a:solidFill>
                <a:latin typeface="Inter"/>
              </a:rPr>
              <a:t>EDITION 03 · FOR AI DEVS &amp; ROBOT TRAINERS</a:t>
            </a:r>
          </a:p>
          <a:p>
            <a:pPr algn="l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Open-Hardware Gaze + IMU Teleoperation</a:t>
            </a:r>
          </a:p>
        </p:txBody>
      </p:sp>
    </p:spTree>
  </p:cSld>
  <p:clrMapOvr>
    <a:masterClrMapping/>
  </p:clrMapOvr>
  <p:transition spd="med" advTm="8500">
    <p:fade/>
    <p:extLst>
      <p:ext uri="{D84E410A-3911-4435-9328-F4292B5D5B2B}">
        <p159:morph xmlns:p159="http://schemas.microsoft.com/office/powerpoint/2015/09/main" xmlns="" option="byObject"/>
      </p:ext>
    </p:extLst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05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FUTURE PRODUCT ROADMAP  ·  SPOTLIGHT 03 OF 03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3:08 – 3:16   [23/28]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9336350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Open-Hardware Gaze + IMU Teleoperation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Spotlight Carousel:  Previous edition compacts as the next edition expands into the spotlight.</a:t>
            </a:r>
          </a:p>
        </p:txBody>
      </p:sp>
      <p:sp>
        <p:nvSpPr>
          <p:cNvPr id="12" name="!!fspot_card_0"/>
          <p:cNvSpPr/>
          <p:nvPr/>
        </p:nvSpPr>
        <p:spPr>
          <a:xfrm>
            <a:off x="411480" y="1965960"/>
            <a:ext cx="2578608" cy="411480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!!fspot_img_0" descr="k28_fu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93976"/>
            <a:ext cx="2322576" cy="1783080"/>
          </a:xfrm>
          <a:prstGeom prst="rect">
            <a:avLst/>
          </a:prstGeom>
        </p:spPr>
      </p:pic>
      <p:sp>
        <p:nvSpPr>
          <p:cNvPr id="14" name="!!fspot_txt_0"/>
          <p:cNvSpPr txBox="1"/>
          <p:nvPr/>
        </p:nvSpPr>
        <p:spPr>
          <a:xfrm>
            <a:off x="557784" y="3995928"/>
            <a:ext cx="228600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0E5FF"/>
                </a:solidFill>
                <a:latin typeface="Inter"/>
              </a:rPr>
              <a:t>EDITION 01 · FOR GAMERS</a:t>
            </a:r>
          </a:p>
          <a:p>
            <a:pPr algn="l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Hands-Free Gaming &amp; Consumer Tech</a:t>
            </a:r>
          </a:p>
        </p:txBody>
      </p:sp>
      <p:sp>
        <p:nvSpPr>
          <p:cNvPr id="15" name="!!fspot_card_1"/>
          <p:cNvSpPr/>
          <p:nvPr/>
        </p:nvSpPr>
        <p:spPr>
          <a:xfrm>
            <a:off x="3145536" y="1965960"/>
            <a:ext cx="2578608" cy="411480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!!fspot_img_1" descr="k28_fu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2093976"/>
            <a:ext cx="2322576" cy="1783080"/>
          </a:xfrm>
          <a:prstGeom prst="rect">
            <a:avLst/>
          </a:prstGeom>
        </p:spPr>
      </p:pic>
      <p:sp>
        <p:nvSpPr>
          <p:cNvPr id="17" name="!!fspot_txt_1"/>
          <p:cNvSpPr txBox="1"/>
          <p:nvPr/>
        </p:nvSpPr>
        <p:spPr>
          <a:xfrm>
            <a:off x="3291840" y="3995928"/>
            <a:ext cx="228600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B800"/>
                </a:solidFill>
                <a:latin typeface="Inter"/>
              </a:rPr>
              <a:t>EDITION 02 · FOR COMPLETE PARALYSIS</a:t>
            </a:r>
          </a:p>
          <a:p>
            <a:pPr algn="l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Zero Neck Movement: AI + CV Pure Iris Gaze</a:t>
            </a:r>
          </a:p>
        </p:txBody>
      </p:sp>
      <p:sp>
        <p:nvSpPr>
          <p:cNvPr id="18" name="!!fspot_card_2"/>
          <p:cNvSpPr/>
          <p:nvPr/>
        </p:nvSpPr>
        <p:spPr>
          <a:xfrm>
            <a:off x="5879592" y="1645920"/>
            <a:ext cx="5897880" cy="475488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42640"/>
          </a:solidFill>
          <a:ln w="3556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!!fspot_img_2" descr="k28_fut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3" y="1810512"/>
            <a:ext cx="5568696" cy="2697480"/>
          </a:xfrm>
          <a:prstGeom prst="rect">
            <a:avLst/>
          </a:prstGeom>
        </p:spPr>
      </p:pic>
      <p:sp>
        <p:nvSpPr>
          <p:cNvPr id="20" name="!!fspot_txt_2"/>
          <p:cNvSpPr txBox="1"/>
          <p:nvPr/>
        </p:nvSpPr>
        <p:spPr>
          <a:xfrm>
            <a:off x="6080759" y="4590288"/>
            <a:ext cx="5495544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E676"/>
                </a:solidFill>
                <a:latin typeface="Inter"/>
              </a:rPr>
              <a:t>EDITION 03 · FOR AI DEVS &amp; ROBOT TRAINERS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Open-Hardware Gaze + IMU Teleoperation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ACBEDA"/>
                </a:solidFill>
                <a:latin typeface="Inter"/>
              </a:rPr>
              <a:t>Gives robotics labs, AI researchers, and human-in-the-loop robot trainers an open-source 9-DOF IMU + binocular gaze teleoperation rig with real-time Python telemetry at 1/100th the cost of commercial trackers.</a:t>
            </a:r>
          </a:p>
        </p:txBody>
      </p:sp>
    </p:spTree>
  </p:cSld>
  <p:clrMapOvr>
    <a:masterClrMapping/>
  </p:clrMapOvr>
  <p:transition spd="med" advTm="8500">
    <p:fade/>
    <p:extLst>
      <p:ext uri="{D84E410A-3911-4435-9328-F4292B5D5B2B}">
        <p159:morph xmlns:p159="http://schemas.microsoft.com/office/powerpoint/2015/09/main" xmlns="" option="byObject"/>
      </p:ext>
    </p:extLst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06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TECH FOR GOOD  ·  UN SDGs &amp; CLINICAL VALIDATION PARTNERS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3:16 – 3:25   [24/28]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9742278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UN Sustainable Development Goals &amp; Hospital Rollout.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Partnering with AIIMS Delhi, NIMHANS Bangalore, APD India, Amar Seva Sangam &amp; Spinal Foundation.</a:t>
            </a:r>
          </a:p>
        </p:txBody>
      </p:sp>
      <p:sp>
        <p:nvSpPr>
          <p:cNvPr id="12" name="!!sdg_SDG 03"/>
          <p:cNvSpPr/>
          <p:nvPr/>
        </p:nvSpPr>
        <p:spPr>
          <a:xfrm>
            <a:off x="411480" y="1664208"/>
            <a:ext cx="2670048" cy="196596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2EA043"/>
          </a:solidFill>
          <a:ln w="19050"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nim_sdgt_SDG 03"/>
          <p:cNvSpPr txBox="1"/>
          <p:nvPr/>
        </p:nvSpPr>
        <p:spPr>
          <a:xfrm>
            <a:off x="576072" y="1773936"/>
            <a:ext cx="2340864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F"/>
                </a:solidFill>
                <a:latin typeface="Inter"/>
              </a:rPr>
              <a:t>SDG 03</a:t>
            </a:r>
          </a:p>
          <a:p>
            <a:pPr algn="l">
              <a:spcAft>
                <a:spcPts val="40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GOOD HEALTH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8FAFF"/>
                </a:solidFill>
                <a:latin typeface="Inter"/>
              </a:rPr>
              <a:t>Restores communication &amp; care for paralyzed patients</a:t>
            </a:r>
          </a:p>
        </p:txBody>
      </p:sp>
      <p:sp>
        <p:nvSpPr>
          <p:cNvPr id="14" name="!!sdg_SDG 09"/>
          <p:cNvSpPr/>
          <p:nvPr/>
        </p:nvSpPr>
        <p:spPr>
          <a:xfrm>
            <a:off x="3310128" y="1664208"/>
            <a:ext cx="2670048" cy="196596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EB6424"/>
          </a:solidFill>
          <a:ln w="19050"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_sdgt_SDG 09"/>
          <p:cNvSpPr txBox="1"/>
          <p:nvPr/>
        </p:nvSpPr>
        <p:spPr>
          <a:xfrm>
            <a:off x="3474720" y="1773936"/>
            <a:ext cx="2340864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F"/>
                </a:solidFill>
                <a:latin typeface="Inter"/>
              </a:rPr>
              <a:t>SDG 09</a:t>
            </a:r>
          </a:p>
          <a:p>
            <a:pPr algn="l">
              <a:spcAft>
                <a:spcPts val="40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INNOVATION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8FAFF"/>
                </a:solidFill>
                <a:latin typeface="Inter"/>
              </a:rPr>
              <a:t>Open hardware built from ₹885 of standard parts</a:t>
            </a:r>
          </a:p>
        </p:txBody>
      </p:sp>
      <p:sp>
        <p:nvSpPr>
          <p:cNvPr id="16" name="!!sdg_SDG 10"/>
          <p:cNvSpPr/>
          <p:nvPr/>
        </p:nvSpPr>
        <p:spPr>
          <a:xfrm>
            <a:off x="6208776" y="1664208"/>
            <a:ext cx="2670048" cy="196596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D81B60"/>
          </a:solidFill>
          <a:ln w="19050"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sdgt_SDG 10"/>
          <p:cNvSpPr txBox="1"/>
          <p:nvPr/>
        </p:nvSpPr>
        <p:spPr>
          <a:xfrm>
            <a:off x="6373368" y="1773936"/>
            <a:ext cx="2340864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F"/>
                </a:solidFill>
                <a:latin typeface="Inter"/>
              </a:rPr>
              <a:t>SDG 10</a:t>
            </a:r>
          </a:p>
          <a:p>
            <a:pPr algn="l">
              <a:spcAft>
                <a:spcPts val="40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EQUALITY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8FAFF"/>
                </a:solidFill>
                <a:latin typeface="Inter"/>
              </a:rPr>
              <a:t>Bridges the assistive divide for low-income families</a:t>
            </a:r>
          </a:p>
        </p:txBody>
      </p:sp>
      <p:sp>
        <p:nvSpPr>
          <p:cNvPr id="18" name="!!sdg_SDG 17"/>
          <p:cNvSpPr/>
          <p:nvPr/>
        </p:nvSpPr>
        <p:spPr>
          <a:xfrm>
            <a:off x="9107424" y="1664208"/>
            <a:ext cx="2670048" cy="196596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976D2"/>
          </a:solidFill>
          <a:ln w="19050"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sdgt_SDG 17"/>
          <p:cNvSpPr txBox="1"/>
          <p:nvPr/>
        </p:nvSpPr>
        <p:spPr>
          <a:xfrm>
            <a:off x="9272016" y="1773936"/>
            <a:ext cx="2340864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F"/>
                </a:solidFill>
                <a:latin typeface="Inter"/>
              </a:rPr>
              <a:t>SDG 17</a:t>
            </a:r>
          </a:p>
          <a:p>
            <a:pPr algn="l">
              <a:spcAft>
                <a:spcPts val="40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PARTNERSHIPS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8FAFF"/>
                </a:solidFill>
                <a:latin typeface="Inter"/>
              </a:rPr>
              <a:t>Scaled via AIIMS, NIMHANS &amp; disability NGOs</a:t>
            </a:r>
          </a:p>
        </p:txBody>
      </p:sp>
      <p:sp>
        <p:nvSpPr>
          <p:cNvPr id="20" name="!!part_box"/>
          <p:cNvSpPr/>
          <p:nvPr/>
        </p:nvSpPr>
        <p:spPr>
          <a:xfrm>
            <a:off x="411480" y="3858768"/>
            <a:ext cx="11365992" cy="2514600"/>
          </a:xfrm>
          <a:prstGeom prst="round2DiagRect">
            <a:avLst>
              <a:gd name="adj1" fmla="val 4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anim_p_aiims" descr="k28_aii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041648"/>
            <a:ext cx="2148840" cy="1508760"/>
          </a:xfrm>
          <a:prstGeom prst="rect">
            <a:avLst/>
          </a:prstGeom>
        </p:spPr>
      </p:pic>
      <p:sp>
        <p:nvSpPr>
          <p:cNvPr id="22" name="!!p_aiims_t"/>
          <p:cNvSpPr txBox="1"/>
          <p:nvPr/>
        </p:nvSpPr>
        <p:spPr>
          <a:xfrm>
            <a:off x="621792" y="5614416"/>
            <a:ext cx="214884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E5FF"/>
                </a:solidFill>
                <a:latin typeface="Inter"/>
              </a:rPr>
              <a:t>AIIMS Delhi · Neurology Wards</a:t>
            </a:r>
          </a:p>
        </p:txBody>
      </p:sp>
      <p:pic>
        <p:nvPicPr>
          <p:cNvPr id="23" name="anim_p_nim" descr="k28_nimha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4041648"/>
            <a:ext cx="2148840" cy="1508760"/>
          </a:xfrm>
          <a:prstGeom prst="rect">
            <a:avLst/>
          </a:prstGeom>
        </p:spPr>
      </p:pic>
      <p:sp>
        <p:nvSpPr>
          <p:cNvPr id="24" name="!!p_nim_t"/>
          <p:cNvSpPr txBox="1"/>
          <p:nvPr/>
        </p:nvSpPr>
        <p:spPr>
          <a:xfrm>
            <a:off x="2971800" y="5614416"/>
            <a:ext cx="214884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B800"/>
                </a:solidFill>
                <a:latin typeface="Inter"/>
              </a:rPr>
              <a:t>NIMHANS Bangalore · Rehab</a:t>
            </a:r>
          </a:p>
        </p:txBody>
      </p:sp>
      <p:sp>
        <p:nvSpPr>
          <p:cNvPr id="25" name="anim_part_right_t"/>
          <p:cNvSpPr txBox="1"/>
          <p:nvPr/>
        </p:nvSpPr>
        <p:spPr>
          <a:xfrm>
            <a:off x="5394960" y="4041648"/>
            <a:ext cx="6172200" cy="2148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0E5FF"/>
                </a:solidFill>
                <a:latin typeface="Inter"/>
              </a:rPr>
              <a:t>PLANNED CLINICAL &amp; NGO VALIDATION PATHWAY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8FAFF"/>
                </a:solidFill>
                <a:latin typeface="Inter"/>
              </a:rPr>
              <a:t>1.  Clinical Pilot Trials:  AIIMS Delhi &amp; NIMHANS Bangalore neurology &amp; rehab wards.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8FAFF"/>
                </a:solidFill>
                <a:latin typeface="Inter"/>
              </a:rPr>
              <a:t>2.  Subsidized NGO Rollout:  APD India, Amar Seva Sangam &amp; The Spinal Foundation.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FFB800"/>
                </a:solidFill>
                <a:latin typeface="Inter"/>
              </a:rPr>
              <a:t>3.  Future Scope:  Multi-user household profiles (&lt;5s switch) &amp; regional voice banking.</a:t>
            </a:r>
          </a:p>
        </p:txBody>
      </p:sp>
    </p:spTree>
  </p:cSld>
  <p:clrMapOvr>
    <a:masterClrMapping/>
  </p:clrMapOvr>
  <p:transition spd="med" advTm="8500">
    <p:cover dir="ru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1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3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3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3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40"/>
                            </p:stCondLst>
                            <p:childTnLst>
                              <p:par>
                                <p:cTn id="3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39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06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COMPARATIVE ANALYSIS  ·  TOBII DYNAVOX VS. IRIS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3:25 – 3:33   [25/28]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10148207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Head-to-Head Benchmark:  Tobii Dynavox  vs.  IRIS.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99.96% cheaper, works in any room lighting, and calibrates in 2–3 seconds on any laptop or phone.</a:t>
            </a:r>
          </a:p>
        </p:txBody>
      </p:sp>
      <p:sp>
        <p:nvSpPr>
          <p:cNvPr id="12" name="!!h2h_tob"/>
          <p:cNvSpPr/>
          <p:nvPr/>
        </p:nvSpPr>
        <p:spPr>
          <a:xfrm>
            <a:off x="3246120" y="1600200"/>
            <a:ext cx="4069080" cy="530352"/>
          </a:xfrm>
          <a:prstGeom prst="round2DiagRect">
            <a:avLst>
              <a:gd name="adj1" fmla="val 8000"/>
              <a:gd name="adj2" fmla="val 0"/>
            </a:avLst>
          </a:prstGeom>
          <a:solidFill>
            <a:srgbClr val="44121A"/>
          </a:solidFill>
          <a:ln w="2286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h2h_tobt"/>
          <p:cNvSpPr txBox="1"/>
          <p:nvPr/>
        </p:nvSpPr>
        <p:spPr>
          <a:xfrm>
            <a:off x="3291840" y="1645920"/>
            <a:ext cx="3977639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50" b="1">
                <a:solidFill>
                  <a:srgbClr val="FF5252"/>
                </a:solidFill>
                <a:latin typeface="Inter"/>
              </a:rPr>
              <a:t>Tobii Dynavox I-Series</a:t>
            </a:r>
          </a:p>
        </p:txBody>
      </p:sp>
      <p:sp>
        <p:nvSpPr>
          <p:cNvPr id="14" name="!!h2h_iri"/>
          <p:cNvSpPr/>
          <p:nvPr/>
        </p:nvSpPr>
        <p:spPr>
          <a:xfrm>
            <a:off x="7498079" y="1600200"/>
            <a:ext cx="4279392" cy="530352"/>
          </a:xfrm>
          <a:prstGeom prst="round2DiagRect">
            <a:avLst>
              <a:gd name="adj1" fmla="val 8000"/>
              <a:gd name="adj2" fmla="val 0"/>
            </a:avLst>
          </a:prstGeom>
          <a:solidFill>
            <a:srgbClr val="0A3A26"/>
          </a:solidFill>
          <a:ln w="279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h2h_irit"/>
          <p:cNvSpPr txBox="1"/>
          <p:nvPr/>
        </p:nvSpPr>
        <p:spPr>
          <a:xfrm>
            <a:off x="7543800" y="1645920"/>
            <a:ext cx="4187952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>
                <a:solidFill>
                  <a:srgbClr val="00E676"/>
                </a:solidFill>
                <a:latin typeface="Inter"/>
              </a:rPr>
              <a:t>IRIS  (Our Solution)</a:t>
            </a:r>
          </a:p>
        </p:txBody>
      </p:sp>
      <p:sp>
        <p:nvSpPr>
          <p:cNvPr id="16" name="!!hr_f_0"/>
          <p:cNvSpPr/>
          <p:nvPr/>
        </p:nvSpPr>
        <p:spPr>
          <a:xfrm>
            <a:off x="411480" y="2240280"/>
            <a:ext cx="2670048" cy="58521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hr_ft_0"/>
          <p:cNvSpPr txBox="1"/>
          <p:nvPr/>
        </p:nvSpPr>
        <p:spPr>
          <a:xfrm>
            <a:off x="566928" y="2331720"/>
            <a:ext cx="237744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E5FF"/>
                </a:solidFill>
                <a:latin typeface="Inter"/>
              </a:rPr>
              <a:t>Price</a:t>
            </a:r>
          </a:p>
        </p:txBody>
      </p:sp>
      <p:sp>
        <p:nvSpPr>
          <p:cNvPr id="18" name="!!hr_t_0"/>
          <p:cNvSpPr/>
          <p:nvPr/>
        </p:nvSpPr>
        <p:spPr>
          <a:xfrm>
            <a:off x="3246120" y="2240280"/>
            <a:ext cx="4069080" cy="585216"/>
          </a:xfrm>
          <a:prstGeom prst="roundRect">
            <a:avLst>
              <a:gd name="adj" fmla="val 35000"/>
            </a:avLst>
          </a:prstGeom>
          <a:solidFill>
            <a:srgbClr val="101A2C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hr_tt_0"/>
          <p:cNvSpPr txBox="1"/>
          <p:nvPr/>
        </p:nvSpPr>
        <p:spPr>
          <a:xfrm>
            <a:off x="3337560" y="2331720"/>
            <a:ext cx="388620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₹25,00,000+  (Imported)</a:t>
            </a:r>
          </a:p>
        </p:txBody>
      </p:sp>
      <p:sp>
        <p:nvSpPr>
          <p:cNvPr id="20" name="!!hr_i_0"/>
          <p:cNvSpPr/>
          <p:nvPr/>
        </p:nvSpPr>
        <p:spPr>
          <a:xfrm>
            <a:off x="7498079" y="2240280"/>
            <a:ext cx="4279392" cy="585216"/>
          </a:xfrm>
          <a:prstGeom prst="roundRect">
            <a:avLst>
              <a:gd name="adj" fmla="val 35000"/>
            </a:avLst>
          </a:prstGeom>
          <a:solidFill>
            <a:srgbClr val="14264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im_hr_it_0"/>
          <p:cNvSpPr txBox="1"/>
          <p:nvPr/>
        </p:nvSpPr>
        <p:spPr>
          <a:xfrm>
            <a:off x="7589520" y="2331720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₹885 Prototype  (₹3K–₹3.5K Kit)</a:t>
            </a:r>
          </a:p>
        </p:txBody>
      </p:sp>
      <p:sp>
        <p:nvSpPr>
          <p:cNvPr id="22" name="!!hr_f_1"/>
          <p:cNvSpPr/>
          <p:nvPr/>
        </p:nvSpPr>
        <p:spPr>
          <a:xfrm>
            <a:off x="411480" y="2916936"/>
            <a:ext cx="2670048" cy="58521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hr_ft_1"/>
          <p:cNvSpPr txBox="1"/>
          <p:nvPr/>
        </p:nvSpPr>
        <p:spPr>
          <a:xfrm>
            <a:off x="566928" y="3008376"/>
            <a:ext cx="237744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E5FF"/>
                </a:solidFill>
                <a:latin typeface="Inter"/>
              </a:rPr>
              <a:t>Technology</a:t>
            </a:r>
          </a:p>
        </p:txBody>
      </p:sp>
      <p:sp>
        <p:nvSpPr>
          <p:cNvPr id="24" name="!!hr_t_1"/>
          <p:cNvSpPr/>
          <p:nvPr/>
        </p:nvSpPr>
        <p:spPr>
          <a:xfrm>
            <a:off x="3246120" y="2916936"/>
            <a:ext cx="4069080" cy="585216"/>
          </a:xfrm>
          <a:prstGeom prst="roundRect">
            <a:avLst>
              <a:gd name="adj" fmla="val 35000"/>
            </a:avLst>
          </a:prstGeom>
          <a:solidFill>
            <a:srgbClr val="101A2C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nim_hr_tt_1"/>
          <p:cNvSpPr txBox="1"/>
          <p:nvPr/>
        </p:nvSpPr>
        <p:spPr>
          <a:xfrm>
            <a:off x="3337560" y="3008376"/>
            <a:ext cx="388620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Camera-Based Eye Tracking</a:t>
            </a:r>
          </a:p>
        </p:txBody>
      </p:sp>
      <p:sp>
        <p:nvSpPr>
          <p:cNvPr id="26" name="!!hr_i_1"/>
          <p:cNvSpPr/>
          <p:nvPr/>
        </p:nvSpPr>
        <p:spPr>
          <a:xfrm>
            <a:off x="7498079" y="2916936"/>
            <a:ext cx="4279392" cy="585216"/>
          </a:xfrm>
          <a:prstGeom prst="roundRect">
            <a:avLst>
              <a:gd name="adj" fmla="val 35000"/>
            </a:avLst>
          </a:prstGeom>
          <a:solidFill>
            <a:srgbClr val="14264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anim_hr_it_1"/>
          <p:cNvSpPr txBox="1"/>
          <p:nvPr/>
        </p:nvSpPr>
        <p:spPr>
          <a:xfrm>
            <a:off x="7589520" y="3008376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950nm Multi-Beam IR + 50Hz IMU</a:t>
            </a:r>
          </a:p>
        </p:txBody>
      </p:sp>
      <p:sp>
        <p:nvSpPr>
          <p:cNvPr id="28" name="!!hr_f_2"/>
          <p:cNvSpPr/>
          <p:nvPr/>
        </p:nvSpPr>
        <p:spPr>
          <a:xfrm>
            <a:off x="411480" y="3593592"/>
            <a:ext cx="2670048" cy="58521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hr_ft_2"/>
          <p:cNvSpPr txBox="1"/>
          <p:nvPr/>
        </p:nvSpPr>
        <p:spPr>
          <a:xfrm>
            <a:off x="566928" y="3685032"/>
            <a:ext cx="237744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E5FF"/>
                </a:solidFill>
                <a:latin typeface="Inter"/>
              </a:rPr>
              <a:t>Lighting</a:t>
            </a:r>
          </a:p>
        </p:txBody>
      </p:sp>
      <p:sp>
        <p:nvSpPr>
          <p:cNvPr id="30" name="!!hr_t_2"/>
          <p:cNvSpPr/>
          <p:nvPr/>
        </p:nvSpPr>
        <p:spPr>
          <a:xfrm>
            <a:off x="3246120" y="3593592"/>
            <a:ext cx="4069080" cy="585216"/>
          </a:xfrm>
          <a:prstGeom prst="roundRect">
            <a:avLst>
              <a:gd name="adj" fmla="val 35000"/>
            </a:avLst>
          </a:prstGeom>
          <a:solidFill>
            <a:srgbClr val="101A2C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nim_hr_tt_2"/>
          <p:cNvSpPr txBox="1"/>
          <p:nvPr/>
        </p:nvSpPr>
        <p:spPr>
          <a:xfrm>
            <a:off x="3337560" y="3685032"/>
            <a:ext cx="388620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Requires Controlled Lighting</a:t>
            </a:r>
          </a:p>
        </p:txBody>
      </p:sp>
      <p:sp>
        <p:nvSpPr>
          <p:cNvPr id="32" name="!!hr_i_2"/>
          <p:cNvSpPr/>
          <p:nvPr/>
        </p:nvSpPr>
        <p:spPr>
          <a:xfrm>
            <a:off x="7498079" y="3593592"/>
            <a:ext cx="4279392" cy="585216"/>
          </a:xfrm>
          <a:prstGeom prst="roundRect">
            <a:avLst>
              <a:gd name="adj" fmla="val 35000"/>
            </a:avLst>
          </a:prstGeom>
          <a:solidFill>
            <a:srgbClr val="14264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nim_hr_it_2"/>
          <p:cNvSpPr txBox="1"/>
          <p:nvPr/>
        </p:nvSpPr>
        <p:spPr>
          <a:xfrm>
            <a:off x="7589520" y="3685032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Works in Any Lighting Condition</a:t>
            </a:r>
          </a:p>
        </p:txBody>
      </p:sp>
      <p:sp>
        <p:nvSpPr>
          <p:cNvPr id="34" name="!!hr_f_3"/>
          <p:cNvSpPr/>
          <p:nvPr/>
        </p:nvSpPr>
        <p:spPr>
          <a:xfrm>
            <a:off x="411480" y="4270248"/>
            <a:ext cx="2670048" cy="58521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!!hr_ft_3"/>
          <p:cNvSpPr txBox="1"/>
          <p:nvPr/>
        </p:nvSpPr>
        <p:spPr>
          <a:xfrm>
            <a:off x="566928" y="4361688"/>
            <a:ext cx="237744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E5FF"/>
                </a:solidFill>
                <a:latin typeface="Inter"/>
              </a:rPr>
              <a:t>Setup Time</a:t>
            </a:r>
          </a:p>
        </p:txBody>
      </p:sp>
      <p:sp>
        <p:nvSpPr>
          <p:cNvPr id="36" name="!!hr_t_3"/>
          <p:cNvSpPr/>
          <p:nvPr/>
        </p:nvSpPr>
        <p:spPr>
          <a:xfrm>
            <a:off x="3246120" y="4270248"/>
            <a:ext cx="4069080" cy="585216"/>
          </a:xfrm>
          <a:prstGeom prst="roundRect">
            <a:avLst>
              <a:gd name="adj" fmla="val 35000"/>
            </a:avLst>
          </a:prstGeom>
          <a:solidFill>
            <a:srgbClr val="101A2C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anim_hr_tt_3"/>
          <p:cNvSpPr txBox="1"/>
          <p:nvPr/>
        </p:nvSpPr>
        <p:spPr>
          <a:xfrm>
            <a:off x="3337560" y="4361688"/>
            <a:ext cx="388620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30+ Min (Specialist Required)</a:t>
            </a:r>
          </a:p>
        </p:txBody>
      </p:sp>
      <p:sp>
        <p:nvSpPr>
          <p:cNvPr id="38" name="!!hr_i_3"/>
          <p:cNvSpPr/>
          <p:nvPr/>
        </p:nvSpPr>
        <p:spPr>
          <a:xfrm>
            <a:off x="7498079" y="4270248"/>
            <a:ext cx="4279392" cy="585216"/>
          </a:xfrm>
          <a:prstGeom prst="roundRect">
            <a:avLst>
              <a:gd name="adj" fmla="val 35000"/>
            </a:avLst>
          </a:prstGeom>
          <a:solidFill>
            <a:srgbClr val="14264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anim_hr_it_3"/>
          <p:cNvSpPr txBox="1"/>
          <p:nvPr/>
        </p:nvSpPr>
        <p:spPr>
          <a:xfrm>
            <a:off x="7589520" y="4361688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2–3 Seconds (Self-Calibrating)</a:t>
            </a:r>
          </a:p>
        </p:txBody>
      </p:sp>
      <p:sp>
        <p:nvSpPr>
          <p:cNvPr id="40" name="!!hr_f_4"/>
          <p:cNvSpPr/>
          <p:nvPr/>
        </p:nvSpPr>
        <p:spPr>
          <a:xfrm>
            <a:off x="411480" y="4946904"/>
            <a:ext cx="2670048" cy="58521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!!hr_ft_4"/>
          <p:cNvSpPr txBox="1"/>
          <p:nvPr/>
        </p:nvSpPr>
        <p:spPr>
          <a:xfrm>
            <a:off x="566928" y="5038344"/>
            <a:ext cx="237744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E5FF"/>
                </a:solidFill>
                <a:latin typeface="Inter"/>
              </a:rPr>
              <a:t>Portability</a:t>
            </a:r>
          </a:p>
        </p:txBody>
      </p:sp>
      <p:sp>
        <p:nvSpPr>
          <p:cNvPr id="42" name="!!hr_t_4"/>
          <p:cNvSpPr/>
          <p:nvPr/>
        </p:nvSpPr>
        <p:spPr>
          <a:xfrm>
            <a:off x="3246120" y="4946904"/>
            <a:ext cx="4069080" cy="585216"/>
          </a:xfrm>
          <a:prstGeom prst="roundRect">
            <a:avLst>
              <a:gd name="adj" fmla="val 35000"/>
            </a:avLst>
          </a:prstGeom>
          <a:solidFill>
            <a:srgbClr val="101A2C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anim_hr_tt_4"/>
          <p:cNvSpPr txBox="1"/>
          <p:nvPr/>
        </p:nvSpPr>
        <p:spPr>
          <a:xfrm>
            <a:off x="3337560" y="5038344"/>
            <a:ext cx="388620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Dedicated Locked Tablet</a:t>
            </a:r>
          </a:p>
        </p:txBody>
      </p:sp>
      <p:sp>
        <p:nvSpPr>
          <p:cNvPr id="44" name="!!hr_i_4"/>
          <p:cNvSpPr/>
          <p:nvPr/>
        </p:nvSpPr>
        <p:spPr>
          <a:xfrm>
            <a:off x="7498079" y="4946904"/>
            <a:ext cx="4279392" cy="585216"/>
          </a:xfrm>
          <a:prstGeom prst="roundRect">
            <a:avLst>
              <a:gd name="adj" fmla="val 35000"/>
            </a:avLst>
          </a:prstGeom>
          <a:solidFill>
            <a:srgbClr val="14264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anim_hr_it_4"/>
          <p:cNvSpPr txBox="1"/>
          <p:nvPr/>
        </p:nvSpPr>
        <p:spPr>
          <a:xfrm>
            <a:off x="7589520" y="5038344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Any Existing Laptop or Phone</a:t>
            </a:r>
          </a:p>
        </p:txBody>
      </p:sp>
      <p:sp>
        <p:nvSpPr>
          <p:cNvPr id="46" name="!!hr_f_5"/>
          <p:cNvSpPr/>
          <p:nvPr/>
        </p:nvSpPr>
        <p:spPr>
          <a:xfrm>
            <a:off x="411480" y="5623560"/>
            <a:ext cx="2670048" cy="58521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!!hr_ft_5"/>
          <p:cNvSpPr txBox="1"/>
          <p:nvPr/>
        </p:nvSpPr>
        <p:spPr>
          <a:xfrm>
            <a:off x="566928" y="5715000"/>
            <a:ext cx="237744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E5FF"/>
                </a:solidFill>
                <a:latin typeface="Inter"/>
              </a:rPr>
              <a:t>Open Source</a:t>
            </a:r>
          </a:p>
        </p:txBody>
      </p:sp>
      <p:sp>
        <p:nvSpPr>
          <p:cNvPr id="48" name="!!hr_t_5"/>
          <p:cNvSpPr/>
          <p:nvPr/>
        </p:nvSpPr>
        <p:spPr>
          <a:xfrm>
            <a:off x="3246120" y="5623560"/>
            <a:ext cx="4069080" cy="585216"/>
          </a:xfrm>
          <a:prstGeom prst="roundRect">
            <a:avLst>
              <a:gd name="adj" fmla="val 35000"/>
            </a:avLst>
          </a:prstGeom>
          <a:solidFill>
            <a:srgbClr val="101A2C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anim_hr_tt_5"/>
          <p:cNvSpPr txBox="1"/>
          <p:nvPr/>
        </p:nvSpPr>
        <p:spPr>
          <a:xfrm>
            <a:off x="3337560" y="5715000"/>
            <a:ext cx="388620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Closed Proprietary System</a:t>
            </a:r>
          </a:p>
        </p:txBody>
      </p:sp>
      <p:sp>
        <p:nvSpPr>
          <p:cNvPr id="50" name="!!hr_i_5"/>
          <p:cNvSpPr/>
          <p:nvPr/>
        </p:nvSpPr>
        <p:spPr>
          <a:xfrm>
            <a:off x="7498079" y="5623560"/>
            <a:ext cx="4279392" cy="585216"/>
          </a:xfrm>
          <a:prstGeom prst="roundRect">
            <a:avLst>
              <a:gd name="adj" fmla="val 35000"/>
            </a:avLst>
          </a:prstGeom>
          <a:solidFill>
            <a:srgbClr val="14264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anim_hr_it_5"/>
          <p:cNvSpPr txBox="1"/>
          <p:nvPr/>
        </p:nvSpPr>
        <p:spPr>
          <a:xfrm>
            <a:off x="7589520" y="5715000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100% Open Hardware &amp; Code</a:t>
            </a:r>
          </a:p>
        </p:txBody>
      </p:sp>
    </p:spTree>
  </p:cSld>
  <p:clrMapOvr>
    <a:masterClrMapping/>
  </p:clrMapOvr>
  <p:transition spd="med" advTm="8500">
    <p:push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1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1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2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31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35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40"/>
                            </p:stCondLst>
                            <p:childTnLst>
                              <p:par>
                                <p:cTn id="37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39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20"/>
                            </p:stCondLst>
                            <p:childTnLst>
                              <p:par>
                                <p:cTn id="4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43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47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980"/>
                            </p:stCondLst>
                            <p:childTnLst>
                              <p:par>
                                <p:cTn id="49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51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160"/>
                            </p:stCondLst>
                            <p:childTnLst>
                              <p:par>
                                <p:cTn id="53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55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200"/>
                            </p:stCondLst>
                            <p:childTnLst>
                              <p:par>
                                <p:cTn id="5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59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06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ENGINEERING HONESTY &amp; SAFETY  ·  POSITIVES, LIMITS &amp; PRIVACY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3:33 – 3:42   [26/28]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10554135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Honest Engineering:  Strengths, Limits &amp; Where Tobii Wins.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Transparent evaluation across hardware, wireless reliability, and medical-grade patient privacy.</a:t>
            </a:r>
          </a:p>
        </p:txBody>
      </p:sp>
      <p:sp>
        <p:nvSpPr>
          <p:cNvPr id="12" name="!!h2h_iri"/>
          <p:cNvSpPr/>
          <p:nvPr/>
        </p:nvSpPr>
        <p:spPr>
          <a:xfrm>
            <a:off x="411480" y="1664208"/>
            <a:ext cx="3794760" cy="470916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279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nim_hon_pos"/>
          <p:cNvSpPr txBox="1"/>
          <p:nvPr/>
        </p:nvSpPr>
        <p:spPr>
          <a:xfrm>
            <a:off x="621792" y="1810512"/>
            <a:ext cx="3383280" cy="4389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E676"/>
                </a:solidFill>
                <a:latin typeface="Inter"/>
              </a:rPr>
              <a:t>✓  POSITIVES (IRIS WINS)</a:t>
            </a:r>
          </a:p>
          <a:p>
            <a:pPr algn="l">
              <a:spcAft>
                <a:spcPts val="800"/>
              </a:spcAft>
            </a:pPr>
            <a:r>
              <a:rPr sz="1480" b="0">
                <a:solidFill>
                  <a:srgbClr val="F8FAFF"/>
                </a:solidFill>
                <a:latin typeface="Inter"/>
              </a:rPr>
              <a:t>1.  ₹885 BOM (99.96% cheaper)</a:t>
            </a:r>
          </a:p>
          <a:p>
            <a:pPr algn="l">
              <a:spcAft>
                <a:spcPts val="800"/>
              </a:spcAft>
            </a:pPr>
            <a:r>
              <a:rPr sz="1480" b="0">
                <a:solidFill>
                  <a:srgbClr val="F8FAFF"/>
                </a:solidFill>
                <a:latin typeface="Inter"/>
              </a:rPr>
              <a:t>2.  BLE 5.0 + Auto Wi-Fi failover</a:t>
            </a:r>
          </a:p>
          <a:p>
            <a:pPr algn="l">
              <a:spcAft>
                <a:spcPts val="800"/>
              </a:spcAft>
            </a:pPr>
            <a:r>
              <a:rPr sz="1480" b="0">
                <a:solidFill>
                  <a:srgbClr val="F8FAFF"/>
                </a:solidFill>
                <a:latin typeface="Inter"/>
              </a:rPr>
              <a:t>3.  Works in any lighting condition</a:t>
            </a:r>
          </a:p>
          <a:p>
            <a:pPr algn="l">
              <a:spcAft>
                <a:spcPts val="800"/>
              </a:spcAft>
            </a:pPr>
            <a:r>
              <a:rPr sz="1480" b="0">
                <a:solidFill>
                  <a:srgbClr val="F8FAFF"/>
                </a:solidFill>
                <a:latin typeface="Inter"/>
              </a:rPr>
              <a:t>4.  Fits ±7D Rx lenses via magnet</a:t>
            </a:r>
          </a:p>
          <a:p>
            <a:pPr algn="l">
              <a:spcAft>
                <a:spcPts val="800"/>
              </a:spcAft>
            </a:pPr>
            <a:r>
              <a:rPr sz="1480" b="0">
                <a:solidFill>
                  <a:srgbClr val="F8FAFF"/>
                </a:solidFill>
                <a:latin typeface="Inter"/>
              </a:rPr>
              <a:t>5.  12h battery with Deep Sleep</a:t>
            </a:r>
          </a:p>
          <a:p>
            <a:pPr algn="l">
              <a:spcAft>
                <a:spcPts val="0"/>
              </a:spcAft>
            </a:pPr>
            <a:r>
              <a:rPr sz="1480" b="1">
                <a:solidFill>
                  <a:srgbClr val="00E5FF"/>
                </a:solidFill>
                <a:latin typeface="Inter"/>
              </a:rPr>
              <a:t>6.  100% local privacy (zero video)</a:t>
            </a:r>
          </a:p>
        </p:txBody>
      </p:sp>
      <p:sp>
        <p:nvSpPr>
          <p:cNvPr id="14" name="!!hon_lim_box"/>
          <p:cNvSpPr/>
          <p:nvPr/>
        </p:nvSpPr>
        <p:spPr>
          <a:xfrm>
            <a:off x="4389120" y="1664208"/>
            <a:ext cx="3520440" cy="470916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_hon_lim"/>
          <p:cNvSpPr txBox="1"/>
          <p:nvPr/>
        </p:nvSpPr>
        <p:spPr>
          <a:xfrm>
            <a:off x="4590288" y="1810512"/>
            <a:ext cx="3127248" cy="4389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FFB800"/>
                </a:solidFill>
                <a:latin typeface="Inter"/>
              </a:rPr>
              <a:t>⚠  CURRENT LIMITATIONS</a:t>
            </a:r>
          </a:p>
          <a:p>
            <a:pPr algn="l">
              <a:spcAft>
                <a:spcPts val="1000"/>
              </a:spcAft>
            </a:pPr>
            <a:r>
              <a:rPr sz="1480" b="0">
                <a:solidFill>
                  <a:srgbClr val="F8FAFF"/>
                </a:solidFill>
                <a:latin typeface="Inter"/>
              </a:rPr>
              <a:t>1.  2–3s calibration per new user</a:t>
            </a:r>
          </a:p>
          <a:p>
            <a:pPr algn="l">
              <a:spcAft>
                <a:spcPts val="1000"/>
              </a:spcAft>
            </a:pPr>
            <a:r>
              <a:rPr sz="1480" b="0">
                <a:solidFill>
                  <a:srgbClr val="F8FAFF"/>
                </a:solidFill>
                <a:latin typeface="Inter"/>
              </a:rPr>
              <a:t>2.  Mild eye/neck fatigue over long continuous hours</a:t>
            </a:r>
          </a:p>
          <a:p>
            <a:pPr algn="l">
              <a:spcAft>
                <a:spcPts val="1000"/>
              </a:spcAft>
            </a:pPr>
            <a:r>
              <a:rPr sz="1480" b="0">
                <a:solidFill>
                  <a:srgbClr val="F8FAFF"/>
                </a:solidFill>
                <a:latin typeface="Inter"/>
              </a:rPr>
              <a:t>3.  2.4GHz band interference in crowded hospital wards</a:t>
            </a:r>
          </a:p>
          <a:p>
            <a:pPr algn="l">
              <a:spcAft>
                <a:spcPts val="0"/>
              </a:spcAft>
            </a:pPr>
            <a:r>
              <a:rPr sz="1480" b="1">
                <a:solidFill>
                  <a:srgbClr val="00E5FF"/>
                </a:solidFill>
                <a:latin typeface="Inter"/>
              </a:rPr>
              <a:t>4.  Needs 1 voluntary eyelid (solved in AI+CV edition)</a:t>
            </a:r>
          </a:p>
        </p:txBody>
      </p:sp>
      <p:sp>
        <p:nvSpPr>
          <p:cNvPr id="16" name="!!h2h_tob"/>
          <p:cNvSpPr/>
          <p:nvPr/>
        </p:nvSpPr>
        <p:spPr>
          <a:xfrm>
            <a:off x="8092440" y="1664208"/>
            <a:ext cx="3685032" cy="470916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2540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hon_tob"/>
          <p:cNvSpPr txBox="1"/>
          <p:nvPr/>
        </p:nvSpPr>
        <p:spPr>
          <a:xfrm>
            <a:off x="8293608" y="1810512"/>
            <a:ext cx="3291840" cy="4389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50" b="1">
                <a:solidFill>
                  <a:srgbClr val="FF5252"/>
                </a:solidFill>
                <a:latin typeface="Inter"/>
              </a:rPr>
              <a:t>WHERE TOBII WINS + SAFETY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F8FAFF"/>
                </a:solidFill>
                <a:latin typeface="Inter"/>
              </a:rPr>
              <a:t>•  Tobii: FDA/CE hospital billing, 20+ yrs clinical trials &amp; 120Hz ICU bar</a:t>
            </a:r>
          </a:p>
          <a:p>
            <a:pPr algn="l">
              <a:spcAft>
                <a:spcPts val="1000"/>
              </a:spcAft>
            </a:pPr>
            <a:r>
              <a:rPr sz="1450" b="1">
                <a:solidFill>
                  <a:srgbClr val="00E676"/>
                </a:solidFill>
                <a:latin typeface="Inter"/>
              </a:rPr>
              <a:t>•  IRIS Safety: 2A fuse, XIAO cutoff, &lt;0.5 mW/cm² IEC safe IR</a:t>
            </a:r>
          </a:p>
          <a:p>
            <a:pPr algn="l">
              <a:spcAft>
                <a:spcPts val="0"/>
              </a:spcAft>
            </a:pPr>
            <a:r>
              <a:rPr sz="1450" b="1">
                <a:solidFill>
                  <a:srgbClr val="FFB800"/>
                </a:solidFill>
                <a:latin typeface="Inter"/>
              </a:rPr>
              <a:t>•  IRIS Privacy: 0 video uploaded, 0 PII in ntfy.sh alerts</a:t>
            </a:r>
          </a:p>
        </p:txBody>
      </p:sp>
    </p:spTree>
  </p:cSld>
  <p:clrMapOvr>
    <a:masterClrMapping/>
  </p:clrMapOvr>
  <p:transition spd="med" advTm="8500">
    <p:fade/>
    <p:extLst>
      <p:ext uri="{D84E410A-3911-4435-9328-F4292B5D5B2B}">
        <p159:morph xmlns:p159="http://schemas.microsoft.com/office/powerpoint/2015/09/main" xmlns="" option="byObject"/>
      </p:ext>
    </p:extLst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07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ECONOMIC SPHERE  ·  ₹885 BOM, UNIT ECONOMICS &amp; MARKET SIZE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3:42 – 3:51   [27/28]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10960063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Economic Sphere:  ₹885 Prototype  →  ₹3,000 Complete Kit.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Transparent component costing + sustainable production economics across a $20B → $43.3B global market.</a:t>
            </a:r>
          </a:p>
        </p:txBody>
      </p:sp>
      <p:sp>
        <p:nvSpPr>
          <p:cNvPr id="12" name="!!econ_l_box"/>
          <p:cNvSpPr/>
          <p:nvPr/>
        </p:nvSpPr>
        <p:spPr>
          <a:xfrm>
            <a:off x="411480" y="1664208"/>
            <a:ext cx="5715000" cy="470916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econ_l_hdr"/>
          <p:cNvSpPr txBox="1"/>
          <p:nvPr/>
        </p:nvSpPr>
        <p:spPr>
          <a:xfrm>
            <a:off x="621792" y="1773936"/>
            <a:ext cx="530352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0E5FF"/>
                </a:solidFill>
                <a:latin typeface="Inter"/>
              </a:rPr>
              <a:t>REALISTIC PROTOTYPE BILL OF MATERIALS  (TOTAL = ₹885)</a:t>
            </a:r>
          </a:p>
        </p:txBody>
      </p:sp>
      <p:sp>
        <p:nvSpPr>
          <p:cNvPr id="14" name="!!bom_n_0"/>
          <p:cNvSpPr txBox="1"/>
          <p:nvPr/>
        </p:nvSpPr>
        <p:spPr>
          <a:xfrm>
            <a:off x="621792" y="2231136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8FAFF"/>
                </a:solidFill>
                <a:latin typeface="Inter"/>
              </a:rPr>
              <a:t>Seeed Studio XIAO ESP32C3</a:t>
            </a:r>
          </a:p>
        </p:txBody>
      </p:sp>
      <p:sp>
        <p:nvSpPr>
          <p:cNvPr id="15" name="anim_bar_bom_0"/>
          <p:cNvSpPr/>
          <p:nvPr/>
        </p:nvSpPr>
        <p:spPr>
          <a:xfrm>
            <a:off x="3182112" y="2231136"/>
            <a:ext cx="2834640" cy="347472"/>
          </a:xfrm>
          <a:prstGeom prst="roundRect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bom_c_0"/>
          <p:cNvSpPr txBox="1"/>
          <p:nvPr/>
        </p:nvSpPr>
        <p:spPr>
          <a:xfrm>
            <a:off x="3255264" y="2249424"/>
            <a:ext cx="268833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60A12"/>
                </a:solidFill>
                <a:latin typeface="Inter"/>
              </a:rPr>
              <a:t>₹500</a:t>
            </a:r>
          </a:p>
        </p:txBody>
      </p:sp>
      <p:sp>
        <p:nvSpPr>
          <p:cNvPr id="17" name="!!bom_n_1"/>
          <p:cNvSpPr txBox="1"/>
          <p:nvPr/>
        </p:nvSpPr>
        <p:spPr>
          <a:xfrm>
            <a:off x="621792" y="2706624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8FAFF"/>
                </a:solidFill>
                <a:latin typeface="Inter"/>
              </a:rPr>
              <a:t>Breathable Velcro Belt + Glasses</a:t>
            </a:r>
          </a:p>
        </p:txBody>
      </p:sp>
      <p:sp>
        <p:nvSpPr>
          <p:cNvPr id="18" name="anim_bar_bom_1"/>
          <p:cNvSpPr/>
          <p:nvPr/>
        </p:nvSpPr>
        <p:spPr>
          <a:xfrm>
            <a:off x="3182112" y="2706624"/>
            <a:ext cx="1417320" cy="347472"/>
          </a:xfrm>
          <a:prstGeom prst="roundRect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bom_c_1"/>
          <p:cNvSpPr txBox="1"/>
          <p:nvPr/>
        </p:nvSpPr>
        <p:spPr>
          <a:xfrm>
            <a:off x="3255264" y="2724912"/>
            <a:ext cx="127101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60A12"/>
                </a:solidFill>
                <a:latin typeface="Inter"/>
              </a:rPr>
              <a:t>₹130</a:t>
            </a:r>
          </a:p>
        </p:txBody>
      </p:sp>
      <p:sp>
        <p:nvSpPr>
          <p:cNvPr id="20" name="!!bom_n_2"/>
          <p:cNvSpPr txBox="1"/>
          <p:nvPr/>
        </p:nvSpPr>
        <p:spPr>
          <a:xfrm>
            <a:off x="621792" y="3182112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8FAFF"/>
                </a:solidFill>
                <a:latin typeface="Inter"/>
              </a:rPr>
              <a:t>MPU6050 6-DOF IMU Sensor</a:t>
            </a:r>
          </a:p>
        </p:txBody>
      </p:sp>
      <p:sp>
        <p:nvSpPr>
          <p:cNvPr id="21" name="anim_bar_bom_2"/>
          <p:cNvSpPr/>
          <p:nvPr/>
        </p:nvSpPr>
        <p:spPr>
          <a:xfrm>
            <a:off x="3182112" y="3182112"/>
            <a:ext cx="1234440" cy="347472"/>
          </a:xfrm>
          <a:prstGeom prst="roundRect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bom_c_2"/>
          <p:cNvSpPr txBox="1"/>
          <p:nvPr/>
        </p:nvSpPr>
        <p:spPr>
          <a:xfrm>
            <a:off x="3255264" y="3200400"/>
            <a:ext cx="108813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60A12"/>
                </a:solidFill>
                <a:latin typeface="Inter"/>
              </a:rPr>
              <a:t>₹100</a:t>
            </a:r>
          </a:p>
        </p:txBody>
      </p:sp>
      <p:sp>
        <p:nvSpPr>
          <p:cNvPr id="23" name="!!bom_n_3"/>
          <p:cNvSpPr txBox="1"/>
          <p:nvPr/>
        </p:nvSpPr>
        <p:spPr>
          <a:xfrm>
            <a:off x="621792" y="3657600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8FAFF"/>
                </a:solidFill>
                <a:latin typeface="Inter"/>
              </a:rPr>
              <a:t>3.7V 1000mAh Li-Po Battery</a:t>
            </a:r>
          </a:p>
        </p:txBody>
      </p:sp>
      <p:sp>
        <p:nvSpPr>
          <p:cNvPr id="24" name="anim_bar_bom_3"/>
          <p:cNvSpPr/>
          <p:nvPr/>
        </p:nvSpPr>
        <p:spPr>
          <a:xfrm>
            <a:off x="3182112" y="3657600"/>
            <a:ext cx="1097280" cy="347472"/>
          </a:xfrm>
          <a:prstGeom prst="roundRect">
            <a:avLst>
              <a:gd name="adj" fmla="val 25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bom_c_3"/>
          <p:cNvSpPr txBox="1"/>
          <p:nvPr/>
        </p:nvSpPr>
        <p:spPr>
          <a:xfrm>
            <a:off x="3255264" y="3675887"/>
            <a:ext cx="95097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60A12"/>
                </a:solidFill>
                <a:latin typeface="Inter"/>
              </a:rPr>
              <a:t>₹80</a:t>
            </a:r>
          </a:p>
        </p:txBody>
      </p:sp>
      <p:sp>
        <p:nvSpPr>
          <p:cNvPr id="26" name="!!bom_n_4"/>
          <p:cNvSpPr txBox="1"/>
          <p:nvPr/>
        </p:nvSpPr>
        <p:spPr>
          <a:xfrm>
            <a:off x="621792" y="4133088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8FAFF"/>
                </a:solidFill>
                <a:latin typeface="Inter"/>
              </a:rPr>
              <a:t>950nm Multi-Beam IR Sensor</a:t>
            </a:r>
          </a:p>
        </p:txBody>
      </p:sp>
      <p:sp>
        <p:nvSpPr>
          <p:cNvPr id="27" name="anim_bar_bom_4"/>
          <p:cNvSpPr/>
          <p:nvPr/>
        </p:nvSpPr>
        <p:spPr>
          <a:xfrm>
            <a:off x="3182112" y="4133088"/>
            <a:ext cx="868680" cy="347472"/>
          </a:xfrm>
          <a:prstGeom prst="roundRect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bom_c_4"/>
          <p:cNvSpPr txBox="1"/>
          <p:nvPr/>
        </p:nvSpPr>
        <p:spPr>
          <a:xfrm>
            <a:off x="3255264" y="4151376"/>
            <a:ext cx="722375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60A12"/>
                </a:solidFill>
                <a:latin typeface="Inter"/>
              </a:rPr>
              <a:t>₹30</a:t>
            </a:r>
          </a:p>
        </p:txBody>
      </p:sp>
      <p:sp>
        <p:nvSpPr>
          <p:cNvPr id="29" name="!!bom_n_5"/>
          <p:cNvSpPr txBox="1"/>
          <p:nvPr/>
        </p:nvSpPr>
        <p:spPr>
          <a:xfrm>
            <a:off x="621792" y="4608576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8FAFF"/>
                </a:solidFill>
                <a:latin typeface="Inter"/>
              </a:rPr>
              <a:t>Wires + 2A Fuse + Passives</a:t>
            </a:r>
          </a:p>
        </p:txBody>
      </p:sp>
      <p:sp>
        <p:nvSpPr>
          <p:cNvPr id="30" name="anim_bar_bom_5"/>
          <p:cNvSpPr/>
          <p:nvPr/>
        </p:nvSpPr>
        <p:spPr>
          <a:xfrm>
            <a:off x="3182112" y="4608576"/>
            <a:ext cx="822960" cy="347472"/>
          </a:xfrm>
          <a:prstGeom prst="roundRect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bom_c_5"/>
          <p:cNvSpPr txBox="1"/>
          <p:nvPr/>
        </p:nvSpPr>
        <p:spPr>
          <a:xfrm>
            <a:off x="3255264" y="4626864"/>
            <a:ext cx="67665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60A12"/>
                </a:solidFill>
                <a:latin typeface="Inter"/>
              </a:rPr>
              <a:t>₹25</a:t>
            </a:r>
          </a:p>
        </p:txBody>
      </p:sp>
      <p:sp>
        <p:nvSpPr>
          <p:cNvPr id="32" name="!!bom_n_6"/>
          <p:cNvSpPr txBox="1"/>
          <p:nvPr/>
        </p:nvSpPr>
        <p:spPr>
          <a:xfrm>
            <a:off x="621792" y="5084064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8FAFF"/>
                </a:solidFill>
                <a:latin typeface="Inter"/>
              </a:rPr>
              <a:t>Neodymium Magnet + Pivot + LED</a:t>
            </a:r>
          </a:p>
        </p:txBody>
      </p:sp>
      <p:sp>
        <p:nvSpPr>
          <p:cNvPr id="33" name="anim_bar_bom_6"/>
          <p:cNvSpPr/>
          <p:nvPr/>
        </p:nvSpPr>
        <p:spPr>
          <a:xfrm>
            <a:off x="3182112" y="5084064"/>
            <a:ext cx="777240" cy="347472"/>
          </a:xfrm>
          <a:prstGeom prst="roundRect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bom_c_6"/>
          <p:cNvSpPr txBox="1"/>
          <p:nvPr/>
        </p:nvSpPr>
        <p:spPr>
          <a:xfrm>
            <a:off x="3255264" y="5102351"/>
            <a:ext cx="63093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60A12"/>
                </a:solidFill>
                <a:latin typeface="Inter"/>
              </a:rPr>
              <a:t>₹20</a:t>
            </a:r>
          </a:p>
        </p:txBody>
      </p:sp>
      <p:sp>
        <p:nvSpPr>
          <p:cNvPr id="35" name="!!bom_tot_pill"/>
          <p:cNvSpPr/>
          <p:nvPr/>
        </p:nvSpPr>
        <p:spPr>
          <a:xfrm>
            <a:off x="621792" y="5596128"/>
            <a:ext cx="5303520" cy="585216"/>
          </a:xfrm>
          <a:prstGeom prst="roundRect">
            <a:avLst>
              <a:gd name="adj" fmla="val 35000"/>
            </a:avLst>
          </a:prstGeom>
          <a:solidFill>
            <a:srgbClr val="0A3A26"/>
          </a:solidFill>
          <a:ln w="2286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anim_bom_tot_t"/>
          <p:cNvSpPr txBox="1"/>
          <p:nvPr/>
        </p:nvSpPr>
        <p:spPr>
          <a:xfrm>
            <a:off x="713232" y="5650992"/>
            <a:ext cx="512064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00E676"/>
                </a:solidFill>
                <a:latin typeface="Inter"/>
              </a:rPr>
              <a:t>TOTAL PROTOTYPE COST:  ₹885   (99.96% Cheaper)</a:t>
            </a:r>
          </a:p>
        </p:txBody>
      </p:sp>
      <p:sp>
        <p:nvSpPr>
          <p:cNvPr id="37" name="!!econ_unit_bg"/>
          <p:cNvSpPr/>
          <p:nvPr/>
        </p:nvSpPr>
        <p:spPr>
          <a:xfrm>
            <a:off x="6327648" y="1664208"/>
            <a:ext cx="5449824" cy="224028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!!econ_unit_bar"/>
          <p:cNvSpPr/>
          <p:nvPr/>
        </p:nvSpPr>
        <p:spPr>
          <a:xfrm>
            <a:off x="6473952" y="16916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!!econ_unit_hex"/>
          <p:cNvSpPr/>
          <p:nvPr/>
        </p:nvSpPr>
        <p:spPr>
          <a:xfrm>
            <a:off x="11466576" y="359359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!!econ_unit_pill"/>
          <p:cNvSpPr/>
          <p:nvPr/>
        </p:nvSpPr>
        <p:spPr>
          <a:xfrm>
            <a:off x="6492240" y="1828800"/>
            <a:ext cx="3776472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!!econ_unit_pill_t"/>
          <p:cNvSpPr txBox="1"/>
          <p:nvPr/>
        </p:nvSpPr>
        <p:spPr>
          <a:xfrm>
            <a:off x="6528816" y="1847088"/>
            <a:ext cx="37033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UNIT ECONOMICS (~₹2,185 LANDED COST)</a:t>
            </a:r>
          </a:p>
        </p:txBody>
      </p:sp>
      <p:sp>
        <p:nvSpPr>
          <p:cNvPr id="42" name="anim_econ_unit_txt"/>
          <p:cNvSpPr txBox="1"/>
          <p:nvPr/>
        </p:nvSpPr>
        <p:spPr>
          <a:xfrm>
            <a:off x="6492240" y="2194560"/>
            <a:ext cx="5120640" cy="1618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F8FAFF"/>
                </a:solidFill>
                <a:latin typeface="Inter"/>
              </a:rPr>
              <a:t>How ₹885 Scales to a ₹3,000–₹3,500 Kit</a:t>
            </a:r>
          </a:p>
          <a:p>
            <a:pPr algn="l">
              <a:spcAft>
                <a:spcPts val="500"/>
              </a:spcAft>
            </a:pPr>
            <a:r>
              <a:rPr sz="1380" b="0">
                <a:solidFill>
                  <a:srgbClr val="ACBEDA"/>
                </a:solidFill>
                <a:latin typeface="Inter"/>
              </a:rPr>
              <a:t>₹885 Core BOM + ₹450 Custom Flex-PCB &amp; 3D Case + ₹350 QA &amp; 1-Yr Warranty + ₹500 GST/Shipping/NGO Setup = ~₹2,185 Landed.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ACBEDA"/>
                </a:solidFill>
                <a:latin typeface="Inter"/>
              </a:rPr>
              <a:t>Planned ₹3,000–₹3,500 price remains 99.8% cheaper than ₹25L Tobii.</a:t>
            </a:r>
          </a:p>
        </p:txBody>
      </p:sp>
      <p:sp>
        <p:nvSpPr>
          <p:cNvPr id="43" name="!!econ_mkt_bg"/>
          <p:cNvSpPr/>
          <p:nvPr/>
        </p:nvSpPr>
        <p:spPr>
          <a:xfrm>
            <a:off x="6327648" y="4133087"/>
            <a:ext cx="5449824" cy="224028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!!econ_mkt_bar"/>
          <p:cNvSpPr/>
          <p:nvPr/>
        </p:nvSpPr>
        <p:spPr>
          <a:xfrm>
            <a:off x="6473952" y="416052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!!econ_mkt_hex"/>
          <p:cNvSpPr/>
          <p:nvPr/>
        </p:nvSpPr>
        <p:spPr>
          <a:xfrm>
            <a:off x="11466576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!!econ_mkt_pill"/>
          <p:cNvSpPr/>
          <p:nvPr/>
        </p:nvSpPr>
        <p:spPr>
          <a:xfrm>
            <a:off x="6492240" y="4297679"/>
            <a:ext cx="3488436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!!econ_mkt_pill_t"/>
          <p:cNvSpPr txBox="1"/>
          <p:nvPr/>
        </p:nvSpPr>
        <p:spPr>
          <a:xfrm>
            <a:off x="6528816" y="4315967"/>
            <a:ext cx="3415284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MARKET SIZE &amp; CROSS-SUBSIDY SCALE</a:t>
            </a:r>
          </a:p>
        </p:txBody>
      </p:sp>
      <p:sp>
        <p:nvSpPr>
          <p:cNvPr id="48" name="anim_econ_mkt_txt"/>
          <p:cNvSpPr txBox="1"/>
          <p:nvPr/>
        </p:nvSpPr>
        <p:spPr>
          <a:xfrm>
            <a:off x="6492240" y="4663440"/>
            <a:ext cx="5120640" cy="1618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F8FAFF"/>
                </a:solidFill>
                <a:latin typeface="Inter"/>
              </a:rPr>
              <a:t>$20B (2025) → $43.3B (2035) @ 8% CAGR</a:t>
            </a:r>
          </a:p>
          <a:p>
            <a:pPr algn="l">
              <a:spcAft>
                <a:spcPts val="500"/>
              </a:spcAft>
            </a:pPr>
            <a:r>
              <a:rPr sz="1380" b="0">
                <a:solidFill>
                  <a:srgbClr val="ACBEDA"/>
                </a:solidFill>
                <a:latin typeface="Inter"/>
              </a:rPr>
              <a:t>India Initial Assistive TAM: ₹15 Cr+ (Free Core App + ₹99/mo Hospital Cloud).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ACBEDA"/>
                </a:solidFill>
                <a:latin typeface="Inter"/>
              </a:rPr>
              <a:t>High-volume B2C Gaming Edition sales cross-subsidize free NGO kits.</a:t>
            </a:r>
          </a:p>
        </p:txBody>
      </p:sp>
    </p:spTree>
  </p:cSld>
  <p:clrMapOvr>
    <a:masterClrMapping/>
  </p:clrMapOvr>
  <p:transition spd="med" advTm="9000">
    <p:wedg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5" dur="8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9" dur="8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3" dur="8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7" dur="8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1" dur="8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5" dur="8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40"/>
                            </p:stCondLst>
                            <p:childTnLst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9" dur="8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20"/>
                            </p:stCondLst>
                            <p:childTnLst>
                              <p:par>
                                <p:cTn id="4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43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4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980"/>
                            </p:stCondLst>
                            <p:childTnLst>
                              <p:par>
                                <p:cTn id="49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51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!!nav_bar"/>
          <p:cNvSpPr/>
          <p:nvPr/>
        </p:nvSpPr>
        <p:spPr>
          <a:xfrm>
            <a:off x="411480" y="164592"/>
            <a:ext cx="11365992" cy="40233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270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07</a:t>
            </a:r>
          </a:p>
        </p:txBody>
      </p:sp>
      <p:sp>
        <p:nvSpPr>
          <p:cNvPr id="6" name="!!nav_tag_txt"/>
          <p:cNvSpPr txBox="1"/>
          <p:nvPr/>
        </p:nvSpPr>
        <p:spPr>
          <a:xfrm>
            <a:off x="2331720" y="210312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TESTING &amp; VERIFIED NUMBERS  ·  READY FOR THE WORLD</a:t>
            </a:r>
          </a:p>
        </p:txBody>
      </p:sp>
      <p:sp>
        <p:nvSpPr>
          <p:cNvPr id="7" name="!!nav_timer"/>
          <p:cNvSpPr txBox="1"/>
          <p:nvPr/>
        </p:nvSpPr>
        <p:spPr>
          <a:xfrm>
            <a:off x="9006840" y="210312"/>
            <a:ext cx="26517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>
                <a:solidFill>
                  <a:srgbClr val="FFB800"/>
                </a:solidFill>
                <a:latin typeface="Inter"/>
              </a:rPr>
              <a:t>3:51 – 4:00   [28/28]</a:t>
            </a:r>
          </a:p>
        </p:txBody>
      </p:sp>
      <p:sp>
        <p:nvSpPr>
          <p:cNvPr id="8" name="!!prog_track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prog_fill"/>
          <p:cNvSpPr/>
          <p:nvPr/>
        </p:nvSpPr>
        <p:spPr>
          <a:xfrm>
            <a:off x="411480" y="6656832"/>
            <a:ext cx="1136599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Built by Hand.  Tested with Patients.  98.4% Verified Accuracy.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Technology should be a bridge, not a wall.  —  IRIS by Ayushman Choudhary, Class 10, Nagpur</a:t>
            </a:r>
          </a:p>
        </p:txBody>
      </p:sp>
      <p:sp>
        <p:nvSpPr>
          <p:cNvPr id="12" name="!!final_photo_box"/>
          <p:cNvSpPr/>
          <p:nvPr/>
        </p:nvSpPr>
        <p:spPr>
          <a:xfrm>
            <a:off x="411480" y="1664208"/>
            <a:ext cx="4709160" cy="470916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279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anim_fin_p1" descr="k28_tes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2224"/>
            <a:ext cx="2103120" cy="3520440"/>
          </a:xfrm>
          <a:prstGeom prst="rect">
            <a:avLst/>
          </a:prstGeom>
        </p:spPr>
      </p:pic>
      <p:pic>
        <p:nvPicPr>
          <p:cNvPr id="14" name="anim_fin_p2" descr="k28_test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792224"/>
            <a:ext cx="2240280" cy="3520440"/>
          </a:xfrm>
          <a:prstGeom prst="rect">
            <a:avLst/>
          </a:prstGeom>
        </p:spPr>
      </p:pic>
      <p:sp>
        <p:nvSpPr>
          <p:cNvPr id="15" name="!!fin_cap"/>
          <p:cNvSpPr txBox="1"/>
          <p:nvPr/>
        </p:nvSpPr>
        <p:spPr>
          <a:xfrm>
            <a:off x="548640" y="5413248"/>
            <a:ext cx="443484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Inter"/>
              </a:rPr>
              <a:t>HAND-BUILT &amp; BENCHMARKED BY AYUSHMAN CHOUDHARY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B800"/>
                </a:solidFill>
                <a:latin typeface="Inter"/>
              </a:rPr>
              <a:t>Bhavan's B.P. Vidya Mandir, Ashti, Nagpur · projectiris.dev</a:t>
            </a:r>
          </a:p>
        </p:txBody>
      </p:sp>
      <p:sp>
        <p:nvSpPr>
          <p:cNvPr id="16" name="!!fin_b_5.85_1.82"/>
          <p:cNvSpPr/>
          <p:nvPr/>
        </p:nvSpPr>
        <p:spPr>
          <a:xfrm>
            <a:off x="5349240" y="1664208"/>
            <a:ext cx="3136392" cy="2267712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79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fin_bt_5.85_1.82"/>
          <p:cNvSpPr txBox="1"/>
          <p:nvPr/>
        </p:nvSpPr>
        <p:spPr>
          <a:xfrm>
            <a:off x="5532120" y="1828800"/>
            <a:ext cx="2770632" cy="19385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00E5FF"/>
                </a:solidFill>
                <a:latin typeface="Inter"/>
              </a:rPr>
              <a:t>98.4%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Target Blink Accuracy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Vs. 92.1% Tobii baseline · 99.6% Back-Button Hit Rate</a:t>
            </a:r>
          </a:p>
        </p:txBody>
      </p:sp>
      <p:sp>
        <p:nvSpPr>
          <p:cNvPr id="18" name="!!fin_b_9.45_1.82"/>
          <p:cNvSpPr/>
          <p:nvPr/>
        </p:nvSpPr>
        <p:spPr>
          <a:xfrm>
            <a:off x="8641080" y="1664208"/>
            <a:ext cx="3136392" cy="2267712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79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fin_bt_9.45_1.82"/>
          <p:cNvSpPr txBox="1"/>
          <p:nvPr/>
        </p:nvSpPr>
        <p:spPr>
          <a:xfrm>
            <a:off x="8823959" y="1828800"/>
            <a:ext cx="2770632" cy="19385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B800"/>
                </a:solidFill>
                <a:latin typeface="Inter"/>
              </a:rPr>
              <a:t>280 ms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Cellular Alert Latency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145 ms on Wi-Fi · Instant ntfy.sh phone &amp; watch siren</a:t>
            </a:r>
          </a:p>
        </p:txBody>
      </p:sp>
      <p:sp>
        <p:nvSpPr>
          <p:cNvPr id="20" name="!!fin_b_5.85_4.48"/>
          <p:cNvSpPr/>
          <p:nvPr/>
        </p:nvSpPr>
        <p:spPr>
          <a:xfrm>
            <a:off x="5349240" y="4096512"/>
            <a:ext cx="3136392" cy="2267712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79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im_fin_bt_5.85_4.48"/>
          <p:cNvSpPr txBox="1"/>
          <p:nvPr/>
        </p:nvSpPr>
        <p:spPr>
          <a:xfrm>
            <a:off x="5532120" y="4261104"/>
            <a:ext cx="2770632" cy="19385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00E676"/>
                </a:solidFill>
                <a:latin typeface="Inter"/>
              </a:rPr>
              <a:t>87.2%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Faster Caregiver Aid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18.2 sec response vs. 4.2 min manual call bell</a:t>
            </a:r>
          </a:p>
        </p:txBody>
      </p:sp>
      <p:sp>
        <p:nvSpPr>
          <p:cNvPr id="22" name="!!fin_b_9.45_4.48"/>
          <p:cNvSpPr/>
          <p:nvPr/>
        </p:nvSpPr>
        <p:spPr>
          <a:xfrm>
            <a:off x="8641080" y="4096512"/>
            <a:ext cx="3136392" cy="2267712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79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nim_fin_bt_9.45_4.48"/>
          <p:cNvSpPr txBox="1"/>
          <p:nvPr/>
        </p:nvSpPr>
        <p:spPr>
          <a:xfrm>
            <a:off x="8823959" y="4261104"/>
            <a:ext cx="2770632" cy="19385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A855F7"/>
                </a:solidFill>
                <a:latin typeface="Inter"/>
              </a:rPr>
              <a:t>91.5 / 100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System Usability (A+)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Vs. 68.4 baseline · 60 FPS Flight Sim @ only 5% CPU</a:t>
            </a:r>
          </a:p>
        </p:txBody>
      </p:sp>
    </p:spTree>
  </p:cSld>
  <p:clrMapOvr>
    <a:masterClrMapping/>
  </p:clrMapOvr>
  <p:transition spd="med" advTm="9000">
    <p:plus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23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3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3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2661</TotalTime>
  <Words>3632</Words>
  <Application>Microsoft Office PowerPoint</Application>
  <PresentationFormat>Widescreen</PresentationFormat>
  <Paragraphs>480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SIS</cp:lastModifiedBy>
  <cp:revision>3</cp:revision>
  <dcterms:created xsi:type="dcterms:W3CDTF">2013-01-27T09:14:16Z</dcterms:created>
  <dcterms:modified xsi:type="dcterms:W3CDTF">2026-10-23T18:23:53Z</dcterms:modified>
  <cp:category/>
</cp:coreProperties>
</file>