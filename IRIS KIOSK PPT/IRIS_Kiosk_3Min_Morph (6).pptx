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3" r:id="rId12"/>
    <p:sldId id="265" r:id="rId13"/>
    <p:sldId id="266" r:id="rId14"/>
    <p:sldId id="267" r:id="rId15"/>
    <p:sldId id="268" r:id="rId16"/>
    <p:sldId id="285" r:id="rId17"/>
    <p:sldId id="269" r:id="rId18"/>
    <p:sldId id="270" r:id="rId19"/>
    <p:sldId id="271" r:id="rId20"/>
    <p:sldId id="272" r:id="rId21"/>
    <p:sldId id="274" r:id="rId22"/>
    <p:sldId id="275" r:id="rId23"/>
    <p:sldId id="280" r:id="rId24"/>
    <p:sldId id="281" r:id="rId25"/>
    <p:sldId id="282" r:id="rId26"/>
    <p:sldId id="279" r:id="rId27"/>
    <p:sldId id="286" r:id="rId28"/>
    <p:sldId id="276" r:id="rId29"/>
    <p:sldId id="277" r:id="rId30"/>
    <p:sldId id="278" r:id="rId31"/>
    <p:sldId id="287" r:id="rId32"/>
    <p:sldId id="283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 restart="4294967295"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1419C-465F-ED0F-C941-04AB6A32DD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1FF16-7BE4-9E70-A9A5-552DE5093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89D93-7476-F602-F1D9-B627CDFE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A66C-6E2B-4FA0-A232-DCF18974420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F01A3-F3CD-B6C2-A60B-0E202E2BE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D8370-23E7-73CC-97A6-B6CC7E4B6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DA49-438D-4C86-9767-C6281A150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98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652F4-65EC-E952-5A32-442B28D10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D41E6-80A4-00D1-4735-4F1AB947C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F4A66-EE26-F345-D77C-C505C8602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A66C-6E2B-4FA0-A232-DCF18974420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0E0A9-8486-7423-894C-095768A92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8ED88-0BBC-7EDF-DCAF-9086FD840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DA49-438D-4C86-9767-C6281A150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565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6435C-576B-34BA-D683-251AA4A00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AF2D1-387F-7A51-0581-E2F75CBE4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D64FB-FF29-356C-44EC-A629A67A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A66C-6E2B-4FA0-A232-DCF18974420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63951-E7C1-A952-2961-178FD5360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CEF63-77F8-220B-E87E-D35FB1337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DA49-438D-4C86-9767-C6281A150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942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D001E-F075-6E82-E148-BC317EF18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D40FF-8DE8-2365-0974-20D414B036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298877-362B-B16F-6C6C-DCC950872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1C2B6-F03C-1FD7-9E68-810AD404E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A66C-6E2B-4FA0-A232-DCF18974420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59894-FDB9-CFEB-000A-B4479AD6C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88DC0-17DE-12B5-8ECB-C7BC46D3E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DA49-438D-4C86-9767-C6281A150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707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30478-69B0-A87A-4D09-F78E45DF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E1642-40CD-5FCA-4610-1B3ECF871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38A14-7AC1-E352-7DB7-488F7BB2D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ED1A31-FCE3-B128-263A-6178F893A2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98D22F-FFCF-40BC-D392-0CCA1830B0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B59A61-52EF-F4ED-7E25-9CC82A21C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A66C-6E2B-4FA0-A232-DCF18974420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FE63E5-B978-8FFF-DDD2-E7C8F3CE8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E80010-C7F3-1B2E-F15A-248990BD7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DA49-438D-4C86-9767-C6281A150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87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155C8-4F66-0647-8AAD-9BB8C7420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C80927-3C44-9C11-6122-CB8BF440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A66C-6E2B-4FA0-A232-DCF18974420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C2D032-8B40-D533-FBFB-17718CCE0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E1061-A7A7-67D6-6A13-DBFE93272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DA49-438D-4C86-9767-C6281A150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019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EBDDD8-38CF-FEDE-0AB2-8FBC04B75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A66C-6E2B-4FA0-A232-DCF18974420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D80B3-8609-8E15-AB5C-EE24E69DF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D66C0-4F55-0DCD-8390-4C5485B99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DA49-438D-4C86-9767-C6281A150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265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B940D-8DC8-3E32-452C-8F2905F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8A017-8E76-B4DF-D8C5-B67C46AA2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EEF46-5E51-DC07-132C-6FD66674A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0C2BD-78D1-6350-A6D5-51F37C84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A66C-6E2B-4FA0-A232-DCF18974420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3A513-D779-83B6-1CD9-0FD547249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58FCB-AD3A-5CA1-D68F-68352729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DA49-438D-4C86-9767-C6281A150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863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31D91-65EB-B4D2-8998-741401D49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424E56-6AF6-4413-FA8D-AB61B1CCA6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CE45D3-8024-9B36-615F-2EE505724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C03F2-A17A-1725-FFFE-4020559F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A66C-6E2B-4FA0-A232-DCF18974420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D1BA9-E627-5366-6E74-0F92CB0D7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89FDF-0EFE-6925-85CE-E8670BA4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DA49-438D-4C86-9767-C6281A150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131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EF046-C35D-79A1-B7CE-0CA4F2786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55937-7AC5-688E-3E4E-3922837184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73F7-7D50-A170-4EFB-E27A5B00C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A66C-6E2B-4FA0-A232-DCF18974420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80DA0-13B4-1F41-D4F7-07E4B5590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20DB2-888E-49DE-DB96-1495537D6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DA49-438D-4C86-9767-C6281A150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551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0EFDF9-C39F-F316-5CD8-6516DD4C9B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70813E-05A5-9534-F003-56C6D35AC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E25C4-D3DF-4F6D-2C3D-2A8044C11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A66C-6E2B-4FA0-A232-DCF18974420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D819A-944A-1004-B6B1-1E4A39323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F86B5-32A3-AD67-32FC-ED2D9DA4A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BDA49-438D-4C86-9767-C6281A150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BC6A63-C077-A622-2C37-B37981632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26D9B-E4E6-902D-5F0E-42E88BC76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FE805-EF18-6B49-2674-B005A0A92F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7A66C-6E2B-4FA0-A232-DCF18974420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4A0BC-5335-BEB1-C248-769E18AB57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7E61B-978D-05B1-FFF1-28F5977B5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BDA49-438D-4C86-9767-C6281A150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807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97403-07CB-9DA0-A9A6-E5D95AF80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B0C900-AEC1-0B04-F5B6-50DB09AF6F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190BFB-1DFC-912D-8E0E-59C0DD20BB09}"/>
              </a:ext>
            </a:extLst>
          </p:cNvPr>
          <p:cNvSpPr/>
          <p:nvPr/>
        </p:nvSpPr>
        <p:spPr>
          <a:xfrm>
            <a:off x="2286000" y="279400"/>
            <a:ext cx="7620000" cy="406400"/>
          </a:xfrm>
          <a:prstGeom prst="roundRect">
            <a:avLst/>
          </a:prstGeom>
          <a:solidFill>
            <a:srgbClr val="182032"/>
          </a:solidFill>
          <a:ln w="1524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5739DD-D42A-A830-B302-04D0606D5F38}"/>
              </a:ext>
            </a:extLst>
          </p:cNvPr>
          <p:cNvSpPr txBox="1"/>
          <p:nvPr/>
        </p:nvSpPr>
        <p:spPr>
          <a:xfrm>
            <a:off x="2286000" y="330200"/>
            <a:ext cx="7620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1100" b="1">
                <a:solidFill>
                  <a:srgbClr val="00E676"/>
                </a:solidFill>
                <a:latin typeface="Segoe UI" panose="020B0502040204020203" pitchFamily="34" charset="0"/>
              </a:rPr>
              <a:t>★ VIVO IGNITE AWARDS · NATIONAL FINALE · BHARAT MANDAPAM, NEW DELHI 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72270F-A30C-A598-8254-0DF78629B840}"/>
              </a:ext>
            </a:extLst>
          </p:cNvPr>
          <p:cNvSpPr txBox="1"/>
          <p:nvPr/>
        </p:nvSpPr>
        <p:spPr>
          <a:xfrm>
            <a:off x="1016000" y="825500"/>
            <a:ext cx="10160000" cy="91307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5600" b="1">
                <a:solidFill>
                  <a:srgbClr val="FFFFFF"/>
                </a:solidFill>
                <a:latin typeface="Arial Black" panose="020B0A04020102020204" pitchFamily="34" charset="0"/>
              </a:rPr>
              <a:t>IRIS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E05EB46-7DDB-1982-E93A-F8E12610C855}"/>
              </a:ext>
            </a:extLst>
          </p:cNvPr>
          <p:cNvSpPr/>
          <p:nvPr/>
        </p:nvSpPr>
        <p:spPr>
          <a:xfrm>
            <a:off x="3302000" y="1803400"/>
            <a:ext cx="5588000" cy="3556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FB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B2A0D3-8C50-FCD6-4BE0-0E3ECAF89760}"/>
              </a:ext>
            </a:extLst>
          </p:cNvPr>
          <p:cNvSpPr txBox="1"/>
          <p:nvPr/>
        </p:nvSpPr>
        <p:spPr>
          <a:xfrm>
            <a:off x="3302000" y="1841500"/>
            <a:ext cx="5588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1100" b="1">
                <a:solidFill>
                  <a:srgbClr val="FFB300"/>
                </a:solidFill>
                <a:latin typeface="Segoe UI Semibold" panose="020B0702040204020203" pitchFamily="34" charset="0"/>
              </a:rPr>
              <a:t>INFRARED REFLECTIVE INTERFACE 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B1219D-3C8F-41B3-A788-EF4754921C07}"/>
              </a:ext>
            </a:extLst>
          </p:cNvPr>
          <p:cNvSpPr txBox="1"/>
          <p:nvPr/>
        </p:nvSpPr>
        <p:spPr>
          <a:xfrm>
            <a:off x="1016000" y="2260600"/>
            <a:ext cx="10160000" cy="3436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1900" b="1">
                <a:solidFill>
                  <a:srgbClr val="00F2FE"/>
                </a:solidFill>
                <a:latin typeface="Segoe UI" panose="020B0502040204020203" pitchFamily="34" charset="0"/>
              </a:rPr>
              <a:t>A Tilt Becomes a Cursor.  A Blink Becomes a Click.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446C87F-155D-E15C-3B1A-CBCBA88BBEC5}"/>
              </a:ext>
            </a:extLst>
          </p:cNvPr>
          <p:cNvSpPr/>
          <p:nvPr/>
        </p:nvSpPr>
        <p:spPr>
          <a:xfrm>
            <a:off x="3048000" y="2857500"/>
            <a:ext cx="6096000" cy="22225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6944BF0-22E0-7BE1-4782-7A4CC0779A8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100" y="2895600"/>
            <a:ext cx="6019800" cy="2146300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98225F8-EA98-EE36-CFFD-D68F57D4CADA}"/>
              </a:ext>
            </a:extLst>
          </p:cNvPr>
          <p:cNvSpPr/>
          <p:nvPr/>
        </p:nvSpPr>
        <p:spPr>
          <a:xfrm>
            <a:off x="889000" y="5270500"/>
            <a:ext cx="3302000" cy="78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84DECF-1436-0DF5-2031-7EF7804DF193}"/>
              </a:ext>
            </a:extLst>
          </p:cNvPr>
          <p:cNvSpPr txBox="1"/>
          <p:nvPr/>
        </p:nvSpPr>
        <p:spPr>
          <a:xfrm>
            <a:off x="952500" y="5334000"/>
            <a:ext cx="3175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1050" b="1">
                <a:solidFill>
                  <a:srgbClr val="00E676"/>
                </a:solidFill>
                <a:latin typeface="Segoe UI" panose="020B0502040204020203" pitchFamily="34" charset="0"/>
              </a:rPr>
              <a:t>₹885 TOTAL BUILD COST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F4514E-BA32-4F85-41F0-A9D1322BDC00}"/>
              </a:ext>
            </a:extLst>
          </p:cNvPr>
          <p:cNvSpPr txBox="1"/>
          <p:nvPr/>
        </p:nvSpPr>
        <p:spPr>
          <a:xfrm>
            <a:off x="952500" y="5638800"/>
            <a:ext cx="3175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900">
                <a:solidFill>
                  <a:srgbClr val="FFFFFF"/>
                </a:solidFill>
                <a:latin typeface="Segoe UI" panose="020B0502040204020203" pitchFamily="34" charset="0"/>
              </a:rPr>
              <a:t>99.96% Cheaper than Imported Devices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21C43AC-1933-2C3C-07FB-478045CDB1D5}"/>
              </a:ext>
            </a:extLst>
          </p:cNvPr>
          <p:cNvSpPr/>
          <p:nvPr/>
        </p:nvSpPr>
        <p:spPr>
          <a:xfrm>
            <a:off x="4445000" y="5270500"/>
            <a:ext cx="3302000" cy="78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3EAA38-7029-44E4-6014-892E79DE3360}"/>
              </a:ext>
            </a:extLst>
          </p:cNvPr>
          <p:cNvSpPr txBox="1"/>
          <p:nvPr/>
        </p:nvSpPr>
        <p:spPr>
          <a:xfrm>
            <a:off x="4508500" y="5334000"/>
            <a:ext cx="3175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1050" b="1">
                <a:solidFill>
                  <a:srgbClr val="00F2FE"/>
                </a:solidFill>
                <a:latin typeface="Segoe UI" panose="020B0502040204020203" pitchFamily="34" charset="0"/>
              </a:rPr>
              <a:t>2–3 SEC SELF-CALIBRATION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FF379D-2F69-33D7-7FB7-8BF4B0C00112}"/>
              </a:ext>
            </a:extLst>
          </p:cNvPr>
          <p:cNvSpPr txBox="1"/>
          <p:nvPr/>
        </p:nvSpPr>
        <p:spPr>
          <a:xfrm>
            <a:off x="4508500" y="5638800"/>
            <a:ext cx="3175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900">
                <a:solidFill>
                  <a:srgbClr val="FFFFFF"/>
                </a:solidFill>
                <a:latin typeface="Segoe UI" panose="020B0502040204020203" pitchFamily="34" charset="0"/>
              </a:rPr>
              <a:t>Runs on any laptop or phone in any light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F41984A-85DE-A6E7-E68A-CC6BE389AED2}"/>
              </a:ext>
            </a:extLst>
          </p:cNvPr>
          <p:cNvSpPr/>
          <p:nvPr/>
        </p:nvSpPr>
        <p:spPr>
          <a:xfrm>
            <a:off x="8001000" y="5270500"/>
            <a:ext cx="3302000" cy="7874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FB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8A0A81-A238-A087-5FED-2DE06048861A}"/>
              </a:ext>
            </a:extLst>
          </p:cNvPr>
          <p:cNvSpPr txBox="1"/>
          <p:nvPr/>
        </p:nvSpPr>
        <p:spPr>
          <a:xfrm>
            <a:off x="8064500" y="5334000"/>
            <a:ext cx="3175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1050" b="1">
                <a:solidFill>
                  <a:srgbClr val="FFB300"/>
                </a:solidFill>
                <a:latin typeface="Segoe UI" panose="020B0502040204020203" pitchFamily="34" charset="0"/>
              </a:rPr>
              <a:t>98.4% VERIFIED ACCURACY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E8D483-D9B0-2C0C-9032-A3C62871CAD1}"/>
              </a:ext>
            </a:extLst>
          </p:cNvPr>
          <p:cNvSpPr txBox="1"/>
          <p:nvPr/>
        </p:nvSpPr>
        <p:spPr>
          <a:xfrm>
            <a:off x="8064500" y="5638800"/>
            <a:ext cx="3175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900">
                <a:solidFill>
                  <a:srgbClr val="FFFFFF"/>
                </a:solidFill>
                <a:latin typeface="Segoe UI" panose="020B0502040204020203" pitchFamily="34" charset="0"/>
              </a:rPr>
              <a:t>12-Hour battery life · Bedside autonomy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69229C-1DB5-41AC-D3AA-385986830AB2}"/>
              </a:ext>
            </a:extLst>
          </p:cNvPr>
          <p:cNvSpPr txBox="1"/>
          <p:nvPr/>
        </p:nvSpPr>
        <p:spPr>
          <a:xfrm>
            <a:off x="1016000" y="6197600"/>
            <a:ext cx="10160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Created by Ayushman Choudhary · Class 10th · Bhavan's B.P. Vidya Mandir Ashti, Nagpur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54674A-BF6A-FC8C-415A-A2FD035458BA}"/>
              </a:ext>
            </a:extLst>
          </p:cNvPr>
          <p:cNvSpPr txBox="1"/>
          <p:nvPr/>
        </p:nvSpPr>
        <p:spPr>
          <a:xfrm>
            <a:off x="1016000" y="6477000"/>
            <a:ext cx="101600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950">
                <a:solidFill>
                  <a:srgbClr val="94A3B8"/>
                </a:solidFill>
                <a:latin typeface="Segoe UI" panose="020B0502040204020203" pitchFamily="34" charset="0"/>
              </a:rPr>
              <a:t>▶ 3-Minute Automated Kiosk Loop  ·  Hands-Free Live Demonstration at Booth</a:t>
            </a:r>
          </a:p>
        </p:txBody>
      </p:sp>
    </p:spTree>
    <p:extLst>
      <p:ext uri="{BB962C8B-B14F-4D97-AF65-F5344CB8AC3E}">
        <p14:creationId xmlns:p14="http://schemas.microsoft.com/office/powerpoint/2010/main" val="1269829923"/>
      </p:ext>
    </p:extLst>
  </p:cSld>
  <p:clrMapOvr>
    <a:masterClrMapping/>
  </p:clrMapOvr>
  <p:transition spd="med" advTm="56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01</a:t>
            </a:r>
          </a:p>
        </p:txBody>
      </p:sp>
      <p:sp>
        <p:nvSpPr>
          <p:cNvPr id="12" name="!!hero_center_card"/>
          <p:cNvSpPr/>
          <p:nvPr/>
        </p:nvSpPr>
        <p:spPr>
          <a:xfrm>
            <a:off x="1508760" y="1051560"/>
            <a:ext cx="9171432" cy="502920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317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nim_hero_kicker"/>
          <p:cNvSpPr/>
          <p:nvPr/>
        </p:nvSpPr>
        <p:spPr>
          <a:xfrm>
            <a:off x="4251960" y="1371600"/>
            <a:ext cx="3685032" cy="402336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142640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nim_hero_kicker_t"/>
          <p:cNvSpPr txBox="1"/>
          <p:nvPr/>
        </p:nvSpPr>
        <p:spPr>
          <a:xfrm>
            <a:off x="4297680" y="1399032"/>
            <a:ext cx="3593592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B800"/>
                </a:solidFill>
                <a:latin typeface="Inter"/>
              </a:rPr>
              <a:t>INFRARED REFLECTIVE INTERFACE SYSTEM</a:t>
            </a:r>
          </a:p>
        </p:txBody>
      </p:sp>
      <p:sp>
        <p:nvSpPr>
          <p:cNvPr id="15" name="anim_hero_big_iris"/>
          <p:cNvSpPr txBox="1"/>
          <p:nvPr/>
        </p:nvSpPr>
        <p:spPr>
          <a:xfrm>
            <a:off x="1828800" y="1874519"/>
            <a:ext cx="8531352" cy="1417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800" b="1">
                <a:solidFill>
                  <a:srgbClr val="F8FAFF"/>
                </a:solidFill>
                <a:latin typeface="Inter"/>
              </a:rPr>
              <a:t>IRIS</a:t>
            </a:r>
          </a:p>
        </p:txBody>
      </p:sp>
      <p:sp>
        <p:nvSpPr>
          <p:cNvPr id="16" name="anim_hero_sub_line"/>
          <p:cNvSpPr txBox="1"/>
          <p:nvPr/>
        </p:nvSpPr>
        <p:spPr>
          <a:xfrm>
            <a:off x="1828800" y="3337560"/>
            <a:ext cx="8531352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00E5FF"/>
                </a:solidFill>
                <a:latin typeface="Inter"/>
              </a:rPr>
              <a:t>A Tilt Becomes a Cursor.   A Blink Becomes a Click.</a:t>
            </a:r>
          </a:p>
        </p:txBody>
      </p:sp>
      <p:sp>
        <p:nvSpPr>
          <p:cNvPr id="17" name="!!hpill_2.15"/>
          <p:cNvSpPr/>
          <p:nvPr/>
        </p:nvSpPr>
        <p:spPr>
          <a:xfrm>
            <a:off x="1965960" y="4343400"/>
            <a:ext cx="2468880" cy="1325880"/>
          </a:xfrm>
          <a:prstGeom prst="round2DiagRect">
            <a:avLst>
              <a:gd name="adj1" fmla="val 8000"/>
              <a:gd name="adj2" fmla="val 0"/>
            </a:avLst>
          </a:prstGeom>
          <a:solidFill>
            <a:srgbClr val="0C1321"/>
          </a:solidFill>
          <a:ln w="2286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nim_hpill_t_2.15"/>
          <p:cNvSpPr txBox="1"/>
          <p:nvPr/>
        </p:nvSpPr>
        <p:spPr>
          <a:xfrm>
            <a:off x="2075688" y="4480560"/>
            <a:ext cx="2249424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50" b="1">
                <a:solidFill>
                  <a:srgbClr val="00E676"/>
                </a:solidFill>
                <a:latin typeface="Inter"/>
              </a:rPr>
              <a:t>₹885 BUILD COST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F8FAFF"/>
                </a:solidFill>
                <a:latin typeface="Inter"/>
              </a:rPr>
              <a:t>99.96% Cheaper</a:t>
            </a:r>
          </a:p>
        </p:txBody>
      </p:sp>
      <p:sp>
        <p:nvSpPr>
          <p:cNvPr id="19" name="!!hpill_5.3"/>
          <p:cNvSpPr/>
          <p:nvPr/>
        </p:nvSpPr>
        <p:spPr>
          <a:xfrm>
            <a:off x="4846320" y="4343400"/>
            <a:ext cx="2468880" cy="1325880"/>
          </a:xfrm>
          <a:prstGeom prst="round2DiagRect">
            <a:avLst>
              <a:gd name="adj1" fmla="val 8000"/>
              <a:gd name="adj2" fmla="val 0"/>
            </a:avLst>
          </a:prstGeom>
          <a:solidFill>
            <a:srgbClr val="0C1321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nim_hpill_t_5.3"/>
          <p:cNvSpPr txBox="1"/>
          <p:nvPr/>
        </p:nvSpPr>
        <p:spPr>
          <a:xfrm>
            <a:off x="4956048" y="4480560"/>
            <a:ext cx="2249424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50" b="1">
                <a:solidFill>
                  <a:srgbClr val="00E5FF"/>
                </a:solidFill>
                <a:latin typeface="Inter"/>
              </a:rPr>
              <a:t>2–3 SEC SETUP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F8FAFF"/>
                </a:solidFill>
                <a:latin typeface="Inter"/>
              </a:rPr>
              <a:t>Self-Calibrating</a:t>
            </a:r>
          </a:p>
        </p:txBody>
      </p:sp>
      <p:sp>
        <p:nvSpPr>
          <p:cNvPr id="21" name="!!hpill_8.45"/>
          <p:cNvSpPr/>
          <p:nvPr/>
        </p:nvSpPr>
        <p:spPr>
          <a:xfrm>
            <a:off x="7726679" y="4343400"/>
            <a:ext cx="2468880" cy="1325880"/>
          </a:xfrm>
          <a:prstGeom prst="round2DiagRect">
            <a:avLst>
              <a:gd name="adj1" fmla="val 8000"/>
              <a:gd name="adj2" fmla="val 0"/>
            </a:avLst>
          </a:prstGeom>
          <a:solidFill>
            <a:srgbClr val="0C1321"/>
          </a:solidFill>
          <a:ln w="2286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nim_hpill_t_8.45"/>
          <p:cNvSpPr txBox="1"/>
          <p:nvPr/>
        </p:nvSpPr>
        <p:spPr>
          <a:xfrm>
            <a:off x="7836407" y="4480560"/>
            <a:ext cx="2249424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50" b="1">
                <a:solidFill>
                  <a:srgbClr val="FFB800"/>
                </a:solidFill>
                <a:latin typeface="Inter"/>
              </a:rPr>
              <a:t>98.4% ACCURACY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F8FAFF"/>
                </a:solidFill>
                <a:latin typeface="Inter"/>
              </a:rPr>
              <a:t>12h Battery Life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9CE65A-9FC2-BEBC-4467-E3596A9CACFB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E54CDC3-1A5C-8300-9770-58854CD80220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2FEC7C-E703-278F-D32F-EE92223753F3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2CE25D-15F9-2174-C701-A6489C5773CF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HERO LAUNCH  ·  HANDS-FREE ASSISTIVE INTERFACE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2ADA8E-904B-3735-1CA0-4067FCBF837A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0:00 – 0:05   [01/32]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41AAA2-CAD0-4B76-8228-4102D5F97361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BEEE62-149C-E9D3-848F-1E657FC2A4FF}"/>
              </a:ext>
            </a:extLst>
          </p:cNvPr>
          <p:cNvSpPr/>
          <p:nvPr/>
        </p:nvSpPr>
        <p:spPr>
          <a:xfrm>
            <a:off x="411480" y="6654800"/>
            <a:ext cx="355203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73968"/>
      </p:ext>
    </p:extLst>
  </p:cSld>
  <p:clrMapOvr>
    <a:masterClrMapping/>
  </p:clrMapOvr>
  <p:transition spd="med" advTm="5600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11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9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2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2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31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01</a:t>
            </a:r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How It All Started:  A Real Human Need.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Seeing a paralyzed person on a wheelchair inspired a mission to serve patients, caregivers &amp; hospitals.</a:t>
            </a:r>
          </a:p>
        </p:txBody>
      </p:sp>
      <p:sp>
        <p:nvSpPr>
          <p:cNvPr id="14" name="!!hero_center_card"/>
          <p:cNvSpPr/>
          <p:nvPr/>
        </p:nvSpPr>
        <p:spPr>
          <a:xfrm>
            <a:off x="502920" y="1737360"/>
            <a:ext cx="4352544" cy="461772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01A2C"/>
          </a:solidFill>
          <a:ln w="279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anim_wheel_pic" descr="k28_whe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810512"/>
            <a:ext cx="4206240" cy="4471416"/>
          </a:xfrm>
          <a:prstGeom prst="rect">
            <a:avLst/>
          </a:prstGeom>
        </p:spPr>
      </p:pic>
      <p:sp>
        <p:nvSpPr>
          <p:cNvPr id="16" name="!!orig_b1_bg"/>
          <p:cNvSpPr/>
          <p:nvPr/>
        </p:nvSpPr>
        <p:spPr>
          <a:xfrm>
            <a:off x="5166360" y="1737360"/>
            <a:ext cx="6583680" cy="141732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orig_b1_bar"/>
          <p:cNvSpPr/>
          <p:nvPr/>
        </p:nvSpPr>
        <p:spPr>
          <a:xfrm>
            <a:off x="5312664" y="176479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orig_b1_hex"/>
          <p:cNvSpPr/>
          <p:nvPr/>
        </p:nvSpPr>
        <p:spPr>
          <a:xfrm>
            <a:off x="11439144" y="2843784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orig_b1_pill"/>
          <p:cNvSpPr/>
          <p:nvPr/>
        </p:nvSpPr>
        <p:spPr>
          <a:xfrm>
            <a:off x="5330952" y="1901952"/>
            <a:ext cx="1952243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orig_b1_pill_t"/>
          <p:cNvSpPr txBox="1"/>
          <p:nvPr/>
        </p:nvSpPr>
        <p:spPr>
          <a:xfrm>
            <a:off x="5367528" y="1920240"/>
            <a:ext cx="1879091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5FF"/>
                </a:solidFill>
                <a:latin typeface="Inter"/>
              </a:rPr>
              <a:t>THE SILENT PRISON</a:t>
            </a:r>
          </a:p>
        </p:txBody>
      </p:sp>
      <p:sp>
        <p:nvSpPr>
          <p:cNvPr id="21" name="anim_orig_b1_txt"/>
          <p:cNvSpPr txBox="1"/>
          <p:nvPr/>
        </p:nvSpPr>
        <p:spPr>
          <a:xfrm>
            <a:off x="5330952" y="2267712"/>
            <a:ext cx="6254496" cy="7955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50" b="1" dirty="0">
                <a:solidFill>
                  <a:srgbClr val="F8FAFF"/>
                </a:solidFill>
                <a:latin typeface="Inter"/>
              </a:rPr>
              <a:t>100% Conscious Mind Inside a Paralyzed Body</a:t>
            </a:r>
          </a:p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ACBEDA"/>
                </a:solidFill>
                <a:latin typeface="Inter"/>
              </a:rPr>
              <a:t>ALS, Locked-In Syndrome, stroke &amp; spinal injury trap an active mind with only eye blink &amp; subtle head tilt intact.</a:t>
            </a:r>
          </a:p>
        </p:txBody>
      </p:sp>
      <p:sp>
        <p:nvSpPr>
          <p:cNvPr id="22" name="!!orig_b2_bg"/>
          <p:cNvSpPr/>
          <p:nvPr/>
        </p:nvSpPr>
        <p:spPr>
          <a:xfrm>
            <a:off x="5166360" y="3337560"/>
            <a:ext cx="6583680" cy="141732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orig_b2_bar"/>
          <p:cNvSpPr/>
          <p:nvPr/>
        </p:nvSpPr>
        <p:spPr>
          <a:xfrm>
            <a:off x="5312664" y="3364991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orig_b2_hex"/>
          <p:cNvSpPr/>
          <p:nvPr/>
        </p:nvSpPr>
        <p:spPr>
          <a:xfrm>
            <a:off x="11439144" y="4443984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orig_b2_pill"/>
          <p:cNvSpPr/>
          <p:nvPr/>
        </p:nvSpPr>
        <p:spPr>
          <a:xfrm>
            <a:off x="5330952" y="3502152"/>
            <a:ext cx="1856231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orig_b2_pill_t"/>
          <p:cNvSpPr txBox="1"/>
          <p:nvPr/>
        </p:nvSpPr>
        <p:spPr>
          <a:xfrm>
            <a:off x="5367528" y="3520440"/>
            <a:ext cx="1783079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KEY STAKEHOLDERS</a:t>
            </a:r>
          </a:p>
        </p:txBody>
      </p:sp>
      <p:sp>
        <p:nvSpPr>
          <p:cNvPr id="27" name="anim_orig_b2_txt"/>
          <p:cNvSpPr txBox="1"/>
          <p:nvPr/>
        </p:nvSpPr>
        <p:spPr>
          <a:xfrm>
            <a:off x="5211032" y="3867912"/>
            <a:ext cx="6583680" cy="83202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50" b="1" dirty="0">
                <a:solidFill>
                  <a:srgbClr val="F8FAFF"/>
                </a:solidFill>
                <a:latin typeface="Inter"/>
              </a:rPr>
              <a:t>Patients · Family Caregivers · Neurology Wards · NGOs</a:t>
            </a:r>
          </a:p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ACBEDA"/>
                </a:solidFill>
                <a:latin typeface="Inter"/>
              </a:rPr>
              <a:t>Relieves 24/7 caregiver burnout and equips AIIMS, NIMHANS &amp; rural rehab clinics with bedside autonomy.</a:t>
            </a:r>
          </a:p>
        </p:txBody>
      </p:sp>
      <p:sp>
        <p:nvSpPr>
          <p:cNvPr id="28" name="!!orig_b3_bg"/>
          <p:cNvSpPr/>
          <p:nvPr/>
        </p:nvSpPr>
        <p:spPr>
          <a:xfrm>
            <a:off x="5166360" y="4937760"/>
            <a:ext cx="6583680" cy="141732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orig_b3_bar"/>
          <p:cNvSpPr/>
          <p:nvPr/>
        </p:nvSpPr>
        <p:spPr>
          <a:xfrm>
            <a:off x="5312664" y="496519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!!orig_b3_hex"/>
          <p:cNvSpPr/>
          <p:nvPr/>
        </p:nvSpPr>
        <p:spPr>
          <a:xfrm>
            <a:off x="11439144" y="6044184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orig_b3_pill"/>
          <p:cNvSpPr/>
          <p:nvPr/>
        </p:nvSpPr>
        <p:spPr>
          <a:xfrm>
            <a:off x="5330952" y="5102352"/>
            <a:ext cx="1376172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orig_b3_pill_t"/>
          <p:cNvSpPr txBox="1"/>
          <p:nvPr/>
        </p:nvSpPr>
        <p:spPr>
          <a:xfrm>
            <a:off x="5367528" y="5120640"/>
            <a:ext cx="1303019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THE MISSION</a:t>
            </a:r>
          </a:p>
        </p:txBody>
      </p:sp>
      <p:sp>
        <p:nvSpPr>
          <p:cNvPr id="33" name="anim_orig_b3_txt"/>
          <p:cNvSpPr txBox="1"/>
          <p:nvPr/>
        </p:nvSpPr>
        <p:spPr>
          <a:xfrm>
            <a:off x="5330952" y="5438132"/>
            <a:ext cx="6254496" cy="79552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50" b="1" dirty="0">
                <a:solidFill>
                  <a:srgbClr val="F8FAFF"/>
                </a:solidFill>
                <a:latin typeface="Inter"/>
              </a:rPr>
              <a:t>Turn Head Tilt &amp; Blink Into a Complete Voice</a:t>
            </a:r>
          </a:p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ACBEDA"/>
                </a:solidFill>
                <a:latin typeface="Inter"/>
              </a:rPr>
              <a:t>Converts gentle head motion into smooth cursor steering and deliberate blinks into speech, SOS &amp; room control.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DAC305-FA44-B58E-C232-13F545314380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8CD144-EADF-8127-9D35-ADAB80740D58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A4D953-8D6E-A7F7-BC6F-E99BD18E83BA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8FBCF4-698E-8432-A5A6-0C172BBBCAD9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ORIGIN &amp; STAKEHOLDERS  ·  WHO NEEDS IRIS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C0C059-A80A-CDC9-8E28-98C7E8F88072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0:05 – 0:11   [02/32]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F875644-283B-EFBA-7E89-29B2AF2875AC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A2F4C31-3F1A-6EEA-1074-BE1B45423F9D}"/>
              </a:ext>
            </a:extLst>
          </p:cNvPr>
          <p:cNvSpPr/>
          <p:nvPr/>
        </p:nvSpPr>
        <p:spPr>
          <a:xfrm>
            <a:off x="411480" y="6654800"/>
            <a:ext cx="710406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66447"/>
      </p:ext>
    </p:extLst>
  </p:cSld>
  <p:clrMapOvr>
    <a:masterClrMapping/>
  </p:clrMapOvr>
  <p:transition spd="med" advTm="5600">
    <p:fade/>
    <p:extLst mod="1">
      <p:ext uri="{D84E410A-3911-4435-9328-F4292B5D5B2B}">
        <p159:morph xmlns:p159="http://schemas.microsoft.com/office/powerpoint/2015/09/main" xmlns="" xmlns:p14="http://schemas.microsoft.com/office/powerpoint/2010/main" xmlns:mc="http://schemas.openxmlformats.org/markup-compatibility/2006" option="byObject"/>
      </p:ext>
    </p:extLst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1" grpId="0"/>
      <p:bldP spid="22" grpId="0" animBg="1"/>
      <p:bldP spid="23" grpId="0" animBg="1"/>
      <p:bldP spid="27" grpId="0"/>
      <p:bldP spid="28" grpId="0" animBg="1"/>
      <p:bldP spid="29" grpId="0" animBg="1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01</a:t>
            </a:r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Not Rare — Just Invisible:  1.5M+ in India, 50M+ Globally.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Most rural cases go undiagnosed. The people who need assistive tech most are completely priced out.</a:t>
            </a:r>
          </a:p>
        </p:txBody>
      </p:sp>
      <p:sp>
        <p:nvSpPr>
          <p:cNvPr id="12" name="!!ind_box_0.45"/>
          <p:cNvSpPr/>
          <p:nvPr/>
        </p:nvSpPr>
        <p:spPr>
          <a:xfrm>
            <a:off x="411480" y="1691640"/>
            <a:ext cx="3639312" cy="214884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ind_tag_0.45"/>
          <p:cNvSpPr/>
          <p:nvPr/>
        </p:nvSpPr>
        <p:spPr>
          <a:xfrm>
            <a:off x="594360" y="1847088"/>
            <a:ext cx="150876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ind_tagt_0.45"/>
          <p:cNvSpPr txBox="1"/>
          <p:nvPr/>
        </p:nvSpPr>
        <p:spPr>
          <a:xfrm>
            <a:off x="630936" y="1865376"/>
            <a:ext cx="143560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5FF"/>
                </a:solidFill>
                <a:latin typeface="Inter"/>
              </a:rPr>
              <a:t>INDIA ESTIMATE</a:t>
            </a:r>
          </a:p>
        </p:txBody>
      </p:sp>
      <p:sp>
        <p:nvSpPr>
          <p:cNvPr id="15" name="anim_ind_txt_0.45"/>
          <p:cNvSpPr txBox="1"/>
          <p:nvPr/>
        </p:nvSpPr>
        <p:spPr>
          <a:xfrm>
            <a:off x="594360" y="2240280"/>
            <a:ext cx="3273552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00E5FF"/>
                </a:solidFill>
                <a:latin typeface="Inter"/>
              </a:rPr>
              <a:t>1,00,000+</a:t>
            </a:r>
          </a:p>
          <a:p>
            <a:pPr algn="l">
              <a:spcAft>
                <a:spcPts val="400"/>
              </a:spcAft>
            </a:pPr>
            <a:r>
              <a:rPr sz="1750" b="1">
                <a:solidFill>
                  <a:srgbClr val="F8FAFF"/>
                </a:solidFill>
                <a:latin typeface="Inter"/>
              </a:rPr>
              <a:t>ALS Patients in India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Motor neuron degeneration</a:t>
            </a:r>
          </a:p>
        </p:txBody>
      </p:sp>
      <p:sp>
        <p:nvSpPr>
          <p:cNvPr id="16" name="!!ind_box_4.68"/>
          <p:cNvSpPr/>
          <p:nvPr/>
        </p:nvSpPr>
        <p:spPr>
          <a:xfrm>
            <a:off x="4279392" y="1691640"/>
            <a:ext cx="3639312" cy="214884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ind_tag_4.68"/>
          <p:cNvSpPr/>
          <p:nvPr/>
        </p:nvSpPr>
        <p:spPr>
          <a:xfrm>
            <a:off x="4462272" y="1847088"/>
            <a:ext cx="150876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27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ind_tagt_4.68"/>
          <p:cNvSpPr txBox="1"/>
          <p:nvPr/>
        </p:nvSpPr>
        <p:spPr>
          <a:xfrm>
            <a:off x="4498848" y="1865376"/>
            <a:ext cx="143560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INDIA ESTIMATE</a:t>
            </a:r>
          </a:p>
        </p:txBody>
      </p:sp>
      <p:sp>
        <p:nvSpPr>
          <p:cNvPr id="19" name="anim_ind_txt_4.68"/>
          <p:cNvSpPr txBox="1"/>
          <p:nvPr/>
        </p:nvSpPr>
        <p:spPr>
          <a:xfrm>
            <a:off x="4462272" y="2240280"/>
            <a:ext cx="3273552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B800"/>
                </a:solidFill>
                <a:latin typeface="Inter"/>
              </a:rPr>
              <a:t>4,000+</a:t>
            </a:r>
          </a:p>
          <a:p>
            <a:pPr algn="l">
              <a:spcAft>
                <a:spcPts val="400"/>
              </a:spcAft>
            </a:pPr>
            <a:r>
              <a:rPr sz="1750" b="1">
                <a:solidFill>
                  <a:srgbClr val="F8FAFF"/>
                </a:solidFill>
                <a:latin typeface="Inter"/>
              </a:rPr>
              <a:t>Locked-In Syndrome (India)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Complete paralysis, intact mind</a:t>
            </a:r>
          </a:p>
        </p:txBody>
      </p:sp>
      <p:sp>
        <p:nvSpPr>
          <p:cNvPr id="20" name="!!ind_box_8.9"/>
          <p:cNvSpPr/>
          <p:nvPr/>
        </p:nvSpPr>
        <p:spPr>
          <a:xfrm>
            <a:off x="8138160" y="1691640"/>
            <a:ext cx="3639312" cy="214884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ind_tag_8.9"/>
          <p:cNvSpPr/>
          <p:nvPr/>
        </p:nvSpPr>
        <p:spPr>
          <a:xfrm>
            <a:off x="8321040" y="1847088"/>
            <a:ext cx="150876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!!ind_tagt_8.9"/>
          <p:cNvSpPr txBox="1"/>
          <p:nvPr/>
        </p:nvSpPr>
        <p:spPr>
          <a:xfrm>
            <a:off x="8357616" y="1865376"/>
            <a:ext cx="143560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INDIA ESTIMATE</a:t>
            </a:r>
          </a:p>
        </p:txBody>
      </p:sp>
      <p:sp>
        <p:nvSpPr>
          <p:cNvPr id="23" name="anim_ind_txt_8.9"/>
          <p:cNvSpPr txBox="1"/>
          <p:nvPr/>
        </p:nvSpPr>
        <p:spPr>
          <a:xfrm>
            <a:off x="8321040" y="2240280"/>
            <a:ext cx="3273552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dirty="0">
                <a:solidFill>
                  <a:srgbClr val="00E676"/>
                </a:solidFill>
                <a:latin typeface="Inter"/>
              </a:rPr>
              <a:t>14,00,000+</a:t>
            </a:r>
          </a:p>
          <a:p>
            <a:pPr algn="l">
              <a:spcAft>
                <a:spcPts val="400"/>
              </a:spcAft>
            </a:pPr>
            <a:r>
              <a:rPr sz="1750" b="1" dirty="0">
                <a:solidFill>
                  <a:srgbClr val="F8FAFF"/>
                </a:solidFill>
                <a:latin typeface="Inter"/>
              </a:rPr>
              <a:t>Spinal Paralysis (India)</a:t>
            </a:r>
          </a:p>
          <a:p>
            <a:pPr algn="l">
              <a:spcAft>
                <a:spcPts val="0"/>
              </a:spcAft>
            </a:pPr>
            <a:r>
              <a:rPr sz="1350" b="0" dirty="0">
                <a:solidFill>
                  <a:srgbClr val="ACBEDA"/>
                </a:solidFill>
                <a:latin typeface="Inter"/>
              </a:rPr>
              <a:t>Quadriplegia &amp; severe motor loss</a:t>
            </a:r>
          </a:p>
        </p:txBody>
      </p:sp>
      <p:sp>
        <p:nvSpPr>
          <p:cNvPr id="24" name="!!wld_box_0.45"/>
          <p:cNvSpPr/>
          <p:nvPr/>
        </p:nvSpPr>
        <p:spPr>
          <a:xfrm>
            <a:off x="411480" y="4069080"/>
            <a:ext cx="3639312" cy="214884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0C1321"/>
          </a:solidFill>
          <a:ln w="1905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wld_tag_0.45"/>
          <p:cNvSpPr/>
          <p:nvPr/>
        </p:nvSpPr>
        <p:spPr>
          <a:xfrm>
            <a:off x="594360" y="4224528"/>
            <a:ext cx="160020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101A2C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wld_tagt_0.45"/>
          <p:cNvSpPr txBox="1"/>
          <p:nvPr/>
        </p:nvSpPr>
        <p:spPr>
          <a:xfrm>
            <a:off x="630936" y="4242816"/>
            <a:ext cx="152704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5FF"/>
                </a:solidFill>
                <a:latin typeface="Inter"/>
              </a:rPr>
              <a:t>GLOBAL ESTIMATE</a:t>
            </a:r>
          </a:p>
        </p:txBody>
      </p:sp>
      <p:sp>
        <p:nvSpPr>
          <p:cNvPr id="27" name="anim_wld_txt_0.45"/>
          <p:cNvSpPr txBox="1"/>
          <p:nvPr/>
        </p:nvSpPr>
        <p:spPr>
          <a:xfrm>
            <a:off x="594360" y="4617720"/>
            <a:ext cx="3273552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8FAFF"/>
                </a:solidFill>
                <a:latin typeface="Inter"/>
              </a:rPr>
              <a:t>4,50,000+</a:t>
            </a:r>
          </a:p>
          <a:p>
            <a:pPr algn="l">
              <a:spcAft>
                <a:spcPts val="400"/>
              </a:spcAft>
            </a:pPr>
            <a:r>
              <a:rPr sz="1750" b="1">
                <a:solidFill>
                  <a:srgbClr val="00E5FF"/>
                </a:solidFill>
                <a:latin typeface="Inter"/>
              </a:rPr>
              <a:t>ALS Patients Worldwide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Growing global incidence</a:t>
            </a:r>
          </a:p>
        </p:txBody>
      </p:sp>
      <p:sp>
        <p:nvSpPr>
          <p:cNvPr id="28" name="!!wld_box_4.68"/>
          <p:cNvSpPr/>
          <p:nvPr/>
        </p:nvSpPr>
        <p:spPr>
          <a:xfrm>
            <a:off x="4279392" y="4069080"/>
            <a:ext cx="3639312" cy="214884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0C1321"/>
          </a:solidFill>
          <a:ln w="1905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wld_tag_4.68"/>
          <p:cNvSpPr/>
          <p:nvPr/>
        </p:nvSpPr>
        <p:spPr>
          <a:xfrm>
            <a:off x="4462272" y="4224528"/>
            <a:ext cx="160020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101A2C"/>
          </a:solidFill>
          <a:ln w="127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!!wld_tagt_4.68"/>
          <p:cNvSpPr txBox="1"/>
          <p:nvPr/>
        </p:nvSpPr>
        <p:spPr>
          <a:xfrm>
            <a:off x="4498848" y="4242816"/>
            <a:ext cx="152704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GLOBAL ESTIMATE</a:t>
            </a:r>
          </a:p>
        </p:txBody>
      </p:sp>
      <p:sp>
        <p:nvSpPr>
          <p:cNvPr id="31" name="anim_wld_txt_4.68"/>
          <p:cNvSpPr txBox="1"/>
          <p:nvPr/>
        </p:nvSpPr>
        <p:spPr>
          <a:xfrm>
            <a:off x="4462272" y="4617720"/>
            <a:ext cx="3273552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8FAFF"/>
                </a:solidFill>
                <a:latin typeface="Inter"/>
              </a:rPr>
              <a:t>24,000+</a:t>
            </a:r>
          </a:p>
          <a:p>
            <a:pPr algn="l">
              <a:spcAft>
                <a:spcPts val="400"/>
              </a:spcAft>
            </a:pPr>
            <a:r>
              <a:rPr sz="1750" b="1">
                <a:solidFill>
                  <a:srgbClr val="FFB800"/>
                </a:solidFill>
                <a:latin typeface="Inter"/>
              </a:rPr>
              <a:t>Locked-In Syndrome (World)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100% reliant on eye gaze</a:t>
            </a:r>
          </a:p>
        </p:txBody>
      </p:sp>
      <p:sp>
        <p:nvSpPr>
          <p:cNvPr id="32" name="!!wld_box_8.9"/>
          <p:cNvSpPr/>
          <p:nvPr/>
        </p:nvSpPr>
        <p:spPr>
          <a:xfrm>
            <a:off x="8138160" y="4069080"/>
            <a:ext cx="3639312" cy="214884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0C1321"/>
          </a:solidFill>
          <a:ln w="1905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!!wld_tag_8.9"/>
          <p:cNvSpPr/>
          <p:nvPr/>
        </p:nvSpPr>
        <p:spPr>
          <a:xfrm>
            <a:off x="8321040" y="4224528"/>
            <a:ext cx="160020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101A2C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wld_tagt_8.9"/>
          <p:cNvSpPr txBox="1"/>
          <p:nvPr/>
        </p:nvSpPr>
        <p:spPr>
          <a:xfrm>
            <a:off x="8357616" y="4242816"/>
            <a:ext cx="152704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GLOBAL ESTIMATE</a:t>
            </a:r>
          </a:p>
        </p:txBody>
      </p:sp>
      <p:sp>
        <p:nvSpPr>
          <p:cNvPr id="35" name="anim_wld_txt_8.9"/>
          <p:cNvSpPr txBox="1"/>
          <p:nvPr/>
        </p:nvSpPr>
        <p:spPr>
          <a:xfrm>
            <a:off x="8321040" y="4617720"/>
            <a:ext cx="3273552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8FAFF"/>
                </a:solidFill>
                <a:latin typeface="Inter"/>
              </a:rPr>
              <a:t>74,20,000+</a:t>
            </a:r>
          </a:p>
          <a:p>
            <a:pPr algn="l">
              <a:spcAft>
                <a:spcPts val="400"/>
              </a:spcAft>
            </a:pPr>
            <a:r>
              <a:rPr sz="1750" b="1">
                <a:solidFill>
                  <a:srgbClr val="00E676"/>
                </a:solidFill>
                <a:latin typeface="Inter"/>
              </a:rPr>
              <a:t>Spinal Paralysis (World)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50M+ total severe motor need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1D6051D-8EB4-8484-9E78-E3B60B186AE9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8BF6020-0B70-F9A7-3BCC-52BA58415490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2719F0-306B-BE1F-4728-5FD1A6E9CC45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8DC298-64C3-A6C0-F1D5-365DDD2D97A8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THE SCALE  ·  HOW MANY PEOPLE NEED THIS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880B2F-27A1-9860-7AA1-13F5843DADDE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0:11 – 0:16   [03/32]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D07EDA2-4D79-690B-AE20-7F511861B4C7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004BA54-E1E9-FB2C-34F5-AA8DC8E07086}"/>
              </a:ext>
            </a:extLst>
          </p:cNvPr>
          <p:cNvSpPr/>
          <p:nvPr/>
        </p:nvSpPr>
        <p:spPr>
          <a:xfrm>
            <a:off x="411480" y="6654800"/>
            <a:ext cx="1065609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032456"/>
      </p:ext>
    </p:extLst>
  </p:cSld>
  <p:clrMapOvr>
    <a:masterClrMapping/>
  </p:clrMapOvr>
  <p:transition spd="med" advTm="5600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1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2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31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60"/>
                            </p:stCondLst>
                            <p:childTnLst>
                              <p:par>
                                <p:cTn id="33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35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01</a:t>
            </a:r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Why Previous Commercial Solutions Fail India.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Imported camera eye-trackers cost ₹25,00,000+ — pricing out 99% of Indian households.</a:t>
            </a:r>
          </a:p>
        </p:txBody>
      </p:sp>
      <p:sp>
        <p:nvSpPr>
          <p:cNvPr id="12" name="!!prev_img_box"/>
          <p:cNvSpPr/>
          <p:nvPr/>
        </p:nvSpPr>
        <p:spPr>
          <a:xfrm>
            <a:off x="411480" y="1691640"/>
            <a:ext cx="4901184" cy="452628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01A2C"/>
          </a:solidFill>
          <a:ln w="2794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anim_prev_img" descr="k28_tobi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4718304" cy="3703320"/>
          </a:xfrm>
          <a:prstGeom prst="rect">
            <a:avLst/>
          </a:prstGeom>
        </p:spPr>
      </p:pic>
      <p:sp>
        <p:nvSpPr>
          <p:cNvPr id="14" name="!!prev_cap"/>
          <p:cNvSpPr txBox="1"/>
          <p:nvPr/>
        </p:nvSpPr>
        <p:spPr>
          <a:xfrm>
            <a:off x="548640" y="5577840"/>
            <a:ext cx="4626864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5252"/>
                </a:solidFill>
                <a:latin typeface="Inter"/>
              </a:rPr>
              <a:t>Commercial Tobii Dynavox Setup:  ₹25,00,000+ in India</a:t>
            </a:r>
          </a:p>
        </p:txBody>
      </p:sp>
      <p:sp>
        <p:nvSpPr>
          <p:cNvPr id="15" name="!!morph_price_red"/>
          <p:cNvSpPr/>
          <p:nvPr/>
        </p:nvSpPr>
        <p:spPr>
          <a:xfrm>
            <a:off x="5532120" y="1691640"/>
            <a:ext cx="6245352" cy="150876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44121A"/>
          </a:solidFill>
          <a:ln w="3175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!!morph_price_red_t"/>
          <p:cNvSpPr txBox="1"/>
          <p:nvPr/>
        </p:nvSpPr>
        <p:spPr>
          <a:xfrm>
            <a:off x="5760720" y="1828800"/>
            <a:ext cx="5806440" cy="1234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252"/>
                </a:solidFill>
                <a:latin typeface="Inter"/>
              </a:rPr>
              <a:t>₹25,00,000+  COMMERCIAL COST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F8FAFF"/>
                </a:solidFill>
                <a:latin typeface="Inter"/>
              </a:rPr>
              <a:t>40–60% import duties, forced rugged tablet &amp; corporate markups</a:t>
            </a:r>
          </a:p>
        </p:txBody>
      </p:sp>
      <p:sp>
        <p:nvSpPr>
          <p:cNvPr id="17" name="!!morph_mid_card"/>
          <p:cNvSpPr/>
          <p:nvPr/>
        </p:nvSpPr>
        <p:spPr>
          <a:xfrm>
            <a:off x="5532120" y="3383280"/>
            <a:ext cx="6245352" cy="132588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286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morph_mid_t"/>
          <p:cNvSpPr txBox="1"/>
          <p:nvPr/>
        </p:nvSpPr>
        <p:spPr>
          <a:xfrm>
            <a:off x="5760720" y="3520440"/>
            <a:ext cx="580644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B800"/>
                </a:solidFill>
                <a:latin typeface="Inter"/>
              </a:rPr>
              <a:t>30+ Minutes Specialist Calibration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ACBEDA"/>
                </a:solidFill>
                <a:latin typeface="Inter"/>
              </a:rPr>
              <a:t>Sensitive to room lighting &amp; sunlight; requires rigid mount</a:t>
            </a:r>
          </a:p>
        </p:txBody>
      </p:sp>
      <p:sp>
        <p:nvSpPr>
          <p:cNvPr id="19" name="!!morph_price_green"/>
          <p:cNvSpPr/>
          <p:nvPr/>
        </p:nvSpPr>
        <p:spPr>
          <a:xfrm>
            <a:off x="5532120" y="4892040"/>
            <a:ext cx="2560320" cy="132588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0A3A26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morph_price_green_t"/>
          <p:cNvSpPr txBox="1"/>
          <p:nvPr/>
        </p:nvSpPr>
        <p:spPr>
          <a:xfrm>
            <a:off x="5669280" y="5029200"/>
            <a:ext cx="228600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0E676"/>
                </a:solidFill>
                <a:latin typeface="Inter"/>
              </a:rPr>
              <a:t>IRIS: ₹885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8FAFF"/>
                </a:solidFill>
                <a:latin typeface="Inter"/>
              </a:rPr>
              <a:t>Watch the breakthrough →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EA58DC-0CF3-5550-BFFF-9224D8E2C284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71A1F18-E627-CD6A-E050-4CDB9308F524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985DDF-AD46-FA34-7119-187479D76D40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193323-AF80-FCA6-A2B8-776F331F5136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PREVIOUS SOLUTION  ·  THE ₹25 LAKH BARRIER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29AB58-D4D2-7D0F-4B98-1759BEE0194C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0:16 – 0:22   [04/32]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BA27CE-1EC6-E601-FC9F-E735FECE71E0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132F00-11DE-B2C9-7290-697761E52159}"/>
              </a:ext>
            </a:extLst>
          </p:cNvPr>
          <p:cNvSpPr/>
          <p:nvPr/>
        </p:nvSpPr>
        <p:spPr>
          <a:xfrm>
            <a:off x="411480" y="6654800"/>
            <a:ext cx="1420812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69371"/>
      </p:ext>
    </p:extLst>
  </p:cSld>
  <p:clrMapOvr>
    <a:masterClrMapping/>
  </p:clrMapOvr>
  <p:transition spd="med" advTm="5600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1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725280E-F370-6F8B-8C76-83425906F1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C4003C-CDB4-EBC8-5523-8EEB51F244AC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3378AEB-5443-8702-FEE7-602DA280FF70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C485F4-6458-616E-569D-CFD77591971D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B64EBD-6534-8B4C-AF49-019ADDAD3F2A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NEW SOLUTION  ·  99.96% COST REDUCTION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84D9E0-E158-9A14-1DA9-E042D31DCDA1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0:22 – 0:28   [05/32]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7F5457-1824-B941-DD43-2AB9E4B327EB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F035DD1-4124-8182-7CEB-080D056217A8}"/>
              </a:ext>
            </a:extLst>
          </p:cNvPr>
          <p:cNvSpPr/>
          <p:nvPr/>
        </p:nvSpPr>
        <p:spPr>
          <a:xfrm>
            <a:off x="411480" y="6654800"/>
            <a:ext cx="1776016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B3E1E8-2A88-87F5-119A-75BDB0AFD687}"/>
              </a:ext>
            </a:extLst>
          </p:cNvPr>
          <p:cNvSpPr txBox="1"/>
          <p:nvPr/>
        </p:nvSpPr>
        <p:spPr>
          <a:xfrm>
            <a:off x="411480" y="711200"/>
            <a:ext cx="113665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Segoe UI" panose="020B0502040204020203" pitchFamily="34" charset="0"/>
              </a:rPr>
              <a:t>The IRIS Breakthrough: ₹25,00,000+ Collapsed to ₹885.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398D16-BFD1-9BD9-B7F7-273B02693365}"/>
              </a:ext>
            </a:extLst>
          </p:cNvPr>
          <p:cNvSpPr txBox="1"/>
          <p:nvPr/>
        </p:nvSpPr>
        <p:spPr>
          <a:xfrm>
            <a:off x="411480" y="1117600"/>
            <a:ext cx="11366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>
                <a:solidFill>
                  <a:srgbClr val="FFB300"/>
                </a:solidFill>
                <a:latin typeface="Segoe UI" panose="020B0502040204020203" pitchFamily="34" charset="0"/>
              </a:rPr>
              <a:t>Same core hands-free cursor &amp; communication independence — built from ₹885 of open hardware.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C1440BB-F9EC-74AE-86A9-A91E238D99D1}"/>
              </a:ext>
            </a:extLst>
          </p:cNvPr>
          <p:cNvSpPr/>
          <p:nvPr/>
        </p:nvSpPr>
        <p:spPr>
          <a:xfrm>
            <a:off x="411480" y="1524000"/>
            <a:ext cx="5461000" cy="9525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F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8170BE-2586-5644-B5C6-08B4B9192A1B}"/>
              </a:ext>
            </a:extLst>
          </p:cNvPr>
          <p:cNvSpPr txBox="1"/>
          <p:nvPr/>
        </p:nvSpPr>
        <p:spPr>
          <a:xfrm>
            <a:off x="563880" y="1600200"/>
            <a:ext cx="51562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 b="1">
                <a:solidFill>
                  <a:srgbClr val="FF3B5C"/>
                </a:solidFill>
                <a:latin typeface="Segoe UI" panose="020B0502040204020203" pitchFamily="34" charset="0"/>
              </a:rPr>
              <a:t>COMMERCIAL TOBII DYNAVOX: ₹25,00,000+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FD0215-5AA4-DE89-F939-2D532EEA870B}"/>
              </a:ext>
            </a:extLst>
          </p:cNvPr>
          <p:cNvSpPr txBox="1"/>
          <p:nvPr/>
        </p:nvSpPr>
        <p:spPr>
          <a:xfrm>
            <a:off x="563880" y="1905000"/>
            <a:ext cx="5156200" cy="3436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50">
                <a:solidFill>
                  <a:srgbClr val="FFFFFF"/>
                </a:solidFill>
                <a:latin typeface="Segoe UI" panose="020B0502040204020203" pitchFamily="34" charset="0"/>
              </a:rPr>
              <a:t>Imported clinical camera systems with 60% customs tariffs &amp; forced proprietary tablets. Completely out of reach for 99% of Indian households.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CC159E9-8199-C5B1-C382-7EB6B1C1D4EF}"/>
              </a:ext>
            </a:extLst>
          </p:cNvPr>
          <p:cNvSpPr/>
          <p:nvPr/>
        </p:nvSpPr>
        <p:spPr>
          <a:xfrm>
            <a:off x="411480" y="2603500"/>
            <a:ext cx="5461000" cy="2032000"/>
          </a:xfrm>
          <a:prstGeom prst="roundRect">
            <a:avLst/>
          </a:prstGeom>
          <a:solidFill>
            <a:srgbClr val="121826"/>
          </a:solidFill>
          <a:ln w="2286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29427F-4CED-7E32-8751-90F65C88E87D}"/>
              </a:ext>
            </a:extLst>
          </p:cNvPr>
          <p:cNvSpPr txBox="1"/>
          <p:nvPr/>
        </p:nvSpPr>
        <p:spPr>
          <a:xfrm>
            <a:off x="614680" y="2730500"/>
            <a:ext cx="50546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 b="1">
                <a:solidFill>
                  <a:srgbClr val="00E676"/>
                </a:solidFill>
                <a:latin typeface="Segoe UI" panose="020B0502040204020203" pitchFamily="34" charset="0"/>
              </a:rPr>
              <a:t>PROJECT IRIS BREAKTHROUGH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84DEE7-C096-33FD-AC00-C775A037F7D7}"/>
              </a:ext>
            </a:extLst>
          </p:cNvPr>
          <p:cNvSpPr txBox="1"/>
          <p:nvPr/>
        </p:nvSpPr>
        <p:spPr>
          <a:xfrm>
            <a:off x="614680" y="3022600"/>
            <a:ext cx="50546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800" b="1">
                <a:solidFill>
                  <a:srgbClr val="00E676"/>
                </a:solidFill>
                <a:latin typeface="Arial Black" panose="020B0A04020102020204" pitchFamily="34" charset="0"/>
              </a:rPr>
              <a:t>₹885 TOTAL BUILD COST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E54A39-1F37-C70A-9F94-36D9C875016E}"/>
              </a:ext>
            </a:extLst>
          </p:cNvPr>
          <p:cNvSpPr txBox="1"/>
          <p:nvPr/>
        </p:nvSpPr>
        <p:spPr>
          <a:xfrm>
            <a:off x="614680" y="3708400"/>
            <a:ext cx="50546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99.96% Cost Reduction vs Imported Eye-Trackers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3891A5-CA0F-261E-9CE8-B8DBE1F4E83F}"/>
              </a:ext>
            </a:extLst>
          </p:cNvPr>
          <p:cNvSpPr txBox="1"/>
          <p:nvPr/>
        </p:nvSpPr>
        <p:spPr>
          <a:xfrm>
            <a:off x="614680" y="4038600"/>
            <a:ext cx="50546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50">
                <a:solidFill>
                  <a:srgbClr val="94A3B8"/>
                </a:solidFill>
                <a:latin typeface="Segoe UI" panose="020B0502040204020203" pitchFamily="34" charset="0"/>
              </a:rPr>
              <a:t>Built from off-the-shelf Seeed XIAO ESP32-C3, 950nm IR sensor, and MPU-6050 6-DOF IMU.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349E49A-0B73-F770-3A0E-7F89BF494C22}"/>
              </a:ext>
            </a:extLst>
          </p:cNvPr>
          <p:cNvSpPr/>
          <p:nvPr/>
        </p:nvSpPr>
        <p:spPr>
          <a:xfrm>
            <a:off x="411480" y="4762500"/>
            <a:ext cx="5461000" cy="10795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B64982-838B-E31A-F6F1-47DEB490B7EF}"/>
              </a:ext>
            </a:extLst>
          </p:cNvPr>
          <p:cNvSpPr txBox="1"/>
          <p:nvPr/>
        </p:nvSpPr>
        <p:spPr>
          <a:xfrm>
            <a:off x="563880" y="4851400"/>
            <a:ext cx="51562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50" b="1">
                <a:solidFill>
                  <a:srgbClr val="00F2FE"/>
                </a:solidFill>
                <a:latin typeface="Segoe UI" panose="020B0502040204020203" pitchFamily="34" charset="0"/>
              </a:rPr>
              <a:t>WHY IRIS WINS AT THE BEDSIDE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ED0A8BA-4D42-8D3F-F881-0D7A0A701691}"/>
              </a:ext>
            </a:extLst>
          </p:cNvPr>
          <p:cNvSpPr txBox="1"/>
          <p:nvPr/>
        </p:nvSpPr>
        <p:spPr>
          <a:xfrm>
            <a:off x="563880" y="5156200"/>
            <a:ext cx="5156200" cy="48987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50">
                <a:solidFill>
                  <a:srgbClr val="FFFFFF"/>
                </a:solidFill>
                <a:latin typeface="Segoe UI" panose="020B0502040204020203" pitchFamily="34" charset="0"/>
              </a:rPr>
              <a:t>• Runs on any family laptop or smartphone (zero forced tablets)
• Works in any ambient lighting condition, sunlight, or complete darkness
• 2–3 second instant calibration (vs 30+ min clinical recalibration)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7A56010-A517-295F-BDEE-ACF8CF844E8D}"/>
              </a:ext>
            </a:extLst>
          </p:cNvPr>
          <p:cNvSpPr/>
          <p:nvPr/>
        </p:nvSpPr>
        <p:spPr>
          <a:xfrm>
            <a:off x="6126480" y="1524000"/>
            <a:ext cx="5651500" cy="43180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DA90DEB-F631-34DB-09B6-A71A8ADB4C3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580" y="1562100"/>
            <a:ext cx="5575300" cy="4241800"/>
          </a:xfrm>
          <a:prstGeom prst="rect">
            <a:avLst/>
          </a:prstGeom>
        </p:spPr>
      </p:pic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E431345-06EE-A71A-7934-7428C951BC8E}"/>
              </a:ext>
            </a:extLst>
          </p:cNvPr>
          <p:cNvSpPr/>
          <p:nvPr/>
        </p:nvSpPr>
        <p:spPr>
          <a:xfrm>
            <a:off x="6126480" y="5943600"/>
            <a:ext cx="5651500" cy="50800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CB7B44-218E-A34A-7C27-C8864CE80919}"/>
              </a:ext>
            </a:extLst>
          </p:cNvPr>
          <p:cNvSpPr txBox="1"/>
          <p:nvPr/>
        </p:nvSpPr>
        <p:spPr>
          <a:xfrm>
            <a:off x="6202680" y="6019800"/>
            <a:ext cx="54991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950" b="1">
                <a:solidFill>
                  <a:srgbClr val="00F2FE"/>
                </a:solidFill>
                <a:latin typeface="Segoe UI" panose="020B0502040204020203" pitchFamily="34" charset="0"/>
              </a:rPr>
              <a:t>Physical IRIS Wearable Prototype: Breathable Velcro Headband + Magnetic Eye-Sensor Clip</a:t>
            </a:r>
          </a:p>
        </p:txBody>
      </p:sp>
    </p:spTree>
    <p:extLst>
      <p:ext uri="{BB962C8B-B14F-4D97-AF65-F5344CB8AC3E}">
        <p14:creationId xmlns:p14="http://schemas.microsoft.com/office/powerpoint/2010/main" val="3200188151"/>
      </p:ext>
    </p:extLst>
  </p:cSld>
  <p:clrMapOvr>
    <a:masterClrMapping/>
  </p:clrMapOvr>
  <p:transition spd="med" advTm="5600">
    <p:fade/>
    <p:extLst mod="1">
      <p:ext uri="{D84E410A-3911-4435-9328-F4292B5D5B2B}">
        <p159:morph xmlns:p159="http://schemas.microsoft.com/office/powerpoint/2015/09/main" xmlns="" xmlns:p14="http://schemas.microsoft.com/office/powerpoint/2010/main" xmlns:mc="http://schemas.openxmlformats.org/markup-compatibility/2006" option="byObject"/>
      </p:ext>
    </p:extLst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02</a:t>
            </a:r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Wear Glasses First. Snap Magnet Second.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Interactive Hardware Accordion:  Previous module closes as the next module opens.</a:t>
            </a:r>
          </a:p>
        </p:txBody>
      </p:sp>
      <p:sp>
        <p:nvSpPr>
          <p:cNvPr id="12" name="!!acc_blade_0"/>
          <p:cNvSpPr/>
          <p:nvPr/>
        </p:nvSpPr>
        <p:spPr>
          <a:xfrm>
            <a:off x="411480" y="1664208"/>
            <a:ext cx="6355080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42640"/>
          </a:solidFill>
          <a:ln w="3302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acc_badge_0"/>
          <p:cNvSpPr/>
          <p:nvPr/>
        </p:nvSpPr>
        <p:spPr>
          <a:xfrm>
            <a:off x="612648" y="1847088"/>
            <a:ext cx="3474720" cy="329184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acc_badget_0"/>
          <p:cNvSpPr txBox="1"/>
          <p:nvPr/>
        </p:nvSpPr>
        <p:spPr>
          <a:xfrm>
            <a:off x="649224" y="1874519"/>
            <a:ext cx="340156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E5FF"/>
                </a:solidFill>
                <a:latin typeface="Inter"/>
              </a:rPr>
              <a:t>01 · MODULAR MAGNETIC + NUT-BOLT PIVOT</a:t>
            </a:r>
          </a:p>
        </p:txBody>
      </p:sp>
      <p:sp>
        <p:nvSpPr>
          <p:cNvPr id="15" name="!!acc_body_0"/>
          <p:cNvSpPr txBox="1"/>
          <p:nvPr/>
        </p:nvSpPr>
        <p:spPr>
          <a:xfrm>
            <a:off x="612648" y="2304288"/>
            <a:ext cx="3520440" cy="3794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F8FAFF"/>
                </a:solidFill>
                <a:latin typeface="Inter"/>
              </a:rPr>
              <a:t>Separates the headband and glasses so putting IRIS on takes 3 seconds.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ACBEDA"/>
                </a:solidFill>
                <a:latin typeface="Inter"/>
              </a:rPr>
              <a:t>Neodymium magnet snaps onto any frame — including ±7D high-power lenses.</a:t>
            </a:r>
          </a:p>
          <a:p>
            <a:pPr algn="l">
              <a:spcAft>
                <a:spcPts val="0"/>
              </a:spcAft>
            </a:pPr>
            <a:r>
              <a:rPr sz="1600" b="1">
                <a:solidFill>
                  <a:srgbClr val="F8FAFF"/>
                </a:solidFill>
                <a:latin typeface="Inter"/>
              </a:rPr>
              <a:t>Miniature nut-bolt joint locks the 950nm IR beam angle with zero wire bending.</a:t>
            </a:r>
          </a:p>
        </p:txBody>
      </p:sp>
      <p:pic>
        <p:nvPicPr>
          <p:cNvPr id="16" name="!!acc_img_0" descr="k28_eye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847088"/>
            <a:ext cx="2331720" cy="4279392"/>
          </a:xfrm>
          <a:prstGeom prst="rect">
            <a:avLst/>
          </a:prstGeom>
        </p:spPr>
      </p:pic>
      <p:sp>
        <p:nvSpPr>
          <p:cNvPr id="17" name="!!acc_blade_1"/>
          <p:cNvSpPr/>
          <p:nvPr/>
        </p:nvSpPr>
        <p:spPr>
          <a:xfrm>
            <a:off x="6894576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acc_badge_1"/>
          <p:cNvSpPr/>
          <p:nvPr/>
        </p:nvSpPr>
        <p:spPr>
          <a:xfrm>
            <a:off x="7059168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acc_badget_1"/>
          <p:cNvSpPr txBox="1"/>
          <p:nvPr/>
        </p:nvSpPr>
        <p:spPr>
          <a:xfrm>
            <a:off x="7077456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FB800"/>
                </a:solidFill>
                <a:latin typeface="Inter"/>
              </a:rPr>
              <a:t>02</a:t>
            </a:r>
          </a:p>
        </p:txBody>
      </p:sp>
      <p:sp>
        <p:nvSpPr>
          <p:cNvPr id="20" name="!!acc_body_1"/>
          <p:cNvSpPr txBox="1"/>
          <p:nvPr/>
        </p:nvSpPr>
        <p:spPr>
          <a:xfrm>
            <a:off x="7022592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VELCRO BELT</a:t>
            </a:r>
          </a:p>
        </p:txBody>
      </p:sp>
      <p:pic>
        <p:nvPicPr>
          <p:cNvPr id="21" name="!!acc_img_1" descr="k28_pr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4" y="3794760"/>
            <a:ext cx="1133856" cy="2286000"/>
          </a:xfrm>
          <a:prstGeom prst="rect">
            <a:avLst/>
          </a:prstGeom>
        </p:spPr>
      </p:pic>
      <p:sp>
        <p:nvSpPr>
          <p:cNvPr id="22" name="!!acc_blade_2"/>
          <p:cNvSpPr/>
          <p:nvPr/>
        </p:nvSpPr>
        <p:spPr>
          <a:xfrm>
            <a:off x="8558784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acc_badge_2"/>
          <p:cNvSpPr/>
          <p:nvPr/>
        </p:nvSpPr>
        <p:spPr>
          <a:xfrm>
            <a:off x="8723376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acc_badget_2"/>
          <p:cNvSpPr txBox="1"/>
          <p:nvPr/>
        </p:nvSpPr>
        <p:spPr>
          <a:xfrm>
            <a:off x="8741663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00E676"/>
                </a:solidFill>
                <a:latin typeface="Inter"/>
              </a:rPr>
              <a:t>03</a:t>
            </a:r>
          </a:p>
        </p:txBody>
      </p:sp>
      <p:sp>
        <p:nvSpPr>
          <p:cNvPr id="25" name="!!acc_body_2"/>
          <p:cNvSpPr txBox="1"/>
          <p:nvPr/>
        </p:nvSpPr>
        <p:spPr>
          <a:xfrm>
            <a:off x="8686800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XIAO &amp; 12H LIPO</a:t>
            </a:r>
          </a:p>
        </p:txBody>
      </p:sp>
      <p:pic>
        <p:nvPicPr>
          <p:cNvPr id="26" name="!!acc_img_2" descr="k28_xia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3794760"/>
            <a:ext cx="1133856" cy="2286000"/>
          </a:xfrm>
          <a:prstGeom prst="rect">
            <a:avLst/>
          </a:prstGeom>
        </p:spPr>
      </p:pic>
      <p:sp>
        <p:nvSpPr>
          <p:cNvPr id="27" name="!!acc_blade_3"/>
          <p:cNvSpPr/>
          <p:nvPr/>
        </p:nvSpPr>
        <p:spPr>
          <a:xfrm>
            <a:off x="10222992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acc_badge_3"/>
          <p:cNvSpPr/>
          <p:nvPr/>
        </p:nvSpPr>
        <p:spPr>
          <a:xfrm>
            <a:off x="10387584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acc_badget_3"/>
          <p:cNvSpPr txBox="1"/>
          <p:nvPr/>
        </p:nvSpPr>
        <p:spPr>
          <a:xfrm>
            <a:off x="10405872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A855F7"/>
                </a:solidFill>
                <a:latin typeface="Inter"/>
              </a:rPr>
              <a:t>04</a:t>
            </a:r>
          </a:p>
        </p:txBody>
      </p:sp>
      <p:sp>
        <p:nvSpPr>
          <p:cNvPr id="30" name="!!acc_body_3"/>
          <p:cNvSpPr txBox="1"/>
          <p:nvPr/>
        </p:nvSpPr>
        <p:spPr>
          <a:xfrm>
            <a:off x="10351008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2–3s SETUP</a:t>
            </a:r>
          </a:p>
        </p:txBody>
      </p:sp>
      <p:pic>
        <p:nvPicPr>
          <p:cNvPr id="31" name="!!acc_img_3" descr="k28_calthum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3794760"/>
            <a:ext cx="1133856" cy="22860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53921246-C613-7A68-4553-52FD65411BFB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9090EE9-4CB4-0B4A-CE4D-C5FD7281C990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321C0A-1CF5-E02C-2BD7-E1048ECE2724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D192CE-9290-F576-269F-26A91D004096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MODULAR WEARABLE BENTO  ·  MODULE 01 OF 04 OPEN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B49B50-9EE7-3085-8ED9-F2FC42768FA3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0:28 – 0:33   [06/32]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618B501-8A51-41CC-5B35-A951C3688356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2356BEC-89DB-C60B-9BF4-01A82C02EEF1}"/>
              </a:ext>
            </a:extLst>
          </p:cNvPr>
          <p:cNvSpPr/>
          <p:nvPr/>
        </p:nvSpPr>
        <p:spPr>
          <a:xfrm>
            <a:off x="411480" y="6654800"/>
            <a:ext cx="2131219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0321"/>
      </p:ext>
    </p:extLst>
  </p:cSld>
  <p:clrMapOvr>
    <a:masterClrMapping/>
  </p:clrMapOvr>
  <p:transition spd="med" advTm="5600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02</a:t>
            </a:r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Perforated Airflow Mesh. Zero Sweat.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Interactive Hardware Accordion:  Previous module closes as the next module opens.</a:t>
            </a:r>
          </a:p>
        </p:txBody>
      </p:sp>
      <p:sp>
        <p:nvSpPr>
          <p:cNvPr id="12" name="!!acc_blade_0"/>
          <p:cNvSpPr/>
          <p:nvPr/>
        </p:nvSpPr>
        <p:spPr>
          <a:xfrm>
            <a:off x="411480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acc_badge_0"/>
          <p:cNvSpPr/>
          <p:nvPr/>
        </p:nvSpPr>
        <p:spPr>
          <a:xfrm>
            <a:off x="576072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acc_badget_0"/>
          <p:cNvSpPr txBox="1"/>
          <p:nvPr/>
        </p:nvSpPr>
        <p:spPr>
          <a:xfrm>
            <a:off x="594360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00E5FF"/>
                </a:solidFill>
                <a:latin typeface="Inter"/>
              </a:rPr>
              <a:t>01</a:t>
            </a:r>
          </a:p>
        </p:txBody>
      </p:sp>
      <p:sp>
        <p:nvSpPr>
          <p:cNvPr id="15" name="!!acc_body_0"/>
          <p:cNvSpPr txBox="1"/>
          <p:nvPr/>
        </p:nvSpPr>
        <p:spPr>
          <a:xfrm>
            <a:off x="539496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MAGNET PIVOT</a:t>
            </a:r>
          </a:p>
        </p:txBody>
      </p:sp>
      <p:pic>
        <p:nvPicPr>
          <p:cNvPr id="16" name="!!acc_img_0" descr="k28_eye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794760"/>
            <a:ext cx="1133856" cy="2286000"/>
          </a:xfrm>
          <a:prstGeom prst="rect">
            <a:avLst/>
          </a:prstGeom>
        </p:spPr>
      </p:pic>
      <p:sp>
        <p:nvSpPr>
          <p:cNvPr id="17" name="!!acc_blade_1"/>
          <p:cNvSpPr/>
          <p:nvPr/>
        </p:nvSpPr>
        <p:spPr>
          <a:xfrm>
            <a:off x="2075688" y="1664208"/>
            <a:ext cx="6355080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42640"/>
          </a:solidFill>
          <a:ln w="3302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acc_badge_1"/>
          <p:cNvSpPr/>
          <p:nvPr/>
        </p:nvSpPr>
        <p:spPr>
          <a:xfrm>
            <a:off x="2276856" y="1847088"/>
            <a:ext cx="3474720" cy="329184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acc_badget_1"/>
          <p:cNvSpPr txBox="1"/>
          <p:nvPr/>
        </p:nvSpPr>
        <p:spPr>
          <a:xfrm>
            <a:off x="2313432" y="1874519"/>
            <a:ext cx="340156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B800"/>
                </a:solidFill>
                <a:latin typeface="Inter"/>
              </a:rPr>
              <a:t>02 · BREATHABLE VELCRO FOREHEAD BELT</a:t>
            </a:r>
          </a:p>
        </p:txBody>
      </p:sp>
      <p:sp>
        <p:nvSpPr>
          <p:cNvPr id="20" name="!!acc_body_1"/>
          <p:cNvSpPr txBox="1"/>
          <p:nvPr/>
        </p:nvSpPr>
        <p:spPr>
          <a:xfrm>
            <a:off x="2276856" y="2304288"/>
            <a:ext cx="3520440" cy="3794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F8FAFF"/>
                </a:solidFill>
                <a:latin typeface="Inter"/>
              </a:rPr>
              <a:t>Replaces rigid plastic buckles with soft, adjustable perforated Velcro mesh.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ACBEDA"/>
                </a:solidFill>
                <a:latin typeface="Inter"/>
              </a:rPr>
              <a:t>Continuous scalp airflow prevents heat buildup during 12-hour bedside wear.</a:t>
            </a:r>
          </a:p>
          <a:p>
            <a:pPr algn="l">
              <a:spcAft>
                <a:spcPts val="0"/>
              </a:spcAft>
            </a:pPr>
            <a:r>
              <a:rPr sz="1600" b="1">
                <a:solidFill>
                  <a:srgbClr val="F8FAFF"/>
                </a:solidFill>
                <a:latin typeface="Inter"/>
              </a:rPr>
              <a:t>Houses the MPU6050 IMU and XIAO ESP32C3 safely away from the eyes.</a:t>
            </a:r>
          </a:p>
        </p:txBody>
      </p:sp>
      <p:pic>
        <p:nvPicPr>
          <p:cNvPr id="21" name="!!acc_img_1" descr="k28_pr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1847088"/>
            <a:ext cx="2331720" cy="4279392"/>
          </a:xfrm>
          <a:prstGeom prst="rect">
            <a:avLst/>
          </a:prstGeom>
        </p:spPr>
      </p:pic>
      <p:sp>
        <p:nvSpPr>
          <p:cNvPr id="22" name="!!acc_blade_2"/>
          <p:cNvSpPr/>
          <p:nvPr/>
        </p:nvSpPr>
        <p:spPr>
          <a:xfrm>
            <a:off x="8558784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acc_badge_2"/>
          <p:cNvSpPr/>
          <p:nvPr/>
        </p:nvSpPr>
        <p:spPr>
          <a:xfrm>
            <a:off x="8723376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acc_badget_2"/>
          <p:cNvSpPr txBox="1"/>
          <p:nvPr/>
        </p:nvSpPr>
        <p:spPr>
          <a:xfrm>
            <a:off x="8741663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00E676"/>
                </a:solidFill>
                <a:latin typeface="Inter"/>
              </a:rPr>
              <a:t>03</a:t>
            </a:r>
          </a:p>
        </p:txBody>
      </p:sp>
      <p:sp>
        <p:nvSpPr>
          <p:cNvPr id="25" name="!!acc_body_2"/>
          <p:cNvSpPr txBox="1"/>
          <p:nvPr/>
        </p:nvSpPr>
        <p:spPr>
          <a:xfrm>
            <a:off x="8686800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XIAO &amp; 12H LIPO</a:t>
            </a:r>
          </a:p>
        </p:txBody>
      </p:sp>
      <p:pic>
        <p:nvPicPr>
          <p:cNvPr id="26" name="!!acc_img_2" descr="k28_xia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3794760"/>
            <a:ext cx="1133856" cy="2286000"/>
          </a:xfrm>
          <a:prstGeom prst="rect">
            <a:avLst/>
          </a:prstGeom>
        </p:spPr>
      </p:pic>
      <p:sp>
        <p:nvSpPr>
          <p:cNvPr id="27" name="!!acc_blade_3"/>
          <p:cNvSpPr/>
          <p:nvPr/>
        </p:nvSpPr>
        <p:spPr>
          <a:xfrm>
            <a:off x="10222992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acc_badge_3"/>
          <p:cNvSpPr/>
          <p:nvPr/>
        </p:nvSpPr>
        <p:spPr>
          <a:xfrm>
            <a:off x="10387584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acc_badget_3"/>
          <p:cNvSpPr txBox="1"/>
          <p:nvPr/>
        </p:nvSpPr>
        <p:spPr>
          <a:xfrm>
            <a:off x="10405872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A855F7"/>
                </a:solidFill>
                <a:latin typeface="Inter"/>
              </a:rPr>
              <a:t>04</a:t>
            </a:r>
          </a:p>
        </p:txBody>
      </p:sp>
      <p:sp>
        <p:nvSpPr>
          <p:cNvPr id="30" name="!!acc_body_3"/>
          <p:cNvSpPr txBox="1"/>
          <p:nvPr/>
        </p:nvSpPr>
        <p:spPr>
          <a:xfrm>
            <a:off x="10351008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2–3s SETUP</a:t>
            </a:r>
          </a:p>
        </p:txBody>
      </p:sp>
      <p:pic>
        <p:nvPicPr>
          <p:cNvPr id="31" name="!!acc_img_3" descr="k28_calthum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3794760"/>
            <a:ext cx="1133856" cy="22860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42816E27-20E8-BEDF-D5AB-F6B9EFE663EB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F636626-869A-CD66-1B0E-B2404576CDA8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603B6E-C390-EEF3-1BBE-141886DC416B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B68DF6-37F6-44B2-DEFE-A7F7929E5821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MODULAR WEARABLE BENTO  ·  MODULE 02 OF 04 OPEN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D9E894-59F0-A74A-4084-DBF03840539C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0:33 – 0:39   [07/32]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42600F-7BF6-8222-9EEE-52CBD61EDA1C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1D66C48-A421-2B23-569B-BEDA6CE7CC41}"/>
              </a:ext>
            </a:extLst>
          </p:cNvPr>
          <p:cNvSpPr/>
          <p:nvPr/>
        </p:nvSpPr>
        <p:spPr>
          <a:xfrm>
            <a:off x="411480" y="6654800"/>
            <a:ext cx="2486422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858397"/>
      </p:ext>
    </p:extLst>
  </p:cSld>
  <p:clrMapOvr>
    <a:masterClrMapping/>
  </p:clrMapOvr>
  <p:transition spd="med" advTm="5600">
    <p:fade/>
    <p:extLst mod="1">
      <p:ext uri="{D84E410A-3911-4435-9328-F4292B5D5B2B}">
        <p159:morph xmlns:p159="http://schemas.microsoft.com/office/powerpoint/2015/09/main" xmlns="" xmlns:p14="http://schemas.microsoft.com/office/powerpoint/2010/main" xmlns:mc="http://schemas.openxmlformats.org/markup-compatibility/2006" option="byObject"/>
      </p:ext>
    </p:extLst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02</a:t>
            </a:r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Thumb-Sized Brain. Direct Li-Po Charge.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Interactive Hardware Accordion:  Previous module closes as the next module opens.</a:t>
            </a:r>
          </a:p>
        </p:txBody>
      </p:sp>
      <p:sp>
        <p:nvSpPr>
          <p:cNvPr id="12" name="!!acc_blade_0"/>
          <p:cNvSpPr/>
          <p:nvPr/>
        </p:nvSpPr>
        <p:spPr>
          <a:xfrm>
            <a:off x="411480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acc_badge_0"/>
          <p:cNvSpPr/>
          <p:nvPr/>
        </p:nvSpPr>
        <p:spPr>
          <a:xfrm>
            <a:off x="576072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acc_badget_0"/>
          <p:cNvSpPr txBox="1"/>
          <p:nvPr/>
        </p:nvSpPr>
        <p:spPr>
          <a:xfrm>
            <a:off x="594360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00E5FF"/>
                </a:solidFill>
                <a:latin typeface="Inter"/>
              </a:rPr>
              <a:t>01</a:t>
            </a:r>
          </a:p>
        </p:txBody>
      </p:sp>
      <p:sp>
        <p:nvSpPr>
          <p:cNvPr id="15" name="!!acc_body_0"/>
          <p:cNvSpPr txBox="1"/>
          <p:nvPr/>
        </p:nvSpPr>
        <p:spPr>
          <a:xfrm>
            <a:off x="539496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MAGNET PIVOT</a:t>
            </a:r>
          </a:p>
        </p:txBody>
      </p:sp>
      <p:pic>
        <p:nvPicPr>
          <p:cNvPr id="16" name="!!acc_img_0" descr="k28_eye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794760"/>
            <a:ext cx="1133856" cy="2286000"/>
          </a:xfrm>
          <a:prstGeom prst="rect">
            <a:avLst/>
          </a:prstGeom>
        </p:spPr>
      </p:pic>
      <p:sp>
        <p:nvSpPr>
          <p:cNvPr id="17" name="!!acc_blade_1"/>
          <p:cNvSpPr/>
          <p:nvPr/>
        </p:nvSpPr>
        <p:spPr>
          <a:xfrm>
            <a:off x="2075688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acc_badge_1"/>
          <p:cNvSpPr/>
          <p:nvPr/>
        </p:nvSpPr>
        <p:spPr>
          <a:xfrm>
            <a:off x="2240280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acc_badget_1"/>
          <p:cNvSpPr txBox="1"/>
          <p:nvPr/>
        </p:nvSpPr>
        <p:spPr>
          <a:xfrm>
            <a:off x="2258568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FB800"/>
                </a:solidFill>
                <a:latin typeface="Inter"/>
              </a:rPr>
              <a:t>02</a:t>
            </a:r>
          </a:p>
        </p:txBody>
      </p:sp>
      <p:sp>
        <p:nvSpPr>
          <p:cNvPr id="20" name="!!acc_body_1"/>
          <p:cNvSpPr txBox="1"/>
          <p:nvPr/>
        </p:nvSpPr>
        <p:spPr>
          <a:xfrm>
            <a:off x="2203704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VELCRO BELT</a:t>
            </a:r>
          </a:p>
        </p:txBody>
      </p:sp>
      <p:pic>
        <p:nvPicPr>
          <p:cNvPr id="21" name="!!acc_img_1" descr="k28_pr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6" y="3794760"/>
            <a:ext cx="1133856" cy="2286000"/>
          </a:xfrm>
          <a:prstGeom prst="rect">
            <a:avLst/>
          </a:prstGeom>
        </p:spPr>
      </p:pic>
      <p:sp>
        <p:nvSpPr>
          <p:cNvPr id="22" name="!!acc_blade_2"/>
          <p:cNvSpPr/>
          <p:nvPr/>
        </p:nvSpPr>
        <p:spPr>
          <a:xfrm>
            <a:off x="3739896" y="1664208"/>
            <a:ext cx="6355080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42640"/>
          </a:solidFill>
          <a:ln w="3302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acc_badge_2"/>
          <p:cNvSpPr/>
          <p:nvPr/>
        </p:nvSpPr>
        <p:spPr>
          <a:xfrm>
            <a:off x="3941063" y="1847088"/>
            <a:ext cx="3474720" cy="329184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acc_badget_2"/>
          <p:cNvSpPr txBox="1"/>
          <p:nvPr/>
        </p:nvSpPr>
        <p:spPr>
          <a:xfrm>
            <a:off x="3977639" y="1874519"/>
            <a:ext cx="340156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E676"/>
                </a:solidFill>
                <a:latin typeface="Inter"/>
              </a:rPr>
              <a:t>03 · SEEED STUDIO XIAO ESP32C3 + 1000mAh LI-PO</a:t>
            </a:r>
          </a:p>
        </p:txBody>
      </p:sp>
      <p:sp>
        <p:nvSpPr>
          <p:cNvPr id="25" name="!!acc_body_2"/>
          <p:cNvSpPr txBox="1"/>
          <p:nvPr/>
        </p:nvSpPr>
        <p:spPr>
          <a:xfrm>
            <a:off x="3941063" y="2304288"/>
            <a:ext cx="3520440" cy="3794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F8FAFF"/>
                </a:solidFill>
                <a:latin typeface="Inter"/>
              </a:rPr>
              <a:t>3.7V 1000mAh Li-Po wires straight to XIAO BAT+/BAT- pads with a 2A fuse.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ACBEDA"/>
                </a:solidFill>
                <a:latin typeface="Inter"/>
              </a:rPr>
              <a:t>Onboard 3.3V regulator eliminates heavy, hot external buck converters.</a:t>
            </a:r>
          </a:p>
          <a:p>
            <a:pPr algn="l">
              <a:spcAft>
                <a:spcPts val="0"/>
              </a:spcAft>
            </a:pPr>
            <a:r>
              <a:rPr sz="1600" b="1">
                <a:solidFill>
                  <a:srgbClr val="F8FAFF"/>
                </a:solidFill>
                <a:latin typeface="Inter"/>
              </a:rPr>
              <a:t>BLE 5.0 primary link + automatic Wi-Fi failover + 12h Deep Sleep runtime.</a:t>
            </a:r>
          </a:p>
        </p:txBody>
      </p:sp>
      <p:pic>
        <p:nvPicPr>
          <p:cNvPr id="26" name="!!acc_img_2" descr="k28_xia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375" y="1847088"/>
            <a:ext cx="2331720" cy="4279392"/>
          </a:xfrm>
          <a:prstGeom prst="rect">
            <a:avLst/>
          </a:prstGeom>
        </p:spPr>
      </p:pic>
      <p:sp>
        <p:nvSpPr>
          <p:cNvPr id="27" name="!!acc_blade_3"/>
          <p:cNvSpPr/>
          <p:nvPr/>
        </p:nvSpPr>
        <p:spPr>
          <a:xfrm>
            <a:off x="10222992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acc_badge_3"/>
          <p:cNvSpPr/>
          <p:nvPr/>
        </p:nvSpPr>
        <p:spPr>
          <a:xfrm>
            <a:off x="10387584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acc_badget_3"/>
          <p:cNvSpPr txBox="1"/>
          <p:nvPr/>
        </p:nvSpPr>
        <p:spPr>
          <a:xfrm>
            <a:off x="10405872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A855F7"/>
                </a:solidFill>
                <a:latin typeface="Inter"/>
              </a:rPr>
              <a:t>04</a:t>
            </a:r>
          </a:p>
        </p:txBody>
      </p:sp>
      <p:sp>
        <p:nvSpPr>
          <p:cNvPr id="30" name="!!acc_body_3"/>
          <p:cNvSpPr txBox="1"/>
          <p:nvPr/>
        </p:nvSpPr>
        <p:spPr>
          <a:xfrm>
            <a:off x="10351008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2–3s SETUP</a:t>
            </a:r>
          </a:p>
        </p:txBody>
      </p:sp>
      <p:pic>
        <p:nvPicPr>
          <p:cNvPr id="31" name="!!acc_img_3" descr="k28_calthum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0" y="3794760"/>
            <a:ext cx="1133856" cy="22860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20EC62F7-A314-F6E4-A0AD-DEFD1A99C811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3B4FEAF-0CC7-68F1-FA2A-7835A214BAC7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625E08-FE77-9BED-986F-FB6368DB792E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5C81CF-4A23-C23B-3C4F-0793818283C0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MODULAR WEARABLE BENTO  ·  MODULE 03 OF 04 OPEN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BDED09-ED4E-DF49-C1EE-9364E409030C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0:39 – 0:45   [08/32]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E97B5E8-EE19-16C9-353F-F87E20230CE1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82B9DB3-1E29-5C6F-C890-25F46D4D51F6}"/>
              </a:ext>
            </a:extLst>
          </p:cNvPr>
          <p:cNvSpPr/>
          <p:nvPr/>
        </p:nvSpPr>
        <p:spPr>
          <a:xfrm>
            <a:off x="411480" y="6654800"/>
            <a:ext cx="2841625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59320"/>
      </p:ext>
    </p:extLst>
  </p:cSld>
  <p:clrMapOvr>
    <a:masterClrMapping/>
  </p:clrMapOvr>
  <p:transition spd="med" advTm="5600">
    <p:fade/>
    <p:extLst mod="1">
      <p:ext uri="{D84E410A-3911-4435-9328-F4292B5D5B2B}">
        <p159:morph xmlns:p159="http://schemas.microsoft.com/office/powerpoint/2015/09/main" xmlns="" xmlns:p14="http://schemas.microsoft.com/office/powerpoint/2010/main" xmlns:mc="http://schemas.openxmlformats.org/markup-compatibility/2006" option="byObject"/>
      </p:ext>
    </p:extLst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02</a:t>
            </a:r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Ready in 2–3 Seconds. Saved Profiles &lt;5s.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Interactive Hardware Accordion:  Previous module closes as the next module opens.</a:t>
            </a:r>
          </a:p>
        </p:txBody>
      </p:sp>
      <p:sp>
        <p:nvSpPr>
          <p:cNvPr id="12" name="!!acc_blade_0"/>
          <p:cNvSpPr/>
          <p:nvPr/>
        </p:nvSpPr>
        <p:spPr>
          <a:xfrm>
            <a:off x="411480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acc_badge_0"/>
          <p:cNvSpPr/>
          <p:nvPr/>
        </p:nvSpPr>
        <p:spPr>
          <a:xfrm>
            <a:off x="576072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acc_badget_0"/>
          <p:cNvSpPr txBox="1"/>
          <p:nvPr/>
        </p:nvSpPr>
        <p:spPr>
          <a:xfrm>
            <a:off x="594360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00E5FF"/>
                </a:solidFill>
                <a:latin typeface="Inter"/>
              </a:rPr>
              <a:t>01</a:t>
            </a:r>
          </a:p>
        </p:txBody>
      </p:sp>
      <p:sp>
        <p:nvSpPr>
          <p:cNvPr id="15" name="!!acc_body_0"/>
          <p:cNvSpPr txBox="1"/>
          <p:nvPr/>
        </p:nvSpPr>
        <p:spPr>
          <a:xfrm>
            <a:off x="539496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MAGNET PIVOT</a:t>
            </a:r>
          </a:p>
        </p:txBody>
      </p:sp>
      <p:pic>
        <p:nvPicPr>
          <p:cNvPr id="16" name="!!acc_img_0" descr="k28_eye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794760"/>
            <a:ext cx="1133856" cy="2286000"/>
          </a:xfrm>
          <a:prstGeom prst="rect">
            <a:avLst/>
          </a:prstGeom>
        </p:spPr>
      </p:pic>
      <p:sp>
        <p:nvSpPr>
          <p:cNvPr id="17" name="!!acc_blade_1"/>
          <p:cNvSpPr/>
          <p:nvPr/>
        </p:nvSpPr>
        <p:spPr>
          <a:xfrm>
            <a:off x="2075688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acc_badge_1"/>
          <p:cNvSpPr/>
          <p:nvPr/>
        </p:nvSpPr>
        <p:spPr>
          <a:xfrm>
            <a:off x="2240280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acc_badget_1"/>
          <p:cNvSpPr txBox="1"/>
          <p:nvPr/>
        </p:nvSpPr>
        <p:spPr>
          <a:xfrm>
            <a:off x="2258568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FB800"/>
                </a:solidFill>
                <a:latin typeface="Inter"/>
              </a:rPr>
              <a:t>02</a:t>
            </a:r>
          </a:p>
        </p:txBody>
      </p:sp>
      <p:sp>
        <p:nvSpPr>
          <p:cNvPr id="20" name="!!acc_body_1"/>
          <p:cNvSpPr txBox="1"/>
          <p:nvPr/>
        </p:nvSpPr>
        <p:spPr>
          <a:xfrm>
            <a:off x="2203704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VELCRO BELT</a:t>
            </a:r>
          </a:p>
        </p:txBody>
      </p:sp>
      <p:pic>
        <p:nvPicPr>
          <p:cNvPr id="21" name="!!acc_img_1" descr="k28_pr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6" y="3794760"/>
            <a:ext cx="1133856" cy="2286000"/>
          </a:xfrm>
          <a:prstGeom prst="rect">
            <a:avLst/>
          </a:prstGeom>
        </p:spPr>
      </p:pic>
      <p:sp>
        <p:nvSpPr>
          <p:cNvPr id="22" name="!!acc_blade_2"/>
          <p:cNvSpPr/>
          <p:nvPr/>
        </p:nvSpPr>
        <p:spPr>
          <a:xfrm>
            <a:off x="3739896" y="1664208"/>
            <a:ext cx="1536192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acc_badge_2"/>
          <p:cNvSpPr/>
          <p:nvPr/>
        </p:nvSpPr>
        <p:spPr>
          <a:xfrm>
            <a:off x="3904487" y="1847088"/>
            <a:ext cx="1207008" cy="365760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acc_badget_2"/>
          <p:cNvSpPr txBox="1"/>
          <p:nvPr/>
        </p:nvSpPr>
        <p:spPr>
          <a:xfrm>
            <a:off x="3922776" y="1883664"/>
            <a:ext cx="117043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00E676"/>
                </a:solidFill>
                <a:latin typeface="Inter"/>
              </a:rPr>
              <a:t>03</a:t>
            </a:r>
          </a:p>
        </p:txBody>
      </p:sp>
      <p:sp>
        <p:nvSpPr>
          <p:cNvPr id="25" name="!!acc_body_2"/>
          <p:cNvSpPr txBox="1"/>
          <p:nvPr/>
        </p:nvSpPr>
        <p:spPr>
          <a:xfrm>
            <a:off x="3867911" y="2331720"/>
            <a:ext cx="12801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8FAFF"/>
                </a:solidFill>
                <a:latin typeface="Inter"/>
              </a:rPr>
              <a:t>XIAO &amp; 12H LIPO</a:t>
            </a:r>
          </a:p>
        </p:txBody>
      </p:sp>
      <p:pic>
        <p:nvPicPr>
          <p:cNvPr id="26" name="!!acc_img_2" descr="k28_xia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794760"/>
            <a:ext cx="1133856" cy="2286000"/>
          </a:xfrm>
          <a:prstGeom prst="rect">
            <a:avLst/>
          </a:prstGeom>
        </p:spPr>
      </p:pic>
      <p:sp>
        <p:nvSpPr>
          <p:cNvPr id="27" name="!!acc_blade_3"/>
          <p:cNvSpPr/>
          <p:nvPr/>
        </p:nvSpPr>
        <p:spPr>
          <a:xfrm>
            <a:off x="5404104" y="1664208"/>
            <a:ext cx="6355080" cy="466344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42640"/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acc_badge_3"/>
          <p:cNvSpPr/>
          <p:nvPr/>
        </p:nvSpPr>
        <p:spPr>
          <a:xfrm>
            <a:off x="5605272" y="1847088"/>
            <a:ext cx="3474720" cy="329184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60A1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acc_badget_3"/>
          <p:cNvSpPr txBox="1"/>
          <p:nvPr/>
        </p:nvSpPr>
        <p:spPr>
          <a:xfrm>
            <a:off x="5641848" y="1874519"/>
            <a:ext cx="340156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A855F7"/>
                </a:solidFill>
                <a:latin typeface="Inter"/>
              </a:rPr>
              <a:t>04 · INSTANT 5-STEP AUTO-CALIBRATION</a:t>
            </a:r>
          </a:p>
        </p:txBody>
      </p:sp>
      <p:sp>
        <p:nvSpPr>
          <p:cNvPr id="30" name="!!acc_body_3"/>
          <p:cNvSpPr txBox="1"/>
          <p:nvPr/>
        </p:nvSpPr>
        <p:spPr>
          <a:xfrm>
            <a:off x="5605272" y="2304288"/>
            <a:ext cx="3520440" cy="3794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F8FAFF"/>
                </a:solidFill>
                <a:latin typeface="Inter"/>
              </a:rPr>
              <a:t>1. Connect via BLE/Wi-Fi   →   2. Load Saved User Profile in &lt;5 seconds.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ACBEDA"/>
                </a:solidFill>
                <a:latin typeface="Inter"/>
              </a:rPr>
              <a:t>3. Quick Head Nod/Tilt sets comfortable 25° ergonomic dead-zone.</a:t>
            </a:r>
          </a:p>
          <a:p>
            <a:pPr algn="l">
              <a:spcAft>
                <a:spcPts val="0"/>
              </a:spcAft>
            </a:pPr>
            <a:r>
              <a:rPr sz="1600" b="1">
                <a:solidFill>
                  <a:srgbClr val="F8FAFF"/>
                </a:solidFill>
                <a:latin typeface="Inter"/>
              </a:rPr>
              <a:t>4. 2–3s Blink Check syncs Live Python Eye Twin   →   5. Cursor Goes Live!</a:t>
            </a:r>
          </a:p>
        </p:txBody>
      </p:sp>
      <p:pic>
        <p:nvPicPr>
          <p:cNvPr id="31" name="!!acc_img_3" descr="k28_calthum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4584" y="1847088"/>
            <a:ext cx="2331720" cy="427939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F3AFD6F2-8AE2-B70C-6A39-29954A46B5D1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F359F4F-E9A3-919C-2C9F-8B18D32508D4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564084-A650-BF6C-A282-CD31F8D58EC9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6158B6-B40C-4CB2-6749-964249244A8E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MODULAR WEARABLE BENTO  ·  MODULE 04 OF 04 OPEN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6E02E6-D8EB-9D65-AA0C-CCF23D79606E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0:45 – 0:50   [09/32]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8BD68A-DEC3-8A0E-1520-D43283263708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A6E12ED-6282-7E05-DAC9-8A58E3C08C6B}"/>
              </a:ext>
            </a:extLst>
          </p:cNvPr>
          <p:cNvSpPr/>
          <p:nvPr/>
        </p:nvSpPr>
        <p:spPr>
          <a:xfrm>
            <a:off x="411480" y="6654800"/>
            <a:ext cx="3196828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136511"/>
      </p:ext>
    </p:extLst>
  </p:cSld>
  <p:clrMapOvr>
    <a:masterClrMapping/>
  </p:clrMapOvr>
  <p:transition spd="med" advTm="5600">
    <p:fade/>
    <p:extLst mod="1">
      <p:ext uri="{D84E410A-3911-4435-9328-F4292B5D5B2B}">
        <p159:morph xmlns:p159="http://schemas.microsoft.com/office/powerpoint/2015/09/main" xmlns="" xmlns:p14="http://schemas.microsoft.com/office/powerpoint/2010/main" xmlns:mc="http://schemas.openxmlformats.org/markup-compatibility/2006" option="byObject"/>
      </p:ext>
    </p:extLst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0E9B7DC-0D5E-EABA-48BE-00BD525221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282AAB-8250-B411-84A6-97E56194B545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2646CA9-1ED0-A8D0-2B4B-4EF4EEF310C6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097653-1508-4177-88C5-B8DFFA657042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36709A-0C12-D048-CF88-478F5E7D4F72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WEARABLE EYE SAFETY  ·  DETERMINISTIC &amp; IEC 62471 SAFE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8CFEA9-ECB3-01FF-C280-01916CBD384F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0:50 – 0:56   [10/32]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7B93E5B-7E58-546C-13A9-AD969AB4F1B8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C753BA-6FD0-3F1C-2D9D-DEDC87364F6D}"/>
              </a:ext>
            </a:extLst>
          </p:cNvPr>
          <p:cNvSpPr/>
          <p:nvPr/>
        </p:nvSpPr>
        <p:spPr>
          <a:xfrm>
            <a:off x="411480" y="6654800"/>
            <a:ext cx="3552031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954319-C449-FBA7-B45C-7AF3988AA5A7}"/>
              </a:ext>
            </a:extLst>
          </p:cNvPr>
          <p:cNvSpPr txBox="1"/>
          <p:nvPr/>
        </p:nvSpPr>
        <p:spPr>
          <a:xfrm>
            <a:off x="411480" y="711200"/>
            <a:ext cx="113665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Segoe UI" panose="020B0502040204020203" pitchFamily="34" charset="0"/>
              </a:rPr>
              <a:t>3 Strict Blink Timing Windows  ·  20× Safer Than IEC Limit.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4F057D-A7F5-34E1-D2DE-81776993DB41}"/>
              </a:ext>
            </a:extLst>
          </p:cNvPr>
          <p:cNvSpPr txBox="1"/>
          <p:nvPr/>
        </p:nvSpPr>
        <p:spPr>
          <a:xfrm>
            <a:off x="411480" y="1117600"/>
            <a:ext cx="11366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>
                <a:solidFill>
                  <a:srgbClr val="FFB300"/>
                </a:solidFill>
                <a:latin typeface="Segoe UI" panose="020B0502040204020203" pitchFamily="34" charset="0"/>
              </a:rPr>
              <a:t>Separates involuntary reflex blinks from intentional clicks with &lt;0.5 mW/cm² eye-safe diffused IR.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8D17551-027D-729F-1EDF-C6808627CDA3}"/>
              </a:ext>
            </a:extLst>
          </p:cNvPr>
          <p:cNvSpPr/>
          <p:nvPr/>
        </p:nvSpPr>
        <p:spPr>
          <a:xfrm>
            <a:off x="411480" y="1524000"/>
            <a:ext cx="4064000" cy="39370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89C0740-D9B1-410A-7B79-C85ACED3BEF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" y="1562100"/>
            <a:ext cx="3987800" cy="3860800"/>
          </a:xfrm>
          <a:prstGeom prst="rect">
            <a:avLst/>
          </a:prstGeom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D699278-B86D-A3FC-89DE-554B2971C699}"/>
              </a:ext>
            </a:extLst>
          </p:cNvPr>
          <p:cNvSpPr/>
          <p:nvPr/>
        </p:nvSpPr>
        <p:spPr>
          <a:xfrm>
            <a:off x="411480" y="5524500"/>
            <a:ext cx="4064000" cy="35560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B3F840-A963-20BC-0164-F8ED8629C3F8}"/>
              </a:ext>
            </a:extLst>
          </p:cNvPr>
          <p:cNvSpPr txBox="1"/>
          <p:nvPr/>
        </p:nvSpPr>
        <p:spPr>
          <a:xfrm>
            <a:off x="474980" y="5575300"/>
            <a:ext cx="3937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900" b="1">
                <a:solidFill>
                  <a:srgbClr val="00F2FE"/>
                </a:solidFill>
                <a:latin typeface="Segoe UI" panose="020B0502040204020203" pitchFamily="34" charset="0"/>
              </a:rPr>
              <a:t>950nm Non-Coherent Diffused Eye Sensor Clip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EA00AF3-4397-F4AE-4E4B-AF023A4C2BEB}"/>
              </a:ext>
            </a:extLst>
          </p:cNvPr>
          <p:cNvSpPr/>
          <p:nvPr/>
        </p:nvSpPr>
        <p:spPr>
          <a:xfrm>
            <a:off x="4729480" y="1524000"/>
            <a:ext cx="7048500" cy="12065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8912A2-A492-FD82-88B1-6D6AFC4F93F5}"/>
              </a:ext>
            </a:extLst>
          </p:cNvPr>
          <p:cNvSpPr txBox="1"/>
          <p:nvPr/>
        </p:nvSpPr>
        <p:spPr>
          <a:xfrm>
            <a:off x="4881880" y="1625600"/>
            <a:ext cx="6731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pt-BR" sz="1100" b="1">
                <a:solidFill>
                  <a:srgbClr val="00E676"/>
                </a:solidFill>
                <a:latin typeface="Segoe UI" panose="020B0502040204020203" pitchFamily="34" charset="0"/>
              </a:rPr>
              <a:t>&lt; 200 ms  ·  NATURAL REFLEX BLINK</a:t>
            </a:r>
            <a:endParaRPr lang="en-US" sz="1100" b="1">
              <a:solidFill>
                <a:srgbClr val="00E676"/>
              </a:solidFill>
              <a:latin typeface="Segoe UI" panose="020B0502040204020203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DADFF8-84F7-2AF7-B607-3BBBBCCE0D0D}"/>
              </a:ext>
            </a:extLst>
          </p:cNvPr>
          <p:cNvSpPr txBox="1"/>
          <p:nvPr/>
        </p:nvSpPr>
        <p:spPr>
          <a:xfrm>
            <a:off x="4881880" y="1955800"/>
            <a:ext cx="6731000" cy="3436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50">
                <a:solidFill>
                  <a:srgbClr val="FFFFFF"/>
                </a:solidFill>
                <a:latin typeface="Segoe UI" panose="020B0502040204020203" pitchFamily="34" charset="0"/>
              </a:rPr>
              <a:t>IGNORED COMPLETELY: 0 false misfires during normal blinking, reading, conversational head movement, or ambient lighting changes.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9C1BAF5-F3E9-AC65-5A0F-BD0C2D813170}"/>
              </a:ext>
            </a:extLst>
          </p:cNvPr>
          <p:cNvSpPr/>
          <p:nvPr/>
        </p:nvSpPr>
        <p:spPr>
          <a:xfrm>
            <a:off x="4729480" y="2857500"/>
            <a:ext cx="7048500" cy="12065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C9190D-3374-CBAD-B343-5DD8D2FB2362}"/>
              </a:ext>
            </a:extLst>
          </p:cNvPr>
          <p:cNvSpPr txBox="1"/>
          <p:nvPr/>
        </p:nvSpPr>
        <p:spPr>
          <a:xfrm>
            <a:off x="4881880" y="2959100"/>
            <a:ext cx="6731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 b="1">
                <a:solidFill>
                  <a:srgbClr val="00F2FE"/>
                </a:solidFill>
                <a:latin typeface="Segoe UI" panose="020B0502040204020203" pitchFamily="34" charset="0"/>
              </a:rPr>
              <a:t>200 – 500 ms  ·  SINGLE DELIBERATE HOLD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1F2D1E-21EA-DA62-AEC6-A0D4577F7B7C}"/>
              </a:ext>
            </a:extLst>
          </p:cNvPr>
          <p:cNvSpPr txBox="1"/>
          <p:nvPr/>
        </p:nvSpPr>
        <p:spPr>
          <a:xfrm>
            <a:off x="4881880" y="3289300"/>
            <a:ext cx="6731000" cy="3436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50">
                <a:solidFill>
                  <a:srgbClr val="FFFFFF"/>
                </a:solidFill>
                <a:latin typeface="Segoe UI" panose="020B0502040204020203" pitchFamily="34" charset="0"/>
              </a:rPr>
              <a:t>FIRES LEFT CLICK: Confirms focused UI tile selection, activates text-to-speech engine, or selects predictive communication word.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C91370C-6586-8D03-8D1F-00981AB6EBBF}"/>
              </a:ext>
            </a:extLst>
          </p:cNvPr>
          <p:cNvSpPr/>
          <p:nvPr/>
        </p:nvSpPr>
        <p:spPr>
          <a:xfrm>
            <a:off x="4729480" y="4191000"/>
            <a:ext cx="7048500" cy="12065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FB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86AED5-3B72-3B3F-4CDB-ADB8B7E388EC}"/>
              </a:ext>
            </a:extLst>
          </p:cNvPr>
          <p:cNvSpPr txBox="1"/>
          <p:nvPr/>
        </p:nvSpPr>
        <p:spPr>
          <a:xfrm>
            <a:off x="4881880" y="4292600"/>
            <a:ext cx="6731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 b="1">
                <a:solidFill>
                  <a:srgbClr val="FFB300"/>
                </a:solidFill>
                <a:latin typeface="Segoe UI" panose="020B0502040204020203" pitchFamily="34" charset="0"/>
              </a:rPr>
              <a:t>2 × 200–500 ms  ·  DOUBLE DELIBERATE BLINK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9DA0E6-70BA-8C24-ABA3-3C295F6D490A}"/>
              </a:ext>
            </a:extLst>
          </p:cNvPr>
          <p:cNvSpPr txBox="1"/>
          <p:nvPr/>
        </p:nvSpPr>
        <p:spPr>
          <a:xfrm>
            <a:off x="4881880" y="4622800"/>
            <a:ext cx="67310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50">
                <a:solidFill>
                  <a:srgbClr val="FFFFFF"/>
                </a:solidFill>
                <a:latin typeface="Segoe UI" panose="020B0502040204020203" pitchFamily="34" charset="0"/>
              </a:rPr>
              <a:t>FIRES RIGHT CLICK / BACK: Instant action cancel, navigation back to previous hub, or opens contextual control menu.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E3B66211-7136-2BA7-5826-E5AF6FB403E7}"/>
              </a:ext>
            </a:extLst>
          </p:cNvPr>
          <p:cNvSpPr/>
          <p:nvPr/>
        </p:nvSpPr>
        <p:spPr>
          <a:xfrm>
            <a:off x="411480" y="5969000"/>
            <a:ext cx="11366500" cy="558800"/>
          </a:xfrm>
          <a:prstGeom prst="roundRect">
            <a:avLst/>
          </a:prstGeom>
          <a:solidFill>
            <a:srgbClr val="182032"/>
          </a:solidFill>
          <a:ln w="1524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F8CAB48-A208-B9F7-A4ED-2074125B92D2}"/>
              </a:ext>
            </a:extLst>
          </p:cNvPr>
          <p:cNvSpPr txBox="1"/>
          <p:nvPr/>
        </p:nvSpPr>
        <p:spPr>
          <a:xfrm>
            <a:off x="563880" y="6019800"/>
            <a:ext cx="110617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 b="1">
                <a:solidFill>
                  <a:srgbClr val="00E676"/>
                </a:solidFill>
                <a:latin typeface="Segoe UI" panose="020B0502040204020203" pitchFamily="34" charset="0"/>
              </a:rPr>
              <a:t>IEC 62471 PHOTOBIOLOGICAL EYE SAFETY: &lt; 0.5 mW/cm² (OVER 20× BELOW 10 mW/cm² CLINICAL SAFETY LIMIT)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E013B7B-B7DA-CAFA-906C-21809F448777}"/>
              </a:ext>
            </a:extLst>
          </p:cNvPr>
          <p:cNvSpPr txBox="1"/>
          <p:nvPr/>
        </p:nvSpPr>
        <p:spPr>
          <a:xfrm>
            <a:off x="563880" y="6248400"/>
            <a:ext cx="110617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850">
                <a:solidFill>
                  <a:srgbClr val="FFFFFF"/>
                </a:solidFill>
                <a:latin typeface="Segoe UI" panose="020B0502040204020203" pitchFamily="34" charset="0"/>
              </a:rPr>
              <a:t>Diffused 950nm LED (never a laser) emits less infrared power than indirect indoor daylight or a TV remote. Safe for 12+ continuous hours.</a:t>
            </a:r>
          </a:p>
        </p:txBody>
      </p:sp>
    </p:spTree>
    <p:extLst>
      <p:ext uri="{BB962C8B-B14F-4D97-AF65-F5344CB8AC3E}">
        <p14:creationId xmlns:p14="http://schemas.microsoft.com/office/powerpoint/2010/main" val="1993268455"/>
      </p:ext>
    </p:extLst>
  </p:cSld>
  <p:clrMapOvr>
    <a:masterClrMapping/>
  </p:clrMapOvr>
  <p:transition spd="med" advTm="56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03</a:t>
            </a:r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One App.  4 Clutter-Free Hubs.  Zero Mis-Clicks.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Oversized tiles engineered for head-tilt steering and 200–500ms blink clicking.</a:t>
            </a:r>
          </a:p>
        </p:txBody>
      </p:sp>
      <p:sp>
        <p:nvSpPr>
          <p:cNvPr id="12" name="!!ui_browser_win"/>
          <p:cNvSpPr/>
          <p:nvPr/>
        </p:nvSpPr>
        <p:spPr>
          <a:xfrm>
            <a:off x="411480" y="1664208"/>
            <a:ext cx="6720840" cy="4709160"/>
          </a:xfrm>
          <a:prstGeom prst="round2DiagRect">
            <a:avLst>
              <a:gd name="adj1" fmla="val 4000"/>
              <a:gd name="adj2" fmla="val 0"/>
            </a:avLst>
          </a:prstGeom>
          <a:solidFill>
            <a:srgbClr val="0C1321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ui_browser_top"/>
          <p:cNvSpPr/>
          <p:nvPr/>
        </p:nvSpPr>
        <p:spPr>
          <a:xfrm>
            <a:off x="411480" y="1664208"/>
            <a:ext cx="6720840" cy="347472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ui_browser_url"/>
          <p:cNvSpPr txBox="1"/>
          <p:nvPr/>
        </p:nvSpPr>
        <p:spPr>
          <a:xfrm>
            <a:off x="594360" y="1700784"/>
            <a:ext cx="63550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E5FF"/>
                </a:solidFill>
                <a:latin typeface="Inter"/>
              </a:rPr>
              <a:t>https://projectiris.dev/universal-app   ·   SCREEN 01 OF 04</a:t>
            </a:r>
          </a:p>
        </p:txBody>
      </p:sp>
      <p:pic>
        <p:nvPicPr>
          <p:cNvPr id="15" name="anim_ui_browser_img" descr="k28_app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66543"/>
            <a:ext cx="6537960" cy="4206240"/>
          </a:xfrm>
          <a:prstGeom prst="rect">
            <a:avLst/>
          </a:prstGeom>
        </p:spPr>
      </p:pic>
      <p:sp>
        <p:nvSpPr>
          <p:cNvPr id="16" name="!!uib_0_bg"/>
          <p:cNvSpPr/>
          <p:nvPr/>
        </p:nvSpPr>
        <p:spPr>
          <a:xfrm>
            <a:off x="7315200" y="16642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uib_0_bar"/>
          <p:cNvSpPr/>
          <p:nvPr/>
        </p:nvSpPr>
        <p:spPr>
          <a:xfrm>
            <a:off x="7461504" y="16916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uib_0_hex"/>
          <p:cNvSpPr/>
          <p:nvPr/>
        </p:nvSpPr>
        <p:spPr>
          <a:xfrm>
            <a:off x="11466576" y="28346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uib_0_pill"/>
          <p:cNvSpPr/>
          <p:nvPr/>
        </p:nvSpPr>
        <p:spPr>
          <a:xfrm>
            <a:off x="7479792" y="1828800"/>
            <a:ext cx="1376172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uib_0_pill_t"/>
          <p:cNvSpPr txBox="1"/>
          <p:nvPr/>
        </p:nvSpPr>
        <p:spPr>
          <a:xfrm>
            <a:off x="7516368" y="1847088"/>
            <a:ext cx="1303019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5FF"/>
                </a:solidFill>
                <a:latin typeface="Inter"/>
              </a:rPr>
              <a:t>HUB 01 &amp; 02</a:t>
            </a:r>
          </a:p>
        </p:txBody>
      </p:sp>
      <p:sp>
        <p:nvSpPr>
          <p:cNvPr id="21" name="anim_uib_0_txt"/>
          <p:cNvSpPr txBox="1"/>
          <p:nvPr/>
        </p:nvSpPr>
        <p:spPr>
          <a:xfrm>
            <a:off x="7479792" y="21945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Communication &amp; SOS Siren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Instant access to daily phrase tiles and one-blink emergency alarm.</a:t>
            </a:r>
          </a:p>
        </p:txBody>
      </p:sp>
      <p:sp>
        <p:nvSpPr>
          <p:cNvPr id="22" name="!!uib_1_bg"/>
          <p:cNvSpPr/>
          <p:nvPr/>
        </p:nvSpPr>
        <p:spPr>
          <a:xfrm>
            <a:off x="7315200" y="32644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uib_1_bar"/>
          <p:cNvSpPr/>
          <p:nvPr/>
        </p:nvSpPr>
        <p:spPr>
          <a:xfrm>
            <a:off x="7461504" y="32918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uib_1_hex"/>
          <p:cNvSpPr/>
          <p:nvPr/>
        </p:nvSpPr>
        <p:spPr>
          <a:xfrm>
            <a:off x="11466576" y="44348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uib_1_pill"/>
          <p:cNvSpPr/>
          <p:nvPr/>
        </p:nvSpPr>
        <p:spPr>
          <a:xfrm>
            <a:off x="7479792" y="3429000"/>
            <a:ext cx="128016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uib_1_pill_t"/>
          <p:cNvSpPr txBox="1"/>
          <p:nvPr/>
        </p:nvSpPr>
        <p:spPr>
          <a:xfrm>
            <a:off x="7516368" y="3447288"/>
            <a:ext cx="1207007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HUB 03</a:t>
            </a:r>
          </a:p>
        </p:txBody>
      </p:sp>
      <p:sp>
        <p:nvSpPr>
          <p:cNvPr id="27" name="anim_uib_1_txt"/>
          <p:cNvSpPr txBox="1"/>
          <p:nvPr/>
        </p:nvSpPr>
        <p:spPr>
          <a:xfrm>
            <a:off x="7479792" y="37947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Patient Health Tracker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Log daily pain locations, pillow adjustments &amp; comfort scores.</a:t>
            </a:r>
          </a:p>
        </p:txBody>
      </p:sp>
      <p:sp>
        <p:nvSpPr>
          <p:cNvPr id="28" name="!!uib_2_bg"/>
          <p:cNvSpPr/>
          <p:nvPr/>
        </p:nvSpPr>
        <p:spPr>
          <a:xfrm>
            <a:off x="7315200" y="48646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uib_2_bar"/>
          <p:cNvSpPr/>
          <p:nvPr/>
        </p:nvSpPr>
        <p:spPr>
          <a:xfrm>
            <a:off x="7461504" y="48920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!!uib_2_hex"/>
          <p:cNvSpPr/>
          <p:nvPr/>
        </p:nvSpPr>
        <p:spPr>
          <a:xfrm>
            <a:off x="11466576" y="60350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uib_2_pill"/>
          <p:cNvSpPr/>
          <p:nvPr/>
        </p:nvSpPr>
        <p:spPr>
          <a:xfrm>
            <a:off x="7479792" y="5029200"/>
            <a:ext cx="128016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uib_2_pill_t"/>
          <p:cNvSpPr txBox="1"/>
          <p:nvPr/>
        </p:nvSpPr>
        <p:spPr>
          <a:xfrm>
            <a:off x="7516368" y="5047488"/>
            <a:ext cx="1207007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HUB 04</a:t>
            </a:r>
          </a:p>
        </p:txBody>
      </p:sp>
      <p:sp>
        <p:nvSpPr>
          <p:cNvPr id="33" name="anim_uib_2_txt"/>
          <p:cNvSpPr txBox="1"/>
          <p:nvPr/>
        </p:nvSpPr>
        <p:spPr>
          <a:xfrm>
            <a:off x="7479792" y="53949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Master Settings Hub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Houses all 6 advanced menus so the home screen stays simple.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39B52D-6C92-99AB-BDBE-678B9BCDEB45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FA1E7FF-1A99-7C71-B065-DB6D86EB9CCA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2D21CF-DA89-7C2D-CFA4-B8597797DFBF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75E2A7-C3B5-07C5-9B25-EC86B80C8690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IRIS UNIVERSAL APP  ·  01 HOME SCREEN (4 MAIN HUBS)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148355-674A-8C7D-0198-76CB0487297C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0:56 – 1:01   [11/32]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FBF5A9-970C-A13A-1B93-F268AEBCF53A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9C492A2-DA08-9F55-ECBD-A87FD4CE90D4}"/>
              </a:ext>
            </a:extLst>
          </p:cNvPr>
          <p:cNvSpPr/>
          <p:nvPr/>
        </p:nvSpPr>
        <p:spPr>
          <a:xfrm>
            <a:off x="411480" y="6654800"/>
            <a:ext cx="3907234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80473"/>
      </p:ext>
    </p:extLst>
  </p:cSld>
  <p:clrMapOvr>
    <a:masterClrMapping/>
  </p:clrMapOvr>
  <p:transition spd="med" advTm="5600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1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1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3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7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03</a:t>
            </a:r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Telegraphic Blinks In.  Full Spoken Sentences Out.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Selects 'pain / left shoulder / sharp' → Google Gemini AI expands &amp; speaks in English or Hindi.</a:t>
            </a:r>
          </a:p>
        </p:txBody>
      </p:sp>
      <p:sp>
        <p:nvSpPr>
          <p:cNvPr id="12" name="!!ui_browser_win"/>
          <p:cNvSpPr/>
          <p:nvPr/>
        </p:nvSpPr>
        <p:spPr>
          <a:xfrm>
            <a:off x="411480" y="1664208"/>
            <a:ext cx="6720840" cy="4709160"/>
          </a:xfrm>
          <a:prstGeom prst="round2DiagRect">
            <a:avLst>
              <a:gd name="adj1" fmla="val 4000"/>
              <a:gd name="adj2" fmla="val 0"/>
            </a:avLst>
          </a:prstGeom>
          <a:solidFill>
            <a:srgbClr val="0C1321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ui_browser_top"/>
          <p:cNvSpPr/>
          <p:nvPr/>
        </p:nvSpPr>
        <p:spPr>
          <a:xfrm>
            <a:off x="411480" y="1664208"/>
            <a:ext cx="6720840" cy="347472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ui_browser_url"/>
          <p:cNvSpPr txBox="1"/>
          <p:nvPr/>
        </p:nvSpPr>
        <p:spPr>
          <a:xfrm>
            <a:off x="594360" y="1700784"/>
            <a:ext cx="63550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E5FF"/>
                </a:solidFill>
                <a:latin typeface="Inter"/>
              </a:rPr>
              <a:t>https://projectiris.dev/universal-app   ·   SCREEN 02 OF 04</a:t>
            </a:r>
          </a:p>
        </p:txBody>
      </p:sp>
      <p:pic>
        <p:nvPicPr>
          <p:cNvPr id="15" name="!!ui_img_1" descr="k28_appcom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66543"/>
            <a:ext cx="6537960" cy="4206240"/>
          </a:xfrm>
          <a:prstGeom prst="rect">
            <a:avLst/>
          </a:prstGeom>
        </p:spPr>
      </p:pic>
      <p:sp>
        <p:nvSpPr>
          <p:cNvPr id="16" name="!!uib_0_bg"/>
          <p:cNvSpPr/>
          <p:nvPr/>
        </p:nvSpPr>
        <p:spPr>
          <a:xfrm>
            <a:off x="7315200" y="16642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uib_0_bar"/>
          <p:cNvSpPr/>
          <p:nvPr/>
        </p:nvSpPr>
        <p:spPr>
          <a:xfrm>
            <a:off x="7461504" y="16916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uib_0_hex"/>
          <p:cNvSpPr/>
          <p:nvPr/>
        </p:nvSpPr>
        <p:spPr>
          <a:xfrm>
            <a:off x="11466576" y="28346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uib_0_pill"/>
          <p:cNvSpPr/>
          <p:nvPr/>
        </p:nvSpPr>
        <p:spPr>
          <a:xfrm>
            <a:off x="7479792" y="1828800"/>
            <a:ext cx="2144268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uib_0_pill_t"/>
          <p:cNvSpPr txBox="1"/>
          <p:nvPr/>
        </p:nvSpPr>
        <p:spPr>
          <a:xfrm>
            <a:off x="7516368" y="1847088"/>
            <a:ext cx="2071115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5FF"/>
                </a:solidFill>
                <a:latin typeface="Inter"/>
              </a:rPr>
              <a:t>OFFLINE-READY TILES</a:t>
            </a:r>
          </a:p>
        </p:txBody>
      </p:sp>
      <p:sp>
        <p:nvSpPr>
          <p:cNvPr id="21" name="anim_uib_0_txt"/>
          <p:cNvSpPr txBox="1"/>
          <p:nvPr/>
        </p:nvSpPr>
        <p:spPr>
          <a:xfrm>
            <a:off x="7479792" y="21945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Water, Food, Medicine, Pain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High-contrast numbered tiles work 100% offline with 99.6% hit accuracy.</a:t>
            </a:r>
          </a:p>
        </p:txBody>
      </p:sp>
      <p:sp>
        <p:nvSpPr>
          <p:cNvPr id="22" name="!!uib_1_bg"/>
          <p:cNvSpPr/>
          <p:nvPr/>
        </p:nvSpPr>
        <p:spPr>
          <a:xfrm>
            <a:off x="7315200" y="32644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uib_1_bar"/>
          <p:cNvSpPr/>
          <p:nvPr/>
        </p:nvSpPr>
        <p:spPr>
          <a:xfrm>
            <a:off x="7461504" y="32918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uib_1_hex"/>
          <p:cNvSpPr/>
          <p:nvPr/>
        </p:nvSpPr>
        <p:spPr>
          <a:xfrm>
            <a:off x="11466576" y="44348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uib_1_pill"/>
          <p:cNvSpPr/>
          <p:nvPr/>
        </p:nvSpPr>
        <p:spPr>
          <a:xfrm>
            <a:off x="7479792" y="3429000"/>
            <a:ext cx="1952243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uib_1_pill_t"/>
          <p:cNvSpPr txBox="1"/>
          <p:nvPr/>
        </p:nvSpPr>
        <p:spPr>
          <a:xfrm>
            <a:off x="7516368" y="3447288"/>
            <a:ext cx="1879091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GOOGLE GEMINI LLM</a:t>
            </a:r>
          </a:p>
        </p:txBody>
      </p:sp>
      <p:sp>
        <p:nvSpPr>
          <p:cNvPr id="27" name="anim_uib_1_txt"/>
          <p:cNvSpPr txBox="1"/>
          <p:nvPr/>
        </p:nvSpPr>
        <p:spPr>
          <a:xfrm>
            <a:off x="7479792" y="37947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Telegraphic Sentence Expansion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Cuts blink-typing effort by over 60% for fatigued ALS patients.</a:t>
            </a:r>
          </a:p>
        </p:txBody>
      </p:sp>
      <p:sp>
        <p:nvSpPr>
          <p:cNvPr id="28" name="!!uib_2_bg"/>
          <p:cNvSpPr/>
          <p:nvPr/>
        </p:nvSpPr>
        <p:spPr>
          <a:xfrm>
            <a:off x="7315200" y="48646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uib_2_bar"/>
          <p:cNvSpPr/>
          <p:nvPr/>
        </p:nvSpPr>
        <p:spPr>
          <a:xfrm>
            <a:off x="7461504" y="48920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!!uib_2_hex"/>
          <p:cNvSpPr/>
          <p:nvPr/>
        </p:nvSpPr>
        <p:spPr>
          <a:xfrm>
            <a:off x="11466576" y="60350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uib_2_pill"/>
          <p:cNvSpPr/>
          <p:nvPr/>
        </p:nvSpPr>
        <p:spPr>
          <a:xfrm>
            <a:off x="7479792" y="5029200"/>
            <a:ext cx="224028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uib_2_pill_t"/>
          <p:cNvSpPr txBox="1"/>
          <p:nvPr/>
        </p:nvSpPr>
        <p:spPr>
          <a:xfrm>
            <a:off x="7516368" y="5047488"/>
            <a:ext cx="216712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LOCAL WEB SPEECH TTS</a:t>
            </a:r>
          </a:p>
        </p:txBody>
      </p:sp>
      <p:sp>
        <p:nvSpPr>
          <p:cNvPr id="33" name="anim_uib_2_txt"/>
          <p:cNvSpPr txBox="1"/>
          <p:nvPr/>
        </p:nvSpPr>
        <p:spPr>
          <a:xfrm>
            <a:off x="7479792" y="53949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Hindi &amp; English Voice Output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Patient confirms before speaking — zero cloud audio recording.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16158C2-3020-A488-680B-31648088E31F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EE020FB-7B53-608F-E126-E7D18B0A0147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3B064B-1637-C70B-86E4-C563609BB16E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4887A1-B706-2AC8-D2A8-B47AFE8161C1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fr-FR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IRIS UNIVERSAL APP  ·  02 AI-AUGMENTED COMMUNICATION</a:t>
            </a:r>
            <a:endParaRPr lang="en-US" sz="950" b="1">
              <a:solidFill>
                <a:srgbClr val="94A3B8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22D0A4-3B7F-3092-F567-E5D45322A6AE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1:01 – 1:07   [12/32]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173FB81-B57C-A742-ED5E-5989CD344612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8AA647C-089D-DE26-09B4-897AC5D2737C}"/>
              </a:ext>
            </a:extLst>
          </p:cNvPr>
          <p:cNvSpPr/>
          <p:nvPr/>
        </p:nvSpPr>
        <p:spPr>
          <a:xfrm>
            <a:off x="411480" y="6654800"/>
            <a:ext cx="4262437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314741"/>
      </p:ext>
    </p:extLst>
  </p:cSld>
  <p:clrMapOvr>
    <a:masterClrMapping/>
  </p:clrMapOvr>
  <p:transition spd="med" advTm="5600">
    <p:fade/>
    <p:extLst mod="1">
      <p:ext uri="{D84E410A-3911-4435-9328-F4292B5D5B2B}">
        <p159:morph xmlns:p159="http://schemas.microsoft.com/office/powerpoint/2015/09/main" xmlns="" xmlns:p14="http://schemas.microsoft.com/office/powerpoint/2010/main" xmlns:mc="http://schemas.openxmlformats.org/markup-compatibility/2006" option="byObject"/>
      </p:ext>
    </p:extLst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03</a:t>
            </a:r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One Blink on Screen  →  Caretaker's Phone Rings in 280ms.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Two-tier ntfy.sh push pipeline + Wi-Fi Smart-Room relays for bedroom lights &amp; fans.</a:t>
            </a:r>
          </a:p>
        </p:txBody>
      </p:sp>
      <p:sp>
        <p:nvSpPr>
          <p:cNvPr id="12" name="!!ui_browser_win"/>
          <p:cNvSpPr/>
          <p:nvPr/>
        </p:nvSpPr>
        <p:spPr>
          <a:xfrm>
            <a:off x="411480" y="1664208"/>
            <a:ext cx="6720840" cy="4709160"/>
          </a:xfrm>
          <a:prstGeom prst="round2DiagRect">
            <a:avLst>
              <a:gd name="adj1" fmla="val 4000"/>
              <a:gd name="adj2" fmla="val 0"/>
            </a:avLst>
          </a:prstGeom>
          <a:solidFill>
            <a:srgbClr val="0C1321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ui_browser_top"/>
          <p:cNvSpPr/>
          <p:nvPr/>
        </p:nvSpPr>
        <p:spPr>
          <a:xfrm>
            <a:off x="411480" y="1664208"/>
            <a:ext cx="6720840" cy="347472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ui_browser_url"/>
          <p:cNvSpPr txBox="1"/>
          <p:nvPr/>
        </p:nvSpPr>
        <p:spPr>
          <a:xfrm>
            <a:off x="594360" y="1700784"/>
            <a:ext cx="63550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E5FF"/>
                </a:solidFill>
                <a:latin typeface="Inter"/>
              </a:rPr>
              <a:t>https://projectiris.dev/universal-app   ·   SCREEN 03 OF 04</a:t>
            </a:r>
          </a:p>
        </p:txBody>
      </p:sp>
      <p:pic>
        <p:nvPicPr>
          <p:cNvPr id="15" name="!!ui_img_2" descr="k28_appc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66543"/>
            <a:ext cx="6537960" cy="4206240"/>
          </a:xfrm>
          <a:prstGeom prst="rect">
            <a:avLst/>
          </a:prstGeom>
        </p:spPr>
      </p:pic>
      <p:sp>
        <p:nvSpPr>
          <p:cNvPr id="16" name="!!uib_0_bg"/>
          <p:cNvSpPr/>
          <p:nvPr/>
        </p:nvSpPr>
        <p:spPr>
          <a:xfrm>
            <a:off x="7315200" y="16642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uib_0_bar"/>
          <p:cNvSpPr/>
          <p:nvPr/>
        </p:nvSpPr>
        <p:spPr>
          <a:xfrm>
            <a:off x="7461504" y="16916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uib_0_hex"/>
          <p:cNvSpPr/>
          <p:nvPr/>
        </p:nvSpPr>
        <p:spPr>
          <a:xfrm>
            <a:off x="11466576" y="28346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uib_0_pill"/>
          <p:cNvSpPr/>
          <p:nvPr/>
        </p:nvSpPr>
        <p:spPr>
          <a:xfrm>
            <a:off x="7479792" y="1828800"/>
            <a:ext cx="1856231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uib_0_pill_t"/>
          <p:cNvSpPr txBox="1"/>
          <p:nvPr/>
        </p:nvSpPr>
        <p:spPr>
          <a:xfrm>
            <a:off x="7516368" y="1847088"/>
            <a:ext cx="1783079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5FF"/>
                </a:solidFill>
                <a:latin typeface="Inter"/>
              </a:rPr>
              <a:t>TWO-TIER NTFY.SH</a:t>
            </a:r>
          </a:p>
        </p:txBody>
      </p:sp>
      <p:sp>
        <p:nvSpPr>
          <p:cNvPr id="21" name="anim_uib_0_txt"/>
          <p:cNvSpPr txBox="1"/>
          <p:nvPr/>
        </p:nvSpPr>
        <p:spPr>
          <a:xfrm>
            <a:off x="7479792" y="21945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Server Proxy + Direct Fallback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Delivers emergency sirens in 145ms (Wi-Fi) &amp; 280ms (cellular).</a:t>
            </a:r>
          </a:p>
        </p:txBody>
      </p:sp>
      <p:sp>
        <p:nvSpPr>
          <p:cNvPr id="22" name="!!uib_1_bg"/>
          <p:cNvSpPr/>
          <p:nvPr/>
        </p:nvSpPr>
        <p:spPr>
          <a:xfrm>
            <a:off x="7315200" y="32644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uib_1_bar"/>
          <p:cNvSpPr/>
          <p:nvPr/>
        </p:nvSpPr>
        <p:spPr>
          <a:xfrm>
            <a:off x="7461504" y="32918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uib_1_hex"/>
          <p:cNvSpPr/>
          <p:nvPr/>
        </p:nvSpPr>
        <p:spPr>
          <a:xfrm>
            <a:off x="11466576" y="44348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uib_1_pill"/>
          <p:cNvSpPr/>
          <p:nvPr/>
        </p:nvSpPr>
        <p:spPr>
          <a:xfrm>
            <a:off x="7479792" y="3429000"/>
            <a:ext cx="1856231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uib_1_pill_t"/>
          <p:cNvSpPr txBox="1"/>
          <p:nvPr/>
        </p:nvSpPr>
        <p:spPr>
          <a:xfrm>
            <a:off x="7516368" y="3447288"/>
            <a:ext cx="1783079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87.2% FASTER AID</a:t>
            </a:r>
          </a:p>
        </p:txBody>
      </p:sp>
      <p:sp>
        <p:nvSpPr>
          <p:cNvPr id="27" name="anim_uib_1_txt"/>
          <p:cNvSpPr txBox="1"/>
          <p:nvPr/>
        </p:nvSpPr>
        <p:spPr>
          <a:xfrm>
            <a:off x="7479792" y="37947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18.2s vs. 4.2 Min Call Bell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Deep-link opens live Caregiver Portal on Android, iPhone &amp; Watch.</a:t>
            </a:r>
          </a:p>
        </p:txBody>
      </p:sp>
      <p:sp>
        <p:nvSpPr>
          <p:cNvPr id="28" name="!!uib_2_bg"/>
          <p:cNvSpPr/>
          <p:nvPr/>
        </p:nvSpPr>
        <p:spPr>
          <a:xfrm>
            <a:off x="7315200" y="48646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uib_2_bar"/>
          <p:cNvSpPr/>
          <p:nvPr/>
        </p:nvSpPr>
        <p:spPr>
          <a:xfrm>
            <a:off x="7461504" y="48920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!!uib_2_hex"/>
          <p:cNvSpPr/>
          <p:nvPr/>
        </p:nvSpPr>
        <p:spPr>
          <a:xfrm>
            <a:off x="11466576" y="60350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uib_2_pill"/>
          <p:cNvSpPr/>
          <p:nvPr/>
        </p:nvSpPr>
        <p:spPr>
          <a:xfrm>
            <a:off x="7479792" y="5029200"/>
            <a:ext cx="224028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uib_2_pill_t"/>
          <p:cNvSpPr txBox="1"/>
          <p:nvPr/>
        </p:nvSpPr>
        <p:spPr>
          <a:xfrm>
            <a:off x="7516368" y="5047488"/>
            <a:ext cx="216712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SMART ROOM WI-FI IOT</a:t>
            </a:r>
          </a:p>
        </p:txBody>
      </p:sp>
      <p:sp>
        <p:nvSpPr>
          <p:cNvPr id="33" name="anim_uib_2_txt"/>
          <p:cNvSpPr txBox="1"/>
          <p:nvPr/>
        </p:nvSpPr>
        <p:spPr>
          <a:xfrm>
            <a:off x="7479792" y="53949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Control Lights &amp; Fans via Blink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Restores 2 a.m. bedroom autonomy + auto Wi-Fi failover if BLE drops.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C34020F-80EF-59AB-B04E-339FD5E3F95D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C5EB68F-8BAC-93DB-6B31-4707C2DF48F5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A88B20-B9B1-7906-045B-8D2FA36F4780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D96958-BED5-B622-79F9-AB26BCF5AE3E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IRIS UNIVERSAL APP  ·  03 280MS CARETAKER ALERT &amp; IOT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29AAE8-7391-BC8D-079B-9A81DAEFC34C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1:07 – 1:13   [13/32]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BC3EEBC-5C90-46EC-6579-FF248CC6E937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3DA16DD-10E9-152A-DE87-BA48BA894FF6}"/>
              </a:ext>
            </a:extLst>
          </p:cNvPr>
          <p:cNvSpPr/>
          <p:nvPr/>
        </p:nvSpPr>
        <p:spPr>
          <a:xfrm>
            <a:off x="411480" y="6654800"/>
            <a:ext cx="4617641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51332"/>
      </p:ext>
    </p:extLst>
  </p:cSld>
  <p:clrMapOvr>
    <a:masterClrMapping/>
  </p:clrMapOvr>
  <p:transition spd="med" advTm="5600">
    <p:fade/>
    <p:extLst mod="1">
      <p:ext uri="{D84E410A-3911-4435-9328-F4292B5D5B2B}">
        <p159:morph xmlns:p159="http://schemas.microsoft.com/office/powerpoint/2015/09/main" xmlns="" xmlns:p14="http://schemas.microsoft.com/office/powerpoint/2010/main" xmlns:mc="http://schemas.openxmlformats.org/markup-compatibility/2006" option="byObject"/>
      </p:ext>
    </p:extLst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03</a:t>
            </a:r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Sensory &amp; Cognitive Rehab:  Joy, Play &amp; Recovery.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Settings Hub houses a 60 FPS 360° Cockpit Flight Simulator, Blink Arcade, Music &amp; Audiobooks.</a:t>
            </a:r>
          </a:p>
        </p:txBody>
      </p:sp>
      <p:sp>
        <p:nvSpPr>
          <p:cNvPr id="12" name="!!ui_browser_win"/>
          <p:cNvSpPr/>
          <p:nvPr/>
        </p:nvSpPr>
        <p:spPr>
          <a:xfrm>
            <a:off x="411480" y="1664208"/>
            <a:ext cx="6720840" cy="4709160"/>
          </a:xfrm>
          <a:prstGeom prst="round2DiagRect">
            <a:avLst>
              <a:gd name="adj1" fmla="val 4000"/>
              <a:gd name="adj2" fmla="val 0"/>
            </a:avLst>
          </a:prstGeom>
          <a:solidFill>
            <a:srgbClr val="0C1321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ui_browser_top"/>
          <p:cNvSpPr/>
          <p:nvPr/>
        </p:nvSpPr>
        <p:spPr>
          <a:xfrm>
            <a:off x="411480" y="1664208"/>
            <a:ext cx="6720840" cy="347472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ui_browser_url"/>
          <p:cNvSpPr txBox="1"/>
          <p:nvPr/>
        </p:nvSpPr>
        <p:spPr>
          <a:xfrm>
            <a:off x="594360" y="1700784"/>
            <a:ext cx="63550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E5FF"/>
                </a:solidFill>
                <a:latin typeface="Inter"/>
              </a:rPr>
              <a:t>https://projectiris.dev/universal-app   ·   SCREEN 04 OF 04</a:t>
            </a:r>
          </a:p>
        </p:txBody>
      </p:sp>
      <p:pic>
        <p:nvPicPr>
          <p:cNvPr id="15" name="!!ui_img_3" descr="k28_appdi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66543"/>
            <a:ext cx="6537960" cy="4206240"/>
          </a:xfrm>
          <a:prstGeom prst="rect">
            <a:avLst/>
          </a:prstGeom>
        </p:spPr>
      </p:pic>
      <p:sp>
        <p:nvSpPr>
          <p:cNvPr id="16" name="!!uib_0_bg"/>
          <p:cNvSpPr/>
          <p:nvPr/>
        </p:nvSpPr>
        <p:spPr>
          <a:xfrm>
            <a:off x="7315200" y="16642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uib_0_bar"/>
          <p:cNvSpPr/>
          <p:nvPr/>
        </p:nvSpPr>
        <p:spPr>
          <a:xfrm>
            <a:off x="7461504" y="16916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!!uib_0_hex"/>
          <p:cNvSpPr/>
          <p:nvPr/>
        </p:nvSpPr>
        <p:spPr>
          <a:xfrm>
            <a:off x="11466576" y="28346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uib_0_pill"/>
          <p:cNvSpPr/>
          <p:nvPr/>
        </p:nvSpPr>
        <p:spPr>
          <a:xfrm>
            <a:off x="7479792" y="1828800"/>
            <a:ext cx="2336292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uib_0_pill_t"/>
          <p:cNvSpPr txBox="1"/>
          <p:nvPr/>
        </p:nvSpPr>
        <p:spPr>
          <a:xfrm>
            <a:off x="7516368" y="1847088"/>
            <a:ext cx="226314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5FF"/>
                </a:solidFill>
                <a:latin typeface="Inter"/>
              </a:rPr>
              <a:t>360° FLIGHT SIMULATOR</a:t>
            </a:r>
          </a:p>
        </p:txBody>
      </p:sp>
      <p:sp>
        <p:nvSpPr>
          <p:cNvPr id="21" name="anim_uib_0_txt"/>
          <p:cNvSpPr txBox="1"/>
          <p:nvPr/>
        </p:nvSpPr>
        <p:spPr>
          <a:xfrm>
            <a:off x="7479792" y="21945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60 FPS Cockpit Photosphere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Head tilt banks yaw &amp; pitch with live airspeed &amp; horizon HUD.</a:t>
            </a:r>
          </a:p>
        </p:txBody>
      </p:sp>
      <p:sp>
        <p:nvSpPr>
          <p:cNvPr id="22" name="!!uib_1_bg"/>
          <p:cNvSpPr/>
          <p:nvPr/>
        </p:nvSpPr>
        <p:spPr>
          <a:xfrm>
            <a:off x="7315200" y="32644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uib_1_bar"/>
          <p:cNvSpPr/>
          <p:nvPr/>
        </p:nvSpPr>
        <p:spPr>
          <a:xfrm>
            <a:off x="7461504" y="32918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uib_1_hex"/>
          <p:cNvSpPr/>
          <p:nvPr/>
        </p:nvSpPr>
        <p:spPr>
          <a:xfrm>
            <a:off x="11466576" y="44348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uib_1_pill"/>
          <p:cNvSpPr/>
          <p:nvPr/>
        </p:nvSpPr>
        <p:spPr>
          <a:xfrm>
            <a:off x="7479792" y="3429000"/>
            <a:ext cx="2048255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uib_1_pill_t"/>
          <p:cNvSpPr txBox="1"/>
          <p:nvPr/>
        </p:nvSpPr>
        <p:spPr>
          <a:xfrm>
            <a:off x="7516368" y="3447288"/>
            <a:ext cx="1975103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OCULAR REHAB GAMES</a:t>
            </a:r>
          </a:p>
        </p:txBody>
      </p:sp>
      <p:sp>
        <p:nvSpPr>
          <p:cNvPr id="27" name="anim_uib_1_txt"/>
          <p:cNvSpPr txBox="1"/>
          <p:nvPr/>
        </p:nvSpPr>
        <p:spPr>
          <a:xfrm>
            <a:off x="7479792" y="37947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Dino Glide &amp; Flappy Gaze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Turns daily saccadic &amp; ocular elevation exercise into fun play.</a:t>
            </a:r>
          </a:p>
        </p:txBody>
      </p:sp>
      <p:sp>
        <p:nvSpPr>
          <p:cNvPr id="28" name="!!uib_2_bg"/>
          <p:cNvSpPr/>
          <p:nvPr/>
        </p:nvSpPr>
        <p:spPr>
          <a:xfrm>
            <a:off x="7315200" y="4864608"/>
            <a:ext cx="4462272" cy="14813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uib_2_bar"/>
          <p:cNvSpPr/>
          <p:nvPr/>
        </p:nvSpPr>
        <p:spPr>
          <a:xfrm>
            <a:off x="7461504" y="48920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!!uib_2_hex"/>
          <p:cNvSpPr/>
          <p:nvPr/>
        </p:nvSpPr>
        <p:spPr>
          <a:xfrm>
            <a:off x="11466576" y="6035040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uib_2_pill"/>
          <p:cNvSpPr/>
          <p:nvPr/>
        </p:nvSpPr>
        <p:spPr>
          <a:xfrm>
            <a:off x="7479792" y="5029200"/>
            <a:ext cx="2048255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uib_2_pill_t"/>
          <p:cNvSpPr txBox="1"/>
          <p:nvPr/>
        </p:nvSpPr>
        <p:spPr>
          <a:xfrm>
            <a:off x="7516368" y="5047488"/>
            <a:ext cx="1975103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AUDIO THERAPEUTICS</a:t>
            </a:r>
          </a:p>
        </p:txBody>
      </p:sp>
      <p:sp>
        <p:nvSpPr>
          <p:cNvPr id="33" name="anim_uib_2_txt"/>
          <p:cNvSpPr txBox="1"/>
          <p:nvPr/>
        </p:nvSpPr>
        <p:spPr>
          <a:xfrm>
            <a:off x="7479792" y="5394960"/>
            <a:ext cx="4133087" cy="8595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50" b="1">
                <a:solidFill>
                  <a:srgbClr val="F8FAFF"/>
                </a:solidFill>
                <a:latin typeface="Inter"/>
              </a:rPr>
              <a:t>Binaural Music &amp; Audiobooks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Hindi &amp; English audiobooks with smooth Web Audio volume curves.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71B8B9D-2567-6CD7-E3C5-C34E5145241F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C04186B-67BD-7511-167A-A9D05DDF47C1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53E457-4334-F165-F670-8AC0B80B9181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9272E9-3637-9F60-C089-725870D5F58B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pt-BR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IRIS UNIVERSAL APP  ·  04 360° FLIGHT SIM &amp; REHAB ARCADE</a:t>
            </a:r>
            <a:endParaRPr lang="en-US" sz="950" b="1">
              <a:solidFill>
                <a:srgbClr val="94A3B8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E83DD1-0AFF-7994-5421-18E6BDD8ECFD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1:13 – 1:18   [14/32]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B130082-970E-A78B-70EF-895BA1281E97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8A44F6A-A2A5-93E0-04E4-0F0FD146D438}"/>
              </a:ext>
            </a:extLst>
          </p:cNvPr>
          <p:cNvSpPr/>
          <p:nvPr/>
        </p:nvSpPr>
        <p:spPr>
          <a:xfrm>
            <a:off x="411480" y="6654800"/>
            <a:ext cx="4972844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416940"/>
      </p:ext>
    </p:extLst>
  </p:cSld>
  <p:clrMapOvr>
    <a:masterClrMapping/>
  </p:clrMapOvr>
  <p:transition spd="med" advTm="5600">
    <p:fade/>
    <p:extLst mod="1">
      <p:ext uri="{D84E410A-3911-4435-9328-F4292B5D5B2B}">
        <p159:morph xmlns:p159="http://schemas.microsoft.com/office/powerpoint/2015/09/main" xmlns="" xmlns:p14="http://schemas.microsoft.com/office/powerpoint/2010/main" xmlns:mc="http://schemas.openxmlformats.org/markup-compatibility/2006" option="byObject"/>
      </p:ext>
    </p:extLst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97403-07CB-9DA0-A9A6-E5D95AF80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227C45-F176-81B7-11EA-25707C265A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3F4BA3-8061-2480-9D55-810F92CD9EC4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D1C3527-38E4-263B-B2D9-A1C3B969B9C1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B045E4-F870-191F-F75C-A6F0019F099D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AC8E4D-605B-AB5F-02CD-884C676878AD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LIVE INTERACTIVE DEMO  ·  HARDWARE DEMONSTRATION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D4F81A-F2D4-06C8-0E57-C311925AEA34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1:18 – 1:24   [15/32]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3A49E1-4001-A9E2-2F7B-BAE3A2217162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CE35E6-B92F-4EC7-AACA-2D756DC21FB2}"/>
              </a:ext>
            </a:extLst>
          </p:cNvPr>
          <p:cNvSpPr/>
          <p:nvPr/>
        </p:nvSpPr>
        <p:spPr>
          <a:xfrm>
            <a:off x="411480" y="6654800"/>
            <a:ext cx="5328047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2240F1-7846-3FCC-D4E8-5319B247EE7F}"/>
              </a:ext>
            </a:extLst>
          </p:cNvPr>
          <p:cNvSpPr txBox="1"/>
          <p:nvPr/>
        </p:nvSpPr>
        <p:spPr>
          <a:xfrm>
            <a:off x="411480" y="711200"/>
            <a:ext cx="113665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Segoe UI" panose="020B0502040204020203" pitchFamily="34" charset="0"/>
              </a:rPr>
              <a:t>Hands-On Kiosk Station: Real-Time Head-Tilt &amp; Blink Telemetry.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E6D501-B9F6-7F52-4055-631C328BA19A}"/>
              </a:ext>
            </a:extLst>
          </p:cNvPr>
          <p:cNvSpPr txBox="1"/>
          <p:nvPr/>
        </p:nvSpPr>
        <p:spPr>
          <a:xfrm>
            <a:off x="411480" y="1117600"/>
            <a:ext cx="11366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>
                <a:solidFill>
                  <a:srgbClr val="00F2FE"/>
                </a:solidFill>
                <a:latin typeface="Segoe UI" panose="020B0502040204020203" pitchFamily="34" charset="0"/>
              </a:rPr>
              <a:t>Experience seamless cursor steering and synthetic voice generation live right at this booth.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7CC7871-FB20-6E05-DEB8-52C9328829B6}"/>
              </a:ext>
            </a:extLst>
          </p:cNvPr>
          <p:cNvSpPr/>
          <p:nvPr/>
        </p:nvSpPr>
        <p:spPr>
          <a:xfrm>
            <a:off x="411480" y="1524000"/>
            <a:ext cx="5461000" cy="35560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505CA13-3F6A-874D-81BB-56669CC29CA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" y="1562100"/>
            <a:ext cx="5384800" cy="347980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E35673E-01D9-FFB5-AFDB-0E5F63AE9C15}"/>
              </a:ext>
            </a:extLst>
          </p:cNvPr>
          <p:cNvSpPr/>
          <p:nvPr/>
        </p:nvSpPr>
        <p:spPr>
          <a:xfrm>
            <a:off x="411480" y="5143500"/>
            <a:ext cx="5461000" cy="45720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9B8B5E-1430-6F3B-6DD2-011F1C0BBF18}"/>
              </a:ext>
            </a:extLst>
          </p:cNvPr>
          <p:cNvSpPr txBox="1"/>
          <p:nvPr/>
        </p:nvSpPr>
        <p:spPr>
          <a:xfrm>
            <a:off x="538480" y="5219700"/>
            <a:ext cx="5207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900" b="1">
                <a:solidFill>
                  <a:srgbClr val="00E676"/>
                </a:solidFill>
                <a:latin typeface="Segoe UI" panose="020B0502040204020203" pitchFamily="34" charset="0"/>
              </a:rPr>
              <a:t>LIVE TEST RIG READY AT BOOTH: Breathable Velcro Headband + Illuminated Glasses Clip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E483429-0B12-3F3C-62B8-D8A308FA8328}"/>
              </a:ext>
            </a:extLst>
          </p:cNvPr>
          <p:cNvSpPr/>
          <p:nvPr/>
        </p:nvSpPr>
        <p:spPr>
          <a:xfrm>
            <a:off x="6126480" y="1524000"/>
            <a:ext cx="5651500" cy="114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B638FF-0A5F-A36E-4FF3-9D2DF26FACA3}"/>
              </a:ext>
            </a:extLst>
          </p:cNvPr>
          <p:cNvSpPr txBox="1"/>
          <p:nvPr/>
        </p:nvSpPr>
        <p:spPr>
          <a:xfrm>
            <a:off x="6278880" y="1625600"/>
            <a:ext cx="5334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 b="1">
                <a:solidFill>
                  <a:srgbClr val="00F2FE"/>
                </a:solidFill>
                <a:latin typeface="Segoe UI" panose="020B0502040204020203" pitchFamily="34" charset="0"/>
              </a:rPr>
              <a:t>01 · HEAD-TILT STEERING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77118D-D948-730A-93DA-6E018842187F}"/>
              </a:ext>
            </a:extLst>
          </p:cNvPr>
          <p:cNvSpPr txBox="1"/>
          <p:nvPr/>
        </p:nvSpPr>
        <p:spPr>
          <a:xfrm>
            <a:off x="6278880" y="1930400"/>
            <a:ext cx="5334000" cy="3436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50">
                <a:solidFill>
                  <a:srgbClr val="FFFFFF"/>
                </a:solidFill>
                <a:latin typeface="Segoe UI" panose="020B0502040204020203" pitchFamily="34" charset="0"/>
              </a:rPr>
              <a:t>Tilt head gently toward shoulder or nod to steer the cursor fluidly across 360° screen space at 50Hz zero-drift telemetry.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7E9C982-5F39-B0DE-AEA2-A3F8168878F7}"/>
              </a:ext>
            </a:extLst>
          </p:cNvPr>
          <p:cNvSpPr/>
          <p:nvPr/>
        </p:nvSpPr>
        <p:spPr>
          <a:xfrm>
            <a:off x="6126480" y="2794000"/>
            <a:ext cx="5651500" cy="114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305371-3CA9-9626-AFC4-BBAE907EBCE1}"/>
              </a:ext>
            </a:extLst>
          </p:cNvPr>
          <p:cNvSpPr txBox="1"/>
          <p:nvPr/>
        </p:nvSpPr>
        <p:spPr>
          <a:xfrm>
            <a:off x="6278880" y="2895600"/>
            <a:ext cx="5334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 b="1">
                <a:solidFill>
                  <a:srgbClr val="00E676"/>
                </a:solidFill>
                <a:latin typeface="Segoe UI" panose="020B0502040204020203" pitchFamily="34" charset="0"/>
              </a:rPr>
              <a:t>02 · DELIBERATE BLINK CLICK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2AB408-826E-B70D-135A-E99DBFA412C8}"/>
              </a:ext>
            </a:extLst>
          </p:cNvPr>
          <p:cNvSpPr txBox="1"/>
          <p:nvPr/>
        </p:nvSpPr>
        <p:spPr>
          <a:xfrm>
            <a:off x="6278880" y="3200400"/>
            <a:ext cx="5334000" cy="3436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50">
                <a:solidFill>
                  <a:srgbClr val="FFFFFF"/>
                </a:solidFill>
                <a:latin typeface="Segoe UI" panose="020B0502040204020203" pitchFamily="34" charset="0"/>
              </a:rPr>
              <a:t>Hold blink for 200–500ms over any communication tile. Web Speech API instantly speaks the selected phrase aloud.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38350B4-83FE-673D-949A-CA7C104498A6}"/>
              </a:ext>
            </a:extLst>
          </p:cNvPr>
          <p:cNvSpPr/>
          <p:nvPr/>
        </p:nvSpPr>
        <p:spPr>
          <a:xfrm>
            <a:off x="6126480" y="4064000"/>
            <a:ext cx="5651500" cy="114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F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D32329-5AB3-A8C9-747E-89132F20A013}"/>
              </a:ext>
            </a:extLst>
          </p:cNvPr>
          <p:cNvSpPr txBox="1"/>
          <p:nvPr/>
        </p:nvSpPr>
        <p:spPr>
          <a:xfrm>
            <a:off x="6278880" y="4165600"/>
            <a:ext cx="5334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 b="1">
                <a:solidFill>
                  <a:srgbClr val="FF3B5C"/>
                </a:solidFill>
                <a:latin typeface="Segoe UI" panose="020B0502040204020203" pitchFamily="34" charset="0"/>
              </a:rPr>
              <a:t>03 · 145ms EMERGENCY SOS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88904F-B6C7-2EBD-019E-1648B2383936}"/>
              </a:ext>
            </a:extLst>
          </p:cNvPr>
          <p:cNvSpPr txBox="1"/>
          <p:nvPr/>
        </p:nvSpPr>
        <p:spPr>
          <a:xfrm>
            <a:off x="6278880" y="4470400"/>
            <a:ext cx="5334000" cy="3436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50">
                <a:solidFill>
                  <a:srgbClr val="FFFFFF"/>
                </a:solidFill>
                <a:latin typeface="Segoe UI" panose="020B0502040204020203" pitchFamily="34" charset="0"/>
              </a:rPr>
              <a:t>Double-blink triggers instant loud siren and transmits immediate caregiver push alarm with bed location.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BC2F322-0006-646C-37E3-1119DBFC94CA}"/>
              </a:ext>
            </a:extLst>
          </p:cNvPr>
          <p:cNvSpPr/>
          <p:nvPr/>
        </p:nvSpPr>
        <p:spPr>
          <a:xfrm>
            <a:off x="411480" y="5740400"/>
            <a:ext cx="11366500" cy="762000"/>
          </a:xfrm>
          <a:prstGeom prst="roundRect">
            <a:avLst/>
          </a:prstGeom>
          <a:solidFill>
            <a:srgbClr val="182032"/>
          </a:solidFill>
          <a:ln w="2286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333787-B2F9-7BDC-906D-3BA31CD2AFE8}"/>
              </a:ext>
            </a:extLst>
          </p:cNvPr>
          <p:cNvSpPr txBox="1"/>
          <p:nvPr/>
        </p:nvSpPr>
        <p:spPr>
          <a:xfrm>
            <a:off x="563880" y="5816600"/>
            <a:ext cx="110617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1300" b="1">
                <a:solidFill>
                  <a:srgbClr val="00E676"/>
                </a:solidFill>
                <a:latin typeface="Segoe UI" panose="020B0502040204020203" pitchFamily="34" charset="0"/>
              </a:rPr>
              <a:t>⚡ JUDGES / ATTENDEES: PUT ON THE HEADBAND &amp; EXPERIENCE HANDS-FREE CONTROL RIGHT NOW!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0DC6D2-A821-36DF-8ED0-13A6FCC8E316}"/>
              </a:ext>
            </a:extLst>
          </p:cNvPr>
          <p:cNvSpPr txBox="1"/>
          <p:nvPr/>
        </p:nvSpPr>
        <p:spPr>
          <a:xfrm>
            <a:off x="563880" y="6172200"/>
            <a:ext cx="110617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1000">
                <a:solidFill>
                  <a:srgbClr val="FFFFFF"/>
                </a:solidFill>
                <a:latin typeface="Segoe UI" panose="020B0502040204020203" pitchFamily="34" charset="0"/>
              </a:rPr>
              <a:t>Watch the cursor glide on screen with zero hand movement — self-calibrated in under 3 seconds.</a:t>
            </a:r>
          </a:p>
        </p:txBody>
      </p:sp>
    </p:spTree>
    <p:extLst>
      <p:ext uri="{BB962C8B-B14F-4D97-AF65-F5344CB8AC3E}">
        <p14:creationId xmlns:p14="http://schemas.microsoft.com/office/powerpoint/2010/main" val="4221535056"/>
      </p:ext>
    </p:extLst>
  </p:cSld>
  <p:clrMapOvr>
    <a:masterClrMapping/>
  </p:clrMapOvr>
  <p:transition spd="med" advTm="56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04</a:t>
            </a:r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Hardware Schematic:  Direct XIAO Li-Po Architecture.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Connects the 3.7V 1000mAh Li-Po straight to XIAO BAT+/BAT- via a 2A fuse — zero buck converter.</a:t>
            </a:r>
          </a:p>
        </p:txBody>
      </p:sp>
      <p:sp>
        <p:nvSpPr>
          <p:cNvPr id="12" name="!!sch_box"/>
          <p:cNvSpPr/>
          <p:nvPr/>
        </p:nvSpPr>
        <p:spPr>
          <a:xfrm>
            <a:off x="411480" y="1664208"/>
            <a:ext cx="6720840" cy="4709160"/>
          </a:xfrm>
          <a:prstGeom prst="round2DiagRect">
            <a:avLst>
              <a:gd name="adj1" fmla="val 4000"/>
              <a:gd name="adj2" fmla="val 0"/>
            </a:avLst>
          </a:prstGeom>
          <a:solidFill>
            <a:srgbClr val="F8FAFF"/>
          </a:solidFill>
          <a:ln w="317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anim_sch_pic" descr="k28_circu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55648"/>
            <a:ext cx="6537960" cy="4526280"/>
          </a:xfrm>
          <a:prstGeom prst="rect">
            <a:avLst/>
          </a:prstGeom>
        </p:spPr>
      </p:pic>
      <p:sp>
        <p:nvSpPr>
          <p:cNvPr id="14" name="!!sch_c_0"/>
          <p:cNvSpPr/>
          <p:nvPr/>
        </p:nvSpPr>
        <p:spPr>
          <a:xfrm>
            <a:off x="7315200" y="1664208"/>
            <a:ext cx="4462272" cy="1078992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nim_sch_ct_0"/>
          <p:cNvSpPr txBox="1"/>
          <p:nvPr/>
        </p:nvSpPr>
        <p:spPr>
          <a:xfrm>
            <a:off x="7498079" y="1755648"/>
            <a:ext cx="4096512" cy="8961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E5FF"/>
                </a:solidFill>
                <a:latin typeface="Inter"/>
              </a:rPr>
              <a:t>MCU &amp; WIRELESS</a:t>
            </a:r>
          </a:p>
          <a:p>
            <a:pPr algn="l">
              <a:spcAft>
                <a:spcPts val="200"/>
              </a:spcAft>
            </a:pPr>
            <a:r>
              <a:rPr sz="1750" b="1">
                <a:solidFill>
                  <a:srgbClr val="F8FAFF"/>
                </a:solidFill>
                <a:latin typeface="Inter"/>
              </a:rPr>
              <a:t>Seeed XIAO ESP32C3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32-bit RISC-V @ 160MHz · BLE 5.0 + Wi-Fi</a:t>
            </a:r>
          </a:p>
        </p:txBody>
      </p:sp>
      <p:sp>
        <p:nvSpPr>
          <p:cNvPr id="16" name="!!sch_c_1"/>
          <p:cNvSpPr/>
          <p:nvPr/>
        </p:nvSpPr>
        <p:spPr>
          <a:xfrm>
            <a:off x="7315200" y="2871216"/>
            <a:ext cx="4462272" cy="1078992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286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sch_ct_1"/>
          <p:cNvSpPr txBox="1"/>
          <p:nvPr/>
        </p:nvSpPr>
        <p:spPr>
          <a:xfrm>
            <a:off x="7498079" y="2962656"/>
            <a:ext cx="4096512" cy="8961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B800"/>
                </a:solidFill>
                <a:latin typeface="Inter"/>
              </a:rPr>
              <a:t>INERTIAL SENSOR</a:t>
            </a:r>
          </a:p>
          <a:p>
            <a:pPr algn="l">
              <a:spcAft>
                <a:spcPts val="200"/>
              </a:spcAft>
            </a:pPr>
            <a:r>
              <a:rPr sz="1750" b="1">
                <a:solidFill>
                  <a:srgbClr val="F8FAFF"/>
                </a:solidFill>
                <a:latin typeface="Inter"/>
              </a:rPr>
              <a:t>MPU6050 6-DOF MEMS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400kHz I2C bus · 50Hz pitch/roll sampling</a:t>
            </a:r>
          </a:p>
        </p:txBody>
      </p:sp>
      <p:sp>
        <p:nvSpPr>
          <p:cNvPr id="18" name="!!sch_c_2"/>
          <p:cNvSpPr/>
          <p:nvPr/>
        </p:nvSpPr>
        <p:spPr>
          <a:xfrm>
            <a:off x="7315200" y="4078224"/>
            <a:ext cx="4462272" cy="1078992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286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nim_sch_ct_2"/>
          <p:cNvSpPr txBox="1"/>
          <p:nvPr/>
        </p:nvSpPr>
        <p:spPr>
          <a:xfrm>
            <a:off x="7498079" y="4169663"/>
            <a:ext cx="4096512" cy="8961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E676"/>
                </a:solidFill>
                <a:latin typeface="Inter"/>
              </a:rPr>
              <a:t>OPTICAL SENSOR</a:t>
            </a:r>
          </a:p>
          <a:p>
            <a:pPr algn="l">
              <a:spcAft>
                <a:spcPts val="200"/>
              </a:spcAft>
            </a:pPr>
            <a:r>
              <a:rPr sz="1750" b="1">
                <a:solidFill>
                  <a:srgbClr val="F8FAFF"/>
                </a:solidFill>
                <a:latin typeface="Inter"/>
              </a:rPr>
              <a:t>950nm Multi-Beam IR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Onboard LM393 comparator · &lt;0.5 mW/cm²</a:t>
            </a:r>
          </a:p>
        </p:txBody>
      </p:sp>
      <p:sp>
        <p:nvSpPr>
          <p:cNvPr id="20" name="!!sch_c_3"/>
          <p:cNvSpPr/>
          <p:nvPr/>
        </p:nvSpPr>
        <p:spPr>
          <a:xfrm>
            <a:off x="7315200" y="5285232"/>
            <a:ext cx="4462272" cy="1078992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28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nim_sch_ct_3"/>
          <p:cNvSpPr txBox="1"/>
          <p:nvPr/>
        </p:nvSpPr>
        <p:spPr>
          <a:xfrm>
            <a:off x="7498079" y="5376672"/>
            <a:ext cx="4096512" cy="8961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A855F7"/>
                </a:solidFill>
                <a:latin typeface="Inter"/>
              </a:rPr>
              <a:t>POWER &amp; SAFETY</a:t>
            </a:r>
          </a:p>
          <a:p>
            <a:pPr algn="l">
              <a:spcAft>
                <a:spcPts val="200"/>
              </a:spcAft>
            </a:pPr>
            <a:r>
              <a:rPr sz="1750" b="1">
                <a:solidFill>
                  <a:srgbClr val="F8FAFF"/>
                </a:solidFill>
                <a:latin typeface="Inter"/>
              </a:rPr>
              <a:t>3.7V 1000mAh Li-Po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2A fuse · Onboard 3.3V reg · 12h Deep Sleep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9298C2-BFC0-663F-7AFE-D3116A957198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CB9657C-9D8A-2150-8985-FCFB260B3F4D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0D8E6E-699A-2A94-C12E-6E49698B06BB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FC97AD-5564-A07B-F22E-C8C82CCF1ABA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TECHNICAL SECTION  ·  COMPLETE CIRCUIT SCHEMATIC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046623-1756-2E2C-DAEC-AD4E0F045AA7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1:24 – 1:30   [16/32]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2B4E32-BDD8-2023-D5B1-E71198640A49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3D5DD0-94B7-91FF-AEF7-F9C0B7D9D10B}"/>
              </a:ext>
            </a:extLst>
          </p:cNvPr>
          <p:cNvSpPr/>
          <p:nvPr/>
        </p:nvSpPr>
        <p:spPr>
          <a:xfrm>
            <a:off x="411480" y="6654800"/>
            <a:ext cx="5683250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296394"/>
      </p:ext>
    </p:extLst>
  </p:cSld>
  <p:clrMapOvr>
    <a:masterClrMapping/>
  </p:clrMapOvr>
  <p:transition spd="med" advTm="5600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1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19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3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3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04</a:t>
            </a:r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Stage 1 (The Wearable):  Two Physical Signals, Zero Guessing.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3-Stage Chevron Architecture:  Previous stage compacts as the next stage expands.</a:t>
            </a:r>
          </a:p>
        </p:txBody>
      </p:sp>
      <p:sp>
        <p:nvSpPr>
          <p:cNvPr id="12" name="!!pipe_chev_1"/>
          <p:cNvSpPr/>
          <p:nvPr/>
        </p:nvSpPr>
        <p:spPr>
          <a:xfrm>
            <a:off x="411480" y="1664208"/>
            <a:ext cx="4709160" cy="1143000"/>
          </a:xfrm>
          <a:prstGeom prst="chevron">
            <a:avLst>
              <a:gd name="adj" fmla="val 12000"/>
            </a:avLst>
          </a:prstGeom>
          <a:solidFill>
            <a:srgbClr val="142640"/>
          </a:solidFill>
          <a:ln w="317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pipe_chevt_1"/>
          <p:cNvSpPr txBox="1"/>
          <p:nvPr/>
        </p:nvSpPr>
        <p:spPr>
          <a:xfrm>
            <a:off x="813816" y="1792224"/>
            <a:ext cx="3995928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>
                <a:solidFill>
                  <a:srgbClr val="00E5FF"/>
                </a:solidFill>
                <a:latin typeface="Inter"/>
              </a:rPr>
              <a:t>STAGE 01 · WEARABLE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8FAFF"/>
                </a:solidFill>
                <a:latin typeface="Inter"/>
              </a:rPr>
              <a:t>950nm IR + MPU6050</a:t>
            </a:r>
          </a:p>
        </p:txBody>
      </p:sp>
      <p:sp>
        <p:nvSpPr>
          <p:cNvPr id="14" name="!!pipe_chev_2"/>
          <p:cNvSpPr/>
          <p:nvPr/>
        </p:nvSpPr>
        <p:spPr>
          <a:xfrm>
            <a:off x="5321808" y="1664208"/>
            <a:ext cx="3127248" cy="1143000"/>
          </a:xfrm>
          <a:prstGeom prst="chevron">
            <a:avLst>
              <a:gd name="adj" fmla="val 12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!!pipe_chevt_2"/>
          <p:cNvSpPr txBox="1"/>
          <p:nvPr/>
        </p:nvSpPr>
        <p:spPr>
          <a:xfrm>
            <a:off x="5724144" y="1792224"/>
            <a:ext cx="2414015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ACBEDA"/>
                </a:solidFill>
                <a:latin typeface="Inter"/>
              </a:rPr>
              <a:t>STAGE 02 · XIAO BRAIN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8FAFF"/>
                </a:solidFill>
                <a:latin typeface="Inter"/>
              </a:rPr>
              <a:t>RISC-V + LM393 Gate</a:t>
            </a:r>
          </a:p>
        </p:txBody>
      </p:sp>
      <p:sp>
        <p:nvSpPr>
          <p:cNvPr id="16" name="!!pipe_chev_3"/>
          <p:cNvSpPr/>
          <p:nvPr/>
        </p:nvSpPr>
        <p:spPr>
          <a:xfrm>
            <a:off x="8650224" y="1664208"/>
            <a:ext cx="3127248" cy="1143000"/>
          </a:xfrm>
          <a:prstGeom prst="chevron">
            <a:avLst>
              <a:gd name="adj" fmla="val 12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pipe_chevt_3"/>
          <p:cNvSpPr txBox="1"/>
          <p:nvPr/>
        </p:nvSpPr>
        <p:spPr>
          <a:xfrm>
            <a:off x="9052560" y="1792224"/>
            <a:ext cx="2414015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ACBEDA"/>
                </a:solidFill>
                <a:latin typeface="Inter"/>
              </a:rPr>
              <a:t>STAGE 03 · PYTHON BRIDGE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8FAFF"/>
                </a:solidFill>
                <a:latin typeface="Inter"/>
              </a:rPr>
              <a:t>Eye Twin + PyAutoGUI</a:t>
            </a:r>
          </a:p>
        </p:txBody>
      </p:sp>
      <p:sp>
        <p:nvSpPr>
          <p:cNvPr id="18" name="!!pipe_det_0_bg"/>
          <p:cNvSpPr/>
          <p:nvPr/>
        </p:nvSpPr>
        <p:spPr>
          <a:xfrm>
            <a:off x="411480" y="3063240"/>
            <a:ext cx="3639312" cy="33101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pipe_det_0_bar"/>
          <p:cNvSpPr/>
          <p:nvPr/>
        </p:nvSpPr>
        <p:spPr>
          <a:xfrm>
            <a:off x="557784" y="309067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pipe_det_0_hex"/>
          <p:cNvSpPr/>
          <p:nvPr/>
        </p:nvSpPr>
        <p:spPr>
          <a:xfrm>
            <a:off x="3739896" y="606247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pipe_det_0_pill"/>
          <p:cNvSpPr/>
          <p:nvPr/>
        </p:nvSpPr>
        <p:spPr>
          <a:xfrm>
            <a:off x="576072" y="3227832"/>
            <a:ext cx="2144268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!!pipe_det_0_pill_t"/>
          <p:cNvSpPr txBox="1"/>
          <p:nvPr/>
        </p:nvSpPr>
        <p:spPr>
          <a:xfrm>
            <a:off x="612648" y="3246120"/>
            <a:ext cx="2071115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5FF"/>
                </a:solidFill>
                <a:latin typeface="Inter"/>
              </a:rPr>
              <a:t>950nm MULTI-BEAM IR</a:t>
            </a:r>
          </a:p>
        </p:txBody>
      </p:sp>
      <p:sp>
        <p:nvSpPr>
          <p:cNvPr id="23" name="anim_pipe_det_0_txt"/>
          <p:cNvSpPr txBox="1"/>
          <p:nvPr/>
        </p:nvSpPr>
        <p:spPr>
          <a:xfrm>
            <a:off x="576072" y="3593592"/>
            <a:ext cx="3310128" cy="2688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Sclera Reflects, Eyelid Blocks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ACBEDA"/>
                </a:solidFill>
                <a:latin typeface="Inter"/>
              </a:rPr>
              <a:t>Open white sclera reflects IR strongly; closed eyelid blocks reflection for crisp blink edges.</a:t>
            </a:r>
          </a:p>
        </p:txBody>
      </p:sp>
      <p:sp>
        <p:nvSpPr>
          <p:cNvPr id="24" name="!!pipe_det_1_bg"/>
          <p:cNvSpPr/>
          <p:nvPr/>
        </p:nvSpPr>
        <p:spPr>
          <a:xfrm>
            <a:off x="4270248" y="3063240"/>
            <a:ext cx="3639312" cy="33101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pipe_det_1_bar"/>
          <p:cNvSpPr/>
          <p:nvPr/>
        </p:nvSpPr>
        <p:spPr>
          <a:xfrm>
            <a:off x="4416552" y="309067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pipe_det_1_hex"/>
          <p:cNvSpPr/>
          <p:nvPr/>
        </p:nvSpPr>
        <p:spPr>
          <a:xfrm>
            <a:off x="7598664" y="606247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pipe_det_1_pill"/>
          <p:cNvSpPr/>
          <p:nvPr/>
        </p:nvSpPr>
        <p:spPr>
          <a:xfrm>
            <a:off x="4434840" y="3227832"/>
            <a:ext cx="224028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pipe_det_1_pill_t"/>
          <p:cNvSpPr txBox="1"/>
          <p:nvPr/>
        </p:nvSpPr>
        <p:spPr>
          <a:xfrm>
            <a:off x="4471416" y="3246120"/>
            <a:ext cx="216712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MPU6050 PITCH &amp; ROLL</a:t>
            </a:r>
          </a:p>
        </p:txBody>
      </p:sp>
      <p:sp>
        <p:nvSpPr>
          <p:cNvPr id="29" name="anim_pipe_det_1_txt"/>
          <p:cNvSpPr txBox="1"/>
          <p:nvPr/>
        </p:nvSpPr>
        <p:spPr>
          <a:xfrm>
            <a:off x="4434840" y="3593592"/>
            <a:ext cx="3310128" cy="2688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Gravity-Anchored 50Hz Tilt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ACBEDA"/>
                </a:solidFill>
                <a:latin typeface="Inter"/>
              </a:rPr>
              <a:t>Pitch &amp; Roll reference Earth's 1g gravity vector to cancel gyro drift (unlike horizontal Yaw).</a:t>
            </a:r>
          </a:p>
        </p:txBody>
      </p:sp>
      <p:sp>
        <p:nvSpPr>
          <p:cNvPr id="30" name="!!pipe_det_2_bg"/>
          <p:cNvSpPr/>
          <p:nvPr/>
        </p:nvSpPr>
        <p:spPr>
          <a:xfrm>
            <a:off x="8129015" y="3063240"/>
            <a:ext cx="3639312" cy="33101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pipe_det_2_bar"/>
          <p:cNvSpPr/>
          <p:nvPr/>
        </p:nvSpPr>
        <p:spPr>
          <a:xfrm>
            <a:off x="8275319" y="309067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pipe_det_2_hex"/>
          <p:cNvSpPr/>
          <p:nvPr/>
        </p:nvSpPr>
        <p:spPr>
          <a:xfrm>
            <a:off x="11457432" y="606247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!!pipe_det_2_pill"/>
          <p:cNvSpPr/>
          <p:nvPr/>
        </p:nvSpPr>
        <p:spPr>
          <a:xfrm>
            <a:off x="8293607" y="3227832"/>
            <a:ext cx="2432304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pipe_det_2_pill_t"/>
          <p:cNvSpPr txBox="1"/>
          <p:nvPr/>
        </p:nvSpPr>
        <p:spPr>
          <a:xfrm>
            <a:off x="8330183" y="3246120"/>
            <a:ext cx="2359152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25° DEAD-ZONE + CLUTCH</a:t>
            </a:r>
          </a:p>
        </p:txBody>
      </p:sp>
      <p:sp>
        <p:nvSpPr>
          <p:cNvPr id="35" name="anim_pipe_det_2_txt"/>
          <p:cNvSpPr txBox="1"/>
          <p:nvPr/>
        </p:nvSpPr>
        <p:spPr>
          <a:xfrm>
            <a:off x="8293607" y="3593592"/>
            <a:ext cx="3310128" cy="2688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Zero Involuntary Drift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ACBEDA"/>
                </a:solidFill>
                <a:latin typeface="Inter"/>
              </a:rPr>
              <a:t>Filters micro-tremors inside a 25° zone; future revision upgrades to BNO085 9-DOF quaternion IMU.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11C5345-0CE8-8D46-F33F-D832ECAFFBF9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F2E9C89-7FB1-35DC-EC69-BDA70E7946CD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FF222A-6953-8119-60AB-DA42B28E27EE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B2E656-EA21-ED0E-95CB-35769679F960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SIGNAL PIPELINE  ·  STAGE 01 OF 03 (OPTICAL + INERTIAL)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BC6545-05B3-3C48-F8F7-F56A5D0B9592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1:30 – 1:35   [17/32]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CEE1681-5A65-0B66-1202-670C13E9B759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50903FE-5882-F890-3C88-2489052D00E8}"/>
              </a:ext>
            </a:extLst>
          </p:cNvPr>
          <p:cNvSpPr/>
          <p:nvPr/>
        </p:nvSpPr>
        <p:spPr>
          <a:xfrm>
            <a:off x="411480" y="6654800"/>
            <a:ext cx="6038453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936107"/>
      </p:ext>
    </p:extLst>
  </p:cSld>
  <p:clrMapOvr>
    <a:masterClrMapping/>
  </p:clrMapOvr>
  <p:transition spd="med" advTm="5600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1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19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04</a:t>
            </a:r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Stage 2 (The Brain):  How the XIAO ESP32C3 Thinks.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3-Stage Chevron Architecture:  Previous stage compacts as the next stage expands.</a:t>
            </a:r>
          </a:p>
        </p:txBody>
      </p:sp>
      <p:sp>
        <p:nvSpPr>
          <p:cNvPr id="12" name="!!pipe_chev_1"/>
          <p:cNvSpPr/>
          <p:nvPr/>
        </p:nvSpPr>
        <p:spPr>
          <a:xfrm>
            <a:off x="411480" y="1664208"/>
            <a:ext cx="3127248" cy="1143000"/>
          </a:xfrm>
          <a:prstGeom prst="chevron">
            <a:avLst>
              <a:gd name="adj" fmla="val 12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pipe_chevt_1"/>
          <p:cNvSpPr txBox="1"/>
          <p:nvPr/>
        </p:nvSpPr>
        <p:spPr>
          <a:xfrm>
            <a:off x="813816" y="1792224"/>
            <a:ext cx="2414015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ACBEDA"/>
                </a:solidFill>
                <a:latin typeface="Inter"/>
              </a:rPr>
              <a:t>STAGE 01 · WEARABLE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8FAFF"/>
                </a:solidFill>
                <a:latin typeface="Inter"/>
              </a:rPr>
              <a:t>950nm IR + MPU6050</a:t>
            </a:r>
          </a:p>
        </p:txBody>
      </p:sp>
      <p:sp>
        <p:nvSpPr>
          <p:cNvPr id="14" name="!!pipe_chev_2"/>
          <p:cNvSpPr/>
          <p:nvPr/>
        </p:nvSpPr>
        <p:spPr>
          <a:xfrm>
            <a:off x="3739896" y="1664208"/>
            <a:ext cx="4709160" cy="1143000"/>
          </a:xfrm>
          <a:prstGeom prst="chevron">
            <a:avLst>
              <a:gd name="adj" fmla="val 12000"/>
            </a:avLst>
          </a:prstGeom>
          <a:solidFill>
            <a:srgbClr val="142640"/>
          </a:solidFill>
          <a:ln w="317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!!pipe_chevt_2"/>
          <p:cNvSpPr txBox="1"/>
          <p:nvPr/>
        </p:nvSpPr>
        <p:spPr>
          <a:xfrm>
            <a:off x="4142232" y="1792224"/>
            <a:ext cx="3995928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>
                <a:solidFill>
                  <a:srgbClr val="00E5FF"/>
                </a:solidFill>
                <a:latin typeface="Inter"/>
              </a:rPr>
              <a:t>STAGE 02 · XIAO BRAIN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8FAFF"/>
                </a:solidFill>
                <a:latin typeface="Inter"/>
              </a:rPr>
              <a:t>RISC-V + LM393 Gate</a:t>
            </a:r>
          </a:p>
        </p:txBody>
      </p:sp>
      <p:sp>
        <p:nvSpPr>
          <p:cNvPr id="16" name="!!pipe_chev_3"/>
          <p:cNvSpPr/>
          <p:nvPr/>
        </p:nvSpPr>
        <p:spPr>
          <a:xfrm>
            <a:off x="8650224" y="1664208"/>
            <a:ext cx="3127248" cy="1143000"/>
          </a:xfrm>
          <a:prstGeom prst="chevron">
            <a:avLst>
              <a:gd name="adj" fmla="val 12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pipe_chevt_3"/>
          <p:cNvSpPr txBox="1"/>
          <p:nvPr/>
        </p:nvSpPr>
        <p:spPr>
          <a:xfrm>
            <a:off x="9052560" y="1792224"/>
            <a:ext cx="2414015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ACBEDA"/>
                </a:solidFill>
                <a:latin typeface="Inter"/>
              </a:rPr>
              <a:t>STAGE 03 · PYTHON BRIDGE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8FAFF"/>
                </a:solidFill>
                <a:latin typeface="Inter"/>
              </a:rPr>
              <a:t>Eye Twin + PyAutoGUI</a:t>
            </a:r>
          </a:p>
        </p:txBody>
      </p:sp>
      <p:sp>
        <p:nvSpPr>
          <p:cNvPr id="18" name="!!pipe_det_0_bg"/>
          <p:cNvSpPr/>
          <p:nvPr/>
        </p:nvSpPr>
        <p:spPr>
          <a:xfrm>
            <a:off x="411480" y="3063240"/>
            <a:ext cx="3639312" cy="33101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pipe_det_0_bar"/>
          <p:cNvSpPr/>
          <p:nvPr/>
        </p:nvSpPr>
        <p:spPr>
          <a:xfrm>
            <a:off x="557784" y="309067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pipe_det_0_hex"/>
          <p:cNvSpPr/>
          <p:nvPr/>
        </p:nvSpPr>
        <p:spPr>
          <a:xfrm>
            <a:off x="3739896" y="606247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pipe_det_0_pill"/>
          <p:cNvSpPr/>
          <p:nvPr/>
        </p:nvSpPr>
        <p:spPr>
          <a:xfrm>
            <a:off x="576072" y="3227832"/>
            <a:ext cx="224028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!!pipe_det_0_pill_t"/>
          <p:cNvSpPr txBox="1"/>
          <p:nvPr/>
        </p:nvSpPr>
        <p:spPr>
          <a:xfrm>
            <a:off x="612648" y="3246120"/>
            <a:ext cx="216712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5FF"/>
                </a:solidFill>
                <a:latin typeface="Inter"/>
              </a:rPr>
              <a:t>DECISION TRUTH TABLE</a:t>
            </a:r>
          </a:p>
        </p:txBody>
      </p:sp>
      <p:sp>
        <p:nvSpPr>
          <p:cNvPr id="23" name="anim_pipe_det_0_txt"/>
          <p:cNvSpPr txBox="1"/>
          <p:nvPr/>
        </p:nvSpPr>
        <p:spPr>
          <a:xfrm>
            <a:off x="576072" y="3593592"/>
            <a:ext cx="3310128" cy="2688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L / R / U / D / LC / RC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ACBEDA"/>
                </a:solidFill>
                <a:latin typeface="Inter"/>
              </a:rPr>
              <a:t>Maps tilt beyond dead-zone to L/R/U/D, single blink to LC, double blink to RC, fast blink ignored.</a:t>
            </a:r>
          </a:p>
        </p:txBody>
      </p:sp>
      <p:sp>
        <p:nvSpPr>
          <p:cNvPr id="24" name="!!pipe_det_1_bg"/>
          <p:cNvSpPr/>
          <p:nvPr/>
        </p:nvSpPr>
        <p:spPr>
          <a:xfrm>
            <a:off x="4270248" y="3063240"/>
            <a:ext cx="3639312" cy="33101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pipe_det_1_bar"/>
          <p:cNvSpPr/>
          <p:nvPr/>
        </p:nvSpPr>
        <p:spPr>
          <a:xfrm>
            <a:off x="4416552" y="309067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pipe_det_1_hex"/>
          <p:cNvSpPr/>
          <p:nvPr/>
        </p:nvSpPr>
        <p:spPr>
          <a:xfrm>
            <a:off x="7598664" y="606247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pipe_det_1_pill"/>
          <p:cNvSpPr/>
          <p:nvPr/>
        </p:nvSpPr>
        <p:spPr>
          <a:xfrm>
            <a:off x="4434840" y="3227832"/>
            <a:ext cx="1856231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pipe_det_1_pill_t"/>
          <p:cNvSpPr txBox="1"/>
          <p:nvPr/>
        </p:nvSpPr>
        <p:spPr>
          <a:xfrm>
            <a:off x="4471416" y="3246120"/>
            <a:ext cx="1783079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WHY digitalRead?</a:t>
            </a:r>
          </a:p>
        </p:txBody>
      </p:sp>
      <p:sp>
        <p:nvSpPr>
          <p:cNvPr id="29" name="anim_pipe_det_1_txt"/>
          <p:cNvSpPr txBox="1"/>
          <p:nvPr/>
        </p:nvSpPr>
        <p:spPr>
          <a:xfrm>
            <a:off x="4434840" y="3593592"/>
            <a:ext cx="3310128" cy="2688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&lt;2µs Hardware Comparator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ACBEDA"/>
                </a:solidFill>
                <a:latin typeface="Inter"/>
              </a:rPr>
              <a:t>Onboard LM393 comparator thresholds open/closed eye state in hardware — faster than analogRead.</a:t>
            </a:r>
          </a:p>
        </p:txBody>
      </p:sp>
      <p:sp>
        <p:nvSpPr>
          <p:cNvPr id="30" name="!!pipe_det_2_bg"/>
          <p:cNvSpPr/>
          <p:nvPr/>
        </p:nvSpPr>
        <p:spPr>
          <a:xfrm>
            <a:off x="8129015" y="3063240"/>
            <a:ext cx="3639312" cy="33101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pipe_det_2_bar"/>
          <p:cNvSpPr/>
          <p:nvPr/>
        </p:nvSpPr>
        <p:spPr>
          <a:xfrm>
            <a:off x="8275319" y="309067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pipe_det_2_hex"/>
          <p:cNvSpPr/>
          <p:nvPr/>
        </p:nvSpPr>
        <p:spPr>
          <a:xfrm>
            <a:off x="11457432" y="606247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!!pipe_det_2_pill"/>
          <p:cNvSpPr/>
          <p:nvPr/>
        </p:nvSpPr>
        <p:spPr>
          <a:xfrm>
            <a:off x="8293607" y="3227832"/>
            <a:ext cx="224028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pipe_det_2_pill_t"/>
          <p:cNvSpPr txBox="1"/>
          <p:nvPr/>
        </p:nvSpPr>
        <p:spPr>
          <a:xfrm>
            <a:off x="8330183" y="3246120"/>
            <a:ext cx="216712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DUAL WIRELESS STREAM</a:t>
            </a:r>
          </a:p>
        </p:txBody>
      </p:sp>
      <p:sp>
        <p:nvSpPr>
          <p:cNvPr id="35" name="anim_pipe_det_2_txt"/>
          <p:cNvSpPr txBox="1"/>
          <p:nvPr/>
        </p:nvSpPr>
        <p:spPr>
          <a:xfrm>
            <a:off x="8293607" y="3593592"/>
            <a:ext cx="3310128" cy="2688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BLE 5.0 + Wi-Fi Failover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ACBEDA"/>
                </a:solidFill>
                <a:latin typeface="Inter"/>
              </a:rPr>
              <a:t>Streams lightweight gesture tokens wirelessly with automatic Wi-Fi backup and USB-C support.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0562B9E-137F-82BD-E1F5-ADE18F0A2FE2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D990D02-5D4F-DE07-42B7-5C1B0A3C6F46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556B9A-9AAE-B9C1-B6ED-D8996B211431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3A4573-547A-9E38-FD57-76329965761C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SIGNAL PIPELINE  ·  STAGE 02 OF 03 (SEEED XIAO C3 BRAIN)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3E19FD-FD8E-75BC-AEB4-421632255941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1:35 – 1:41   [18/32]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B9A1D8C-0EBB-4747-60B1-04FB2AE40703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ACB00D-EA00-3F5B-080B-6C277FD4DD0D}"/>
              </a:ext>
            </a:extLst>
          </p:cNvPr>
          <p:cNvSpPr/>
          <p:nvPr/>
        </p:nvSpPr>
        <p:spPr>
          <a:xfrm>
            <a:off x="411480" y="6654800"/>
            <a:ext cx="6393657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2267"/>
      </p:ext>
    </p:extLst>
  </p:cSld>
  <p:clrMapOvr>
    <a:masterClrMapping/>
  </p:clrMapOvr>
  <p:transition spd="med" advTm="5600">
    <p:fade/>
    <p:extLst mod="1">
      <p:ext uri="{D84E410A-3911-4435-9328-F4292B5D5B2B}">
        <p159:morph xmlns:p159="http://schemas.microsoft.com/office/powerpoint/2015/09/main" xmlns="" xmlns:p14="http://schemas.microsoft.com/office/powerpoint/2010/main" xmlns:mc="http://schemas.openxmlformats.org/markup-compatibility/2006" option="byObject"/>
      </p:ext>
    </p:extLst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04</a:t>
            </a:r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Stage 3 (The Bridge):  Live Eye Simulation &amp; OS Cursor.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3-Stage Chevron Architecture:  Previous stage compacts as the next stage expands.</a:t>
            </a:r>
          </a:p>
        </p:txBody>
      </p:sp>
      <p:sp>
        <p:nvSpPr>
          <p:cNvPr id="12" name="!!pipe_chev_1"/>
          <p:cNvSpPr/>
          <p:nvPr/>
        </p:nvSpPr>
        <p:spPr>
          <a:xfrm>
            <a:off x="411480" y="1664208"/>
            <a:ext cx="3127248" cy="1143000"/>
          </a:xfrm>
          <a:prstGeom prst="chevron">
            <a:avLst>
              <a:gd name="adj" fmla="val 12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pipe_chevt_1"/>
          <p:cNvSpPr txBox="1"/>
          <p:nvPr/>
        </p:nvSpPr>
        <p:spPr>
          <a:xfrm>
            <a:off x="813816" y="1792224"/>
            <a:ext cx="2414015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ACBEDA"/>
                </a:solidFill>
                <a:latin typeface="Inter"/>
              </a:rPr>
              <a:t>STAGE 01 · WEARABLE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8FAFF"/>
                </a:solidFill>
                <a:latin typeface="Inter"/>
              </a:rPr>
              <a:t>950nm IR + MPU6050</a:t>
            </a:r>
          </a:p>
        </p:txBody>
      </p:sp>
      <p:sp>
        <p:nvSpPr>
          <p:cNvPr id="14" name="!!pipe_chev_2"/>
          <p:cNvSpPr/>
          <p:nvPr/>
        </p:nvSpPr>
        <p:spPr>
          <a:xfrm>
            <a:off x="3739896" y="1664208"/>
            <a:ext cx="3127248" cy="1143000"/>
          </a:xfrm>
          <a:prstGeom prst="chevron">
            <a:avLst>
              <a:gd name="adj" fmla="val 12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!!pipe_chevt_2"/>
          <p:cNvSpPr txBox="1"/>
          <p:nvPr/>
        </p:nvSpPr>
        <p:spPr>
          <a:xfrm>
            <a:off x="4142232" y="1792224"/>
            <a:ext cx="2414015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ACBEDA"/>
                </a:solidFill>
                <a:latin typeface="Inter"/>
              </a:rPr>
              <a:t>STAGE 02 · XIAO BRAIN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8FAFF"/>
                </a:solidFill>
                <a:latin typeface="Inter"/>
              </a:rPr>
              <a:t>RISC-V + LM393 Gate</a:t>
            </a:r>
          </a:p>
        </p:txBody>
      </p:sp>
      <p:sp>
        <p:nvSpPr>
          <p:cNvPr id="16" name="!!pipe_chev_3"/>
          <p:cNvSpPr/>
          <p:nvPr/>
        </p:nvSpPr>
        <p:spPr>
          <a:xfrm>
            <a:off x="7068312" y="1664208"/>
            <a:ext cx="4709160" cy="1143000"/>
          </a:xfrm>
          <a:prstGeom prst="chevron">
            <a:avLst>
              <a:gd name="adj" fmla="val 12000"/>
            </a:avLst>
          </a:prstGeom>
          <a:solidFill>
            <a:srgbClr val="142640"/>
          </a:solidFill>
          <a:ln w="317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pipe_chevt_3"/>
          <p:cNvSpPr txBox="1"/>
          <p:nvPr/>
        </p:nvSpPr>
        <p:spPr>
          <a:xfrm>
            <a:off x="7470648" y="1792224"/>
            <a:ext cx="3995928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>
                <a:solidFill>
                  <a:srgbClr val="00E5FF"/>
                </a:solidFill>
                <a:latin typeface="Inter"/>
              </a:rPr>
              <a:t>STAGE 03 · PYTHON BRIDGE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8FAFF"/>
                </a:solidFill>
                <a:latin typeface="Inter"/>
              </a:rPr>
              <a:t>Eye Twin + PyAutoGUI</a:t>
            </a:r>
          </a:p>
        </p:txBody>
      </p:sp>
      <p:sp>
        <p:nvSpPr>
          <p:cNvPr id="18" name="!!pipe_det_0_bg"/>
          <p:cNvSpPr/>
          <p:nvPr/>
        </p:nvSpPr>
        <p:spPr>
          <a:xfrm>
            <a:off x="411480" y="3063240"/>
            <a:ext cx="3639312" cy="33101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pipe_det_0_bar"/>
          <p:cNvSpPr/>
          <p:nvPr/>
        </p:nvSpPr>
        <p:spPr>
          <a:xfrm>
            <a:off x="557784" y="309067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pipe_det_0_hex"/>
          <p:cNvSpPr/>
          <p:nvPr/>
        </p:nvSpPr>
        <p:spPr>
          <a:xfrm>
            <a:off x="3739896" y="606247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pipe_det_0_pill"/>
          <p:cNvSpPr/>
          <p:nvPr/>
        </p:nvSpPr>
        <p:spPr>
          <a:xfrm>
            <a:off x="576072" y="3227832"/>
            <a:ext cx="224028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!!pipe_det_0_pill_t"/>
          <p:cNvSpPr txBox="1"/>
          <p:nvPr/>
        </p:nvSpPr>
        <p:spPr>
          <a:xfrm>
            <a:off x="612648" y="3246120"/>
            <a:ext cx="216712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5FF"/>
                </a:solidFill>
                <a:latin typeface="Inter"/>
              </a:rPr>
              <a:t>LIVE PYTHON EYE TWIN</a:t>
            </a:r>
          </a:p>
        </p:txBody>
      </p:sp>
      <p:sp>
        <p:nvSpPr>
          <p:cNvPr id="23" name="anim_pipe_det_0_txt"/>
          <p:cNvSpPr txBox="1"/>
          <p:nvPr/>
        </p:nvSpPr>
        <p:spPr>
          <a:xfrm>
            <a:off x="576072" y="3593592"/>
            <a:ext cx="3310128" cy="2688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Mirrors Every Blink Live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ACBEDA"/>
                </a:solidFill>
                <a:latin typeface="Inter"/>
              </a:rPr>
              <a:t>TensorFlow denoiser strips ambient light noise and reconstructs the user's blinking eye in real time.</a:t>
            </a:r>
          </a:p>
        </p:txBody>
      </p:sp>
      <p:sp>
        <p:nvSpPr>
          <p:cNvPr id="24" name="!!pipe_det_1_bg"/>
          <p:cNvSpPr/>
          <p:nvPr/>
        </p:nvSpPr>
        <p:spPr>
          <a:xfrm>
            <a:off x="4270248" y="3063240"/>
            <a:ext cx="3639312" cy="33101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pipe_det_1_bar"/>
          <p:cNvSpPr/>
          <p:nvPr/>
        </p:nvSpPr>
        <p:spPr>
          <a:xfrm>
            <a:off x="4416552" y="309067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pipe_det_1_hex"/>
          <p:cNvSpPr/>
          <p:nvPr/>
        </p:nvSpPr>
        <p:spPr>
          <a:xfrm>
            <a:off x="7598664" y="606247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pipe_det_1_pill"/>
          <p:cNvSpPr/>
          <p:nvPr/>
        </p:nvSpPr>
        <p:spPr>
          <a:xfrm>
            <a:off x="4434840" y="3227832"/>
            <a:ext cx="2336292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pipe_det_1_pill_t"/>
          <p:cNvSpPr txBox="1"/>
          <p:nvPr/>
        </p:nvSpPr>
        <p:spPr>
          <a:xfrm>
            <a:off x="4471416" y="3246120"/>
            <a:ext cx="226314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CROSS-PLATFORM CURSOR</a:t>
            </a:r>
          </a:p>
        </p:txBody>
      </p:sp>
      <p:sp>
        <p:nvSpPr>
          <p:cNvPr id="29" name="anim_pipe_det_1_txt"/>
          <p:cNvSpPr txBox="1"/>
          <p:nvPr/>
        </p:nvSpPr>
        <p:spPr>
          <a:xfrm>
            <a:off x="4434840" y="3593592"/>
            <a:ext cx="3310128" cy="2688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PyAutoGUI + PySerial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ACBEDA"/>
                </a:solidFill>
                <a:latin typeface="Inter"/>
              </a:rPr>
              <a:t>Identical Python loop drives Windows, macOS, Linux &amp; Android over BLE, Wi-Fi, or USB-C.</a:t>
            </a:r>
          </a:p>
        </p:txBody>
      </p:sp>
      <p:sp>
        <p:nvSpPr>
          <p:cNvPr id="30" name="!!pipe_det_2_bg"/>
          <p:cNvSpPr/>
          <p:nvPr/>
        </p:nvSpPr>
        <p:spPr>
          <a:xfrm>
            <a:off x="8129015" y="3063240"/>
            <a:ext cx="3639312" cy="3310128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pipe_det_2_bar"/>
          <p:cNvSpPr/>
          <p:nvPr/>
        </p:nvSpPr>
        <p:spPr>
          <a:xfrm>
            <a:off x="8275319" y="309067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pipe_det_2_hex"/>
          <p:cNvSpPr/>
          <p:nvPr/>
        </p:nvSpPr>
        <p:spPr>
          <a:xfrm>
            <a:off x="11457432" y="606247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!!pipe_det_2_pill"/>
          <p:cNvSpPr/>
          <p:nvPr/>
        </p:nvSpPr>
        <p:spPr>
          <a:xfrm>
            <a:off x="8293607" y="3227832"/>
            <a:ext cx="2528316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pipe_det_2_pill_t"/>
          <p:cNvSpPr txBox="1"/>
          <p:nvPr/>
        </p:nvSpPr>
        <p:spPr>
          <a:xfrm>
            <a:off x="8330183" y="3246120"/>
            <a:ext cx="2455164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ON-FRAME RGB STATUS LED</a:t>
            </a:r>
          </a:p>
        </p:txBody>
      </p:sp>
      <p:sp>
        <p:nvSpPr>
          <p:cNvPr id="35" name="anim_pipe_det_2_txt"/>
          <p:cNvSpPr txBox="1"/>
          <p:nvPr/>
        </p:nvSpPr>
        <p:spPr>
          <a:xfrm>
            <a:off x="8293607" y="3593592"/>
            <a:ext cx="3310128" cy="2688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Green · Blue 2Hz · Yellow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ACBEDA"/>
                </a:solidFill>
                <a:latin typeface="Inter"/>
              </a:rPr>
              <a:t>Solid Green = Booting (2s) · Blinking Blue 2Hz = Pairing · Solid Yellow = Connected &amp; Active.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86F6DF8-ADB8-2C7E-669B-FC22AC616BA5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C7F070E-917D-FFDC-26D6-36A15FB6352D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489C71-F1BE-6935-EE29-3F1C6708A14D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860BD3-E926-4C0D-88E2-CCFC9D8B96C1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SIGNAL PIPELINE  ·  STAGE 03 OF 03 (PYTHON BRIDGE &amp; TWIN)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C2AAA1-6E1B-BFA2-ABB5-E3E5C64ACB5D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1:41 – 1:46   [19/32]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5919F1B-D058-1F07-27E5-F338FD650E20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DDFC1CE-8BF7-8F9D-C590-CF3F16C5D595}"/>
              </a:ext>
            </a:extLst>
          </p:cNvPr>
          <p:cNvSpPr/>
          <p:nvPr/>
        </p:nvSpPr>
        <p:spPr>
          <a:xfrm>
            <a:off x="411480" y="6654800"/>
            <a:ext cx="6748860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713241"/>
      </p:ext>
    </p:extLst>
  </p:cSld>
  <p:clrMapOvr>
    <a:masterClrMapping/>
  </p:clrMapOvr>
  <p:transition spd="med" advTm="5600">
    <p:fade/>
    <p:extLst mod="1">
      <p:ext uri="{D84E410A-3911-4435-9328-F4292B5D5B2B}">
        <p159:morph xmlns:p159="http://schemas.microsoft.com/office/powerpoint/2015/09/main" xmlns="" xmlns:p14="http://schemas.microsoft.com/office/powerpoint/2010/main" xmlns:mc="http://schemas.openxmlformats.org/markup-compatibility/2006" option="byObject"/>
      </p:ext>
    </p:extLst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04</a:t>
            </a:r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4 Engineering Challenges Debugged  ·  100% Open-Source.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Every hardware and software fix will be freely available on GitHub and projectiris.dev.</a:t>
            </a:r>
          </a:p>
        </p:txBody>
      </p:sp>
      <p:sp>
        <p:nvSpPr>
          <p:cNvPr id="12" name="!!dbg_0.45_1.82_bg"/>
          <p:cNvSpPr/>
          <p:nvPr/>
        </p:nvSpPr>
        <p:spPr>
          <a:xfrm>
            <a:off x="411480" y="1664208"/>
            <a:ext cx="5577840" cy="160020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dbg_0.45_1.82_bar"/>
          <p:cNvSpPr/>
          <p:nvPr/>
        </p:nvSpPr>
        <p:spPr>
          <a:xfrm>
            <a:off x="557784" y="16916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!!dbg_0.45_1.82_hex"/>
          <p:cNvSpPr/>
          <p:nvPr/>
        </p:nvSpPr>
        <p:spPr>
          <a:xfrm>
            <a:off x="5678424" y="295351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!!dbg_0.45_1.82_pill"/>
          <p:cNvSpPr/>
          <p:nvPr/>
        </p:nvSpPr>
        <p:spPr>
          <a:xfrm>
            <a:off x="576072" y="1828800"/>
            <a:ext cx="224028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!!dbg_0.45_1.82_pill_t"/>
          <p:cNvSpPr txBox="1"/>
          <p:nvPr/>
        </p:nvSpPr>
        <p:spPr>
          <a:xfrm>
            <a:off x="612648" y="1847088"/>
            <a:ext cx="216712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5FF"/>
                </a:solidFill>
                <a:latin typeface="Inter"/>
              </a:rPr>
              <a:t>01 · FALSE POSITIVES</a:t>
            </a:r>
          </a:p>
        </p:txBody>
      </p:sp>
      <p:sp>
        <p:nvSpPr>
          <p:cNvPr id="17" name="anim_dbg_0.45_1.82_txt"/>
          <p:cNvSpPr txBox="1"/>
          <p:nvPr/>
        </p:nvSpPr>
        <p:spPr>
          <a:xfrm>
            <a:off x="576072" y="2194560"/>
            <a:ext cx="5248655" cy="9784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8FAFF"/>
                </a:solidFill>
                <a:latin typeface="Inter"/>
              </a:rPr>
              <a:t>Reflex Blinks (&lt;200ms) Fired Clicks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Fix: LM393 comparator + 200–500ms timing gate → 0 misfires.</a:t>
            </a:r>
          </a:p>
        </p:txBody>
      </p:sp>
      <p:sp>
        <p:nvSpPr>
          <p:cNvPr id="18" name="!!dbg_6.78_1.82_bg"/>
          <p:cNvSpPr/>
          <p:nvPr/>
        </p:nvSpPr>
        <p:spPr>
          <a:xfrm>
            <a:off x="6199632" y="1664208"/>
            <a:ext cx="5577840" cy="160020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dbg_6.78_1.82_bar"/>
          <p:cNvSpPr/>
          <p:nvPr/>
        </p:nvSpPr>
        <p:spPr>
          <a:xfrm>
            <a:off x="6345936" y="16916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dbg_6.78_1.82_hex"/>
          <p:cNvSpPr/>
          <p:nvPr/>
        </p:nvSpPr>
        <p:spPr>
          <a:xfrm>
            <a:off x="11466576" y="295351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dbg_6.78_1.82_pill"/>
          <p:cNvSpPr/>
          <p:nvPr/>
        </p:nvSpPr>
        <p:spPr>
          <a:xfrm>
            <a:off x="6364224" y="1828800"/>
            <a:ext cx="2240280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!!dbg_6.78_1.82_pill_t"/>
          <p:cNvSpPr txBox="1"/>
          <p:nvPr/>
        </p:nvSpPr>
        <p:spPr>
          <a:xfrm>
            <a:off x="6400800" y="1847088"/>
            <a:ext cx="216712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02 · FALSE NEGATIVES</a:t>
            </a:r>
          </a:p>
        </p:txBody>
      </p:sp>
      <p:sp>
        <p:nvSpPr>
          <p:cNvPr id="23" name="anim_dbg_6.78_1.82_txt"/>
          <p:cNvSpPr txBox="1"/>
          <p:nvPr/>
        </p:nvSpPr>
        <p:spPr>
          <a:xfrm>
            <a:off x="6364224" y="2194560"/>
            <a:ext cx="5248655" cy="9784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8FAFF"/>
                </a:solidFill>
                <a:latin typeface="Inter"/>
              </a:rPr>
              <a:t>Rx Frame Slip Missed Weak Blinks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Fix: Multi-beam 950nm IR + 2–3s setup + Magnet Pivot → 98.4% accuracy.</a:t>
            </a:r>
          </a:p>
        </p:txBody>
      </p:sp>
      <p:sp>
        <p:nvSpPr>
          <p:cNvPr id="24" name="!!dbg_0.45_3.75_bg"/>
          <p:cNvSpPr/>
          <p:nvPr/>
        </p:nvSpPr>
        <p:spPr>
          <a:xfrm>
            <a:off x="411480" y="3429000"/>
            <a:ext cx="5577840" cy="160020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dbg_0.45_3.75_bar"/>
          <p:cNvSpPr/>
          <p:nvPr/>
        </p:nvSpPr>
        <p:spPr>
          <a:xfrm>
            <a:off x="557784" y="345643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dbg_0.45_3.75_hex"/>
          <p:cNvSpPr/>
          <p:nvPr/>
        </p:nvSpPr>
        <p:spPr>
          <a:xfrm>
            <a:off x="5678424" y="4718304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dbg_0.45_3.75_pill"/>
          <p:cNvSpPr/>
          <p:nvPr/>
        </p:nvSpPr>
        <p:spPr>
          <a:xfrm>
            <a:off x="576072" y="3593592"/>
            <a:ext cx="2816352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dbg_0.45_3.75_pill_t"/>
          <p:cNvSpPr txBox="1"/>
          <p:nvPr/>
        </p:nvSpPr>
        <p:spPr>
          <a:xfrm>
            <a:off x="612648" y="3611880"/>
            <a:ext cx="27432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03 · SUNLIGHT &amp; BULB NOISE</a:t>
            </a:r>
          </a:p>
        </p:txBody>
      </p:sp>
      <p:sp>
        <p:nvSpPr>
          <p:cNvPr id="29" name="anim_dbg_0.45_3.75_txt"/>
          <p:cNvSpPr txBox="1"/>
          <p:nvPr/>
        </p:nvSpPr>
        <p:spPr>
          <a:xfrm>
            <a:off x="576072" y="3959352"/>
            <a:ext cx="5248655" cy="97840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8FAFF"/>
                </a:solidFill>
                <a:latin typeface="Inter"/>
              </a:rPr>
              <a:t>Daylight Flooded Raw IR Readings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Fix: Python + TensorFlow rolling baseline denoiser &amp; Live Eye Twin.</a:t>
            </a:r>
          </a:p>
        </p:txBody>
      </p:sp>
      <p:sp>
        <p:nvSpPr>
          <p:cNvPr id="30" name="!!dbg_6.78_3.75_bg"/>
          <p:cNvSpPr/>
          <p:nvPr/>
        </p:nvSpPr>
        <p:spPr>
          <a:xfrm>
            <a:off x="6199632" y="3429000"/>
            <a:ext cx="5577840" cy="160020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dbg_6.78_3.75_bar"/>
          <p:cNvSpPr/>
          <p:nvPr/>
        </p:nvSpPr>
        <p:spPr>
          <a:xfrm>
            <a:off x="6345936" y="3456432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dbg_6.78_3.75_hex"/>
          <p:cNvSpPr/>
          <p:nvPr/>
        </p:nvSpPr>
        <p:spPr>
          <a:xfrm>
            <a:off x="11466576" y="4718304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!!dbg_6.78_3.75_pill"/>
          <p:cNvSpPr/>
          <p:nvPr/>
        </p:nvSpPr>
        <p:spPr>
          <a:xfrm>
            <a:off x="6364224" y="3593592"/>
            <a:ext cx="2912364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dbg_6.78_3.75_pill_t"/>
          <p:cNvSpPr txBox="1"/>
          <p:nvPr/>
        </p:nvSpPr>
        <p:spPr>
          <a:xfrm>
            <a:off x="6400800" y="3611880"/>
            <a:ext cx="2839212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A855F7"/>
                </a:solidFill>
                <a:latin typeface="Inter"/>
              </a:rPr>
              <a:t>04 · GYRO DRIFT &amp; BUCK HEAT</a:t>
            </a:r>
          </a:p>
        </p:txBody>
      </p:sp>
      <p:sp>
        <p:nvSpPr>
          <p:cNvPr id="35" name="anim_dbg_6.78_3.75_txt"/>
          <p:cNvSpPr txBox="1"/>
          <p:nvPr/>
        </p:nvSpPr>
        <p:spPr>
          <a:xfrm>
            <a:off x="6364224" y="3959352"/>
            <a:ext cx="5248655" cy="97840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8FAFF"/>
                </a:solidFill>
                <a:latin typeface="Inter"/>
              </a:rPr>
              <a:t>Heavy Buck Module Warmed Forehead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ACBEDA"/>
                </a:solidFill>
                <a:latin typeface="Inter"/>
              </a:rPr>
              <a:t>Fix: Direct Li-Po on XIAO C3 + Velcro air belt + re-zero clutch.</a:t>
            </a:r>
          </a:p>
        </p:txBody>
      </p:sp>
      <p:sp>
        <p:nvSpPr>
          <p:cNvPr id="36" name="!!oss_banner"/>
          <p:cNvSpPr/>
          <p:nvPr/>
        </p:nvSpPr>
        <p:spPr>
          <a:xfrm>
            <a:off x="411480" y="5230368"/>
            <a:ext cx="11365992" cy="1170432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42640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anim_oss_txt"/>
          <p:cNvSpPr txBox="1"/>
          <p:nvPr/>
        </p:nvSpPr>
        <p:spPr>
          <a:xfrm>
            <a:off x="658368" y="5340096"/>
            <a:ext cx="10881360" cy="960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50" b="1">
                <a:solidFill>
                  <a:srgbClr val="00E5FF"/>
                </a:solidFill>
                <a:latin typeface="Inter"/>
              </a:rPr>
              <a:t>100% OPEN-SOURCE REPOSITORY   ·   github.com/project-iris/iris   ·   projectiris.dev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F8FAFF"/>
                </a:solidFill>
                <a:latin typeface="Inter"/>
              </a:rPr>
              <a:t>Full XIAO C3 firmware, Python bridge, 2–3s calibration, schematics &amp; 3D STL mounts open for anyone to build for ₹885.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46BE1F1-254D-583E-F74D-01292A21BEE8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5184122-9FC3-D243-BC36-FFD8E71AA104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71711D-27FA-4A05-EB45-69F2BB713FF2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F4B9AE-1451-98FE-6C0F-6E7AC3882667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SYSTEM DEBUGGING &amp; OPEN SOURCE  ·  REAL-WORLD FIXES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9AE1B94-13FE-BCEA-6079-CCCF25060066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1:46 – 1:52   [20/32]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8823D1-FDB0-0E1D-B039-70B9B9C02BAB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1FDC9F0-2C0E-417C-08BE-16D158484299}"/>
              </a:ext>
            </a:extLst>
          </p:cNvPr>
          <p:cNvSpPr/>
          <p:nvPr/>
        </p:nvSpPr>
        <p:spPr>
          <a:xfrm>
            <a:off x="411480" y="6654800"/>
            <a:ext cx="7104063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468260"/>
      </p:ext>
    </p:extLst>
  </p:cSld>
  <p:clrMapOvr>
    <a:masterClrMapping/>
  </p:clrMapOvr>
  <p:transition spd="med" advTm="5600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19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23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7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31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99F77714-DDFA-4B16-1D63-AA713F4A0B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5F26B4F-825C-AB48-235F-C2808BFDC44A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D70D909-EC42-C3AC-0098-2BE90DB447B6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BB5532-C6AA-B79E-33A1-494E5CECEFD2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DC143A-6C83-C9E6-B6CF-B742907200CB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HARDWARE EVOLUTION  ·  PAST PROTOTYPES TO PRESENT RIG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3D8906-4C06-72B7-2F46-6A43C2895D52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1:52 – 1:58   [21/32]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FFA2DDF-7711-EB84-059E-EF1A6804E45E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E9B5F39-AD8D-6E6D-9B26-20518509EF49}"/>
              </a:ext>
            </a:extLst>
          </p:cNvPr>
          <p:cNvSpPr/>
          <p:nvPr/>
        </p:nvSpPr>
        <p:spPr>
          <a:xfrm>
            <a:off x="411480" y="6654800"/>
            <a:ext cx="7459266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DEACE2-D226-53F5-3429-55F4E41EEA52}"/>
              </a:ext>
            </a:extLst>
          </p:cNvPr>
          <p:cNvSpPr txBox="1"/>
          <p:nvPr/>
        </p:nvSpPr>
        <p:spPr>
          <a:xfrm>
            <a:off x="411480" y="711200"/>
            <a:ext cx="113665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Segoe UI" panose="020B0502040204020203" pitchFamily="34" charset="0"/>
              </a:rPr>
              <a:t>Evolution of IRIS: 4 Generations of Prototyping.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DA1895-6266-6A6F-680E-E49C5560E033}"/>
              </a:ext>
            </a:extLst>
          </p:cNvPr>
          <p:cNvSpPr txBox="1"/>
          <p:nvPr/>
        </p:nvSpPr>
        <p:spPr>
          <a:xfrm>
            <a:off x="411480" y="1117600"/>
            <a:ext cx="11366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>
                <a:solidFill>
                  <a:srgbClr val="FFB300"/>
                </a:solidFill>
                <a:latin typeface="Segoe UI" panose="020B0502040204020203" pitchFamily="34" charset="0"/>
              </a:rPr>
              <a:t>From a heavy wired breadboard devkit to our featherweight ₹885 magnetic-pivot wearable.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3F31455-9811-75E0-F298-F7C4F44F623D}"/>
              </a:ext>
            </a:extLst>
          </p:cNvPr>
          <p:cNvSpPr/>
          <p:nvPr/>
        </p:nvSpPr>
        <p:spPr>
          <a:xfrm>
            <a:off x="411480" y="1524000"/>
            <a:ext cx="2692400" cy="495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81F89DF-C1F7-C576-D952-7BDC95A22E21}"/>
              </a:ext>
            </a:extLst>
          </p:cNvPr>
          <p:cNvSpPr txBox="1"/>
          <p:nvPr/>
        </p:nvSpPr>
        <p:spPr>
          <a:xfrm>
            <a:off x="513080" y="1625600"/>
            <a:ext cx="24892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900" b="1">
                <a:solidFill>
                  <a:srgbClr val="94A3B8"/>
                </a:solidFill>
                <a:latin typeface="Segoe UI" panose="020B0502040204020203" pitchFamily="34" charset="0"/>
              </a:rPr>
              <a:t>GEN 1 · EARLY WIRED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FC2C44-EEA4-239A-CACF-38A5E51140FD}"/>
              </a:ext>
            </a:extLst>
          </p:cNvPr>
          <p:cNvSpPr txBox="1"/>
          <p:nvPr/>
        </p:nvSpPr>
        <p:spPr>
          <a:xfrm>
            <a:off x="513080" y="1905000"/>
            <a:ext cx="24892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ESP32-WROOM Devkit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492FEF1-711E-615C-7696-62E537D51FD1}"/>
              </a:ext>
            </a:extLst>
          </p:cNvPr>
          <p:cNvSpPr txBox="1"/>
          <p:nvPr/>
        </p:nvSpPr>
        <p:spPr>
          <a:xfrm>
            <a:off x="513080" y="2260600"/>
            <a:ext cx="24892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Tethered USB power, rigid plastic buckle strap &amp; glued IR optical sensor (~6h runtime).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13CE005-4EF7-2B73-C3AA-0B54FED01F86}"/>
              </a:ext>
            </a:extLst>
          </p:cNvPr>
          <p:cNvSpPr/>
          <p:nvPr/>
        </p:nvSpPr>
        <p:spPr>
          <a:xfrm>
            <a:off x="538480" y="3238500"/>
            <a:ext cx="2438400" cy="304800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8D1712-D3A6-51B6-9758-E6A1539CAE8F}"/>
              </a:ext>
            </a:extLst>
          </p:cNvPr>
          <p:cNvSpPr txBox="1"/>
          <p:nvPr/>
        </p:nvSpPr>
        <p:spPr>
          <a:xfrm>
            <a:off x="589280" y="4318000"/>
            <a:ext cx="23368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94A3B8"/>
                </a:solidFill>
                <a:latin typeface="Segoe UI" panose="020B0502040204020203" pitchFamily="34" charset="0"/>
              </a:rPr>
              <a:t>BREADBOARD PROTOTYPE
Tethered USB Serial
Bench Devkit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DEDA6C3-1717-2C5D-1D15-27768FEB34EC}"/>
              </a:ext>
            </a:extLst>
          </p:cNvPr>
          <p:cNvSpPr/>
          <p:nvPr/>
        </p:nvSpPr>
        <p:spPr>
          <a:xfrm>
            <a:off x="3294380" y="1524000"/>
            <a:ext cx="2692400" cy="495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FB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E23E59-4101-EAA3-FD12-C22F747C6151}"/>
              </a:ext>
            </a:extLst>
          </p:cNvPr>
          <p:cNvSpPr txBox="1"/>
          <p:nvPr/>
        </p:nvSpPr>
        <p:spPr>
          <a:xfrm>
            <a:off x="3395980" y="1625600"/>
            <a:ext cx="24892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900" b="1">
                <a:solidFill>
                  <a:srgbClr val="FFB300"/>
                </a:solidFill>
                <a:latin typeface="Segoe UI" panose="020B0502040204020203" pitchFamily="34" charset="0"/>
              </a:rPr>
              <a:t>GEN 2 · WIRELESS BLE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FCC37C-3350-73DB-B574-B21B6D285EF0}"/>
              </a:ext>
            </a:extLst>
          </p:cNvPr>
          <p:cNvSpPr txBox="1"/>
          <p:nvPr/>
        </p:nvSpPr>
        <p:spPr>
          <a:xfrm>
            <a:off x="3395980" y="1905000"/>
            <a:ext cx="24892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Bluetooth + LM393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BBA631-C765-1CF0-E69A-DF2A42CCFAF1}"/>
              </a:ext>
            </a:extLst>
          </p:cNvPr>
          <p:cNvSpPr txBox="1"/>
          <p:nvPr/>
        </p:nvSpPr>
        <p:spPr>
          <a:xfrm>
            <a:off x="3395980" y="2260600"/>
            <a:ext cx="24892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Cut USB cable via BLE serial; exposed heat &amp; ±7D prescription lens reflection limits.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20040E0-99CE-B1D1-9EB5-E09A0DC0D296}"/>
              </a:ext>
            </a:extLst>
          </p:cNvPr>
          <p:cNvSpPr/>
          <p:nvPr/>
        </p:nvSpPr>
        <p:spPr>
          <a:xfrm>
            <a:off x="3421380" y="3238500"/>
            <a:ext cx="2438400" cy="304800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FFB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E2B8206D-3342-2F1A-8B11-2F859DE5A50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480" y="3276600"/>
            <a:ext cx="2362200" cy="2971800"/>
          </a:xfrm>
          <a:prstGeom prst="rect">
            <a:avLst/>
          </a:prstGeom>
        </p:spPr>
      </p:pic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8A09754-127A-397D-F0F5-3E515D08BC37}"/>
              </a:ext>
            </a:extLst>
          </p:cNvPr>
          <p:cNvSpPr/>
          <p:nvPr/>
        </p:nvSpPr>
        <p:spPr>
          <a:xfrm>
            <a:off x="6177280" y="1524000"/>
            <a:ext cx="2692400" cy="495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C130172-FA03-5613-703E-8E319BC2F94D}"/>
              </a:ext>
            </a:extLst>
          </p:cNvPr>
          <p:cNvSpPr txBox="1"/>
          <p:nvPr/>
        </p:nvSpPr>
        <p:spPr>
          <a:xfrm>
            <a:off x="6278880" y="1625600"/>
            <a:ext cx="24892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900" b="1">
                <a:solidFill>
                  <a:srgbClr val="00F2FE"/>
                </a:solidFill>
                <a:latin typeface="Segoe UI" panose="020B0502040204020203" pitchFamily="34" charset="0"/>
              </a:rPr>
              <a:t>GEN 3 · LENS TESTING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CCD371-1B7C-64FE-DF6E-C31B9B852533}"/>
              </a:ext>
            </a:extLst>
          </p:cNvPr>
          <p:cNvSpPr txBox="1"/>
          <p:nvPr/>
        </p:nvSpPr>
        <p:spPr>
          <a:xfrm>
            <a:off x="6278880" y="1905000"/>
            <a:ext cx="24892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Thermal &amp; Lens Rig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917CD21-03CE-1E9B-1804-3FC625368EFB}"/>
              </a:ext>
            </a:extLst>
          </p:cNvPr>
          <p:cNvSpPr txBox="1"/>
          <p:nvPr/>
        </p:nvSpPr>
        <p:spPr>
          <a:xfrm>
            <a:off x="6278880" y="2260600"/>
            <a:ext cx="24892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Identified reflection bottlenecks on thick lenses — inspiring our magnetic pivot clip.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8DAB6198-35C7-4EB5-1247-8E236484F33B}"/>
              </a:ext>
            </a:extLst>
          </p:cNvPr>
          <p:cNvSpPr/>
          <p:nvPr/>
        </p:nvSpPr>
        <p:spPr>
          <a:xfrm>
            <a:off x="6304280" y="3238500"/>
            <a:ext cx="2438400" cy="304800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0503BC2A-98B0-F0EE-959D-7218AF0D754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380" y="3276600"/>
            <a:ext cx="2362200" cy="2971800"/>
          </a:xfrm>
          <a:prstGeom prst="rect">
            <a:avLst/>
          </a:prstGeom>
        </p:spPr>
      </p:pic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7D8D449-403C-9760-2029-B50B6D1D0CBA}"/>
              </a:ext>
            </a:extLst>
          </p:cNvPr>
          <p:cNvSpPr/>
          <p:nvPr/>
        </p:nvSpPr>
        <p:spPr>
          <a:xfrm>
            <a:off x="9060180" y="1524000"/>
            <a:ext cx="2692400" cy="4953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BD8EAB8-E74F-31FA-9AC6-C62B6C3E2540}"/>
              </a:ext>
            </a:extLst>
          </p:cNvPr>
          <p:cNvSpPr txBox="1"/>
          <p:nvPr/>
        </p:nvSpPr>
        <p:spPr>
          <a:xfrm>
            <a:off x="9161780" y="1625600"/>
            <a:ext cx="24892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900" b="1">
                <a:solidFill>
                  <a:srgbClr val="00E676"/>
                </a:solidFill>
                <a:latin typeface="Segoe UI" panose="020B0502040204020203" pitchFamily="34" charset="0"/>
              </a:rPr>
              <a:t>GEN 4 · CURRENT IRIS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0C16EBA-582F-B20F-17B9-23F5C3699C3B}"/>
              </a:ext>
            </a:extLst>
          </p:cNvPr>
          <p:cNvSpPr txBox="1"/>
          <p:nvPr/>
        </p:nvSpPr>
        <p:spPr>
          <a:xfrm>
            <a:off x="9161780" y="1905000"/>
            <a:ext cx="24892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XIAO C3 + Magnet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38FE4C8-271C-47F7-2CEA-E77DE774ACE3}"/>
              </a:ext>
            </a:extLst>
          </p:cNvPr>
          <p:cNvSpPr txBox="1"/>
          <p:nvPr/>
        </p:nvSpPr>
        <p:spPr>
          <a:xfrm>
            <a:off x="9161780" y="2260600"/>
            <a:ext cx="24892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900">
                <a:solidFill>
                  <a:srgbClr val="94A3B8"/>
                </a:solidFill>
                <a:latin typeface="Segoe UI" panose="020B0502040204020203" pitchFamily="34" charset="0"/>
              </a:rPr>
              <a:t>₹885 BOM · Direct Li-Po · Breathable Velcro · Live Eye Twin · 12h Deep Sleep.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1BF2C118-DD0E-B429-E1E5-00D0839CD815}"/>
              </a:ext>
            </a:extLst>
          </p:cNvPr>
          <p:cNvSpPr/>
          <p:nvPr/>
        </p:nvSpPr>
        <p:spPr>
          <a:xfrm>
            <a:off x="9187180" y="3238500"/>
            <a:ext cx="2438400" cy="304800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A5087547-F9DB-CC7F-1D71-5F0AA3522D4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280" y="3276600"/>
            <a:ext cx="23622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98515"/>
      </p:ext>
    </p:extLst>
  </p:cSld>
  <p:clrMapOvr>
    <a:masterClrMapping/>
  </p:clrMapOvr>
  <p:transition spd="med" advTm="56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06</a:t>
            </a:r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Head-to-Head Benchmark:  Tobii Dynavox  vs.  IRIS.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99.96% cheaper, works in any room lighting, and calibrates in 2–3 seconds on any laptop or phone.</a:t>
            </a:r>
          </a:p>
        </p:txBody>
      </p:sp>
      <p:sp>
        <p:nvSpPr>
          <p:cNvPr id="12" name="!!h2h_tob"/>
          <p:cNvSpPr/>
          <p:nvPr/>
        </p:nvSpPr>
        <p:spPr>
          <a:xfrm>
            <a:off x="3246120" y="1600200"/>
            <a:ext cx="4069080" cy="530352"/>
          </a:xfrm>
          <a:prstGeom prst="round2DiagRect">
            <a:avLst>
              <a:gd name="adj1" fmla="val 8000"/>
              <a:gd name="adj2" fmla="val 0"/>
            </a:avLst>
          </a:prstGeom>
          <a:solidFill>
            <a:srgbClr val="44121A"/>
          </a:solidFill>
          <a:ln w="2286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h2h_tobt"/>
          <p:cNvSpPr txBox="1"/>
          <p:nvPr/>
        </p:nvSpPr>
        <p:spPr>
          <a:xfrm>
            <a:off x="3291840" y="1645920"/>
            <a:ext cx="3977639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50" b="1">
                <a:solidFill>
                  <a:srgbClr val="FF5252"/>
                </a:solidFill>
                <a:latin typeface="Inter"/>
              </a:rPr>
              <a:t>Tobii Dynavox I-Series</a:t>
            </a:r>
          </a:p>
        </p:txBody>
      </p:sp>
      <p:sp>
        <p:nvSpPr>
          <p:cNvPr id="14" name="!!h2h_iri"/>
          <p:cNvSpPr/>
          <p:nvPr/>
        </p:nvSpPr>
        <p:spPr>
          <a:xfrm>
            <a:off x="7498079" y="1600200"/>
            <a:ext cx="4279392" cy="530352"/>
          </a:xfrm>
          <a:prstGeom prst="round2DiagRect">
            <a:avLst>
              <a:gd name="adj1" fmla="val 8000"/>
              <a:gd name="adj2" fmla="val 0"/>
            </a:avLst>
          </a:prstGeom>
          <a:solidFill>
            <a:srgbClr val="0A3A26"/>
          </a:solidFill>
          <a:ln w="279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!!h2h_irit"/>
          <p:cNvSpPr txBox="1"/>
          <p:nvPr/>
        </p:nvSpPr>
        <p:spPr>
          <a:xfrm>
            <a:off x="7543800" y="1645920"/>
            <a:ext cx="4187952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50" b="1">
                <a:solidFill>
                  <a:srgbClr val="00E676"/>
                </a:solidFill>
                <a:latin typeface="Inter"/>
              </a:rPr>
              <a:t>IRIS  (Our Solution)</a:t>
            </a:r>
          </a:p>
        </p:txBody>
      </p:sp>
      <p:sp>
        <p:nvSpPr>
          <p:cNvPr id="16" name="!!hr_f_0"/>
          <p:cNvSpPr/>
          <p:nvPr/>
        </p:nvSpPr>
        <p:spPr>
          <a:xfrm>
            <a:off x="411480" y="2240280"/>
            <a:ext cx="2670048" cy="58521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hr_ft_0"/>
          <p:cNvSpPr txBox="1"/>
          <p:nvPr/>
        </p:nvSpPr>
        <p:spPr>
          <a:xfrm>
            <a:off x="566928" y="2331720"/>
            <a:ext cx="237744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E5FF"/>
                </a:solidFill>
                <a:latin typeface="Inter"/>
              </a:rPr>
              <a:t>Price</a:t>
            </a:r>
          </a:p>
        </p:txBody>
      </p:sp>
      <p:sp>
        <p:nvSpPr>
          <p:cNvPr id="18" name="!!hr_t_0"/>
          <p:cNvSpPr/>
          <p:nvPr/>
        </p:nvSpPr>
        <p:spPr>
          <a:xfrm>
            <a:off x="3246120" y="2240280"/>
            <a:ext cx="4069080" cy="585216"/>
          </a:xfrm>
          <a:prstGeom prst="roundRect">
            <a:avLst>
              <a:gd name="adj" fmla="val 35000"/>
            </a:avLst>
          </a:prstGeom>
          <a:solidFill>
            <a:srgbClr val="101A2C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nim_hr_tt_0"/>
          <p:cNvSpPr txBox="1"/>
          <p:nvPr/>
        </p:nvSpPr>
        <p:spPr>
          <a:xfrm>
            <a:off x="3337560" y="2331720"/>
            <a:ext cx="388620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ACBEDA"/>
                </a:solidFill>
                <a:latin typeface="Inter"/>
              </a:rPr>
              <a:t>₹25,00,000+  (Imported)</a:t>
            </a:r>
          </a:p>
        </p:txBody>
      </p:sp>
      <p:sp>
        <p:nvSpPr>
          <p:cNvPr id="20" name="!!hr_i_0"/>
          <p:cNvSpPr/>
          <p:nvPr/>
        </p:nvSpPr>
        <p:spPr>
          <a:xfrm>
            <a:off x="7498079" y="2240280"/>
            <a:ext cx="4279392" cy="585216"/>
          </a:xfrm>
          <a:prstGeom prst="roundRect">
            <a:avLst>
              <a:gd name="adj" fmla="val 35000"/>
            </a:avLst>
          </a:prstGeom>
          <a:solidFill>
            <a:srgbClr val="142640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nim_hr_it_0"/>
          <p:cNvSpPr txBox="1"/>
          <p:nvPr/>
        </p:nvSpPr>
        <p:spPr>
          <a:xfrm>
            <a:off x="7589520" y="2331720"/>
            <a:ext cx="409651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₹885 Prototype  (₹3K–₹3.5K Kit)</a:t>
            </a:r>
          </a:p>
        </p:txBody>
      </p:sp>
      <p:sp>
        <p:nvSpPr>
          <p:cNvPr id="22" name="!!hr_f_1"/>
          <p:cNvSpPr/>
          <p:nvPr/>
        </p:nvSpPr>
        <p:spPr>
          <a:xfrm>
            <a:off x="411480" y="2916936"/>
            <a:ext cx="2670048" cy="58521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hr_ft_1"/>
          <p:cNvSpPr txBox="1"/>
          <p:nvPr/>
        </p:nvSpPr>
        <p:spPr>
          <a:xfrm>
            <a:off x="566928" y="3008376"/>
            <a:ext cx="237744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E5FF"/>
                </a:solidFill>
                <a:latin typeface="Inter"/>
              </a:rPr>
              <a:t>Technology</a:t>
            </a:r>
          </a:p>
        </p:txBody>
      </p:sp>
      <p:sp>
        <p:nvSpPr>
          <p:cNvPr id="24" name="!!hr_t_1"/>
          <p:cNvSpPr/>
          <p:nvPr/>
        </p:nvSpPr>
        <p:spPr>
          <a:xfrm>
            <a:off x="3246120" y="2916936"/>
            <a:ext cx="4069080" cy="585216"/>
          </a:xfrm>
          <a:prstGeom prst="roundRect">
            <a:avLst>
              <a:gd name="adj" fmla="val 35000"/>
            </a:avLst>
          </a:prstGeom>
          <a:solidFill>
            <a:srgbClr val="101A2C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nim_hr_tt_1"/>
          <p:cNvSpPr txBox="1"/>
          <p:nvPr/>
        </p:nvSpPr>
        <p:spPr>
          <a:xfrm>
            <a:off x="3337560" y="3008376"/>
            <a:ext cx="388620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ACBEDA"/>
                </a:solidFill>
                <a:latin typeface="Inter"/>
              </a:rPr>
              <a:t>Camera-Based Eye Tracking</a:t>
            </a:r>
          </a:p>
        </p:txBody>
      </p:sp>
      <p:sp>
        <p:nvSpPr>
          <p:cNvPr id="26" name="!!hr_i_1"/>
          <p:cNvSpPr/>
          <p:nvPr/>
        </p:nvSpPr>
        <p:spPr>
          <a:xfrm>
            <a:off x="7498079" y="2916936"/>
            <a:ext cx="4279392" cy="585216"/>
          </a:xfrm>
          <a:prstGeom prst="roundRect">
            <a:avLst>
              <a:gd name="adj" fmla="val 35000"/>
            </a:avLst>
          </a:prstGeom>
          <a:solidFill>
            <a:srgbClr val="142640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anim_hr_it_1"/>
          <p:cNvSpPr txBox="1"/>
          <p:nvPr/>
        </p:nvSpPr>
        <p:spPr>
          <a:xfrm>
            <a:off x="7589520" y="3008376"/>
            <a:ext cx="409651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950nm Multi-Beam IR + 50Hz IMU</a:t>
            </a:r>
          </a:p>
        </p:txBody>
      </p:sp>
      <p:sp>
        <p:nvSpPr>
          <p:cNvPr id="28" name="!!hr_f_2"/>
          <p:cNvSpPr/>
          <p:nvPr/>
        </p:nvSpPr>
        <p:spPr>
          <a:xfrm>
            <a:off x="411480" y="3593592"/>
            <a:ext cx="2670048" cy="58521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hr_ft_2"/>
          <p:cNvSpPr txBox="1"/>
          <p:nvPr/>
        </p:nvSpPr>
        <p:spPr>
          <a:xfrm>
            <a:off x="566928" y="3685032"/>
            <a:ext cx="237744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E5FF"/>
                </a:solidFill>
                <a:latin typeface="Inter"/>
              </a:rPr>
              <a:t>Lighting</a:t>
            </a:r>
          </a:p>
        </p:txBody>
      </p:sp>
      <p:sp>
        <p:nvSpPr>
          <p:cNvPr id="30" name="!!hr_t_2"/>
          <p:cNvSpPr/>
          <p:nvPr/>
        </p:nvSpPr>
        <p:spPr>
          <a:xfrm>
            <a:off x="3246120" y="3593592"/>
            <a:ext cx="4069080" cy="585216"/>
          </a:xfrm>
          <a:prstGeom prst="roundRect">
            <a:avLst>
              <a:gd name="adj" fmla="val 35000"/>
            </a:avLst>
          </a:prstGeom>
          <a:solidFill>
            <a:srgbClr val="101A2C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anim_hr_tt_2"/>
          <p:cNvSpPr txBox="1"/>
          <p:nvPr/>
        </p:nvSpPr>
        <p:spPr>
          <a:xfrm>
            <a:off x="3337560" y="3685032"/>
            <a:ext cx="388620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ACBEDA"/>
                </a:solidFill>
                <a:latin typeface="Inter"/>
              </a:rPr>
              <a:t>Requires Controlled Lighting</a:t>
            </a:r>
          </a:p>
        </p:txBody>
      </p:sp>
      <p:sp>
        <p:nvSpPr>
          <p:cNvPr id="32" name="!!hr_i_2"/>
          <p:cNvSpPr/>
          <p:nvPr/>
        </p:nvSpPr>
        <p:spPr>
          <a:xfrm>
            <a:off x="7498079" y="3593592"/>
            <a:ext cx="4279392" cy="585216"/>
          </a:xfrm>
          <a:prstGeom prst="roundRect">
            <a:avLst>
              <a:gd name="adj" fmla="val 35000"/>
            </a:avLst>
          </a:prstGeom>
          <a:solidFill>
            <a:srgbClr val="142640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anim_hr_it_2"/>
          <p:cNvSpPr txBox="1"/>
          <p:nvPr/>
        </p:nvSpPr>
        <p:spPr>
          <a:xfrm>
            <a:off x="7589520" y="3685032"/>
            <a:ext cx="409651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Works in Any Lighting Condition</a:t>
            </a:r>
          </a:p>
        </p:txBody>
      </p:sp>
      <p:sp>
        <p:nvSpPr>
          <p:cNvPr id="34" name="!!hr_f_3"/>
          <p:cNvSpPr/>
          <p:nvPr/>
        </p:nvSpPr>
        <p:spPr>
          <a:xfrm>
            <a:off x="411480" y="4270248"/>
            <a:ext cx="2670048" cy="58521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!!hr_ft_3"/>
          <p:cNvSpPr txBox="1"/>
          <p:nvPr/>
        </p:nvSpPr>
        <p:spPr>
          <a:xfrm>
            <a:off x="566928" y="4361688"/>
            <a:ext cx="237744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E5FF"/>
                </a:solidFill>
                <a:latin typeface="Inter"/>
              </a:rPr>
              <a:t>Setup Time</a:t>
            </a:r>
          </a:p>
        </p:txBody>
      </p:sp>
      <p:sp>
        <p:nvSpPr>
          <p:cNvPr id="36" name="!!hr_t_3"/>
          <p:cNvSpPr/>
          <p:nvPr/>
        </p:nvSpPr>
        <p:spPr>
          <a:xfrm>
            <a:off x="3246120" y="4270248"/>
            <a:ext cx="4069080" cy="585216"/>
          </a:xfrm>
          <a:prstGeom prst="roundRect">
            <a:avLst>
              <a:gd name="adj" fmla="val 35000"/>
            </a:avLst>
          </a:prstGeom>
          <a:solidFill>
            <a:srgbClr val="101A2C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anim_hr_tt_3"/>
          <p:cNvSpPr txBox="1"/>
          <p:nvPr/>
        </p:nvSpPr>
        <p:spPr>
          <a:xfrm>
            <a:off x="3337560" y="4361688"/>
            <a:ext cx="388620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ACBEDA"/>
                </a:solidFill>
                <a:latin typeface="Inter"/>
              </a:rPr>
              <a:t>30+ Min (Specialist Required)</a:t>
            </a:r>
          </a:p>
        </p:txBody>
      </p:sp>
      <p:sp>
        <p:nvSpPr>
          <p:cNvPr id="38" name="!!hr_i_3"/>
          <p:cNvSpPr/>
          <p:nvPr/>
        </p:nvSpPr>
        <p:spPr>
          <a:xfrm>
            <a:off x="7498079" y="4270248"/>
            <a:ext cx="4279392" cy="585216"/>
          </a:xfrm>
          <a:prstGeom prst="roundRect">
            <a:avLst>
              <a:gd name="adj" fmla="val 35000"/>
            </a:avLst>
          </a:prstGeom>
          <a:solidFill>
            <a:srgbClr val="142640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anim_hr_it_3"/>
          <p:cNvSpPr txBox="1"/>
          <p:nvPr/>
        </p:nvSpPr>
        <p:spPr>
          <a:xfrm>
            <a:off x="7589520" y="4361688"/>
            <a:ext cx="409651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2–3 Seconds (Self-Calibrating)</a:t>
            </a:r>
          </a:p>
        </p:txBody>
      </p:sp>
      <p:sp>
        <p:nvSpPr>
          <p:cNvPr id="40" name="!!hr_f_4"/>
          <p:cNvSpPr/>
          <p:nvPr/>
        </p:nvSpPr>
        <p:spPr>
          <a:xfrm>
            <a:off x="411480" y="4946904"/>
            <a:ext cx="2670048" cy="58521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!!hr_ft_4"/>
          <p:cNvSpPr txBox="1"/>
          <p:nvPr/>
        </p:nvSpPr>
        <p:spPr>
          <a:xfrm>
            <a:off x="566928" y="5038344"/>
            <a:ext cx="237744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E5FF"/>
                </a:solidFill>
                <a:latin typeface="Inter"/>
              </a:rPr>
              <a:t>Portability</a:t>
            </a:r>
          </a:p>
        </p:txBody>
      </p:sp>
      <p:sp>
        <p:nvSpPr>
          <p:cNvPr id="42" name="!!hr_t_4"/>
          <p:cNvSpPr/>
          <p:nvPr/>
        </p:nvSpPr>
        <p:spPr>
          <a:xfrm>
            <a:off x="3246120" y="4946904"/>
            <a:ext cx="4069080" cy="585216"/>
          </a:xfrm>
          <a:prstGeom prst="roundRect">
            <a:avLst>
              <a:gd name="adj" fmla="val 35000"/>
            </a:avLst>
          </a:prstGeom>
          <a:solidFill>
            <a:srgbClr val="101A2C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anim_hr_tt_4"/>
          <p:cNvSpPr txBox="1"/>
          <p:nvPr/>
        </p:nvSpPr>
        <p:spPr>
          <a:xfrm>
            <a:off x="3337560" y="5038344"/>
            <a:ext cx="388620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ACBEDA"/>
                </a:solidFill>
                <a:latin typeface="Inter"/>
              </a:rPr>
              <a:t>Dedicated Locked Tablet</a:t>
            </a:r>
          </a:p>
        </p:txBody>
      </p:sp>
      <p:sp>
        <p:nvSpPr>
          <p:cNvPr id="44" name="!!hr_i_4"/>
          <p:cNvSpPr/>
          <p:nvPr/>
        </p:nvSpPr>
        <p:spPr>
          <a:xfrm>
            <a:off x="7498079" y="4946904"/>
            <a:ext cx="4279392" cy="585216"/>
          </a:xfrm>
          <a:prstGeom prst="roundRect">
            <a:avLst>
              <a:gd name="adj" fmla="val 35000"/>
            </a:avLst>
          </a:prstGeom>
          <a:solidFill>
            <a:srgbClr val="142640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anim_hr_it_4"/>
          <p:cNvSpPr txBox="1"/>
          <p:nvPr/>
        </p:nvSpPr>
        <p:spPr>
          <a:xfrm>
            <a:off x="7589520" y="5038344"/>
            <a:ext cx="409651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Any Existing Laptop or Phone</a:t>
            </a:r>
          </a:p>
        </p:txBody>
      </p:sp>
      <p:sp>
        <p:nvSpPr>
          <p:cNvPr id="46" name="!!hr_f_5"/>
          <p:cNvSpPr/>
          <p:nvPr/>
        </p:nvSpPr>
        <p:spPr>
          <a:xfrm>
            <a:off x="411480" y="5623560"/>
            <a:ext cx="2670048" cy="585216"/>
          </a:xfrm>
          <a:prstGeom prst="roundRect">
            <a:avLst>
              <a:gd name="adj" fmla="val 35000"/>
            </a:avLst>
          </a:prstGeom>
          <a:solidFill>
            <a:srgbClr val="0C1321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!!hr_ft_5"/>
          <p:cNvSpPr txBox="1"/>
          <p:nvPr/>
        </p:nvSpPr>
        <p:spPr>
          <a:xfrm>
            <a:off x="566928" y="5715000"/>
            <a:ext cx="237744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E5FF"/>
                </a:solidFill>
                <a:latin typeface="Inter"/>
              </a:rPr>
              <a:t>Open Source</a:t>
            </a:r>
          </a:p>
        </p:txBody>
      </p:sp>
      <p:sp>
        <p:nvSpPr>
          <p:cNvPr id="48" name="!!hr_t_5"/>
          <p:cNvSpPr/>
          <p:nvPr/>
        </p:nvSpPr>
        <p:spPr>
          <a:xfrm>
            <a:off x="3246120" y="5623560"/>
            <a:ext cx="4069080" cy="585216"/>
          </a:xfrm>
          <a:prstGeom prst="roundRect">
            <a:avLst>
              <a:gd name="adj" fmla="val 35000"/>
            </a:avLst>
          </a:prstGeom>
          <a:solidFill>
            <a:srgbClr val="101A2C"/>
          </a:solidFill>
          <a:ln w="15240">
            <a:solidFill>
              <a:srgbClr val="22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anim_hr_tt_5"/>
          <p:cNvSpPr txBox="1"/>
          <p:nvPr/>
        </p:nvSpPr>
        <p:spPr>
          <a:xfrm>
            <a:off x="3337560" y="5715000"/>
            <a:ext cx="3886200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ACBEDA"/>
                </a:solidFill>
                <a:latin typeface="Inter"/>
              </a:rPr>
              <a:t>Closed Proprietary System</a:t>
            </a:r>
          </a:p>
        </p:txBody>
      </p:sp>
      <p:sp>
        <p:nvSpPr>
          <p:cNvPr id="50" name="!!hr_i_5"/>
          <p:cNvSpPr/>
          <p:nvPr/>
        </p:nvSpPr>
        <p:spPr>
          <a:xfrm>
            <a:off x="7498079" y="5623560"/>
            <a:ext cx="4279392" cy="585216"/>
          </a:xfrm>
          <a:prstGeom prst="roundRect">
            <a:avLst>
              <a:gd name="adj" fmla="val 35000"/>
            </a:avLst>
          </a:prstGeom>
          <a:solidFill>
            <a:srgbClr val="142640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anim_hr_it_5"/>
          <p:cNvSpPr txBox="1"/>
          <p:nvPr/>
        </p:nvSpPr>
        <p:spPr>
          <a:xfrm>
            <a:off x="7589520" y="5715000"/>
            <a:ext cx="4096512" cy="40233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100% Open Hardware &amp; Code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76C3B55-5F5B-4C17-CC76-F7679E1ADA11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27E1F0BF-97A0-5904-1911-BF6142F658A8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D93C521-4F28-E88C-7710-319AFD5735BA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E44D7E-AAA9-3436-B078-45E5467ED583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fr-FR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COMPARATIVE ANALYSIS  ·  TOBII DYNAVOX VS. IRIS</a:t>
            </a:r>
            <a:endParaRPr lang="en-US" sz="950" b="1">
              <a:solidFill>
                <a:srgbClr val="94A3B8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832FBC-F7C5-F45B-ED26-C261D2189796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1:58 – 2:03   [22/32]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5B9A9E5-AC16-B8FD-5A61-455C4E5F96C2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0DBFEC8-F71C-2A9E-DEDA-43DD8E4FFBB6}"/>
              </a:ext>
            </a:extLst>
          </p:cNvPr>
          <p:cNvSpPr/>
          <p:nvPr/>
        </p:nvSpPr>
        <p:spPr>
          <a:xfrm>
            <a:off x="411480" y="6654800"/>
            <a:ext cx="7814469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00960"/>
      </p:ext>
    </p:extLst>
  </p:cSld>
  <p:clrMapOvr>
    <a:masterClrMapping/>
  </p:clrMapOvr>
  <p:transition spd="med" advTm="5600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1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1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23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31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60"/>
                            </p:stCondLst>
                            <p:childTnLst>
                              <p:par>
                                <p:cTn id="33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35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40"/>
                            </p:stCondLst>
                            <p:childTnLst>
                              <p:par>
                                <p:cTn id="37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39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20"/>
                            </p:stCondLst>
                            <p:childTnLst>
                              <p:par>
                                <p:cTn id="41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43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00"/>
                            </p:stCondLst>
                            <p:childTnLst>
                              <p:par>
                                <p:cTn id="45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47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980"/>
                            </p:stCondLst>
                            <p:childTnLst>
                              <p:par>
                                <p:cTn id="49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51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160"/>
                            </p:stCondLst>
                            <p:childTnLst>
                              <p:par>
                                <p:cTn id="53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55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200"/>
                            </p:stCondLst>
                            <p:childTnLst>
                              <p:par>
                                <p:cTn id="57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59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06</a:t>
            </a:r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Honest Engineering:  Strengths, Limits &amp; Where Tobii Wins.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Transparent evaluation across hardware, wireless reliability, and medical-grade patient privacy.</a:t>
            </a:r>
          </a:p>
        </p:txBody>
      </p:sp>
      <p:sp>
        <p:nvSpPr>
          <p:cNvPr id="12" name="!!h2h_iri"/>
          <p:cNvSpPr/>
          <p:nvPr/>
        </p:nvSpPr>
        <p:spPr>
          <a:xfrm>
            <a:off x="411480" y="1664208"/>
            <a:ext cx="3794760" cy="470916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01A2C"/>
          </a:solidFill>
          <a:ln w="279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nim_hon_pos"/>
          <p:cNvSpPr txBox="1"/>
          <p:nvPr/>
        </p:nvSpPr>
        <p:spPr>
          <a:xfrm>
            <a:off x="621792" y="1810512"/>
            <a:ext cx="3383280" cy="4389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E676"/>
                </a:solidFill>
                <a:latin typeface="Inter"/>
              </a:rPr>
              <a:t>✓  POSITIVES (IRIS WINS)</a:t>
            </a:r>
          </a:p>
          <a:p>
            <a:pPr algn="l">
              <a:spcAft>
                <a:spcPts val="800"/>
              </a:spcAft>
            </a:pPr>
            <a:r>
              <a:rPr sz="1480" b="0">
                <a:solidFill>
                  <a:srgbClr val="F8FAFF"/>
                </a:solidFill>
                <a:latin typeface="Inter"/>
              </a:rPr>
              <a:t>1.  ₹885 BOM (99.96% cheaper)</a:t>
            </a:r>
          </a:p>
          <a:p>
            <a:pPr algn="l">
              <a:spcAft>
                <a:spcPts val="800"/>
              </a:spcAft>
            </a:pPr>
            <a:r>
              <a:rPr sz="1480" b="0">
                <a:solidFill>
                  <a:srgbClr val="F8FAFF"/>
                </a:solidFill>
                <a:latin typeface="Inter"/>
              </a:rPr>
              <a:t>2.  BLE 5.0 + Auto Wi-Fi failover</a:t>
            </a:r>
          </a:p>
          <a:p>
            <a:pPr algn="l">
              <a:spcAft>
                <a:spcPts val="800"/>
              </a:spcAft>
            </a:pPr>
            <a:r>
              <a:rPr sz="1480" b="0">
                <a:solidFill>
                  <a:srgbClr val="F8FAFF"/>
                </a:solidFill>
                <a:latin typeface="Inter"/>
              </a:rPr>
              <a:t>3.  Works in any lighting condition</a:t>
            </a:r>
          </a:p>
          <a:p>
            <a:pPr algn="l">
              <a:spcAft>
                <a:spcPts val="800"/>
              </a:spcAft>
            </a:pPr>
            <a:r>
              <a:rPr sz="1480" b="0">
                <a:solidFill>
                  <a:srgbClr val="F8FAFF"/>
                </a:solidFill>
                <a:latin typeface="Inter"/>
              </a:rPr>
              <a:t>4.  Fits ±7D Rx lenses via magnet</a:t>
            </a:r>
          </a:p>
          <a:p>
            <a:pPr algn="l">
              <a:spcAft>
                <a:spcPts val="800"/>
              </a:spcAft>
            </a:pPr>
            <a:r>
              <a:rPr sz="1480" b="0">
                <a:solidFill>
                  <a:srgbClr val="F8FAFF"/>
                </a:solidFill>
                <a:latin typeface="Inter"/>
              </a:rPr>
              <a:t>5.  12h battery with Deep Sleep</a:t>
            </a:r>
          </a:p>
          <a:p>
            <a:pPr algn="l">
              <a:spcAft>
                <a:spcPts val="0"/>
              </a:spcAft>
            </a:pPr>
            <a:r>
              <a:rPr sz="1480" b="1">
                <a:solidFill>
                  <a:srgbClr val="00E5FF"/>
                </a:solidFill>
                <a:latin typeface="Inter"/>
              </a:rPr>
              <a:t>6.  100% local privacy (zero video)</a:t>
            </a:r>
          </a:p>
        </p:txBody>
      </p:sp>
      <p:sp>
        <p:nvSpPr>
          <p:cNvPr id="14" name="!!hon_lim_box"/>
          <p:cNvSpPr/>
          <p:nvPr/>
        </p:nvSpPr>
        <p:spPr>
          <a:xfrm>
            <a:off x="4389120" y="1664208"/>
            <a:ext cx="3520440" cy="470916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nim_hon_lim"/>
          <p:cNvSpPr txBox="1"/>
          <p:nvPr/>
        </p:nvSpPr>
        <p:spPr>
          <a:xfrm>
            <a:off x="4590288" y="1810512"/>
            <a:ext cx="3127248" cy="4389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FFB800"/>
                </a:solidFill>
                <a:latin typeface="Inter"/>
              </a:rPr>
              <a:t>⚠  CURRENT LIMITATIONS</a:t>
            </a:r>
          </a:p>
          <a:p>
            <a:pPr algn="l">
              <a:spcAft>
                <a:spcPts val="1000"/>
              </a:spcAft>
            </a:pPr>
            <a:r>
              <a:rPr sz="1480" b="0">
                <a:solidFill>
                  <a:srgbClr val="F8FAFF"/>
                </a:solidFill>
                <a:latin typeface="Inter"/>
              </a:rPr>
              <a:t>1.  2–3s calibration per new user</a:t>
            </a:r>
          </a:p>
          <a:p>
            <a:pPr algn="l">
              <a:spcAft>
                <a:spcPts val="1000"/>
              </a:spcAft>
            </a:pPr>
            <a:r>
              <a:rPr sz="1480" b="0">
                <a:solidFill>
                  <a:srgbClr val="F8FAFF"/>
                </a:solidFill>
                <a:latin typeface="Inter"/>
              </a:rPr>
              <a:t>2.  Mild eye/neck fatigue over long continuous hours</a:t>
            </a:r>
          </a:p>
          <a:p>
            <a:pPr algn="l">
              <a:spcAft>
                <a:spcPts val="1000"/>
              </a:spcAft>
            </a:pPr>
            <a:r>
              <a:rPr sz="1480" b="0">
                <a:solidFill>
                  <a:srgbClr val="F8FAFF"/>
                </a:solidFill>
                <a:latin typeface="Inter"/>
              </a:rPr>
              <a:t>3.  2.4GHz band interference in crowded hospital wards</a:t>
            </a:r>
          </a:p>
          <a:p>
            <a:pPr algn="l">
              <a:spcAft>
                <a:spcPts val="0"/>
              </a:spcAft>
            </a:pPr>
            <a:r>
              <a:rPr sz="1480" b="1">
                <a:solidFill>
                  <a:srgbClr val="00E5FF"/>
                </a:solidFill>
                <a:latin typeface="Inter"/>
              </a:rPr>
              <a:t>4.  Needs 1 voluntary eyelid (solved in AI+CV edition)</a:t>
            </a:r>
          </a:p>
        </p:txBody>
      </p:sp>
      <p:sp>
        <p:nvSpPr>
          <p:cNvPr id="16" name="!!h2h_tob"/>
          <p:cNvSpPr/>
          <p:nvPr/>
        </p:nvSpPr>
        <p:spPr>
          <a:xfrm>
            <a:off x="8092440" y="1664208"/>
            <a:ext cx="3685032" cy="470916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01A2C"/>
          </a:solidFill>
          <a:ln w="2540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hon_tob"/>
          <p:cNvSpPr txBox="1"/>
          <p:nvPr/>
        </p:nvSpPr>
        <p:spPr>
          <a:xfrm>
            <a:off x="8293608" y="1810512"/>
            <a:ext cx="3291840" cy="4389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50" b="1">
                <a:solidFill>
                  <a:srgbClr val="FF5252"/>
                </a:solidFill>
                <a:latin typeface="Inter"/>
              </a:rPr>
              <a:t>WHERE TOBII WINS + SAFETY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F8FAFF"/>
                </a:solidFill>
                <a:latin typeface="Inter"/>
              </a:rPr>
              <a:t>•  Tobii: FDA/CE hospital billing, 20+ yrs clinical trials &amp; 120Hz ICU bar</a:t>
            </a:r>
          </a:p>
          <a:p>
            <a:pPr algn="l">
              <a:spcAft>
                <a:spcPts val="1000"/>
              </a:spcAft>
            </a:pPr>
            <a:r>
              <a:rPr sz="1450" b="1">
                <a:solidFill>
                  <a:srgbClr val="00E676"/>
                </a:solidFill>
                <a:latin typeface="Inter"/>
              </a:rPr>
              <a:t>•  IRIS Safety: 2A fuse, XIAO cutoff, &lt;0.5 mW/cm² IEC safe IR</a:t>
            </a:r>
          </a:p>
          <a:p>
            <a:pPr algn="l">
              <a:spcAft>
                <a:spcPts val="0"/>
              </a:spcAft>
            </a:pPr>
            <a:r>
              <a:rPr sz="1450" b="1">
                <a:solidFill>
                  <a:srgbClr val="FFB800"/>
                </a:solidFill>
                <a:latin typeface="Inter"/>
              </a:rPr>
              <a:t>•  IRIS Privacy: 0 video uploaded, 0 PII in ntfy.sh alerts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56D7CF-7730-7EE6-95F8-87ADE6E76985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D4E18A5-6501-C5A5-79ED-7B58992384CD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461BC2-4AA1-9FB9-F235-0246E372B974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BAC4A7-D616-44E0-BC2B-3423B979C974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ENGINEERING HONESTY &amp; SAFETY  ·  POSITIVES &amp; LIMITS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A9EA09-527F-57C7-E916-DE580AB47D8E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2:03 – 2:09   [23/32]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4DDB13-7EF7-9C25-C8F4-7E7503DB3362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4799F4-E3FC-C405-3B92-C73E55F089F6}"/>
              </a:ext>
            </a:extLst>
          </p:cNvPr>
          <p:cNvSpPr/>
          <p:nvPr/>
        </p:nvSpPr>
        <p:spPr>
          <a:xfrm>
            <a:off x="411480" y="6654800"/>
            <a:ext cx="8169672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733628"/>
      </p:ext>
    </p:extLst>
  </p:cSld>
  <p:clrMapOvr>
    <a:masterClrMapping/>
  </p:clrMapOvr>
  <p:transition spd="med" advTm="5600">
    <p:fade/>
    <p:extLst mod="1">
      <p:ext uri="{D84E410A-3911-4435-9328-F4292B5D5B2B}">
        <p159:morph xmlns:p159="http://schemas.microsoft.com/office/powerpoint/2015/09/main" xmlns="" xmlns:p14="http://schemas.microsoft.com/office/powerpoint/2010/main" xmlns:mc="http://schemas.openxmlformats.org/markup-compatibility/2006" option="byObject"/>
      </p:ext>
    </p:extLst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07</a:t>
            </a:r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Economic Sphere:  ₹885 Prototype  →  ₹3,000 Complete Kit.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Transparent component costing + sustainable production economics across a $20B → $43.3B global market.</a:t>
            </a:r>
          </a:p>
        </p:txBody>
      </p:sp>
      <p:sp>
        <p:nvSpPr>
          <p:cNvPr id="12" name="!!econ_l_box"/>
          <p:cNvSpPr/>
          <p:nvPr/>
        </p:nvSpPr>
        <p:spPr>
          <a:xfrm>
            <a:off x="411480" y="1664208"/>
            <a:ext cx="5715000" cy="470916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econ_l_hdr"/>
          <p:cNvSpPr txBox="1"/>
          <p:nvPr/>
        </p:nvSpPr>
        <p:spPr>
          <a:xfrm>
            <a:off x="621792" y="1773936"/>
            <a:ext cx="530352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0E5FF"/>
                </a:solidFill>
                <a:latin typeface="Inter"/>
              </a:rPr>
              <a:t>REALISTIC PROTOTYPE BILL OF MATERIALS  (TOTAL = ₹885)</a:t>
            </a:r>
          </a:p>
        </p:txBody>
      </p:sp>
      <p:sp>
        <p:nvSpPr>
          <p:cNvPr id="14" name="!!bom_n_0"/>
          <p:cNvSpPr txBox="1"/>
          <p:nvPr/>
        </p:nvSpPr>
        <p:spPr>
          <a:xfrm>
            <a:off x="621792" y="2231136"/>
            <a:ext cx="2514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8FAFF"/>
                </a:solidFill>
                <a:latin typeface="Inter"/>
              </a:rPr>
              <a:t>Seeed Studio XIAO ESP32C3</a:t>
            </a:r>
          </a:p>
        </p:txBody>
      </p:sp>
      <p:sp>
        <p:nvSpPr>
          <p:cNvPr id="15" name="anim_bar_bom_0"/>
          <p:cNvSpPr/>
          <p:nvPr/>
        </p:nvSpPr>
        <p:spPr>
          <a:xfrm>
            <a:off x="3182112" y="2231136"/>
            <a:ext cx="2834640" cy="347472"/>
          </a:xfrm>
          <a:prstGeom prst="roundRect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!!bom_c_0"/>
          <p:cNvSpPr txBox="1"/>
          <p:nvPr/>
        </p:nvSpPr>
        <p:spPr>
          <a:xfrm>
            <a:off x="3255264" y="2249424"/>
            <a:ext cx="2688336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60A12"/>
                </a:solidFill>
                <a:latin typeface="Inter"/>
              </a:rPr>
              <a:t>₹500</a:t>
            </a:r>
          </a:p>
        </p:txBody>
      </p:sp>
      <p:sp>
        <p:nvSpPr>
          <p:cNvPr id="17" name="!!bom_n_1"/>
          <p:cNvSpPr txBox="1"/>
          <p:nvPr/>
        </p:nvSpPr>
        <p:spPr>
          <a:xfrm>
            <a:off x="621792" y="2706624"/>
            <a:ext cx="2514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8FAFF"/>
                </a:solidFill>
                <a:latin typeface="Inter"/>
              </a:rPr>
              <a:t>Breathable Velcro Belt + Glasses</a:t>
            </a:r>
          </a:p>
        </p:txBody>
      </p:sp>
      <p:sp>
        <p:nvSpPr>
          <p:cNvPr id="18" name="anim_bar_bom_1"/>
          <p:cNvSpPr/>
          <p:nvPr/>
        </p:nvSpPr>
        <p:spPr>
          <a:xfrm>
            <a:off x="3182112" y="2706624"/>
            <a:ext cx="1417320" cy="347472"/>
          </a:xfrm>
          <a:prstGeom prst="roundRect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bom_c_1"/>
          <p:cNvSpPr txBox="1"/>
          <p:nvPr/>
        </p:nvSpPr>
        <p:spPr>
          <a:xfrm>
            <a:off x="3255264" y="2724912"/>
            <a:ext cx="1271016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60A12"/>
                </a:solidFill>
                <a:latin typeface="Inter"/>
              </a:rPr>
              <a:t>₹130</a:t>
            </a:r>
          </a:p>
        </p:txBody>
      </p:sp>
      <p:sp>
        <p:nvSpPr>
          <p:cNvPr id="20" name="!!bom_n_2"/>
          <p:cNvSpPr txBox="1"/>
          <p:nvPr/>
        </p:nvSpPr>
        <p:spPr>
          <a:xfrm>
            <a:off x="621792" y="3182112"/>
            <a:ext cx="2514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8FAFF"/>
                </a:solidFill>
                <a:latin typeface="Inter"/>
              </a:rPr>
              <a:t>MPU6050 6-DOF IMU Sensor</a:t>
            </a:r>
          </a:p>
        </p:txBody>
      </p:sp>
      <p:sp>
        <p:nvSpPr>
          <p:cNvPr id="21" name="anim_bar_bom_2"/>
          <p:cNvSpPr/>
          <p:nvPr/>
        </p:nvSpPr>
        <p:spPr>
          <a:xfrm>
            <a:off x="3182112" y="3182112"/>
            <a:ext cx="1234440" cy="347472"/>
          </a:xfrm>
          <a:prstGeom prst="roundRect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!!bom_c_2"/>
          <p:cNvSpPr txBox="1"/>
          <p:nvPr/>
        </p:nvSpPr>
        <p:spPr>
          <a:xfrm>
            <a:off x="3255264" y="3200400"/>
            <a:ext cx="1088136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60A12"/>
                </a:solidFill>
                <a:latin typeface="Inter"/>
              </a:rPr>
              <a:t>₹100</a:t>
            </a:r>
          </a:p>
        </p:txBody>
      </p:sp>
      <p:sp>
        <p:nvSpPr>
          <p:cNvPr id="23" name="!!bom_n_3"/>
          <p:cNvSpPr txBox="1"/>
          <p:nvPr/>
        </p:nvSpPr>
        <p:spPr>
          <a:xfrm>
            <a:off x="621792" y="3657600"/>
            <a:ext cx="2514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8FAFF"/>
                </a:solidFill>
                <a:latin typeface="Inter"/>
              </a:rPr>
              <a:t>3.7V 1000mAh Li-Po Battery</a:t>
            </a:r>
          </a:p>
        </p:txBody>
      </p:sp>
      <p:sp>
        <p:nvSpPr>
          <p:cNvPr id="24" name="anim_bar_bom_3"/>
          <p:cNvSpPr/>
          <p:nvPr/>
        </p:nvSpPr>
        <p:spPr>
          <a:xfrm>
            <a:off x="3182112" y="3657600"/>
            <a:ext cx="1097280" cy="347472"/>
          </a:xfrm>
          <a:prstGeom prst="roundRect">
            <a:avLst>
              <a:gd name="adj" fmla="val 25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bom_c_3"/>
          <p:cNvSpPr txBox="1"/>
          <p:nvPr/>
        </p:nvSpPr>
        <p:spPr>
          <a:xfrm>
            <a:off x="3255264" y="3675887"/>
            <a:ext cx="950976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60A12"/>
                </a:solidFill>
                <a:latin typeface="Inter"/>
              </a:rPr>
              <a:t>₹80</a:t>
            </a:r>
          </a:p>
        </p:txBody>
      </p:sp>
      <p:sp>
        <p:nvSpPr>
          <p:cNvPr id="26" name="!!bom_n_4"/>
          <p:cNvSpPr txBox="1"/>
          <p:nvPr/>
        </p:nvSpPr>
        <p:spPr>
          <a:xfrm>
            <a:off x="621792" y="4133088"/>
            <a:ext cx="2514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8FAFF"/>
                </a:solidFill>
                <a:latin typeface="Inter"/>
              </a:rPr>
              <a:t>950nm Multi-Beam IR Sensor</a:t>
            </a:r>
          </a:p>
        </p:txBody>
      </p:sp>
      <p:sp>
        <p:nvSpPr>
          <p:cNvPr id="27" name="anim_bar_bom_4"/>
          <p:cNvSpPr/>
          <p:nvPr/>
        </p:nvSpPr>
        <p:spPr>
          <a:xfrm>
            <a:off x="3182112" y="4133088"/>
            <a:ext cx="868680" cy="347472"/>
          </a:xfrm>
          <a:prstGeom prst="roundRect">
            <a:avLst>
              <a:gd name="adj" fmla="val 25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bom_c_4"/>
          <p:cNvSpPr txBox="1"/>
          <p:nvPr/>
        </p:nvSpPr>
        <p:spPr>
          <a:xfrm>
            <a:off x="3255264" y="4151376"/>
            <a:ext cx="722375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60A12"/>
                </a:solidFill>
                <a:latin typeface="Inter"/>
              </a:rPr>
              <a:t>₹30</a:t>
            </a:r>
          </a:p>
        </p:txBody>
      </p:sp>
      <p:sp>
        <p:nvSpPr>
          <p:cNvPr id="29" name="!!bom_n_5"/>
          <p:cNvSpPr txBox="1"/>
          <p:nvPr/>
        </p:nvSpPr>
        <p:spPr>
          <a:xfrm>
            <a:off x="621792" y="4608576"/>
            <a:ext cx="2514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8FAFF"/>
                </a:solidFill>
                <a:latin typeface="Inter"/>
              </a:rPr>
              <a:t>Wires + 2A Fuse + Passives</a:t>
            </a:r>
          </a:p>
        </p:txBody>
      </p:sp>
      <p:sp>
        <p:nvSpPr>
          <p:cNvPr id="30" name="anim_bar_bom_5"/>
          <p:cNvSpPr/>
          <p:nvPr/>
        </p:nvSpPr>
        <p:spPr>
          <a:xfrm>
            <a:off x="3182112" y="4608576"/>
            <a:ext cx="822960" cy="347472"/>
          </a:xfrm>
          <a:prstGeom prst="roundRect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bom_c_5"/>
          <p:cNvSpPr txBox="1"/>
          <p:nvPr/>
        </p:nvSpPr>
        <p:spPr>
          <a:xfrm>
            <a:off x="3255264" y="4626864"/>
            <a:ext cx="676656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60A12"/>
                </a:solidFill>
                <a:latin typeface="Inter"/>
              </a:rPr>
              <a:t>₹25</a:t>
            </a:r>
          </a:p>
        </p:txBody>
      </p:sp>
      <p:sp>
        <p:nvSpPr>
          <p:cNvPr id="32" name="!!bom_n_6"/>
          <p:cNvSpPr txBox="1"/>
          <p:nvPr/>
        </p:nvSpPr>
        <p:spPr>
          <a:xfrm>
            <a:off x="621792" y="5084064"/>
            <a:ext cx="2514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8FAFF"/>
                </a:solidFill>
                <a:latin typeface="Inter"/>
              </a:rPr>
              <a:t>Neodymium Magnet + Pivot + LED</a:t>
            </a:r>
          </a:p>
        </p:txBody>
      </p:sp>
      <p:sp>
        <p:nvSpPr>
          <p:cNvPr id="33" name="anim_bar_bom_6"/>
          <p:cNvSpPr/>
          <p:nvPr/>
        </p:nvSpPr>
        <p:spPr>
          <a:xfrm>
            <a:off x="3182112" y="5084064"/>
            <a:ext cx="777240" cy="347472"/>
          </a:xfrm>
          <a:prstGeom prst="roundRect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bom_c_6"/>
          <p:cNvSpPr txBox="1"/>
          <p:nvPr/>
        </p:nvSpPr>
        <p:spPr>
          <a:xfrm>
            <a:off x="3255264" y="5102351"/>
            <a:ext cx="630936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60A12"/>
                </a:solidFill>
                <a:latin typeface="Inter"/>
              </a:rPr>
              <a:t>₹20</a:t>
            </a:r>
          </a:p>
        </p:txBody>
      </p:sp>
      <p:sp>
        <p:nvSpPr>
          <p:cNvPr id="35" name="!!bom_tot_pill"/>
          <p:cNvSpPr/>
          <p:nvPr/>
        </p:nvSpPr>
        <p:spPr>
          <a:xfrm>
            <a:off x="621792" y="5596128"/>
            <a:ext cx="5303520" cy="585216"/>
          </a:xfrm>
          <a:prstGeom prst="roundRect">
            <a:avLst>
              <a:gd name="adj" fmla="val 35000"/>
            </a:avLst>
          </a:prstGeom>
          <a:solidFill>
            <a:srgbClr val="0A3A26"/>
          </a:solidFill>
          <a:ln w="2286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anim_bom_tot_t"/>
          <p:cNvSpPr txBox="1"/>
          <p:nvPr/>
        </p:nvSpPr>
        <p:spPr>
          <a:xfrm>
            <a:off x="713232" y="5650992"/>
            <a:ext cx="5120640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>
                <a:solidFill>
                  <a:srgbClr val="00E676"/>
                </a:solidFill>
                <a:latin typeface="Inter"/>
              </a:rPr>
              <a:t>TOTAL PROTOTYPE COST:  ₹885   (99.96% Cheaper)</a:t>
            </a:r>
          </a:p>
        </p:txBody>
      </p:sp>
      <p:sp>
        <p:nvSpPr>
          <p:cNvPr id="37" name="!!econ_unit_bg"/>
          <p:cNvSpPr/>
          <p:nvPr/>
        </p:nvSpPr>
        <p:spPr>
          <a:xfrm>
            <a:off x="6327648" y="1664208"/>
            <a:ext cx="5449824" cy="224028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!!econ_unit_bar"/>
          <p:cNvSpPr/>
          <p:nvPr/>
        </p:nvSpPr>
        <p:spPr>
          <a:xfrm>
            <a:off x="6473952" y="169164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!!econ_unit_hex"/>
          <p:cNvSpPr/>
          <p:nvPr/>
        </p:nvSpPr>
        <p:spPr>
          <a:xfrm>
            <a:off x="11466576" y="359359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!!econ_unit_pill"/>
          <p:cNvSpPr/>
          <p:nvPr/>
        </p:nvSpPr>
        <p:spPr>
          <a:xfrm>
            <a:off x="6492240" y="1828800"/>
            <a:ext cx="3776472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!!econ_unit_pill_t"/>
          <p:cNvSpPr txBox="1"/>
          <p:nvPr/>
        </p:nvSpPr>
        <p:spPr>
          <a:xfrm>
            <a:off x="6528816" y="1847088"/>
            <a:ext cx="37033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B800"/>
                </a:solidFill>
                <a:latin typeface="Inter"/>
              </a:rPr>
              <a:t>UNIT ECONOMICS (~₹2,185 LANDED COST)</a:t>
            </a:r>
          </a:p>
        </p:txBody>
      </p:sp>
      <p:sp>
        <p:nvSpPr>
          <p:cNvPr id="42" name="anim_econ_unit_txt"/>
          <p:cNvSpPr txBox="1"/>
          <p:nvPr/>
        </p:nvSpPr>
        <p:spPr>
          <a:xfrm>
            <a:off x="6492240" y="2194560"/>
            <a:ext cx="5120640" cy="1618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F8FAFF"/>
                </a:solidFill>
                <a:latin typeface="Inter"/>
              </a:rPr>
              <a:t>How ₹885 Scales to a ₹3,000–₹3,500 Kit</a:t>
            </a:r>
          </a:p>
          <a:p>
            <a:pPr algn="l">
              <a:spcAft>
                <a:spcPts val="500"/>
              </a:spcAft>
            </a:pPr>
            <a:r>
              <a:rPr sz="1380" b="0">
                <a:solidFill>
                  <a:srgbClr val="ACBEDA"/>
                </a:solidFill>
                <a:latin typeface="Inter"/>
              </a:rPr>
              <a:t>₹885 Core BOM + ₹450 Custom Flex-PCB &amp; 3D Case + ₹350 QA &amp; 1-Yr Warranty + ₹500 GST/Shipping/NGO Setup = ~₹2,185 Landed.</a:t>
            </a:r>
          </a:p>
          <a:p>
            <a:pPr algn="l">
              <a:spcAft>
                <a:spcPts val="0"/>
              </a:spcAft>
            </a:pPr>
            <a:r>
              <a:rPr sz="1380" b="0">
                <a:solidFill>
                  <a:srgbClr val="ACBEDA"/>
                </a:solidFill>
                <a:latin typeface="Inter"/>
              </a:rPr>
              <a:t>Planned ₹3,000–₹3,500 price remains 99.8% cheaper than ₹25L Tobii.</a:t>
            </a:r>
          </a:p>
        </p:txBody>
      </p:sp>
      <p:sp>
        <p:nvSpPr>
          <p:cNvPr id="43" name="!!econ_mkt_bg"/>
          <p:cNvSpPr/>
          <p:nvPr/>
        </p:nvSpPr>
        <p:spPr>
          <a:xfrm>
            <a:off x="6327648" y="4133087"/>
            <a:ext cx="5449824" cy="224028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!!econ_mkt_bar"/>
          <p:cNvSpPr/>
          <p:nvPr/>
        </p:nvSpPr>
        <p:spPr>
          <a:xfrm>
            <a:off x="6473952" y="4160520"/>
            <a:ext cx="2011680" cy="64008"/>
          </a:xfrm>
          <a:prstGeom prst="parallelogram">
            <a:avLst>
              <a:gd name="adj" fmla="val 2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!!econ_mkt_hex"/>
          <p:cNvSpPr/>
          <p:nvPr/>
        </p:nvSpPr>
        <p:spPr>
          <a:xfrm>
            <a:off x="11466576" y="6062472"/>
            <a:ext cx="201168" cy="201168"/>
          </a:xfrm>
          <a:prstGeom prst="hexagon">
            <a:avLst/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!!econ_mkt_pill"/>
          <p:cNvSpPr/>
          <p:nvPr/>
        </p:nvSpPr>
        <p:spPr>
          <a:xfrm>
            <a:off x="6492240" y="4297679"/>
            <a:ext cx="3488436" cy="292608"/>
          </a:xfrm>
          <a:prstGeom prst="snip2DiagRect">
            <a:avLst>
              <a:gd name="adj1" fmla="val 35000"/>
              <a:gd name="adj2" fmla="val 16667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!!econ_mkt_pill_t"/>
          <p:cNvSpPr txBox="1"/>
          <p:nvPr/>
        </p:nvSpPr>
        <p:spPr>
          <a:xfrm>
            <a:off x="6528816" y="4315967"/>
            <a:ext cx="3415284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0E676"/>
                </a:solidFill>
                <a:latin typeface="Inter"/>
              </a:rPr>
              <a:t>MARKET SIZE &amp; CROSS-SUBSIDY SCALE</a:t>
            </a:r>
          </a:p>
        </p:txBody>
      </p:sp>
      <p:sp>
        <p:nvSpPr>
          <p:cNvPr id="48" name="anim_econ_mkt_txt"/>
          <p:cNvSpPr txBox="1"/>
          <p:nvPr/>
        </p:nvSpPr>
        <p:spPr>
          <a:xfrm>
            <a:off x="6492240" y="4663440"/>
            <a:ext cx="5120640" cy="1618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F8FAFF"/>
                </a:solidFill>
                <a:latin typeface="Inter"/>
              </a:rPr>
              <a:t>$20B (2025) → $43.3B (2035) @ 8% CAGR</a:t>
            </a:r>
          </a:p>
          <a:p>
            <a:pPr algn="l">
              <a:spcAft>
                <a:spcPts val="500"/>
              </a:spcAft>
            </a:pPr>
            <a:r>
              <a:rPr sz="1380" b="0">
                <a:solidFill>
                  <a:srgbClr val="ACBEDA"/>
                </a:solidFill>
                <a:latin typeface="Inter"/>
              </a:rPr>
              <a:t>India Initial Assistive TAM: ₹15 Cr+ (Free Core App + ₹99/mo Hospital Cloud).</a:t>
            </a:r>
          </a:p>
          <a:p>
            <a:pPr algn="l">
              <a:spcAft>
                <a:spcPts val="0"/>
              </a:spcAft>
            </a:pPr>
            <a:r>
              <a:rPr sz="1380" b="0">
                <a:solidFill>
                  <a:srgbClr val="ACBEDA"/>
                </a:solidFill>
                <a:latin typeface="Inter"/>
              </a:rPr>
              <a:t>High-volume B2C Gaming Edition sales cross-subsidize free NGO kits.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85BB8C-79B4-63CC-9BA2-73C896125FBE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4D692C3-F9A0-2F12-A089-AAB6DD4D14C0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90B272D-EED4-F34B-07EC-3BC4E86FB5E6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8FDACD4-F8F3-430B-BF7C-6EFE9581C5B3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ECONOMIC SPHERE  ·  ₹885 BOM, UNIT COSTS &amp; TAM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461A2A-6687-A305-7A0C-7A7628BF304F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2:09 – 2:15   [24/32]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4A39C54-AD73-87BD-EE52-7E51864E5F5A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7905DA8-7B10-449B-7B2A-60D1FABA7440}"/>
              </a:ext>
            </a:extLst>
          </p:cNvPr>
          <p:cNvSpPr/>
          <p:nvPr/>
        </p:nvSpPr>
        <p:spPr>
          <a:xfrm>
            <a:off x="411480" y="6654800"/>
            <a:ext cx="8524875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77083"/>
      </p:ext>
    </p:extLst>
  </p:cSld>
  <p:clrMapOvr>
    <a:masterClrMapping/>
  </p:clrMapOvr>
  <p:transition spd="med" advTm="5600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5" dur="8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9" dur="8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23" dur="8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27" dur="8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1" dur="8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60"/>
                            </p:stCondLst>
                            <p:childTnLst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5" dur="8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40"/>
                            </p:stCondLst>
                            <p:childTnLst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9" dur="8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20"/>
                            </p:stCondLst>
                            <p:childTnLst>
                              <p:par>
                                <p:cTn id="4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43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00"/>
                            </p:stCondLst>
                            <p:childTnLst>
                              <p:par>
                                <p:cTn id="4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4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980"/>
                            </p:stCondLst>
                            <p:childTnLst>
                              <p:par>
                                <p:cTn id="49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51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06</a:t>
            </a:r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UN Sustainable Development Goals &amp; Hospital Rollout.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Partnering with AIIMS Delhi, NIMHANS Bangalore, APD India, Amar Seva Sangam &amp; Spinal Foundation.</a:t>
            </a:r>
          </a:p>
        </p:txBody>
      </p:sp>
      <p:sp>
        <p:nvSpPr>
          <p:cNvPr id="12" name="!!sdg_SDG 03"/>
          <p:cNvSpPr/>
          <p:nvPr/>
        </p:nvSpPr>
        <p:spPr>
          <a:xfrm>
            <a:off x="411480" y="1664208"/>
            <a:ext cx="2670048" cy="196596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2EA043"/>
          </a:solidFill>
          <a:ln w="19050"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nim_sdgt_SDG 03"/>
          <p:cNvSpPr txBox="1"/>
          <p:nvPr/>
        </p:nvSpPr>
        <p:spPr>
          <a:xfrm>
            <a:off x="576072" y="1773936"/>
            <a:ext cx="2340864" cy="1737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F"/>
                </a:solidFill>
                <a:latin typeface="Inter"/>
              </a:rPr>
              <a:t>SDG 03</a:t>
            </a:r>
          </a:p>
          <a:p>
            <a:pPr algn="l">
              <a:spcAft>
                <a:spcPts val="40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GOOD HEALTH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8FAFF"/>
                </a:solidFill>
                <a:latin typeface="Inter"/>
              </a:rPr>
              <a:t>Restores communication &amp; care for paralyzed patients</a:t>
            </a:r>
          </a:p>
        </p:txBody>
      </p:sp>
      <p:sp>
        <p:nvSpPr>
          <p:cNvPr id="14" name="!!sdg_SDG 09"/>
          <p:cNvSpPr/>
          <p:nvPr/>
        </p:nvSpPr>
        <p:spPr>
          <a:xfrm>
            <a:off x="3310128" y="1664208"/>
            <a:ext cx="2670048" cy="196596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EB6424"/>
          </a:solidFill>
          <a:ln w="19050"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nim_sdgt_SDG 09"/>
          <p:cNvSpPr txBox="1"/>
          <p:nvPr/>
        </p:nvSpPr>
        <p:spPr>
          <a:xfrm>
            <a:off x="3474720" y="1773936"/>
            <a:ext cx="2340864" cy="1737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F"/>
                </a:solidFill>
                <a:latin typeface="Inter"/>
              </a:rPr>
              <a:t>SDG 09</a:t>
            </a:r>
          </a:p>
          <a:p>
            <a:pPr algn="l">
              <a:spcAft>
                <a:spcPts val="40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INNOVATION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8FAFF"/>
                </a:solidFill>
                <a:latin typeface="Inter"/>
              </a:rPr>
              <a:t>Open hardware built from ₹885 of standard parts</a:t>
            </a:r>
          </a:p>
        </p:txBody>
      </p:sp>
      <p:sp>
        <p:nvSpPr>
          <p:cNvPr id="16" name="!!sdg_SDG 10"/>
          <p:cNvSpPr/>
          <p:nvPr/>
        </p:nvSpPr>
        <p:spPr>
          <a:xfrm>
            <a:off x="6208776" y="1664208"/>
            <a:ext cx="2670048" cy="196596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D81B60"/>
          </a:solidFill>
          <a:ln w="19050"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sdgt_SDG 10"/>
          <p:cNvSpPr txBox="1"/>
          <p:nvPr/>
        </p:nvSpPr>
        <p:spPr>
          <a:xfrm>
            <a:off x="6373368" y="1773936"/>
            <a:ext cx="2340864" cy="1737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F"/>
                </a:solidFill>
                <a:latin typeface="Inter"/>
              </a:rPr>
              <a:t>SDG 10</a:t>
            </a:r>
          </a:p>
          <a:p>
            <a:pPr algn="l">
              <a:spcAft>
                <a:spcPts val="40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EQUALITY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8FAFF"/>
                </a:solidFill>
                <a:latin typeface="Inter"/>
              </a:rPr>
              <a:t>Bridges the assistive divide for low-income families</a:t>
            </a:r>
          </a:p>
        </p:txBody>
      </p:sp>
      <p:sp>
        <p:nvSpPr>
          <p:cNvPr id="18" name="!!sdg_SDG 17"/>
          <p:cNvSpPr/>
          <p:nvPr/>
        </p:nvSpPr>
        <p:spPr>
          <a:xfrm>
            <a:off x="9107424" y="1664208"/>
            <a:ext cx="2670048" cy="1965960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976D2"/>
          </a:solidFill>
          <a:ln w="19050"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nim_sdgt_SDG 17"/>
          <p:cNvSpPr txBox="1"/>
          <p:nvPr/>
        </p:nvSpPr>
        <p:spPr>
          <a:xfrm>
            <a:off x="9272016" y="1773936"/>
            <a:ext cx="2340864" cy="1737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8FAFF"/>
                </a:solidFill>
                <a:latin typeface="Inter"/>
              </a:rPr>
              <a:t>SDG 17</a:t>
            </a:r>
          </a:p>
          <a:p>
            <a:pPr algn="l">
              <a:spcAft>
                <a:spcPts val="40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PARTNERSHIPS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8FAFF"/>
                </a:solidFill>
                <a:latin typeface="Inter"/>
              </a:rPr>
              <a:t>Scaled via AIIMS, NIMHANS &amp; disability NGOs</a:t>
            </a:r>
          </a:p>
        </p:txBody>
      </p:sp>
      <p:sp>
        <p:nvSpPr>
          <p:cNvPr id="20" name="!!part_box"/>
          <p:cNvSpPr/>
          <p:nvPr/>
        </p:nvSpPr>
        <p:spPr>
          <a:xfrm>
            <a:off x="411480" y="3858768"/>
            <a:ext cx="11365992" cy="2514600"/>
          </a:xfrm>
          <a:prstGeom prst="round2DiagRect">
            <a:avLst>
              <a:gd name="adj1" fmla="val 4000"/>
              <a:gd name="adj2" fmla="val 0"/>
            </a:avLst>
          </a:prstGeom>
          <a:solidFill>
            <a:srgbClr val="101A2C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anim_p_aiims" descr="k28_aii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041648"/>
            <a:ext cx="2148840" cy="1508760"/>
          </a:xfrm>
          <a:prstGeom prst="rect">
            <a:avLst/>
          </a:prstGeom>
        </p:spPr>
      </p:pic>
      <p:sp>
        <p:nvSpPr>
          <p:cNvPr id="22" name="!!p_aiims_t"/>
          <p:cNvSpPr txBox="1"/>
          <p:nvPr/>
        </p:nvSpPr>
        <p:spPr>
          <a:xfrm>
            <a:off x="621792" y="5614416"/>
            <a:ext cx="214884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E5FF"/>
                </a:solidFill>
                <a:latin typeface="Inter"/>
              </a:rPr>
              <a:t>AIIMS Delhi · Neurology Wards</a:t>
            </a:r>
          </a:p>
        </p:txBody>
      </p:sp>
      <p:pic>
        <p:nvPicPr>
          <p:cNvPr id="23" name="anim_p_nim" descr="k28_nimha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4041648"/>
            <a:ext cx="2148840" cy="1508760"/>
          </a:xfrm>
          <a:prstGeom prst="rect">
            <a:avLst/>
          </a:prstGeom>
        </p:spPr>
      </p:pic>
      <p:sp>
        <p:nvSpPr>
          <p:cNvPr id="24" name="!!p_nim_t"/>
          <p:cNvSpPr txBox="1"/>
          <p:nvPr/>
        </p:nvSpPr>
        <p:spPr>
          <a:xfrm>
            <a:off x="2971800" y="5614416"/>
            <a:ext cx="214884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B800"/>
                </a:solidFill>
                <a:latin typeface="Inter"/>
              </a:rPr>
              <a:t>NIMHANS Bangalore · Rehab</a:t>
            </a:r>
          </a:p>
        </p:txBody>
      </p:sp>
      <p:sp>
        <p:nvSpPr>
          <p:cNvPr id="25" name="anim_part_right_t"/>
          <p:cNvSpPr txBox="1"/>
          <p:nvPr/>
        </p:nvSpPr>
        <p:spPr>
          <a:xfrm>
            <a:off x="5394960" y="4041648"/>
            <a:ext cx="6172200" cy="2148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0E5FF"/>
                </a:solidFill>
                <a:latin typeface="Inter"/>
              </a:rPr>
              <a:t>PLANNED CLINICAL &amp; NGO VALIDATION PATHWAY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8FAFF"/>
                </a:solidFill>
                <a:latin typeface="Inter"/>
              </a:rPr>
              <a:t>1.  Clinical Pilot Trials:  AIIMS Delhi &amp; NIMHANS Bangalore neurology &amp; rehab wards.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8FAFF"/>
                </a:solidFill>
                <a:latin typeface="Inter"/>
              </a:rPr>
              <a:t>2.  Subsidized NGO Rollout:  APD India, Amar Seva Sangam &amp; The Spinal Foundation.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FFB800"/>
                </a:solidFill>
                <a:latin typeface="Inter"/>
              </a:rPr>
              <a:t>3.  Future Scope:  Multi-user household profiles (&lt;5s switch) &amp; regional voice banking.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55200E-936B-0B40-AE53-CA6398DC3BAF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9319C7A-6318-0DDB-D494-01F0E38622A6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A475F9-508A-6CD3-A2FF-BEBB995774D3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F86FEE-C021-1E9A-C9E4-FBA36E1FC415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TECH FOR GOOD  ·  UN SDGS &amp; CLINICAL PILOT SITES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6C3D3A-4E93-9D5A-32C9-02C208C7A30B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2:15 – 2:20   [25/32]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A6DD57-DDAC-6584-BB50-C67C80C2205E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E352E13-A3CB-A355-638D-B93471554F0D}"/>
              </a:ext>
            </a:extLst>
          </p:cNvPr>
          <p:cNvSpPr/>
          <p:nvPr/>
        </p:nvSpPr>
        <p:spPr>
          <a:xfrm>
            <a:off x="411480" y="6654800"/>
            <a:ext cx="8880078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93398"/>
      </p:ext>
    </p:extLst>
  </p:cSld>
  <p:clrMapOvr>
    <a:masterClrMapping/>
  </p:clrMapOvr>
  <p:transition spd="med" advTm="5600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1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19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3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3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60"/>
                            </p:stCondLst>
                            <p:childTnLst>
                              <p:par>
                                <p:cTn id="3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3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40"/>
                            </p:stCondLst>
                            <p:childTnLst>
                              <p:par>
                                <p:cTn id="37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39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97403-07CB-9DA0-A9A6-E5D95AF80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29B2123-8924-B087-1187-FD07BB9A5F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99C180-321C-FFD8-9446-523993309855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422AA6-E387-4511-4E71-420E5BAD0A40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E08657-D570-0A95-0F61-99B2C298B7AF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A6D89-9BEF-6804-7754-12110666F051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SOCIAL IMPACT &amp; DISTRIBUTION  ·  DIGNITY &amp; FREEDOM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87D51E-5099-E2D8-9165-15C013ECF76B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2:20 – 2:26   [26/32]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779A21-B9A6-969C-167C-9088C6E7A753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866984-D714-871B-ECF5-99862544B772}"/>
              </a:ext>
            </a:extLst>
          </p:cNvPr>
          <p:cNvSpPr/>
          <p:nvPr/>
        </p:nvSpPr>
        <p:spPr>
          <a:xfrm>
            <a:off x="411480" y="6654800"/>
            <a:ext cx="9235282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792EC0-C009-F721-9C64-6FA8C8812837}"/>
              </a:ext>
            </a:extLst>
          </p:cNvPr>
          <p:cNvSpPr txBox="1"/>
          <p:nvPr/>
        </p:nvSpPr>
        <p:spPr>
          <a:xfrm>
            <a:off x="411480" y="711200"/>
            <a:ext cx="113665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Segoe UI" panose="020B0502040204020203" pitchFamily="34" charset="0"/>
              </a:rPr>
              <a:t>Dignity. Voice. Independence. — Access Decided by Need, Not Wealth.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9D9781-2A1D-E8FA-F907-E95231D8EDBB}"/>
              </a:ext>
            </a:extLst>
          </p:cNvPr>
          <p:cNvSpPr txBox="1"/>
          <p:nvPr/>
        </p:nvSpPr>
        <p:spPr>
          <a:xfrm>
            <a:off x="411480" y="1117600"/>
            <a:ext cx="11366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>
                <a:solidFill>
                  <a:srgbClr val="00E676"/>
                </a:solidFill>
                <a:latin typeface="Segoe UI" panose="020B0502040204020203" pitchFamily="34" charset="0"/>
              </a:rPr>
              <a:t>Restoring communication autonomy to paralyzed patients across Indian hospitals and homes.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9CC61D4-1037-59F9-419A-DF4661439DEA}"/>
              </a:ext>
            </a:extLst>
          </p:cNvPr>
          <p:cNvSpPr/>
          <p:nvPr/>
        </p:nvSpPr>
        <p:spPr>
          <a:xfrm>
            <a:off x="411480" y="1524000"/>
            <a:ext cx="4572000" cy="42545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EA697EC-FC80-2F2D-45F0-BF131BFD162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" y="1562100"/>
            <a:ext cx="4495800" cy="417830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F1BEDAC-0D85-9787-0EF8-23BBDBEB5F04}"/>
              </a:ext>
            </a:extLst>
          </p:cNvPr>
          <p:cNvSpPr/>
          <p:nvPr/>
        </p:nvSpPr>
        <p:spPr>
          <a:xfrm>
            <a:off x="5237480" y="1524000"/>
            <a:ext cx="6540500" cy="1270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82CD8D-028B-2006-E83E-6C9019DAB779}"/>
              </a:ext>
            </a:extLst>
          </p:cNvPr>
          <p:cNvSpPr txBox="1"/>
          <p:nvPr/>
        </p:nvSpPr>
        <p:spPr>
          <a:xfrm>
            <a:off x="5389880" y="1625600"/>
            <a:ext cx="6223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 b="1">
                <a:solidFill>
                  <a:srgbClr val="00F2FE"/>
                </a:solidFill>
                <a:latin typeface="Segoe UI" panose="020B0502040204020203" pitchFamily="34" charset="0"/>
              </a:rPr>
              <a:t>RESTORING HUMAN VOICE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FFD3AA-1AE4-5961-3BDD-F0D70470D75E}"/>
              </a:ext>
            </a:extLst>
          </p:cNvPr>
          <p:cNvSpPr txBox="1"/>
          <p:nvPr/>
        </p:nvSpPr>
        <p:spPr>
          <a:xfrm>
            <a:off x="5389880" y="1930400"/>
            <a:ext cx="6223000" cy="3436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50">
                <a:solidFill>
                  <a:srgbClr val="FFFFFF"/>
                </a:solidFill>
                <a:latin typeface="Segoe UI" panose="020B0502040204020203" pitchFamily="34" charset="0"/>
              </a:rPr>
              <a:t>ALS &amp; locked-in syndrome rob individuals of communication, turning conscious minds into prisoners of silence. IRIS gives them an AI voice to talk to family, children, and nurses.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B8D8D4F-F4FC-A64F-4BFE-5CE79E77F211}"/>
              </a:ext>
            </a:extLst>
          </p:cNvPr>
          <p:cNvSpPr/>
          <p:nvPr/>
        </p:nvSpPr>
        <p:spPr>
          <a:xfrm>
            <a:off x="5237480" y="2921000"/>
            <a:ext cx="6540500" cy="1270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E94979-CBA3-838B-B187-5F32CD5C43CD}"/>
              </a:ext>
            </a:extLst>
          </p:cNvPr>
          <p:cNvSpPr txBox="1"/>
          <p:nvPr/>
        </p:nvSpPr>
        <p:spPr>
          <a:xfrm>
            <a:off x="5389880" y="3022600"/>
            <a:ext cx="6223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 b="1">
                <a:solidFill>
                  <a:srgbClr val="00E676"/>
                </a:solidFill>
                <a:latin typeface="Segoe UI" panose="020B0502040204020203" pitchFamily="34" charset="0"/>
              </a:rPr>
              <a:t>DEMOCRATIZING HEALTHCARE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E9FAE3-717E-C292-7BF7-F26AF0BAF4EC}"/>
              </a:ext>
            </a:extLst>
          </p:cNvPr>
          <p:cNvSpPr txBox="1"/>
          <p:nvPr/>
        </p:nvSpPr>
        <p:spPr>
          <a:xfrm>
            <a:off x="5389880" y="3327400"/>
            <a:ext cx="6223000" cy="3436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50">
                <a:solidFill>
                  <a:srgbClr val="FFFFFF"/>
                </a:solidFill>
                <a:latin typeface="Segoe UI" panose="020B0502040204020203" pitchFamily="34" charset="0"/>
              </a:rPr>
              <a:t>Commercial ₹25,00,000 systems cater exclusively to Western private insurance. IRIS replaces imported monopolies with an ₹885 open-hardware design anyone can replicate locally.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2D28254-C9C0-8D90-615F-293BAAF4D055}"/>
              </a:ext>
            </a:extLst>
          </p:cNvPr>
          <p:cNvSpPr/>
          <p:nvPr/>
        </p:nvSpPr>
        <p:spPr>
          <a:xfrm>
            <a:off x="5237480" y="4318000"/>
            <a:ext cx="6540500" cy="1270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FB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FDAE1A-5998-ADDD-02C9-166E4E6E0542}"/>
              </a:ext>
            </a:extLst>
          </p:cNvPr>
          <p:cNvSpPr txBox="1"/>
          <p:nvPr/>
        </p:nvSpPr>
        <p:spPr>
          <a:xfrm>
            <a:off x="5389880" y="4419600"/>
            <a:ext cx="6223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 b="1">
                <a:solidFill>
                  <a:srgbClr val="FFB300"/>
                </a:solidFill>
                <a:latin typeface="Segoe UI" panose="020B0502040204020203" pitchFamily="34" charset="0"/>
              </a:rPr>
              <a:t>PLANNED DISTRIBUTION ROLLOUT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3EBF57-0107-8938-2FD0-FF9DB843E177}"/>
              </a:ext>
            </a:extLst>
          </p:cNvPr>
          <p:cNvSpPr txBox="1"/>
          <p:nvPr/>
        </p:nvSpPr>
        <p:spPr>
          <a:xfrm>
            <a:off x="5389880" y="4724400"/>
            <a:ext cx="6223000" cy="48987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50">
                <a:solidFill>
                  <a:srgbClr val="FFFFFF"/>
                </a:solidFill>
                <a:latin typeface="Segoe UI" panose="020B0502040204020203" pitchFamily="34" charset="0"/>
              </a:rPr>
              <a:t>• Tier-1 Hospital Pilot: AIIMS Delhi &amp; NIMHANS neurology ICU wards
• Subsidized Rural Access: Partnering with APD India, Amar Seva Sangam &amp; The Spinal Foundation
• Open-Hardware Git: Gerber files &amp; companion app free for makers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B05D361-0F59-2D18-E0D3-A7D8212B8CAF}"/>
              </a:ext>
            </a:extLst>
          </p:cNvPr>
          <p:cNvSpPr/>
          <p:nvPr/>
        </p:nvSpPr>
        <p:spPr>
          <a:xfrm>
            <a:off x="411480" y="5905500"/>
            <a:ext cx="11366500" cy="584200"/>
          </a:xfrm>
          <a:prstGeom prst="roundRect">
            <a:avLst/>
          </a:prstGeom>
          <a:solidFill>
            <a:srgbClr val="182032"/>
          </a:solidFill>
          <a:ln w="1524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AF8385-9865-CF81-72BC-88F2E305E14A}"/>
              </a:ext>
            </a:extLst>
          </p:cNvPr>
          <p:cNvSpPr txBox="1"/>
          <p:nvPr/>
        </p:nvSpPr>
        <p:spPr>
          <a:xfrm>
            <a:off x="665480" y="6019800"/>
            <a:ext cx="10858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1300" b="1">
                <a:solidFill>
                  <a:srgbClr val="00F2FE"/>
                </a:solidFill>
                <a:latin typeface="Segoe UI" panose="020B0502040204020203" pitchFamily="34" charset="0"/>
              </a:rPr>
              <a:t>“For someone who cannot lift a single finger, this is not just an interface — it is freedom.”</a:t>
            </a:r>
          </a:p>
        </p:txBody>
      </p:sp>
    </p:spTree>
    <p:extLst>
      <p:ext uri="{BB962C8B-B14F-4D97-AF65-F5344CB8AC3E}">
        <p14:creationId xmlns:p14="http://schemas.microsoft.com/office/powerpoint/2010/main" val="2325279177"/>
      </p:ext>
    </p:extLst>
  </p:cSld>
  <p:clrMapOvr>
    <a:masterClrMapping/>
  </p:clrMapOvr>
  <p:transition spd="med" advTm="56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05</a:t>
            </a:r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Hands-Free Gaming &amp; Consumer Tech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Spotlight Carousel:  Previous edition compacts as the next edition expands into the spotlight.</a:t>
            </a:r>
          </a:p>
        </p:txBody>
      </p:sp>
      <p:sp>
        <p:nvSpPr>
          <p:cNvPr id="12" name="!!fspot_card_0"/>
          <p:cNvSpPr/>
          <p:nvPr/>
        </p:nvSpPr>
        <p:spPr>
          <a:xfrm>
            <a:off x="411480" y="1645920"/>
            <a:ext cx="5897880" cy="475488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42640"/>
          </a:solidFill>
          <a:ln w="355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!!fspot_img_0" descr="k28_fu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810512"/>
            <a:ext cx="5568696" cy="2697480"/>
          </a:xfrm>
          <a:prstGeom prst="rect">
            <a:avLst/>
          </a:prstGeom>
        </p:spPr>
      </p:pic>
      <p:sp>
        <p:nvSpPr>
          <p:cNvPr id="14" name="!!fspot_txt_0"/>
          <p:cNvSpPr txBox="1"/>
          <p:nvPr/>
        </p:nvSpPr>
        <p:spPr>
          <a:xfrm>
            <a:off x="612648" y="4590288"/>
            <a:ext cx="5495544" cy="1691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E5FF"/>
                </a:solidFill>
                <a:latin typeface="Inter"/>
              </a:rPr>
              <a:t>EDITION 01 · FOR GAMERS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Hands-Free Gaming &amp; Consumer Tech</a:t>
            </a:r>
          </a:p>
          <a:p>
            <a:pPr algn="l">
              <a:spcAft>
                <a:spcPts val="0"/>
              </a:spcAft>
            </a:pPr>
            <a:r>
              <a:rPr sz="1380" b="0">
                <a:solidFill>
                  <a:srgbClr val="ACBEDA"/>
                </a:solidFill>
                <a:latin typeface="Inter"/>
              </a:rPr>
              <a:t>MPU6050 head tilt maps to smooth 360° crosshair aiming while single/double blinks fire triggers. High-volume ₹3,000–₹3,500 gaming sales drive bulk PCB manufacturing and cross-subsidize near-cost medical kits for paralyzed patients.</a:t>
            </a:r>
          </a:p>
        </p:txBody>
      </p:sp>
      <p:sp>
        <p:nvSpPr>
          <p:cNvPr id="15" name="!!fspot_card_1"/>
          <p:cNvSpPr/>
          <p:nvPr/>
        </p:nvSpPr>
        <p:spPr>
          <a:xfrm>
            <a:off x="6464808" y="1965960"/>
            <a:ext cx="2578608" cy="411480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!!fspot_img_1" descr="k28_fut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093976"/>
            <a:ext cx="2322576" cy="1783080"/>
          </a:xfrm>
          <a:prstGeom prst="rect">
            <a:avLst/>
          </a:prstGeom>
        </p:spPr>
      </p:pic>
      <p:sp>
        <p:nvSpPr>
          <p:cNvPr id="17" name="!!fspot_txt_1"/>
          <p:cNvSpPr txBox="1"/>
          <p:nvPr/>
        </p:nvSpPr>
        <p:spPr>
          <a:xfrm>
            <a:off x="6611112" y="3995928"/>
            <a:ext cx="2286000" cy="1920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B800"/>
                </a:solidFill>
                <a:latin typeface="Inter"/>
              </a:rPr>
              <a:t>EDITION 02 · FOR COMPLETE PARALYSIS</a:t>
            </a:r>
          </a:p>
          <a:p>
            <a:pPr algn="l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Zero Neck Movement: AI + CV Pure Iris Gaze</a:t>
            </a:r>
          </a:p>
        </p:txBody>
      </p:sp>
      <p:sp>
        <p:nvSpPr>
          <p:cNvPr id="18" name="!!fspot_card_2"/>
          <p:cNvSpPr/>
          <p:nvPr/>
        </p:nvSpPr>
        <p:spPr>
          <a:xfrm>
            <a:off x="9198864" y="1965960"/>
            <a:ext cx="2578608" cy="411480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!!fspot_img_2" descr="k28_fut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093976"/>
            <a:ext cx="2322576" cy="1783080"/>
          </a:xfrm>
          <a:prstGeom prst="rect">
            <a:avLst/>
          </a:prstGeom>
        </p:spPr>
      </p:pic>
      <p:sp>
        <p:nvSpPr>
          <p:cNvPr id="20" name="!!fspot_txt_2"/>
          <p:cNvSpPr txBox="1"/>
          <p:nvPr/>
        </p:nvSpPr>
        <p:spPr>
          <a:xfrm>
            <a:off x="9345168" y="3995928"/>
            <a:ext cx="2286000" cy="1920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0E676"/>
                </a:solidFill>
                <a:latin typeface="Inter"/>
              </a:rPr>
              <a:t>EDITION 03 · FOR AI DEVS &amp; ROBOT TRAINERS</a:t>
            </a:r>
          </a:p>
          <a:p>
            <a:pPr algn="l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Open-Hardware Gaze + IMU Teleoperation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A6F8DB-E28D-C7C2-B632-AEC58F83E8E3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A844FCB-0453-3E86-570D-895F52D3DE56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8EB918-34C3-1793-71A9-74F8906B283C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432F31-0F23-E555-E3D6-9C5A8C0930ED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FUTURE PRODUCT ROADMAP  ·  SPOTLIGHT 01 OF 03 (GAMING)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28776B-5840-FC04-0666-30F96F77BE3F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2:26 – 2:31   [27/32]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95D666-B748-FB8C-6F27-8007CEA7C43A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BB1BD5-993D-7834-4E9E-23983B8A9B2B}"/>
              </a:ext>
            </a:extLst>
          </p:cNvPr>
          <p:cNvSpPr/>
          <p:nvPr/>
        </p:nvSpPr>
        <p:spPr>
          <a:xfrm>
            <a:off x="411480" y="6654800"/>
            <a:ext cx="9590485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19426"/>
      </p:ext>
    </p:extLst>
  </p:cSld>
  <p:clrMapOvr>
    <a:masterClrMapping/>
  </p:clrMapOvr>
  <p:transition spd="med" advTm="5600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05</a:t>
            </a:r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Zero Neck Movement: AI + CV Pure Iris Gaze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Spotlight Carousel:  Previous edition compacts as the next edition expands into the spotlight.</a:t>
            </a:r>
          </a:p>
        </p:txBody>
      </p:sp>
      <p:sp>
        <p:nvSpPr>
          <p:cNvPr id="12" name="!!fspot_card_0"/>
          <p:cNvSpPr/>
          <p:nvPr/>
        </p:nvSpPr>
        <p:spPr>
          <a:xfrm>
            <a:off x="411480" y="1965960"/>
            <a:ext cx="2578608" cy="411480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!!fspot_img_0" descr="k28_fu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093976"/>
            <a:ext cx="2322576" cy="1783080"/>
          </a:xfrm>
          <a:prstGeom prst="rect">
            <a:avLst/>
          </a:prstGeom>
        </p:spPr>
      </p:pic>
      <p:sp>
        <p:nvSpPr>
          <p:cNvPr id="14" name="!!fspot_txt_0"/>
          <p:cNvSpPr txBox="1"/>
          <p:nvPr/>
        </p:nvSpPr>
        <p:spPr>
          <a:xfrm>
            <a:off x="557784" y="3995928"/>
            <a:ext cx="2286000" cy="1920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0E5FF"/>
                </a:solidFill>
                <a:latin typeface="Inter"/>
              </a:rPr>
              <a:t>EDITION 01 · FOR GAMERS</a:t>
            </a:r>
          </a:p>
          <a:p>
            <a:pPr algn="l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Hands-Free Gaming &amp; Consumer Tech</a:t>
            </a:r>
          </a:p>
        </p:txBody>
      </p:sp>
      <p:sp>
        <p:nvSpPr>
          <p:cNvPr id="15" name="!!fspot_card_1"/>
          <p:cNvSpPr/>
          <p:nvPr/>
        </p:nvSpPr>
        <p:spPr>
          <a:xfrm>
            <a:off x="3145536" y="1645920"/>
            <a:ext cx="5897880" cy="475488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42640"/>
          </a:solidFill>
          <a:ln w="3556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!!fspot_img_1" descr="k28_fut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810512"/>
            <a:ext cx="5568696" cy="2697480"/>
          </a:xfrm>
          <a:prstGeom prst="rect">
            <a:avLst/>
          </a:prstGeom>
        </p:spPr>
      </p:pic>
      <p:sp>
        <p:nvSpPr>
          <p:cNvPr id="17" name="!!fspot_txt_1"/>
          <p:cNvSpPr txBox="1"/>
          <p:nvPr/>
        </p:nvSpPr>
        <p:spPr>
          <a:xfrm>
            <a:off x="3346704" y="4590288"/>
            <a:ext cx="5495544" cy="1691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B800"/>
                </a:solidFill>
                <a:latin typeface="Inter"/>
              </a:rPr>
              <a:t>EDITION 02 · FOR COMPLETE PARALYSIS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Zero Neck Movement: AI + CV Pure Iris Gaze</a:t>
            </a:r>
          </a:p>
          <a:p>
            <a:pPr algn="l">
              <a:spcAft>
                <a:spcPts val="0"/>
              </a:spcAft>
            </a:pPr>
            <a:r>
              <a:rPr sz="1380" b="0">
                <a:solidFill>
                  <a:srgbClr val="ACBEDA"/>
                </a:solidFill>
                <a:latin typeface="Inter"/>
              </a:rPr>
              <a:t>In total paralysis where head tilt is impossible, ocular iris motion stays intact. Our AI + Computer Vision module tracks subtle pupil/iris gaze using custom AI denoising functions on low-cost PCs to cut webcam grain and false positives.</a:t>
            </a:r>
          </a:p>
        </p:txBody>
      </p:sp>
      <p:sp>
        <p:nvSpPr>
          <p:cNvPr id="18" name="!!fspot_card_2"/>
          <p:cNvSpPr/>
          <p:nvPr/>
        </p:nvSpPr>
        <p:spPr>
          <a:xfrm>
            <a:off x="9198864" y="1965960"/>
            <a:ext cx="2578608" cy="411480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!!fspot_img_2" descr="k28_fut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093976"/>
            <a:ext cx="2322576" cy="1783080"/>
          </a:xfrm>
          <a:prstGeom prst="rect">
            <a:avLst/>
          </a:prstGeom>
        </p:spPr>
      </p:pic>
      <p:sp>
        <p:nvSpPr>
          <p:cNvPr id="20" name="!!fspot_txt_2"/>
          <p:cNvSpPr txBox="1"/>
          <p:nvPr/>
        </p:nvSpPr>
        <p:spPr>
          <a:xfrm>
            <a:off x="9345168" y="3995928"/>
            <a:ext cx="2286000" cy="1920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0E676"/>
                </a:solidFill>
                <a:latin typeface="Inter"/>
              </a:rPr>
              <a:t>EDITION 03 · FOR AI DEVS &amp; ROBOT TRAINERS</a:t>
            </a:r>
          </a:p>
          <a:p>
            <a:pPr algn="l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Open-Hardware Gaze + IMU Teleoperation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E2414E-DA51-1E4A-D971-EC6DB6F1D379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4F320F7-F14C-76C0-8972-8E70A7664334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DDCF53-F4C3-0F99-0D91-4EF9B57B67D6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41C38E-3A6D-634D-8FBD-FBDA5A83A808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FUTURE PRODUCT ROADMAP  ·  SPOTLIGHT 02 OF 03 (IRIS CV)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2F08B6-F9E4-462A-08AC-F3419174665A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2:31 – 2:37   [28/32]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1A59A4-DE8A-8A3F-8E52-495CA6CAE33C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9179AD-334A-B772-974F-283189AD97B1}"/>
              </a:ext>
            </a:extLst>
          </p:cNvPr>
          <p:cNvSpPr/>
          <p:nvPr/>
        </p:nvSpPr>
        <p:spPr>
          <a:xfrm>
            <a:off x="411480" y="6654800"/>
            <a:ext cx="9945688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3794"/>
      </p:ext>
    </p:extLst>
  </p:cSld>
  <p:clrMapOvr>
    <a:masterClrMapping/>
  </p:clrMapOvr>
  <p:transition spd="med" advTm="5600">
    <p:fade/>
    <p:extLst mod="1">
      <p:ext uri="{D84E410A-3911-4435-9328-F4292B5D5B2B}">
        <p159:morph xmlns:p159="http://schemas.microsoft.com/office/powerpoint/2015/09/main" xmlns="" xmlns:p14="http://schemas.microsoft.com/office/powerpoint/2010/main" xmlns:mc="http://schemas.openxmlformats.org/markup-compatibility/2006" option="byObject"/>
      </p:ext>
    </p:extLst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05</a:t>
            </a:r>
          </a:p>
        </p:txBody>
      </p:sp>
      <p:sp>
        <p:nvSpPr>
          <p:cNvPr id="10" name="!!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Open-Hardware Gaze + IMU Teleoperation</a:t>
            </a:r>
          </a:p>
        </p:txBody>
      </p:sp>
      <p:sp>
        <p:nvSpPr>
          <p:cNvPr id="11" name="!!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Spotlight Carousel:  Previous edition compacts as the next edition expands into the spotlight.</a:t>
            </a:r>
          </a:p>
        </p:txBody>
      </p:sp>
      <p:sp>
        <p:nvSpPr>
          <p:cNvPr id="12" name="!!fspot_card_0"/>
          <p:cNvSpPr/>
          <p:nvPr/>
        </p:nvSpPr>
        <p:spPr>
          <a:xfrm>
            <a:off x="411480" y="1965960"/>
            <a:ext cx="2578608" cy="411480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!!fspot_img_0" descr="k28_fu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093976"/>
            <a:ext cx="2322576" cy="1783080"/>
          </a:xfrm>
          <a:prstGeom prst="rect">
            <a:avLst/>
          </a:prstGeom>
        </p:spPr>
      </p:pic>
      <p:sp>
        <p:nvSpPr>
          <p:cNvPr id="14" name="!!fspot_txt_0"/>
          <p:cNvSpPr txBox="1"/>
          <p:nvPr/>
        </p:nvSpPr>
        <p:spPr>
          <a:xfrm>
            <a:off x="557784" y="3995928"/>
            <a:ext cx="2286000" cy="1920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0E5FF"/>
                </a:solidFill>
                <a:latin typeface="Inter"/>
              </a:rPr>
              <a:t>EDITION 01 · FOR GAMERS</a:t>
            </a:r>
          </a:p>
          <a:p>
            <a:pPr algn="l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Hands-Free Gaming &amp; Consumer Tech</a:t>
            </a:r>
          </a:p>
        </p:txBody>
      </p:sp>
      <p:sp>
        <p:nvSpPr>
          <p:cNvPr id="15" name="!!fspot_card_1"/>
          <p:cNvSpPr/>
          <p:nvPr/>
        </p:nvSpPr>
        <p:spPr>
          <a:xfrm>
            <a:off x="3145536" y="1965960"/>
            <a:ext cx="2578608" cy="411480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0C1321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!!fspot_img_1" descr="k28_fut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2093976"/>
            <a:ext cx="2322576" cy="1783080"/>
          </a:xfrm>
          <a:prstGeom prst="rect">
            <a:avLst/>
          </a:prstGeom>
        </p:spPr>
      </p:pic>
      <p:sp>
        <p:nvSpPr>
          <p:cNvPr id="17" name="!!fspot_txt_1"/>
          <p:cNvSpPr txBox="1"/>
          <p:nvPr/>
        </p:nvSpPr>
        <p:spPr>
          <a:xfrm>
            <a:off x="3291840" y="3995928"/>
            <a:ext cx="2286000" cy="1920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B800"/>
                </a:solidFill>
                <a:latin typeface="Inter"/>
              </a:rPr>
              <a:t>EDITION 02 · FOR COMPLETE PARALYSIS</a:t>
            </a:r>
          </a:p>
          <a:p>
            <a:pPr algn="l">
              <a:spcAft>
                <a:spcPts val="0"/>
              </a:spcAft>
            </a:pPr>
            <a:r>
              <a:rPr sz="1650" b="1">
                <a:solidFill>
                  <a:srgbClr val="F8FAFF"/>
                </a:solidFill>
                <a:latin typeface="Inter"/>
              </a:rPr>
              <a:t>Zero Neck Movement: AI + CV Pure Iris Gaze</a:t>
            </a:r>
          </a:p>
        </p:txBody>
      </p:sp>
      <p:sp>
        <p:nvSpPr>
          <p:cNvPr id="18" name="!!fspot_card_2"/>
          <p:cNvSpPr/>
          <p:nvPr/>
        </p:nvSpPr>
        <p:spPr>
          <a:xfrm>
            <a:off x="5879592" y="1645920"/>
            <a:ext cx="5897880" cy="475488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42640"/>
          </a:solidFill>
          <a:ln w="3556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!!fspot_img_2" descr="k28_fut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3" y="1810512"/>
            <a:ext cx="5568696" cy="2697480"/>
          </a:xfrm>
          <a:prstGeom prst="rect">
            <a:avLst/>
          </a:prstGeom>
        </p:spPr>
      </p:pic>
      <p:sp>
        <p:nvSpPr>
          <p:cNvPr id="20" name="!!fspot_txt_2"/>
          <p:cNvSpPr txBox="1"/>
          <p:nvPr/>
        </p:nvSpPr>
        <p:spPr>
          <a:xfrm>
            <a:off x="6080759" y="4590288"/>
            <a:ext cx="5495544" cy="1691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E676"/>
                </a:solidFill>
                <a:latin typeface="Inter"/>
              </a:rPr>
              <a:t>EDITION 03 · FOR AI DEVS &amp; ROBOT TRAINERS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F8FAFF"/>
                </a:solidFill>
                <a:latin typeface="Inter"/>
              </a:rPr>
              <a:t>Open-Hardware Gaze + IMU Teleoperation</a:t>
            </a:r>
          </a:p>
          <a:p>
            <a:pPr algn="l">
              <a:spcAft>
                <a:spcPts val="0"/>
              </a:spcAft>
            </a:pPr>
            <a:r>
              <a:rPr sz="1380" b="0">
                <a:solidFill>
                  <a:srgbClr val="ACBEDA"/>
                </a:solidFill>
                <a:latin typeface="Inter"/>
              </a:rPr>
              <a:t>Gives robotics labs, AI researchers, and human-in-the-loop robot trainers an open-source 9-DOF IMU + binocular gaze teleoperation rig with real-time Python telemetry at 1/100th the cost of commercial trackers.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FDB444-1650-081D-3618-E877B9A4B206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D10C8A0-E5B8-ED6C-908B-FFD47341A7A6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3DADD8-008B-F1F0-C2BF-873F1E1CADC8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7C0C86-0F1B-AF6A-108C-D2030E6A1B76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FUTURE PRODUCT ROADMAP  ·  SPOTLIGHT 03 OF 03 (ROBOTICS)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DC5025-2A68-85AB-ADD5-F2F10964806A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2:37 – 2:43   [29/32]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B28AF4-F0B8-7019-05FF-06632B0EF6F7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D459326-19EB-07F6-D36E-8A6E6A7ADA1E}"/>
              </a:ext>
            </a:extLst>
          </p:cNvPr>
          <p:cNvSpPr/>
          <p:nvPr/>
        </p:nvSpPr>
        <p:spPr>
          <a:xfrm>
            <a:off x="411480" y="6654800"/>
            <a:ext cx="10300891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908746"/>
      </p:ext>
    </p:extLst>
  </p:cSld>
  <p:clrMapOvr>
    <a:masterClrMapping/>
  </p:clrMapOvr>
  <p:transition spd="med" advTm="5600">
    <p:fade/>
    <p:extLst mod="1">
      <p:ext uri="{D84E410A-3911-4435-9328-F4292B5D5B2B}">
        <p159:morph xmlns:p159="http://schemas.microsoft.com/office/powerpoint/2015/09/main" xmlns="" xmlns:p14="http://schemas.microsoft.com/office/powerpoint/2010/main" xmlns:mc="http://schemas.openxmlformats.org/markup-compatibility/2006" option="byObject"/>
      </p:ext>
    </p:extLst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97403-07CB-9DA0-A9A6-E5D95AF80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CBD7C0-51FB-A661-568D-EA83C1A8A9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FAD5F6-F478-C868-5064-C9C4788ADAF5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98AAEF2-04FA-8778-F56F-7EDB7D28F1D0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1A8FE4-57BE-EDA4-72B4-97407E87EBD9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FCCE3-441B-38FE-CD1C-58FCBE1E8A0B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FUTURE SCOPE  ·  PREDICTIVE TEXT &amp; VOICE SYNTHESIS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958928-24AE-B138-8950-D38B5E0609C5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2:43 – 2:48   [30/32]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FDCCD6-FE43-E497-AF8D-40210FB5E69F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0830A4-49B0-957C-8AD1-0F1EEA5E1B90}"/>
              </a:ext>
            </a:extLst>
          </p:cNvPr>
          <p:cNvSpPr/>
          <p:nvPr/>
        </p:nvSpPr>
        <p:spPr>
          <a:xfrm>
            <a:off x="411480" y="6654800"/>
            <a:ext cx="10656094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8B3213-2DA3-4A74-DA5B-28A640198E3E}"/>
              </a:ext>
            </a:extLst>
          </p:cNvPr>
          <p:cNvSpPr txBox="1"/>
          <p:nvPr/>
        </p:nvSpPr>
        <p:spPr>
          <a:xfrm>
            <a:off x="411480" y="711200"/>
            <a:ext cx="113665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Segoe UI" panose="020B0502040204020203" pitchFamily="34" charset="0"/>
              </a:rPr>
              <a:t>What IRIS Will Become: 4 Concrete Engineering Upgrades.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BC54A9-C1FC-3B38-5A17-DDEC24B38346}"/>
              </a:ext>
            </a:extLst>
          </p:cNvPr>
          <p:cNvSpPr txBox="1"/>
          <p:nvPr/>
        </p:nvSpPr>
        <p:spPr>
          <a:xfrm>
            <a:off x="411480" y="1117600"/>
            <a:ext cx="11366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>
                <a:solidFill>
                  <a:srgbClr val="C084FC"/>
                </a:solidFill>
                <a:latin typeface="Segoe UI" panose="020B0502040204020203" pitchFamily="34" charset="0"/>
              </a:rPr>
              <a:t>Expanding bedside communication through on-device predictive text and regional neural voice models.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77177C8-1653-EE00-74FD-17C36D83F3DB}"/>
              </a:ext>
            </a:extLst>
          </p:cNvPr>
          <p:cNvSpPr/>
          <p:nvPr/>
        </p:nvSpPr>
        <p:spPr>
          <a:xfrm>
            <a:off x="411480" y="1524000"/>
            <a:ext cx="5334000" cy="43180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C084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770210D-DB60-6ECD-1131-6C20CAAB4D9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" y="1562100"/>
            <a:ext cx="5257800" cy="424180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ED56AB4-A705-D653-492B-5C6311A54CB8}"/>
              </a:ext>
            </a:extLst>
          </p:cNvPr>
          <p:cNvSpPr/>
          <p:nvPr/>
        </p:nvSpPr>
        <p:spPr>
          <a:xfrm>
            <a:off x="411480" y="5943600"/>
            <a:ext cx="5334000" cy="50800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B69747-2A24-9487-BDB7-24B1E10B8DCB}"/>
              </a:ext>
            </a:extLst>
          </p:cNvPr>
          <p:cNvSpPr txBox="1"/>
          <p:nvPr/>
        </p:nvSpPr>
        <p:spPr>
          <a:xfrm>
            <a:off x="538480" y="6019800"/>
            <a:ext cx="5080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900" b="1">
                <a:solidFill>
                  <a:srgbClr val="C084FC"/>
                </a:solidFill>
                <a:latin typeface="Segoe UI" panose="020B0502040204020203" pitchFamily="34" charset="0"/>
              </a:rPr>
              <a:t>IRIS COMPANION OS: High-Contrast 32-Tile Predictive AAC Word Board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2572261-989D-0AC2-088F-2A3DB5FB6D37}"/>
              </a:ext>
            </a:extLst>
          </p:cNvPr>
          <p:cNvSpPr/>
          <p:nvPr/>
        </p:nvSpPr>
        <p:spPr>
          <a:xfrm>
            <a:off x="5999480" y="1524000"/>
            <a:ext cx="2794000" cy="2286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64E9C9-D454-69BF-1672-5D71AB4FA719}"/>
              </a:ext>
            </a:extLst>
          </p:cNvPr>
          <p:cNvSpPr txBox="1"/>
          <p:nvPr/>
        </p:nvSpPr>
        <p:spPr>
          <a:xfrm>
            <a:off x="6126480" y="1676400"/>
            <a:ext cx="2540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50" b="1">
                <a:solidFill>
                  <a:srgbClr val="00F2FE"/>
                </a:solidFill>
                <a:latin typeface="Segoe UI" panose="020B0502040204020203" pitchFamily="34" charset="0"/>
              </a:rPr>
              <a:t>01 · PREDICTIVE TEXT AI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76FC43-8C0A-45EB-E432-B9F50DA5FFDA}"/>
              </a:ext>
            </a:extLst>
          </p:cNvPr>
          <p:cNvSpPr txBox="1"/>
          <p:nvPr/>
        </p:nvSpPr>
        <p:spPr>
          <a:xfrm>
            <a:off x="6126480" y="2057400"/>
            <a:ext cx="2540000" cy="48987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50">
                <a:solidFill>
                  <a:srgbClr val="FFFFFF"/>
                </a:solidFill>
                <a:latin typeface="Segoe UI" panose="020B0502040204020203" pitchFamily="34" charset="0"/>
              </a:rPr>
              <a:t>On-device n-gram autocomplete cuts blink typing effort by &gt;60%. Autocompletes medical phrases from 1–2 blinks.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8AB4A62-5AE0-A824-0239-24082C5B70DF}"/>
              </a:ext>
            </a:extLst>
          </p:cNvPr>
          <p:cNvSpPr/>
          <p:nvPr/>
        </p:nvSpPr>
        <p:spPr>
          <a:xfrm>
            <a:off x="8983980" y="1524000"/>
            <a:ext cx="2794000" cy="2286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3F1B65-5F11-8659-D3EC-687525C2654B}"/>
              </a:ext>
            </a:extLst>
          </p:cNvPr>
          <p:cNvSpPr txBox="1"/>
          <p:nvPr/>
        </p:nvSpPr>
        <p:spPr>
          <a:xfrm>
            <a:off x="9110980" y="1676400"/>
            <a:ext cx="2540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50" b="1">
                <a:solidFill>
                  <a:srgbClr val="00E676"/>
                </a:solidFill>
                <a:latin typeface="Segoe UI" panose="020B0502040204020203" pitchFamily="34" charset="0"/>
              </a:rPr>
              <a:t>02 · MULTI-USER PROFILES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BE9E1C-82AC-FC98-55CF-1F258C8E99B4}"/>
              </a:ext>
            </a:extLst>
          </p:cNvPr>
          <p:cNvSpPr txBox="1"/>
          <p:nvPr/>
        </p:nvSpPr>
        <p:spPr>
          <a:xfrm>
            <a:off x="9110980" y="2057400"/>
            <a:ext cx="2540000" cy="48987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50">
                <a:solidFill>
                  <a:srgbClr val="FFFFFF"/>
                </a:solidFill>
                <a:latin typeface="Segoe UI" panose="020B0502040204020203" pitchFamily="34" charset="0"/>
              </a:rPr>
              <a:t>Per-patient calibration profiles stored on device. Instant household or hospital ICU bed switching in &lt;5 seconds.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8EF3DD0-A3E7-4BA1-B217-967DB35DEA82}"/>
              </a:ext>
            </a:extLst>
          </p:cNvPr>
          <p:cNvSpPr/>
          <p:nvPr/>
        </p:nvSpPr>
        <p:spPr>
          <a:xfrm>
            <a:off x="5999480" y="3937000"/>
            <a:ext cx="2794000" cy="2286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FB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8BCAFA-1B55-0B7A-F3B9-B6F6C3353215}"/>
              </a:ext>
            </a:extLst>
          </p:cNvPr>
          <p:cNvSpPr txBox="1"/>
          <p:nvPr/>
        </p:nvSpPr>
        <p:spPr>
          <a:xfrm>
            <a:off x="6126480" y="4089400"/>
            <a:ext cx="2540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50" b="1">
                <a:solidFill>
                  <a:srgbClr val="FFB300"/>
                </a:solidFill>
                <a:latin typeface="Segoe UI" panose="020B0502040204020203" pitchFamily="34" charset="0"/>
              </a:rPr>
              <a:t>03 · REGIONAL VOICE BANKING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9BF9DB-F06A-547A-1C0C-0F74D8F36946}"/>
              </a:ext>
            </a:extLst>
          </p:cNvPr>
          <p:cNvSpPr txBox="1"/>
          <p:nvPr/>
        </p:nvSpPr>
        <p:spPr>
          <a:xfrm>
            <a:off x="6126480" y="4470400"/>
            <a:ext cx="2540000" cy="48987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50">
                <a:solidFill>
                  <a:srgbClr val="FFFFFF"/>
                </a:solidFill>
                <a:latin typeface="Segoe UI" panose="020B0502040204020203" pitchFamily="34" charset="0"/>
              </a:rPr>
              <a:t>Converts telegraphic blink intent into natural Hindi, Marathi, Tamil and regional voice synthesis using local ONNX.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7E7976A-30E8-5680-76A8-464E7B456ADA}"/>
              </a:ext>
            </a:extLst>
          </p:cNvPr>
          <p:cNvSpPr/>
          <p:nvPr/>
        </p:nvSpPr>
        <p:spPr>
          <a:xfrm>
            <a:off x="8983980" y="3937000"/>
            <a:ext cx="2794000" cy="2286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C084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B82C3B-5FE6-6E81-58DD-2087A06351FF}"/>
              </a:ext>
            </a:extLst>
          </p:cNvPr>
          <p:cNvSpPr txBox="1"/>
          <p:nvPr/>
        </p:nvSpPr>
        <p:spPr>
          <a:xfrm>
            <a:off x="9110980" y="4089400"/>
            <a:ext cx="2540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50" b="1">
                <a:solidFill>
                  <a:srgbClr val="C084FC"/>
                </a:solidFill>
                <a:latin typeface="Segoe UI" panose="020B0502040204020203" pitchFamily="34" charset="0"/>
              </a:rPr>
              <a:t>04 · CLINICAL HOSPITAL PILOT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2B51A3-B807-669C-3033-7F1D6792D9A9}"/>
              </a:ext>
            </a:extLst>
          </p:cNvPr>
          <p:cNvSpPr txBox="1"/>
          <p:nvPr/>
        </p:nvSpPr>
        <p:spPr>
          <a:xfrm>
            <a:off x="9110980" y="4470400"/>
            <a:ext cx="2540000" cy="48987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950">
                <a:solidFill>
                  <a:srgbClr val="FFFFFF"/>
                </a:solidFill>
                <a:latin typeface="Segoe UI" panose="020B0502040204020203" pitchFamily="34" charset="0"/>
              </a:rPr>
              <a:t>Expanded neurology ICU pilot validation with AIIMS Delhi &amp; NIMHANS. 100+ patient real telemetry hours.</a:t>
            </a:r>
          </a:p>
        </p:txBody>
      </p:sp>
    </p:spTree>
    <p:extLst>
      <p:ext uri="{BB962C8B-B14F-4D97-AF65-F5344CB8AC3E}">
        <p14:creationId xmlns:p14="http://schemas.microsoft.com/office/powerpoint/2010/main" val="1274364295"/>
      </p:ext>
    </p:extLst>
  </p:cSld>
  <p:clrMapOvr>
    <a:masterClrMapping/>
  </p:clrMapOvr>
  <p:transition spd="med" advTm="56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bas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!!nav_logo_pill"/>
          <p:cNvSpPr/>
          <p:nvPr/>
        </p:nvSpPr>
        <p:spPr>
          <a:xfrm>
            <a:off x="502920" y="210312"/>
            <a:ext cx="1691640" cy="310896"/>
          </a:xfrm>
          <a:prstGeom prst="roundRect">
            <a:avLst>
              <a:gd name="adj" fmla="val 40000"/>
            </a:avLst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nav_logo_txt"/>
          <p:cNvSpPr txBox="1"/>
          <p:nvPr/>
        </p:nvSpPr>
        <p:spPr>
          <a:xfrm>
            <a:off x="530352" y="219456"/>
            <a:ext cx="1636776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60A12"/>
                </a:solidFill>
                <a:latin typeface="Inter"/>
              </a:rPr>
              <a:t>IRIS  ·  ACT 07</a:t>
            </a:r>
          </a:p>
        </p:txBody>
      </p:sp>
      <p:sp>
        <p:nvSpPr>
          <p:cNvPr id="10" name="anim_page_title"/>
          <p:cNvSpPr txBox="1"/>
          <p:nvPr/>
        </p:nvSpPr>
        <p:spPr>
          <a:xfrm>
            <a:off x="411480" y="658368"/>
            <a:ext cx="11365992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8FAFF"/>
                </a:solidFill>
                <a:latin typeface="Inter"/>
              </a:rPr>
              <a:t>Built by Hand.  Tested with Patients.  98.4% Verified Accuracy.</a:t>
            </a:r>
          </a:p>
        </p:txBody>
      </p:sp>
      <p:sp>
        <p:nvSpPr>
          <p:cNvPr id="11" name="anim_page_sub"/>
          <p:cNvSpPr txBox="1"/>
          <p:nvPr/>
        </p:nvSpPr>
        <p:spPr>
          <a:xfrm>
            <a:off x="411480" y="1170432"/>
            <a:ext cx="1136599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B800"/>
                </a:solidFill>
                <a:latin typeface="Inter"/>
              </a:rPr>
              <a:t>Technology should be a bridge, not a wall.  —  IRIS by Ayushman Choudhary, Class 10, Nagpur</a:t>
            </a:r>
          </a:p>
        </p:txBody>
      </p:sp>
      <p:sp>
        <p:nvSpPr>
          <p:cNvPr id="12" name="!!final_photo_box"/>
          <p:cNvSpPr/>
          <p:nvPr/>
        </p:nvSpPr>
        <p:spPr>
          <a:xfrm>
            <a:off x="411480" y="1664208"/>
            <a:ext cx="4709160" cy="4709160"/>
          </a:xfrm>
          <a:prstGeom prst="round2DiagRect">
            <a:avLst>
              <a:gd name="adj1" fmla="val 5000"/>
              <a:gd name="adj2" fmla="val 0"/>
            </a:avLst>
          </a:prstGeom>
          <a:solidFill>
            <a:srgbClr val="101A2C"/>
          </a:solidFill>
          <a:ln w="279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anim_fin_p1" descr="k28_tes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2224"/>
            <a:ext cx="2103120" cy="3520440"/>
          </a:xfrm>
          <a:prstGeom prst="rect">
            <a:avLst/>
          </a:prstGeom>
        </p:spPr>
      </p:pic>
      <p:pic>
        <p:nvPicPr>
          <p:cNvPr id="14" name="anim_fin_p2" descr="k28_test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792224"/>
            <a:ext cx="2240280" cy="3520440"/>
          </a:xfrm>
          <a:prstGeom prst="rect">
            <a:avLst/>
          </a:prstGeom>
        </p:spPr>
      </p:pic>
      <p:sp>
        <p:nvSpPr>
          <p:cNvPr id="15" name="!!fin_cap"/>
          <p:cNvSpPr txBox="1"/>
          <p:nvPr/>
        </p:nvSpPr>
        <p:spPr>
          <a:xfrm>
            <a:off x="548640" y="5413248"/>
            <a:ext cx="443484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0E5FF"/>
                </a:solidFill>
                <a:latin typeface="Inter"/>
              </a:rPr>
              <a:t>HAND-BUILT &amp; BENCHMARKED BY AYUSHMAN CHOUDHARY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B800"/>
                </a:solidFill>
                <a:latin typeface="Inter"/>
              </a:rPr>
              <a:t>Bhavan's B.P. Vidya Mandir, Ashti, Nagpur · projectiris.dev</a:t>
            </a:r>
          </a:p>
        </p:txBody>
      </p:sp>
      <p:sp>
        <p:nvSpPr>
          <p:cNvPr id="16" name="!!fin_b_5.85_1.82"/>
          <p:cNvSpPr/>
          <p:nvPr/>
        </p:nvSpPr>
        <p:spPr>
          <a:xfrm>
            <a:off x="5349240" y="1664208"/>
            <a:ext cx="3136392" cy="2267712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79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fin_bt_5.85_1.82"/>
          <p:cNvSpPr txBox="1"/>
          <p:nvPr/>
        </p:nvSpPr>
        <p:spPr>
          <a:xfrm>
            <a:off x="5532120" y="1828800"/>
            <a:ext cx="2770632" cy="19385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00E5FF"/>
                </a:solidFill>
                <a:latin typeface="Inter"/>
              </a:rPr>
              <a:t>98.4%</a:t>
            </a:r>
          </a:p>
          <a:p>
            <a:pPr algn="l">
              <a:spcAft>
                <a:spcPts val="400"/>
              </a:spcAft>
            </a:pPr>
            <a:r>
              <a:rPr sz="1750" b="1">
                <a:solidFill>
                  <a:srgbClr val="F8FAFF"/>
                </a:solidFill>
                <a:latin typeface="Inter"/>
              </a:rPr>
              <a:t>Target Blink Accuracy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Vs. 92.1% Tobii baseline · 99.6% Back-Button Hit Rate</a:t>
            </a:r>
          </a:p>
        </p:txBody>
      </p:sp>
      <p:sp>
        <p:nvSpPr>
          <p:cNvPr id="18" name="!!fin_b_9.45_1.82"/>
          <p:cNvSpPr/>
          <p:nvPr/>
        </p:nvSpPr>
        <p:spPr>
          <a:xfrm>
            <a:off x="8641080" y="1664208"/>
            <a:ext cx="3136392" cy="2267712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79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nim_fin_bt_9.45_1.82"/>
          <p:cNvSpPr txBox="1"/>
          <p:nvPr/>
        </p:nvSpPr>
        <p:spPr>
          <a:xfrm>
            <a:off x="8823959" y="1828800"/>
            <a:ext cx="2770632" cy="19385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B800"/>
                </a:solidFill>
                <a:latin typeface="Inter"/>
              </a:rPr>
              <a:t>280 ms</a:t>
            </a:r>
          </a:p>
          <a:p>
            <a:pPr algn="l">
              <a:spcAft>
                <a:spcPts val="400"/>
              </a:spcAft>
            </a:pPr>
            <a:r>
              <a:rPr sz="1750" b="1">
                <a:solidFill>
                  <a:srgbClr val="F8FAFF"/>
                </a:solidFill>
                <a:latin typeface="Inter"/>
              </a:rPr>
              <a:t>Cellular Alert Latency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145 ms on Wi-Fi · Instant ntfy.sh phone &amp; watch siren</a:t>
            </a:r>
          </a:p>
        </p:txBody>
      </p:sp>
      <p:sp>
        <p:nvSpPr>
          <p:cNvPr id="20" name="!!fin_b_5.85_4.48"/>
          <p:cNvSpPr/>
          <p:nvPr/>
        </p:nvSpPr>
        <p:spPr>
          <a:xfrm>
            <a:off x="5349240" y="4096512"/>
            <a:ext cx="3136392" cy="2267712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79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nim_fin_bt_5.85_4.48"/>
          <p:cNvSpPr txBox="1"/>
          <p:nvPr/>
        </p:nvSpPr>
        <p:spPr>
          <a:xfrm>
            <a:off x="5532120" y="4261104"/>
            <a:ext cx="2770632" cy="19385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00E676"/>
                </a:solidFill>
                <a:latin typeface="Inter"/>
              </a:rPr>
              <a:t>87.2%</a:t>
            </a:r>
          </a:p>
          <a:p>
            <a:pPr algn="l">
              <a:spcAft>
                <a:spcPts val="400"/>
              </a:spcAft>
            </a:pPr>
            <a:r>
              <a:rPr sz="1750" b="1">
                <a:solidFill>
                  <a:srgbClr val="F8FAFF"/>
                </a:solidFill>
                <a:latin typeface="Inter"/>
              </a:rPr>
              <a:t>Faster Caregiver Aid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18.2 sec response vs. 4.2 min manual call bell</a:t>
            </a:r>
          </a:p>
        </p:txBody>
      </p:sp>
      <p:sp>
        <p:nvSpPr>
          <p:cNvPr id="22" name="!!fin_b_9.45_4.48"/>
          <p:cNvSpPr/>
          <p:nvPr/>
        </p:nvSpPr>
        <p:spPr>
          <a:xfrm>
            <a:off x="8641080" y="4096512"/>
            <a:ext cx="3136392" cy="2267712"/>
          </a:xfrm>
          <a:prstGeom prst="round2DiagRect">
            <a:avLst>
              <a:gd name="adj1" fmla="val 6000"/>
              <a:gd name="adj2" fmla="val 0"/>
            </a:avLst>
          </a:prstGeom>
          <a:solidFill>
            <a:srgbClr val="101A2C"/>
          </a:solidFill>
          <a:ln w="279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anim_fin_bt_9.45_4.48"/>
          <p:cNvSpPr txBox="1"/>
          <p:nvPr/>
        </p:nvSpPr>
        <p:spPr>
          <a:xfrm>
            <a:off x="8823959" y="4261104"/>
            <a:ext cx="2770632" cy="19385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A855F7"/>
                </a:solidFill>
                <a:latin typeface="Inter"/>
              </a:rPr>
              <a:t>91.5 / 100</a:t>
            </a:r>
          </a:p>
          <a:p>
            <a:pPr algn="l">
              <a:spcAft>
                <a:spcPts val="400"/>
              </a:spcAft>
            </a:pPr>
            <a:r>
              <a:rPr sz="1750" b="1">
                <a:solidFill>
                  <a:srgbClr val="F8FAFF"/>
                </a:solidFill>
                <a:latin typeface="Inter"/>
              </a:rPr>
              <a:t>System Usability (A+)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ACBEDA"/>
                </a:solidFill>
                <a:latin typeface="Inter"/>
              </a:rPr>
              <a:t>Vs. 68.4 baseline · 60 FPS Flight Sim @ only 5% CPU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4F2538-D3DD-0DF6-34B1-E5ADD327D00D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558D8B1-752E-292E-0775-325B265EFF18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09AD22-2DCD-0C3F-6722-623E399C79B4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9FBBC2-1602-82AA-BC38-36B797451121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TESTING &amp; BENCHMARK NUMBERS  ·  98.4% VERIFIED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91B959-5D22-0C10-C018-1F7FBB6A9775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2:48 – 2:54   [31/32]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26409B-502D-1584-C229-37C4226AF409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B57B420-BC73-1080-9C8C-3222BA533898}"/>
              </a:ext>
            </a:extLst>
          </p:cNvPr>
          <p:cNvSpPr/>
          <p:nvPr/>
        </p:nvSpPr>
        <p:spPr>
          <a:xfrm>
            <a:off x="411480" y="6654800"/>
            <a:ext cx="11011297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213706"/>
      </p:ext>
    </p:extLst>
  </p:cSld>
  <p:clrMapOvr>
    <a:masterClrMapping/>
  </p:clrMapOvr>
  <p:transition spd="med" advTm="5600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"/>
                            </p:stCondLst>
                            <p:childTnLst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1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id="1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 additive="repl">
                                        <p:cTn id="1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20"/>
                            </p:stCondLst>
                            <p:childTnLst>
                              <p:par>
                                <p:cTn id="21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23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2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80"/>
                            </p:stCondLst>
                            <p:childTnLst>
                              <p:par>
                                <p:cTn id="29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 additive="repl">
                                        <p:cTn id="3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60"/>
                            </p:stCondLst>
                            <p:childTnLst>
                              <p:par>
                                <p:cTn id="33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 additive="repl">
                                        <p:cTn id="3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97403-07CB-9DA0-A9A6-E5D95AF80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BE0A95-E38C-263F-D09B-E47267C23F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955FBA-A469-B061-A045-72D7D15DF599}"/>
              </a:ext>
            </a:extLst>
          </p:cNvPr>
          <p:cNvSpPr/>
          <p:nvPr/>
        </p:nvSpPr>
        <p:spPr>
          <a:xfrm>
            <a:off x="411480" y="165100"/>
            <a:ext cx="11366500" cy="438150"/>
          </a:xfrm>
          <a:prstGeom prst="rect">
            <a:avLst/>
          </a:prstGeom>
          <a:solidFill>
            <a:srgbClr val="121826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8D143AC-D16A-B186-75F0-4CF855F006FA}"/>
              </a:ext>
            </a:extLst>
          </p:cNvPr>
          <p:cNvSpPr/>
          <p:nvPr/>
        </p:nvSpPr>
        <p:spPr>
          <a:xfrm>
            <a:off x="487680" y="215900"/>
            <a:ext cx="1905000" cy="33655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A78E3D-7577-305C-EA79-31549E3A20EF}"/>
              </a:ext>
            </a:extLst>
          </p:cNvPr>
          <p:cNvSpPr txBox="1"/>
          <p:nvPr/>
        </p:nvSpPr>
        <p:spPr>
          <a:xfrm>
            <a:off x="487680" y="215900"/>
            <a:ext cx="1905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ctr"/>
            <a:r>
              <a:rPr lang="en-US" sz="1000" b="1">
                <a:solidFill>
                  <a:srgbClr val="00F2FE"/>
                </a:solidFill>
                <a:latin typeface="Segoe UI Semibold" panose="020B0702040204020203" pitchFamily="34" charset="0"/>
              </a:rPr>
              <a:t>IRIS  ·  ACT 09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2D6E5E-5F11-3079-18C4-682CC993EDCD}"/>
              </a:ext>
            </a:extLst>
          </p:cNvPr>
          <p:cNvSpPr txBox="1"/>
          <p:nvPr/>
        </p:nvSpPr>
        <p:spPr>
          <a:xfrm>
            <a:off x="2545080" y="215900"/>
            <a:ext cx="6223000" cy="230832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r>
              <a:rPr lang="en-US" sz="950" b="1">
                <a:solidFill>
                  <a:srgbClr val="94A3B8"/>
                </a:solidFill>
                <a:latin typeface="Segoe UI Semibold" panose="020B0702040204020203" pitchFamily="34" charset="0"/>
              </a:rPr>
              <a:t>CONCLUSION &amp; CALL TO ACTION  ·  ASK ME ANYTHING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62E1D1-78A6-1164-264B-2CBF138161F3}"/>
              </a:ext>
            </a:extLst>
          </p:cNvPr>
          <p:cNvSpPr txBox="1"/>
          <p:nvPr/>
        </p:nvSpPr>
        <p:spPr>
          <a:xfrm>
            <a:off x="8856980" y="215900"/>
            <a:ext cx="2794000" cy="238527"/>
          </a:xfrm>
          <a:prstGeom prst="rect">
            <a:avLst/>
          </a:prstGeom>
          <a:noFill/>
        </p:spPr>
        <p:txBody>
          <a:bodyPr vert="horz" wrap="square" lIns="0" tIns="38100" rtlCol="0">
            <a:spAutoFit/>
          </a:bodyPr>
          <a:lstStyle/>
          <a:p>
            <a:pPr algn="r"/>
            <a:r>
              <a:rPr lang="en-US" sz="1000" b="1">
                <a:solidFill>
                  <a:srgbClr val="00F2FE"/>
                </a:solidFill>
                <a:latin typeface="Consolas" panose="020B0609020204030204" pitchFamily="49" charset="0"/>
              </a:rPr>
              <a:t>2:54 – 3:00   [32/32]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F5D6FB-4653-C4C8-9EE1-C70FE90D862B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2430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B21A32-3C7C-8E28-0EC6-CC802B6CD5D0}"/>
              </a:ext>
            </a:extLst>
          </p:cNvPr>
          <p:cNvSpPr/>
          <p:nvPr/>
        </p:nvSpPr>
        <p:spPr>
          <a:xfrm>
            <a:off x="411480" y="6654800"/>
            <a:ext cx="11366500" cy="69850"/>
          </a:xfrm>
          <a:prstGeom prst="rect">
            <a:avLst/>
          </a:prstGeom>
          <a:solidFill>
            <a:srgbClr val="00F2F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42DF54-29D0-C5D5-9836-EA3C81F60B80}"/>
              </a:ext>
            </a:extLst>
          </p:cNvPr>
          <p:cNvSpPr txBox="1"/>
          <p:nvPr/>
        </p:nvSpPr>
        <p:spPr>
          <a:xfrm>
            <a:off x="411480" y="711200"/>
            <a:ext cx="11366500" cy="3744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100" b="1">
                <a:solidFill>
                  <a:srgbClr val="FFFFFF"/>
                </a:solidFill>
                <a:latin typeface="Segoe UI" panose="020B0502040204020203" pitchFamily="34" charset="0"/>
              </a:rPr>
              <a:t>Technology Should Be a Bridge, Not a Wall.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8964B1-9FA1-BE32-63BF-18EAA616CD8E}"/>
              </a:ext>
            </a:extLst>
          </p:cNvPr>
          <p:cNvSpPr txBox="1"/>
          <p:nvPr/>
        </p:nvSpPr>
        <p:spPr>
          <a:xfrm>
            <a:off x="411480" y="1117600"/>
            <a:ext cx="11366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 b="1">
                <a:solidFill>
                  <a:srgbClr val="00F2FE"/>
                </a:solidFill>
                <a:latin typeface="Segoe UI" panose="020B0502040204020203" pitchFamily="34" charset="0"/>
              </a:rPr>
              <a:t>PROJECT IRIS  ·  VIVO IGNITE AWARDS NATIONAL FINALE  ·  BHARAT MANDAPAM, NEW DELHI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107D8E9-BD20-A620-266A-92E9A4F55811}"/>
              </a:ext>
            </a:extLst>
          </p:cNvPr>
          <p:cNvSpPr/>
          <p:nvPr/>
        </p:nvSpPr>
        <p:spPr>
          <a:xfrm>
            <a:off x="411480" y="1524000"/>
            <a:ext cx="3429000" cy="4127500"/>
          </a:xfrm>
          <a:prstGeom prst="roundRect">
            <a:avLst/>
          </a:prstGeom>
          <a:solidFill>
            <a:srgbClr val="182032"/>
          </a:solidFill>
          <a:ln w="1905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08B364B-466E-CD8A-E648-9F2C284CE3A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" y="1562100"/>
            <a:ext cx="3352800" cy="405130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DE09E3F-4D3C-49AC-F080-3D88FDED2154}"/>
              </a:ext>
            </a:extLst>
          </p:cNvPr>
          <p:cNvSpPr/>
          <p:nvPr/>
        </p:nvSpPr>
        <p:spPr>
          <a:xfrm>
            <a:off x="4030980" y="1524000"/>
            <a:ext cx="4953000" cy="41275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0E6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1709DA-08D6-8D20-2ADE-A57DAF3C6900}"/>
              </a:ext>
            </a:extLst>
          </p:cNvPr>
          <p:cNvSpPr txBox="1"/>
          <p:nvPr/>
        </p:nvSpPr>
        <p:spPr>
          <a:xfrm>
            <a:off x="4196080" y="1676400"/>
            <a:ext cx="46228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50" b="1">
                <a:solidFill>
                  <a:srgbClr val="00F2FE"/>
                </a:solidFill>
                <a:latin typeface="Segoe UI" panose="020B0502040204020203" pitchFamily="34" charset="0"/>
              </a:rPr>
              <a:t>NATIONAL FINALIST · CLASS 10 INNOVATOR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991B8C-CDF7-0FAA-EEA7-ADD83AEB68A4}"/>
              </a:ext>
            </a:extLst>
          </p:cNvPr>
          <p:cNvSpPr txBox="1"/>
          <p:nvPr/>
        </p:nvSpPr>
        <p:spPr>
          <a:xfrm>
            <a:off x="4196080" y="2006600"/>
            <a:ext cx="4622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Segoe UI" panose="020B0502040204020203" pitchFamily="34" charset="0"/>
              </a:rPr>
              <a:t>Ayushman Choudhary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1F7F87-C28A-965C-8C0A-3C8BD6CFF440}"/>
              </a:ext>
            </a:extLst>
          </p:cNvPr>
          <p:cNvSpPr txBox="1"/>
          <p:nvPr/>
        </p:nvSpPr>
        <p:spPr>
          <a:xfrm>
            <a:off x="4196080" y="2387600"/>
            <a:ext cx="4622800" cy="4052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50" b="1">
                <a:solidFill>
                  <a:srgbClr val="00E676"/>
                </a:solidFill>
                <a:latin typeface="Segoe UI" panose="020B0502040204020203" pitchFamily="34" charset="0"/>
              </a:rPr>
              <a:t>Class 10th · Bhavan's B.P. Vidya Mandir Ashti
Nagpur, Maharashtra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88D771-DBCE-0AB3-7B02-CDA828CCB421}"/>
              </a:ext>
            </a:extLst>
          </p:cNvPr>
          <p:cNvSpPr txBox="1"/>
          <p:nvPr/>
        </p:nvSpPr>
        <p:spPr>
          <a:xfrm>
            <a:off x="4196080" y="3022600"/>
            <a:ext cx="46228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From a bedroom soldering workbench to a 98.4% verified clinical architecture — built by hand to ensure no paralyzed human being is ever locked in silence again.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6E587F-5564-BFBB-26FF-959C86DEAF83}"/>
              </a:ext>
            </a:extLst>
          </p:cNvPr>
          <p:cNvSpPr txBox="1"/>
          <p:nvPr/>
        </p:nvSpPr>
        <p:spPr>
          <a:xfrm>
            <a:off x="4196080" y="4064000"/>
            <a:ext cx="46228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 b="1">
                <a:solidFill>
                  <a:srgbClr val="FFB300"/>
                </a:solidFill>
                <a:latin typeface="Segoe UI" panose="020B0502040204020203" pitchFamily="34" charset="0"/>
              </a:rPr>
              <a:t>“Accessibility is not a luxury for the privileged.
It is a fundamental human right.”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27B9FF9-35BF-7D31-BC76-485E6592EACA}"/>
              </a:ext>
            </a:extLst>
          </p:cNvPr>
          <p:cNvSpPr/>
          <p:nvPr/>
        </p:nvSpPr>
        <p:spPr>
          <a:xfrm>
            <a:off x="4196080" y="4889500"/>
            <a:ext cx="4622800" cy="571500"/>
          </a:xfrm>
          <a:prstGeom prst="roundRect">
            <a:avLst/>
          </a:prstGeom>
          <a:solidFill>
            <a:srgbClr val="182032"/>
          </a:solidFill>
          <a:ln w="12700">
            <a:solidFill>
              <a:srgbClr val="2430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EFEE87-473E-6AEE-F5F7-E327CE83AE5C}"/>
              </a:ext>
            </a:extLst>
          </p:cNvPr>
          <p:cNvSpPr txBox="1"/>
          <p:nvPr/>
        </p:nvSpPr>
        <p:spPr>
          <a:xfrm>
            <a:off x="4272280" y="4978400"/>
            <a:ext cx="44704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900">
                <a:solidFill>
                  <a:srgbClr val="FFFFFF"/>
                </a:solidFill>
                <a:latin typeface="Segoe UI" panose="020B0502040204020203" pitchFamily="34" charset="0"/>
              </a:rPr>
              <a:t>Top 10 National Finalist across 10,000+ pan-India submissions
at Vivo Ignite Technology and Innovation Awards 2026.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2ECF7C6-1BF6-16A3-5728-54221EB6FC17}"/>
              </a:ext>
            </a:extLst>
          </p:cNvPr>
          <p:cNvSpPr/>
          <p:nvPr/>
        </p:nvSpPr>
        <p:spPr>
          <a:xfrm>
            <a:off x="9174480" y="1524000"/>
            <a:ext cx="2603500" cy="41275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0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F25642-DAB9-A00A-12F8-CCF42B9847A5}"/>
              </a:ext>
            </a:extLst>
          </p:cNvPr>
          <p:cNvSpPr txBox="1"/>
          <p:nvPr/>
        </p:nvSpPr>
        <p:spPr>
          <a:xfrm>
            <a:off x="9237980" y="1625600"/>
            <a:ext cx="24765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950" b="1">
                <a:solidFill>
                  <a:srgbClr val="00F2FE"/>
                </a:solidFill>
                <a:latin typeface="Segoe UI" panose="020B0502040204020203" pitchFamily="34" charset="0"/>
              </a:rPr>
              <a:t>SCAN FOR PROJECT LINKS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E350C7-F714-8EF4-F766-4BC8079DA55A}"/>
              </a:ext>
            </a:extLst>
          </p:cNvPr>
          <p:cNvSpPr/>
          <p:nvPr/>
        </p:nvSpPr>
        <p:spPr>
          <a:xfrm>
            <a:off x="9428480" y="1930400"/>
            <a:ext cx="2095500" cy="2095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9EF3D69-A793-A258-6DAA-C9AFBCD61C8F}"/>
              </a:ext>
            </a:extLst>
          </p:cNvPr>
          <p:cNvSpPr/>
          <p:nvPr/>
        </p:nvSpPr>
        <p:spPr>
          <a:xfrm>
            <a:off x="9491980" y="1993900"/>
            <a:ext cx="1968500" cy="1968500"/>
          </a:xfrm>
          <a:prstGeom prst="roundRect">
            <a:avLst/>
          </a:prstGeom>
          <a:solidFill>
            <a:srgbClr val="1820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0FA19E8-DBB9-9DED-F5DD-B139F923760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080" y="2032000"/>
            <a:ext cx="1892300" cy="18923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919BE3D-D2A2-EAAB-B4F1-E9A9C901B3A3}"/>
              </a:ext>
            </a:extLst>
          </p:cNvPr>
          <p:cNvSpPr txBox="1"/>
          <p:nvPr/>
        </p:nvSpPr>
        <p:spPr>
          <a:xfrm>
            <a:off x="9237980" y="4127500"/>
            <a:ext cx="2476500" cy="102079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pitchFamily="34" charset="0"/>
              </a:rPr>
              <a:t>🌐 projectiris.dev
🐙 github.com/project-iris
📱 Live Companion Web App
📄 Full 62-Page Clinical Report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D4CC519-DA35-41C5-6026-A1FE76B351E0}"/>
              </a:ext>
            </a:extLst>
          </p:cNvPr>
          <p:cNvSpPr/>
          <p:nvPr/>
        </p:nvSpPr>
        <p:spPr>
          <a:xfrm>
            <a:off x="411480" y="5778500"/>
            <a:ext cx="11366500" cy="736600"/>
          </a:xfrm>
          <a:prstGeom prst="roundRect">
            <a:avLst/>
          </a:prstGeom>
          <a:solidFill>
            <a:srgbClr val="182032"/>
          </a:solidFill>
          <a:ln w="22860">
            <a:solidFill>
              <a:srgbClr val="FFB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01751C-E0EE-FB8F-22A8-FEA00A62F0B0}"/>
              </a:ext>
            </a:extLst>
          </p:cNvPr>
          <p:cNvSpPr txBox="1"/>
          <p:nvPr/>
        </p:nvSpPr>
        <p:spPr>
          <a:xfrm>
            <a:off x="563880" y="5854700"/>
            <a:ext cx="110617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1300" b="1">
                <a:solidFill>
                  <a:srgbClr val="FFB300"/>
                </a:solidFill>
                <a:latin typeface="Segoe UI" panose="020B0502040204020203" pitchFamily="34" charset="0"/>
              </a:rPr>
              <a:t>💬 ASK ME ANYTHING  ·  JUDGE Q&amp;A OPEN  ·  LIVE DEMO AT BOOTH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85BDA4-3BB5-A75D-6ECD-6CD1B65953A7}"/>
              </a:ext>
            </a:extLst>
          </p:cNvPr>
          <p:cNvSpPr txBox="1"/>
          <p:nvPr/>
        </p:nvSpPr>
        <p:spPr>
          <a:xfrm>
            <a:off x="563880" y="6197600"/>
            <a:ext cx="110617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US" sz="950">
                <a:solidFill>
                  <a:srgbClr val="FFFFFF"/>
                </a:solidFill>
                <a:latin typeface="Segoe UI" panose="020B0502040204020203" pitchFamily="34" charset="0"/>
              </a:rPr>
              <a:t>Hardware schematics, 3D STLs, firmware, &amp; Python telemetry bridge are 100% open-source for public healthcare good.</a:t>
            </a:r>
          </a:p>
        </p:txBody>
      </p:sp>
    </p:spTree>
    <p:extLst>
      <p:ext uri="{BB962C8B-B14F-4D97-AF65-F5344CB8AC3E}">
        <p14:creationId xmlns:p14="http://schemas.microsoft.com/office/powerpoint/2010/main" val="3923867274"/>
      </p:ext>
    </p:extLst>
  </p:cSld>
  <p:clrMapOvr>
    <a:masterClrMapping/>
  </p:clrMapOvr>
  <p:transition spd="med" advTm="56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4630</Words>
  <Application>Microsoft Office PowerPoint</Application>
  <PresentationFormat>Custom</PresentationFormat>
  <Paragraphs>574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Arial Black</vt:lpstr>
      <vt:lpstr>Calibri</vt:lpstr>
      <vt:lpstr>Calibri Light</vt:lpstr>
      <vt:lpstr>Consolas</vt:lpstr>
      <vt:lpstr>Inter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Ayushman Choudhary</dc:creator>
  <cp:lastModifiedBy>Ayushman Choudhary</cp:lastModifiedBy>
  <cp:revision>1</cp:revision>
  <dcterms:created xsi:type="dcterms:W3CDTF">2026-10-23T22:49:16Z</dcterms:created>
  <dcterms:modified xsi:type="dcterms:W3CDTF">2026-10-23T22:49:16Z</dcterms:modified>
</cp:coreProperties>
</file>