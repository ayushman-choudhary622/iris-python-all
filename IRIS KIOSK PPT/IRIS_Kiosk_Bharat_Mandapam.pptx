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640080"/>
            <a:ext cx="5120640" cy="347472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  <a:latin typeface="Segoe UI Semibold"/>
              </a:defRPr>
            </a:pPr>
            <a:r>
              <a:t>VIVO IGNITE NATIONAL FINALE · BHARAT MANDAPAM, NEW DELHI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6217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PROJECT IRIS ·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2FE"/>
                </a:solidFill>
                <a:latin typeface="Arial Black"/>
              </a:defRPr>
            </a:pPr>
            <a:r>
              <a:t>A Blink Becomes a Click. A Tilt Becomes a Cursor.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An ₹800 open-source assistive wearable restoring full digital agency and voice communication to patients with Locked-In Syndrome, ALS &amp; severe paralysis.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2834640" cy="868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3547872"/>
            <a:ext cx="261518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950nm Optical Reflectance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Digital eye open/close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40" y="3474720"/>
            <a:ext cx="2834640" cy="868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58768" y="3547872"/>
            <a:ext cx="261518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6-DOF Inertial Steering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Smooth MPU6050 head tilt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2834640" cy="868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4553712"/>
            <a:ext cx="261518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BLE 5.0 + Wi-Fi Telemetry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Thumb-sized ESP32-C3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40" y="4480560"/>
            <a:ext cx="2834640" cy="868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58768" y="4553712"/>
            <a:ext cx="261518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₹800 vs ₹25,00,000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99.96% price disruption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23560"/>
            <a:ext cx="5852160" cy="82296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669280"/>
            <a:ext cx="5577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  <a:latin typeface="Segoe UI Semibold"/>
              </a:defRPr>
            </a:pPr>
            <a:r>
              <a:t>Ayushman Choudhary  ·  Class 10th</a:t>
            </a:r>
          </a:p>
          <a:p>
            <a:pPr>
              <a:defRPr sz="1050">
                <a:solidFill>
                  <a:srgbClr val="FFFFFF"/>
                </a:solidFill>
                <a:latin typeface="Segoe UI"/>
              </a:defRPr>
            </a:pPr>
            <a:r>
              <a:t>Bhavan’s B.P. Vidya Mandir Ashti, Nagpur, Maharashtra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77456" y="585216"/>
            <a:ext cx="4407408" cy="5916168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640080"/>
            <a:ext cx="4297680" cy="580644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315200" y="5943600"/>
            <a:ext cx="3931920" cy="384048"/>
          </a:xfrm>
          <a:prstGeom prst="roundRect">
            <a:avLst/>
          </a:prstGeom>
          <a:solidFill>
            <a:srgbClr val="0A0D14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E676"/>
                </a:solidFill>
                <a:latin typeface="Segoe UI Semibold"/>
              </a:defRPr>
            </a:pPr>
            <a:r>
              <a:t>● LIVE HARDWARE PROTOTYPE · READY FOR DEMO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0F2FE"/>
                </a:solidFill>
                <a:latin typeface="Segoe UI Semibold"/>
              </a:defRPr>
            </a:pPr>
            <a:r>
              <a:t>PROJECT IRIS V2.0 · KIOSK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 Semibold"/>
              </a:defRPr>
            </a:pPr>
            <a:r>
              <a:t>VIVO IGNITE NATIONAL FINALE · BHARAT MANDAPAM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Segoe UI Semibold"/>
              </a:defRPr>
            </a:pPr>
            <a:r>
              <a:t>THE CRISIS · LOCKED-IN SYNDROME &amp; 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 Black"/>
              </a:defRPr>
            </a:pPr>
            <a:r>
              <a:t>Trapped Inside a Conscious Mind.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29260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0F2FE"/>
                </a:solidFill>
                <a:latin typeface="Arial Black"/>
              </a:defRPr>
            </a:pPr>
            <a:r>
              <a:t>240K+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 Semibold"/>
              </a:defRPr>
            </a:pPr>
            <a:r>
              <a:t>PARALYZED INDIANS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Living with locked-in syndrome, ALS, stroke &amp; severe spinal injuries with fully intact cognitive minds.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29260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3B5C"/>
                </a:solidFill>
                <a:latin typeface="Arial Black"/>
              </a:defRPr>
            </a:pPr>
            <a:r>
              <a:t>₹25L+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 Semibold"/>
              </a:defRPr>
            </a:pPr>
            <a:r>
              <a:t>COMMERCIAL MONOPOLY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Imported optical eye-trackers (Tobii Dynavox) cost as much as a luxury car—financially impossible for Indian families.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29260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178308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B300"/>
                </a:solidFill>
                <a:latin typeface="Arial Black"/>
              </a:defRPr>
            </a:pPr>
            <a:r>
              <a:t>0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 Semibold"/>
              </a:defRPr>
            </a:pPr>
            <a:r>
              <a:t>AFFORDABLE OPTIONS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Zero reliable, high-accuracy sub-₹2,000 assistive cursor devices exist in the healthcare market today.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00600"/>
            <a:ext cx="10698480" cy="1645920"/>
          </a:xfrm>
          <a:prstGeom prst="roundRect">
            <a:avLst/>
          </a:prstGeom>
          <a:solidFill>
            <a:srgbClr val="0F1E37"/>
          </a:solidFill>
          <a:ln w="19050">
            <a:solidFill>
              <a:srgbClr val="00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2FE"/>
                </a:solidFill>
                <a:latin typeface="Segoe UI Semibold"/>
              </a:defRPr>
            </a:pPr>
            <a:r>
              <a:t>THE CLINICAL REALITY:</a:t>
            </a:r>
          </a:p>
          <a:p>
            <a:pPr>
              <a:spcBef>
                <a:spcPts val="400"/>
              </a:spcBef>
              <a:defRPr sz="1250">
                <a:solidFill>
                  <a:srgbClr val="FFFFFF"/>
                </a:solidFill>
                <a:latin typeface="Segoe UI"/>
              </a:defRPr>
            </a:pPr>
            <a:r>
              <a:t>Paralyzed individuals lose peripheral limb movement, but in over 95% of cases, two voluntary motor signals remain intact: micro head rotation and deliberate eye blinks. IRIS bridges these exact two biological channels into a high-precision computer mouse for ₹800.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0F2FE"/>
                </a:solidFill>
                <a:latin typeface="Segoe UI Semibold"/>
              </a:defRPr>
            </a:pPr>
            <a:r>
              <a:t>PROJECT IRIS V2.0 · KIOSK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 Semibold"/>
              </a:defRPr>
            </a:pPr>
            <a:r>
              <a:t>VIVO IGNITE NATIONAL FINALE · BHARAT MANDAPAM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Segoe UI Semibold"/>
              </a:defRPr>
            </a:pPr>
            <a:r>
              <a:t>DISRUPTIVE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 Black"/>
              </a:defRPr>
            </a:pPr>
            <a:r>
              <a:t>The ₹800 Breakthrough: 99.96% Cheaper.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36576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B5C"/>
                </a:solidFill>
                <a:latin typeface="Segoe UI Semibold"/>
              </a:defRPr>
            </a:pPr>
            <a:r>
              <a:t>COMMERCIAL STATUS QUO</a:t>
            </a: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Tobii Dynavox I-Series: ₹25,00,000+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High-speed binocular cameras that fail under sunlight or lens glare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Forces purchase of proprietary locked 4kg tablets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Requires 30+ minutes tedious calibration by clinical specialists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Closed patent monopoly with 40-60% Indian import customs duty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Result: Completely inaccessible to 99.9% of Indian patients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3657600"/>
          </a:xfrm>
          <a:prstGeom prst="roundRect">
            <a:avLst/>
          </a:prstGeom>
          <a:solidFill>
            <a:srgbClr val="0F1E3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676"/>
                </a:solidFill>
                <a:latin typeface="Segoe UI Semibold"/>
              </a:defRPr>
            </a:pPr>
            <a:r>
              <a:t>PROJECT IRIS DISRUPTION</a:t>
            </a:r>
          </a:p>
          <a:p>
            <a:pPr>
              <a:spcBef>
                <a:spcPts val="400"/>
              </a:spcBef>
              <a:defRPr sz="2000" b="1">
                <a:solidFill>
                  <a:srgbClr val="00F2FE"/>
                </a:solidFill>
                <a:latin typeface="Arial Black"/>
              </a:defRPr>
            </a:pPr>
            <a:r>
              <a:t>Total Prototype BOM: ₹800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✔  950nm Optical Reflectance: Works in total darkness or direct sunlight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✔  Works on any existing family laptop, PC, Android, or tablet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✔  Self-calibrating in 2–3 seconds with saved returning user profiles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✔  Built using locally available off-the-shelf micro-electronics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✔  100% Free &amp; Open-Source (CERN-OHL &amp; GPL): Reproducible anywhere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Arial Black"/>
              </a:defRPr>
            </a:pPr>
            <a:r>
              <a:t>PRICE DISRUPTION: 99.96% CHEAPER  |  CALIBRATION: 2–3 SECONDS  |  BATTERY RUNTIME: 12+ HOURS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0F2FE"/>
                </a:solidFill>
                <a:latin typeface="Segoe UI Semibold"/>
              </a:defRPr>
            </a:pPr>
            <a:r>
              <a:t>PROJECT IRIS V2.0 · KIOSK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 Semibold"/>
              </a:defRPr>
            </a:pPr>
            <a:r>
              <a:t>VIVO IGNITE NATIONAL FINALE · BHARAT MANDAPAM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Segoe UI Semibold"/>
              </a:defRPr>
            </a:pPr>
            <a:r>
              <a:t>HARDWARE ERGONOMICS &amp; THERMAL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 Black"/>
              </a:defRPr>
            </a:pPr>
            <a:r>
              <a:t>Two Detached Systems. Zero Scalp Heating.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Segoe UI Semibold"/>
              </a:defRPr>
            </a:pPr>
            <a:r>
              <a:t>RIG 1: AIRFLOW HEADBAND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  <a:latin typeface="Arial Black"/>
              </a:defRPr>
            </a:pPr>
            <a:r>
              <a:t>Perforated Mesh Belt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Houses Seeed XIAO ESP32-C3, MPU6050 IMU, Li-Po &amp; safety fuses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Continuous Scalp Airflow: Breathable anti-sweat mesh prevents heating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Zero Rigid Plastics: Eliminates pressure ulcers on bedridden patients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Featherweight: Entire headband rig weighs less than 58 grams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Soft Velcro cinch adjusts to any adult or pediatric head circumference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676"/>
                </a:solidFill>
                <a:latin typeface="Segoe UI Semibold"/>
              </a:defRPr>
            </a:pPr>
            <a:r>
              <a:t>RIG 2: MAGNETIC EYEWEAR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  <a:latin typeface="Arial Black"/>
              </a:defRPr>
            </a:pPr>
            <a:r>
              <a:t>N52 Quick-Snap Pivot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Glasses carry ONLY the ultra-light 950nm IR sensor (zero electronics)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N52 Neodymium Snap: Put glasses on first, snap sensor on in 1 second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Universal Rx Support: Fits any frame and up to ±7.0D prescription lenses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Friction Nut-Bolt Pivot: Easy angle adjustment without bending wires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Overcomes Camera Glare: Positions optical beam below lens reflection 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1591056"/>
            <a:ext cx="3493008" cy="4864608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645920"/>
            <a:ext cx="3383280" cy="4754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0F2FE"/>
                </a:solidFill>
                <a:latin typeface="Segoe UI Semibold"/>
              </a:defRPr>
            </a:pPr>
            <a:r>
              <a:t>PROJECT IRIS V2.0 · KIOSK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 Semibold"/>
              </a:defRPr>
            </a:pPr>
            <a:r>
              <a:t>VIVO IGNITE NATIONAL FINALE · BHARAT MANDAPAM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Segoe UI Semibold"/>
              </a:defRPr>
            </a:pPr>
            <a:r>
              <a:t>TRANSPARENT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 Black"/>
              </a:defRPr>
            </a:pPr>
            <a:r>
              <a:t>Every Rupee Engineered for Maximum Accessibility.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192024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SEEED STUDIO XIAO ESP32-C3</a:t>
            </a:r>
          </a:p>
          <a:p>
            <a:pPr>
              <a:spcBef>
                <a:spcPts val="200"/>
              </a:spcBef>
              <a:defRPr sz="1400" b="1">
                <a:solidFill>
                  <a:srgbClr val="00F2FE"/>
                </a:solidFill>
                <a:latin typeface="Arial Black"/>
              </a:defRPr>
            </a:pPr>
            <a:r>
              <a:t>BOM COST: ₹250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RISC-V 32-bit @ 160MHz, BLE 5.0 + Wi-Fi, integrated Li-Po charge circuit eliminates bulky external power shields.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192024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MPU6050 6-DOF IMU SENSOR</a:t>
            </a:r>
          </a:p>
          <a:p>
            <a:pPr>
              <a:spcBef>
                <a:spcPts val="200"/>
              </a:spcBef>
              <a:defRPr sz="1400" b="1">
                <a:solidFill>
                  <a:srgbClr val="00F2FE"/>
                </a:solidFill>
                <a:latin typeface="Arial Black"/>
              </a:defRPr>
            </a:pPr>
            <a:r>
              <a:t>BOM COST: ₹120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Fast I2C @ 400kHz, 3-axis gyro + accel, streams 50Hz continuous pitch/roll for smooth cursor steering.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192024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17830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950NM MULTI-BEAM IR MODULE</a:t>
            </a:r>
          </a:p>
          <a:p>
            <a:pPr>
              <a:spcBef>
                <a:spcPts val="200"/>
              </a:spcBef>
              <a:defRPr sz="1400" b="1">
                <a:solidFill>
                  <a:srgbClr val="00F2FE"/>
                </a:solidFill>
                <a:latin typeface="Arial Black"/>
              </a:defRPr>
            </a:pPr>
            <a:r>
              <a:t>BOM COST: ₹100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Safe diffused infrared (&lt;0.5 mW/cm²), onboard LM393 analog comparator gives instantaneous hardware digitalRead.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03320"/>
            <a:ext cx="3474720" cy="192024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3.7V 1000MAH LI-PO BATTERY</a:t>
            </a:r>
          </a:p>
          <a:p>
            <a:pPr>
              <a:spcBef>
                <a:spcPts val="200"/>
              </a:spcBef>
              <a:defRPr sz="1400" b="1">
                <a:solidFill>
                  <a:srgbClr val="00F2FE"/>
                </a:solidFill>
                <a:latin typeface="Arial Black"/>
              </a:defRPr>
            </a:pPr>
            <a:r>
              <a:t>BOM COST: ₹125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Direct charging via XIAO pads, 12+ hours continuous runtime with Deep Sleep firmware and 2A safety fuse protection.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703320"/>
            <a:ext cx="3474720" cy="192024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38404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N52 MAGNETIC PIVOT MOUNT</a:t>
            </a:r>
          </a:p>
          <a:p>
            <a:pPr>
              <a:spcBef>
                <a:spcPts val="200"/>
              </a:spcBef>
              <a:defRPr sz="1400" b="1">
                <a:solidFill>
                  <a:srgbClr val="00F2FE"/>
                </a:solidFill>
                <a:latin typeface="Arial Black"/>
              </a:defRPr>
            </a:pPr>
            <a:r>
              <a:t>BOM COST: ₹75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Quick-release neodymium magnetic mount + friction pivot; zero lens scratching; fits custom prescription frames.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3703320"/>
            <a:ext cx="3474720" cy="192024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38404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MEDICAL VENTILATED HEADBAND</a:t>
            </a:r>
          </a:p>
          <a:p>
            <a:pPr>
              <a:spcBef>
                <a:spcPts val="200"/>
              </a:spcBef>
              <a:defRPr sz="1400" b="1">
                <a:solidFill>
                  <a:srgbClr val="00F2FE"/>
                </a:solidFill>
                <a:latin typeface="Arial Black"/>
              </a:defRPr>
            </a:pPr>
            <a:r>
              <a:t>BOM COST: ₹130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Perforated airflow fabric, soft Velcro closure, zero pressure points, total rig weight under 58 grams.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897880"/>
            <a:ext cx="10698480" cy="640080"/>
          </a:xfrm>
          <a:prstGeom prst="roundRect">
            <a:avLst/>
          </a:prstGeom>
          <a:solidFill>
            <a:srgbClr val="0F1E3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94360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  <a:latin typeface="Arial Black"/>
              </a:defRPr>
            </a:pPr>
            <a:r>
              <a:t>TOTAL SYSTEM BUILD COST: ₹800  |  COMMERCIAL TOBII: ₹25,00,000+  |  SAVINGS: 99.96%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0F2FE"/>
                </a:solidFill>
                <a:latin typeface="Segoe UI Semibold"/>
              </a:defRPr>
            </a:pPr>
            <a:r>
              <a:t>PROJECT IRIS V2.0 · KIOSK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 Semibold"/>
              </a:defRPr>
            </a:pPr>
            <a:r>
              <a:t>VIVO IGNITE NATIONAL FINALE · BHARAT MANDAPAM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Segoe UI Semibold"/>
              </a:defRPr>
            </a:pPr>
            <a:r>
              <a:t>PHYSICAL SENSING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 Black"/>
              </a:defRPr>
            </a:pPr>
            <a:r>
              <a:t>How Light Reads the Eye in Darkness &amp; Sunlight.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Segoe UI Semibold"/>
              </a:defRPr>
            </a:pPr>
            <a:r>
              <a:t>OPEN EYE · CURSOR ACTIVE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Arial Black"/>
              </a:defRPr>
            </a:pPr>
            <a:r>
              <a:t>High Reflectance (94%)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950nm diffused infrared beam directed at outer canthus of the eye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White sclera tissue reflects optical energy strongly back to phototransistor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Sensor outputs steady HIGH voltage state (~94% reflectance)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Microcontroller interprets state as ACTIVE EYE: cursor steers smoothly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  <a:latin typeface="Segoe UI Semibold"/>
              </a:defRPr>
            </a:pPr>
            <a:r>
              <a:t>CLOSED EYE · CLICK TRIGGER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Arial Black"/>
              </a:defRPr>
            </a:pPr>
            <a:r>
              <a:t>Low Reflectance (&lt;20%)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When patient closes eyelid, skin absorbs and deflects the 950nm beam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Immediate sharp drop in optical energy reaching phototransistor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Sensor outputs LOW voltage state (&lt;20% reflectance)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Firmware timer initiates blink duration measurement for click classification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17830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676"/>
                </a:solidFill>
                <a:latin typeface="Segoe UI Semibold"/>
              </a:defRPr>
            </a:pPr>
            <a:r>
              <a:t>LM393 HARDWARE COMPARATOR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Arial Black"/>
              </a:defRPr>
            </a:pPr>
            <a:r>
              <a:t>Zero MCU Lag / Analog Silicon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Onboard LM393 comparator compares reflectance against calibrated threshold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Decides open vs. closed in pure analog silicon in less than 1 microsecond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Firmware uses digitalRead() instead of analogRead()—zero ADC compute waste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 Immune to ambient light: works identically in pitch darkness or direct sunlight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0F2FE"/>
                </a:solidFill>
                <a:latin typeface="Segoe UI Semibold"/>
              </a:defRPr>
            </a:pPr>
            <a:r>
              <a:t>PROJECT IRIS V2.0 · KIOSK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 Semibold"/>
              </a:defRPr>
            </a:pPr>
            <a:r>
              <a:t>VIVO IGNITE NATIONAL FINALE · BHARAT MANDAPAM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Segoe UI Semibold"/>
              </a:defRPr>
            </a:pPr>
            <a:r>
              <a:t>GESTURE &amp; TIMING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 Black"/>
              </a:defRPr>
            </a:pPr>
            <a:r>
              <a:t>Separating Conscious Intent from Involuntary Reflex.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78608" cy="31089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224942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Segoe UI Semibold"/>
              </a:defRPr>
            </a:pPr>
            <a:r>
              <a:t>NATURAL REFLEX BLINK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&lt; 200 ms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  <a:latin typeface="Segoe UI Semibold"/>
              </a:defRPr>
            </a:pPr>
            <a:r>
              <a:t>ACTION: Completely Ignored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Fast involuntary corneal hydration blink. Filtered out before any click event is generated. Cursor never twitches or misfires.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8144" y="1645920"/>
            <a:ext cx="2578608" cy="31089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02736" y="1783080"/>
            <a:ext cx="224942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Segoe UI Semibold"/>
              </a:defRPr>
            </a:pPr>
            <a:r>
              <a:t>SINGLE DELIBERATE BLINK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200 – 500 ms</a:t>
            </a:r>
          </a:p>
          <a:p>
            <a:pPr>
              <a:spcBef>
                <a:spcPts val="400"/>
              </a:spcBef>
              <a:defRPr sz="1100" b="1">
                <a:solidFill>
                  <a:srgbClr val="00F2FE"/>
                </a:solidFill>
                <a:latin typeface="Segoe UI Semibold"/>
              </a:defRPr>
            </a:pPr>
            <a:r>
              <a:t>ACTION: Left Click (LC)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Deliberately held blink beyond reflex threshold. Emits a clean Left Click to select menu tiles, emergency alarms, or trigger speech.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45920"/>
            <a:ext cx="2578608" cy="31089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783080"/>
            <a:ext cx="224942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676"/>
                </a:solidFill>
                <a:latin typeface="Segoe UI Semibold"/>
              </a:defRPr>
            </a:pPr>
            <a:r>
              <a:t>DOUBLE DELIBERATE BLINK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2x &lt; 600 ms</a:t>
            </a:r>
          </a:p>
          <a:p>
            <a:pPr>
              <a:spcBef>
                <a:spcPts val="400"/>
              </a:spcBef>
              <a:defRPr sz="1100" b="1">
                <a:solidFill>
                  <a:srgbClr val="00E676"/>
                </a:solidFill>
                <a:latin typeface="Segoe UI Semibold"/>
              </a:defRPr>
            </a:pPr>
            <a:r>
              <a:t>ACTION: Right Click (RC)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Two held blinks in quick succession within a 600ms timing window. Emits an instant Right Click for secondary context options.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1645920"/>
            <a:ext cx="2578608" cy="31089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15984" y="1783080"/>
            <a:ext cx="224942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B300"/>
                </a:solidFill>
                <a:latin typeface="Segoe UI Semibold"/>
              </a:defRPr>
            </a:pPr>
            <a:r>
              <a:t>ERGONOMIC CLUTCH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&gt; 1000 ms</a:t>
            </a:r>
          </a:p>
          <a:p>
            <a:pPr>
              <a:spcBef>
                <a:spcPts val="400"/>
              </a:spcBef>
              <a:defRPr sz="1100" b="1">
                <a:solidFill>
                  <a:srgbClr val="FFB300"/>
                </a:solidFill>
                <a:latin typeface="Segoe UI Semibold"/>
              </a:defRPr>
            </a:pPr>
            <a:r>
              <a:t>ACTION: Re-Zero Horizon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Holding eye closed for over 1 second acts as a digital clutch, instantly resetting cursor center point to eliminate patient neck fatigue.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10698480" cy="155448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F2FE"/>
                </a:solidFill>
                <a:latin typeface="Segoe UI Semibold"/>
              </a:defRPr>
            </a:pPr>
            <a:r>
              <a:t>TENSORFLOW EMBEDDED NOISE FILTER &amp; TREMOR SUPPRESSION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Patients with ALS and severe motor disorders suffer from involuntary neck spasms and micro-tremors. The IRIS Python pipeline applies an adaptive moving-average Kalman filter and lightweight TensorFlow neural model to suppress physiological noise, delivering rock-steady cursor telemetry.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0F2FE"/>
                </a:solidFill>
                <a:latin typeface="Segoe UI Semibold"/>
              </a:defRPr>
            </a:pPr>
            <a:r>
              <a:t>PROJECT IRIS V2.0 · KIOSK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 Semibold"/>
              </a:defRPr>
            </a:pPr>
            <a:r>
              <a:t>VIVO IGNITE NATIONAL FINALE · BHARAT MANDAPAM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Segoe UI Semibold"/>
              </a:defRPr>
            </a:pPr>
            <a:r>
              <a:t>CLINICAL SIMPLICITY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 Black"/>
              </a:defRPr>
            </a:pPr>
            <a:r>
              <a:t>Calibrates in 2–3 Seconds. Zero Specialists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048256" cy="329184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77393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2FE"/>
                </a:solidFill>
                <a:latin typeface="Arial Black"/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Segoe UI Semibold"/>
              </a:defRPr>
            </a:pPr>
            <a:r>
              <a:t>CONNECT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Launch Python app. Advertises BLE 5.0 at 2Hz. Instant wireless handshake with PC or phone.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9504" y="1645920"/>
            <a:ext cx="2048256" cy="329184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26664" y="1783080"/>
            <a:ext cx="177393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2FE"/>
                </a:solidFill>
                <a:latin typeface="Arial Black"/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Segoe UI Semibold"/>
              </a:defRPr>
            </a:pPr>
            <a:r>
              <a:t>USER CHECK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Detects new vs. returning patient. Returning users load profile in &lt;1s, skipping calibration.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7488" y="1645920"/>
            <a:ext cx="2048256" cy="329184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84648" y="1783080"/>
            <a:ext cx="177393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2FE"/>
                </a:solidFill>
                <a:latin typeface="Arial Black"/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Segoe UI Semibold"/>
              </a:defRPr>
            </a:pPr>
            <a:r>
              <a:t>GESTURE LOCK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Gentle nod up/down &amp; tilt left/right. Learns patient's comfortable neck range &amp; sets dead-zones.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5472" y="1645920"/>
            <a:ext cx="2048256" cy="329184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42632" y="1783080"/>
            <a:ext cx="177393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2FE"/>
                </a:solidFill>
                <a:latin typeface="Arial Black"/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Segoe UI Semibold"/>
              </a:defRPr>
            </a:pPr>
            <a:r>
              <a:t>BLINK LOCK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2 deliberate blinks (takes 2–3 seconds). Locks optical reflectance threshold &amp; syncs eye twin.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63456" y="1645920"/>
            <a:ext cx="2048256" cy="329184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0616" y="1783080"/>
            <a:ext cx="177393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2FE"/>
                </a:solidFill>
                <a:latin typeface="Arial Black"/>
              </a:defRPr>
            </a:pPr>
            <a:r>
              <a:t>STEP 5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Segoe UI Semibold"/>
              </a:defRPr>
            </a:pPr>
            <a:r>
              <a:t>CURSOR READY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Cursor goes live immediately. Fully drives OS, universal assistive apps, or games.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20640"/>
            <a:ext cx="10698480" cy="1371600"/>
          </a:xfrm>
          <a:prstGeom prst="roundRect">
            <a:avLst/>
          </a:prstGeom>
          <a:solidFill>
            <a:srgbClr val="0F1E3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2120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676"/>
                </a:solidFill>
                <a:latin typeface="Segoe UI Semibold"/>
              </a:defRPr>
            </a:pPr>
            <a:r>
              <a:t>THE CALIBRATION DISRUPTION: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Commercial eye trackers demand 30–45 minutes of painful 9-point screen staring with a trained clinical technician present. If the patient shifts slightly in bed, tracking is lost and the 30-minute test must restart. IRIS auto-calibrates in 2–3 seconds and stores personalized profiles permanently.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0F2FE"/>
                </a:solidFill>
                <a:latin typeface="Segoe UI Semibold"/>
              </a:defRPr>
            </a:pPr>
            <a:r>
              <a:t>PROJECT IRIS V2.0 · KIOSK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 Semibold"/>
              </a:defRPr>
            </a:pPr>
            <a:r>
              <a:t>VIVO IGNITE NATIONAL FINALE · BHARAT MANDAPAM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Segoe UI Semibold"/>
              </a:defRPr>
            </a:pPr>
            <a:r>
              <a:t>PATIENT SOFTWARE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 Black"/>
              </a:defRPr>
            </a:pPr>
            <a:r>
              <a:t>One Streamlined Screen. Everything They Need.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303520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Segoe UI Semibold"/>
              </a:defRPr>
            </a:pPr>
            <a:r>
              <a:t>4 CORE ACCESSIBLE TILES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 Black"/>
              </a:defRPr>
            </a:pPr>
            <a:r>
              <a:t>Engineered for Bedridden Independence</a:t>
            </a:r>
          </a:p>
          <a:p>
            <a:pPr>
              <a:spcBef>
                <a:spcPts val="800"/>
              </a:spcBef>
              <a:defRPr sz="1100" b="1">
                <a:solidFill>
                  <a:srgbClr val="00E676"/>
                </a:solidFill>
                <a:latin typeface="Segoe UI Semibold"/>
              </a:defRPr>
            </a:pPr>
            <a:r>
              <a:t>●  COMMUNICATION HUB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High-contrast tiles for Water, Rest, Call &amp; AI Speech. Patients express essential daily needs in a single deliberate blink.</a:t>
            </a:r>
          </a:p>
          <a:p>
            <a:pPr>
              <a:spcBef>
                <a:spcPts val="800"/>
              </a:spcBef>
              <a:defRPr sz="1100" b="1">
                <a:solidFill>
                  <a:srgbClr val="00E676"/>
                </a:solidFill>
                <a:latin typeface="Segoe UI Semibold"/>
              </a:defRPr>
            </a:pPr>
            <a:r>
              <a:t>●  EMERGENCY SOS SIREN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Instant one-blink caregiver alarm. Dispatches push notifications via ntfy.sh and sounds an acoustic alarm in under 145ms.</a:t>
            </a:r>
          </a:p>
          <a:p>
            <a:pPr>
              <a:spcBef>
                <a:spcPts val="800"/>
              </a:spcBef>
              <a:defRPr sz="1100" b="1">
                <a:solidFill>
                  <a:srgbClr val="00E676"/>
                </a:solidFill>
                <a:latin typeface="Segoe UI Semibold"/>
              </a:defRPr>
            </a:pPr>
            <a:r>
              <a:t>●  HEALTH &amp; VITALS TRACKER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Daily pain rating scale, posture comfort log, and medication reminders accessible to caregivers and visiting nurses.</a:t>
            </a:r>
          </a:p>
          <a:p>
            <a:pPr>
              <a:spcBef>
                <a:spcPts val="800"/>
              </a:spcBef>
              <a:defRPr sz="1100" b="1">
                <a:solidFill>
                  <a:srgbClr val="00E676"/>
                </a:solidFill>
                <a:latin typeface="Segoe UI Semibold"/>
              </a:defRPr>
            </a:pPr>
            <a:r>
              <a:t>●  SMART ROOM IoT RELAY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Direct local Wi-Fi control: toggle room lights, ceiling fans, and adjust motorized bed tilt without speaking a word.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1591056"/>
            <a:ext cx="5230368" cy="4864608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4754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0F2FE"/>
                </a:solidFill>
                <a:latin typeface="Segoe UI Semibold"/>
              </a:defRPr>
            </a:pPr>
            <a:r>
              <a:t>PROJECT IRIS V2.0 · KIOSK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 Semibold"/>
              </a:defRPr>
            </a:pPr>
            <a:r>
              <a:t>VIVO IGNITE NATIONAL FINALE · BHARAT MANDAPAM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Segoe UI Semibold"/>
              </a:defRPr>
            </a:pPr>
            <a:r>
              <a:t>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 Black"/>
              </a:defRPr>
            </a:pPr>
            <a:r>
              <a:t>Telegraphic Words In. Articulate Speech 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303520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B5C"/>
                </a:solidFill>
                <a:latin typeface="Segoe UI Semibold"/>
              </a:defRPr>
            </a:pPr>
            <a:r>
              <a:t>THE FATIGUE PROBLEM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 Black"/>
              </a:defRPr>
            </a:pPr>
            <a:r>
              <a:t>Motor Fatigue Halts Typing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Typing a 15-word sentence with an eye cursor requires over 60 deliberate saccades and blinks. Paralyzed patients exhaust their energy within minutes.</a:t>
            </a:r>
          </a:p>
          <a:p>
            <a:pPr>
              <a:spcBef>
                <a:spcPts val="1000"/>
              </a:spcBef>
              <a:defRPr sz="1100" b="1">
                <a:solidFill>
                  <a:srgbClr val="00F2FE"/>
                </a:solidFill>
                <a:latin typeface="Segoe UI Semibold"/>
              </a:defRPr>
            </a:pPr>
            <a:r>
              <a:t>THE GEMINI AI EXPANSION ENGINE: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Consolas"/>
              </a:defRPr>
            </a:pPr>
            <a:r>
              <a:t>1. Patient Selects 3 Words: [ Pain ]  [ Left Shoulder ]  [ Sharp ]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2. Gemini Multimodal Context Model Ingests: Time of day, posture logs, clinical history.</a:t>
            </a:r>
          </a:p>
          <a:p>
            <a:pPr>
              <a:spcBef>
                <a:spcPts val="400"/>
              </a:spcBef>
              <a:defRPr sz="1050" b="1">
                <a:solidFill>
                  <a:srgbClr val="00E676"/>
                </a:solidFill>
                <a:latin typeface="Segoe UI"/>
              </a:defRPr>
            </a:pPr>
            <a:r>
              <a:t>3. Expanded Output: 'I am experiencing a sharp pain in my left shoulder; could you please help me readjust my pillows?'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4. Patient Agency Safeguard: Patient confirms preview before Web Speech speaks aloud!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1591056"/>
            <a:ext cx="5230368" cy="4864608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4754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0F2FE"/>
                </a:solidFill>
                <a:latin typeface="Segoe UI Semibold"/>
              </a:defRPr>
            </a:pPr>
            <a:r>
              <a:t>PROJECT IRIS V2.0 · KIOSK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 Semibold"/>
              </a:defRPr>
            </a:pPr>
            <a:r>
              <a:t>VIVO IGNITE NATIONAL FINALE · BHARAT MANDAPAM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Segoe UI Semibold"/>
              </a:defRPr>
            </a:pPr>
            <a:r>
              <a:t>MARKET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 Black"/>
              </a:defRPr>
            </a:pPr>
            <a:r>
              <a:t>Commercial Monopoly vs. Open-Source Breakthrough.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 Black"/>
                        </a:defRPr>
                      </a:pPr>
                      <a:r>
                        <a:t>FEATURE / METRIC</a:t>
                      </a:r>
                    </a:p>
                  </a:txBody>
                  <a:tcPr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 Black"/>
                        </a:defRPr>
                      </a:pPr>
                      <a:r>
                        <a:t>COMMERCIAL TOBII DYNAVOX</a:t>
                      </a:r>
                    </a:p>
                  </a:txBody>
                  <a:tcPr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2FE"/>
                          </a:solidFill>
                          <a:latin typeface="Arial Black"/>
                        </a:defRPr>
                      </a:pPr>
                      <a:r>
                        <a:t>PROJECT IRIS (v2.0)</a:t>
                      </a:r>
                    </a:p>
                  </a:txBody>
                  <a:tcPr>
                    <a:solidFill>
                      <a:srgbClr val="18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Retail Price in India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3B5C"/>
                          </a:solidFill>
                          <a:latin typeface="Segoe UI"/>
                        </a:defRPr>
                      </a:pPr>
                      <a:r>
                        <a:t>₹25,00,000+ (Extreme cost barrier)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E676"/>
                          </a:solidFill>
                          <a:latin typeface="Segoe UI"/>
                        </a:defRPr>
                      </a:pPr>
                      <a:r>
                        <a:t>₹800 (99.96% Cheaper!)</a:t>
                      </a:r>
                    </a:p>
                  </a:txBody>
                  <a:tcPr>
                    <a:solidFill>
                      <a:srgbClr val="0F1E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Sensing Technology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Binocular high-speed optical cameras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F2FE"/>
                          </a:solidFill>
                          <a:latin typeface="Segoe UI"/>
                        </a:defRPr>
                      </a:pPr>
                      <a:r>
                        <a:t>950nm Reflectance + 6-DOF IMU</a:t>
                      </a:r>
                    </a:p>
                  </a:txBody>
                  <a:tcPr>
                    <a:solidFill>
                      <a:srgbClr val="0F1E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Ambient Light Immunity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3B5C"/>
                          </a:solidFill>
                          <a:latin typeface="Segoe UI"/>
                        </a:defRPr>
                      </a:pPr>
                      <a:r>
                        <a:t>Fails in direct sun or dark rooms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E676"/>
                          </a:solidFill>
                          <a:latin typeface="Segoe UI"/>
                        </a:defRPr>
                      </a:pPr>
                      <a:r>
                        <a:t>Works in pitch black darkness or daylight</a:t>
                      </a:r>
                    </a:p>
                  </a:txBody>
                  <a:tcPr>
                    <a:solidFill>
                      <a:srgbClr val="0F1E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Calibration Time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3B5C"/>
                          </a:solidFill>
                          <a:latin typeface="Segoe UI"/>
                        </a:defRPr>
                      </a:pPr>
                      <a:r>
                        <a:t>30–45 mins (Trained clinical specialist)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E676"/>
                          </a:solidFill>
                          <a:latin typeface="Segoe UI"/>
                        </a:defRPr>
                      </a:pPr>
                      <a:r>
                        <a:t>2–3 seconds (Fully self-calibrating)</a:t>
                      </a:r>
                    </a:p>
                  </a:txBody>
                  <a:tcPr>
                    <a:solidFill>
                      <a:srgbClr val="0F1E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Prescription Eyewear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Lens reflections cause severe tracking loss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E676"/>
                          </a:solidFill>
                          <a:latin typeface="Segoe UI"/>
                        </a:defRPr>
                      </a:pPr>
                      <a:r>
                        <a:t>Fits any frame &amp; up to ±7.0D lenses</a:t>
                      </a:r>
                    </a:p>
                  </a:txBody>
                  <a:tcPr>
                    <a:solidFill>
                      <a:srgbClr val="0F1E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Hardware Portability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Forced proprietary locked 4kg tablet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E676"/>
                          </a:solidFill>
                          <a:latin typeface="Segoe UI"/>
                        </a:defRPr>
                      </a:pPr>
                      <a:r>
                        <a:t>Runs on family's existing PC/laptop/phone</a:t>
                      </a:r>
                    </a:p>
                  </a:txBody>
                  <a:tcPr>
                    <a:solidFill>
                      <a:srgbClr val="0F1E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Open Source / Replicable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3B5C"/>
                          </a:solidFill>
                          <a:latin typeface="Segoe UI"/>
                        </a:defRPr>
                      </a:pPr>
                      <a:r>
                        <a:t>Closed commercial patent monopoly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E676"/>
                          </a:solidFill>
                          <a:latin typeface="Segoe UI"/>
                        </a:defRPr>
                      </a:pPr>
                      <a:r>
                        <a:t>100% Free &amp; Open-Source (CERN-OHL)</a:t>
                      </a:r>
                    </a:p>
                  </a:txBody>
                  <a:tcPr>
                    <a:solidFill>
                      <a:srgbClr val="0F1E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0F2FE"/>
                </a:solidFill>
                <a:latin typeface="Segoe UI Semibold"/>
              </a:defRPr>
            </a:pPr>
            <a:r>
              <a:t>PROJECT IRIS V2.0 · KIOSK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 Semibold"/>
              </a:defRPr>
            </a:pPr>
            <a:r>
              <a:t>VIVO IGNITE NATIONAL FINALE · BHARAT MANDAPAM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Segoe UI Semibold"/>
              </a:defRPr>
            </a:pPr>
            <a:r>
              <a:t>REHABILITATION &amp; GAMING DIVERSIFICATION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 Black"/>
              </a:defRPr>
            </a:pPr>
            <a:r>
              <a:t>Restoring Joy, Play, and Future Market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303520" cy="1874519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F2FE"/>
                </a:solidFill>
                <a:latin typeface="Segoe UI Semibold"/>
              </a:defRPr>
            </a:pPr>
            <a:r>
              <a:t>PILLAR 1: DIGITAL THERAPEUTICS &amp; REHAB</a:t>
            </a:r>
          </a:p>
          <a:p>
            <a:pPr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Combatting Sensory Deprivation in ALS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 Bedridden isolation causes cognitive decline and severe clinical depression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 Gaze Dino Runner: Playable browser game rehabilitates ocular motor control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 360° Cockpit Flight Simulator: Paralyzed patients explore skies via head motion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5303520" cy="192024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E676"/>
                </a:solidFill>
                <a:latin typeface="Segoe UI Semibold"/>
              </a:defRPr>
            </a:pPr>
            <a:r>
              <a:t>PILLAR 2: HANDS-FREE CONSUMER GAMING</a:t>
            </a:r>
          </a:p>
          <a:p>
            <a:pPr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Cross-Subsidizing Free Medical Units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✔  Enables amputees, injured soldiers, and mobility-impaired players to game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✔  MPU6050 head tilt maps to 360° crosshair aiming; blinks act as fire triggers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✔  Mass-Market Scale: High-volume consumer gaming adoption subsidizes free medical units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591056"/>
            <a:ext cx="5230368" cy="4041648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39319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5715000"/>
            <a:ext cx="10698480" cy="82296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8064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F2FE"/>
                </a:solidFill>
                <a:latin typeface="Arial Black"/>
              </a:defRPr>
            </a:pPr>
            <a:r>
              <a:t>INNOVATION MODEL: Accessible consumer gaming profits fund free medical distribution to rural hospitals across India.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0F2FE"/>
                </a:solidFill>
                <a:latin typeface="Segoe UI Semibold"/>
              </a:defRPr>
            </a:pPr>
            <a:r>
              <a:t>PROJECT IRIS V2.0 · KIOSK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 Semibold"/>
              </a:defRPr>
            </a:pPr>
            <a:r>
              <a:t>VIVO IGNITE NATIONAL FINALE · BHARAT MANDAPAM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Segoe UI Semibold"/>
              </a:defRPr>
            </a:pPr>
            <a:r>
              <a:t>ETHICAL RESPONSIBILITY &amp;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 Black"/>
              </a:defRPr>
            </a:pPr>
            <a:r>
              <a:t>Engineered for the United Nations Global Goals.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78608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" y="1828800"/>
            <a:ext cx="1188720" cy="118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6112" y="3200400"/>
            <a:ext cx="224942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2FE"/>
                </a:solidFill>
                <a:latin typeface="Arial Black"/>
              </a:defRPr>
            </a:pPr>
            <a:r>
              <a:t>SDG 3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GOOD HEALTH &amp; WELL-BEING</a:t>
            </a:r>
          </a:p>
          <a:p>
            <a:pPr algn="ctr">
              <a:spcBef>
                <a:spcPts val="8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Restoring voice, communication, and emotional agency to paralyzed and locked-in individuals.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1645920"/>
            <a:ext cx="2578608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1828800"/>
            <a:ext cx="1188720" cy="1188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02736" y="3200400"/>
            <a:ext cx="224942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2FE"/>
                </a:solidFill>
                <a:latin typeface="Arial Black"/>
              </a:defRPr>
            </a:pPr>
            <a:r>
              <a:t>SDG 9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INDUSTRY, INNOVATION &amp; INFRASTRUCTURE</a:t>
            </a:r>
          </a:p>
          <a:p>
            <a:pPr algn="ctr">
              <a:spcBef>
                <a:spcPts val="8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Frugal, open-source hardware engineering replacing costly multi-lakh monopolies.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645920"/>
            <a:ext cx="2578608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1828800"/>
            <a:ext cx="1188720" cy="1188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09360" y="3200400"/>
            <a:ext cx="224942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2FE"/>
                </a:solidFill>
                <a:latin typeface="Arial Black"/>
              </a:defRPr>
            </a:pPr>
            <a:r>
              <a:t>SDG 10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REDUCED INEQUALITIES</a:t>
            </a:r>
          </a:p>
          <a:p>
            <a:pPr algn="ctr">
              <a:spcBef>
                <a:spcPts val="8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Demolishing financial walls so rural and lower-income families receive equal healthcare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51392" y="1645920"/>
            <a:ext cx="2578608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36" y="1828800"/>
            <a:ext cx="1188720" cy="11887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15984" y="3200400"/>
            <a:ext cx="224942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2FE"/>
                </a:solidFill>
                <a:latin typeface="Arial Black"/>
              </a:defRPr>
            </a:pPr>
            <a:r>
              <a:t>SDG 17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PARTNERSHIPS FOR THE GOALS</a:t>
            </a:r>
          </a:p>
          <a:p>
            <a:pPr algn="ctr">
              <a:spcBef>
                <a:spcPts val="8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Open-source schematics and firmware empowering NGOs, neurology wards, and makers worldwide.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0F2FE"/>
                </a:solidFill>
                <a:latin typeface="Segoe UI Semibold"/>
              </a:defRPr>
            </a:pPr>
            <a:r>
              <a:t>PROJECT IRIS V2.0 · KIOSK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 Semibold"/>
              </a:defRPr>
            </a:pPr>
            <a:r>
              <a:t>VIVO IGNITE NATIONAL FINALE · BHARAT MANDAPAM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Segoe UI Semibold"/>
              </a:defRPr>
            </a:pPr>
            <a:r>
              <a:t>VIVO IGNITE NATIONAL FINALE · BHARAT MANDAPAM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 Black"/>
              </a:defRPr>
            </a:pPr>
            <a:r>
              <a:t>Technology Should Be a Bridge, Not a Wall.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194560"/>
          </a:xfrm>
          <a:prstGeom prst="roundRect">
            <a:avLst/>
          </a:prstGeom>
          <a:solidFill>
            <a:srgbClr val="0F1E3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“For a paralyzed human trapped inside their own mind, technology should be an immediate bridge of communication — never an unreachable multi-lakh financial wall.”</a:t>
            </a:r>
          </a:p>
          <a:p>
            <a:pPr algn="ctr">
              <a:spcBef>
                <a:spcPts val="1000"/>
              </a:spcBef>
              <a:defRPr sz="1300" b="1">
                <a:solidFill>
                  <a:srgbClr val="00F2FE"/>
                </a:solidFill>
                <a:latin typeface="Segoe UI Semibold"/>
              </a:defRPr>
            </a:pPr>
            <a:r>
              <a:t>— Ayushman Choudhary, Creator of Project IRIS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474720" cy="16459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676"/>
                </a:solidFill>
                <a:latin typeface="Segoe UI Semibold"/>
              </a:defRPr>
            </a:pPr>
            <a:r>
              <a:t>MAKE IN INDIA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100% locally sourceable components, zero imported monopolies, manufactured for ₹800.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023360"/>
            <a:ext cx="3474720" cy="16459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41148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676"/>
                </a:solidFill>
                <a:latin typeface="Segoe UI Semibold"/>
              </a:defRPr>
            </a:pPr>
            <a:r>
              <a:t>HOSPITAL &amp; HOME READY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Plug-and-play wireless telemetry ready for neurology ICUs, rural clinics, and home care.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4023360"/>
            <a:ext cx="3474720" cy="16459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41148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676"/>
                </a:solidFill>
                <a:latin typeface="Segoe UI Semibold"/>
              </a:defRPr>
            </a:pPr>
            <a:r>
              <a:t>OPEN HARDWARE MOVEMENT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Full circuit schematics, firmware code, and AI models freely published to empower global makers.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806440"/>
            <a:ext cx="10698480" cy="73152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870448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Ayushman Choudhary  ·  Class 10th  ·  Bhavan's B.P. Vidya Mandir Ashti, Nagpur, Maharashtra</a:t>
            </a:r>
          </a:p>
          <a:p>
            <a:pPr algn="ctr">
              <a:defRPr sz="1000" b="1">
                <a:solidFill>
                  <a:srgbClr val="00F2FE"/>
                </a:solidFill>
                <a:latin typeface="Segoe UI Semibold"/>
              </a:defRPr>
            </a:pPr>
            <a:r>
              <a:t>PROJECT IRIS  |  INFRARED REFLECTIVE INTERFACE SYSTEM  |  VIVO IGNITE NATIONAL FINALE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0">
        <p159:morph option="byObject"/>
      </p:transition>
    </mc:Choice>
    <mc:Fallback xmlns="">
      <p:transition spd="slow" advTm="65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2187</Words>
  <Application>Microsoft Office PowerPoint</Application>
  <PresentationFormat>Widescreen</PresentationFormat>
  <Paragraphs>254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SIS</cp:lastModifiedBy>
  <cp:revision>2</cp:revision>
  <dcterms:created xsi:type="dcterms:W3CDTF">2013-01-27T09:14:16Z</dcterms:created>
  <dcterms:modified xsi:type="dcterms:W3CDTF">2026-10-23T18:29:46Z</dcterms:modified>
  <cp:category/>
</cp:coreProperties>
</file>