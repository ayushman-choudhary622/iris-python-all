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300" r:id="rId51"/>
    <p:sldId id="264" r:id="rId14"/>
    <p:sldId id="301" r:id="rId52"/>
    <p:sldId id="265" r:id="rId15"/>
    <p:sldId id="302" r:id="rId53"/>
    <p:sldId id="303" r:id="rId54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304" r:id="rId55"/>
    <p:sldId id="297" r:id="rId47"/>
    <p:sldId id="282" r:id="rId32"/>
    <p:sldId id="276" r:id="rId26"/>
    <p:sldId id="277" r:id="rId27"/>
    <p:sldId id="278" r:id="rId28"/>
    <p:sldId id="281" r:id="rId31"/>
    <p:sldId id="279" r:id="rId29"/>
    <p:sldId id="298" r:id="rId48"/>
    <p:sldId id="280" r:id="rId30"/>
    <p:sldId id="305" r:id="rId56"/>
    <p:sldId id="296" r:id="rId46"/>
    <p:sldId id="285" r:id="rId35"/>
    <p:sldId id="286" r:id="rId36"/>
    <p:sldId id="289" r:id="rId39"/>
    <p:sldId id="287" r:id="rId37"/>
    <p:sldId id="288" r:id="rId38"/>
    <p:sldId id="306" r:id="rId57"/>
    <p:sldId id="283" r:id="rId33"/>
    <p:sldId id="284" r:id="rId34"/>
    <p:sldId id="290" r:id="rId40"/>
    <p:sldId id="291" r:id="rId41"/>
    <p:sldId id="292" r:id="rId42"/>
    <p:sldId id="307" r:id="rId58"/>
    <p:sldId id="308" r:id="rId59"/>
    <p:sldId id="293" r:id="rId43"/>
    <p:sldId id="294" r:id="rId44"/>
    <p:sldId id="299" r:id="rId49"/>
    <p:sldId id="295" r:id="rId4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0" roundtripDataSignature="AMtx7mgJRWnLxxu5cnnysDH2AYrQkhFy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4A6B7D-CC44-4E08-9672-35736B992155}">
  <a:tblStyle styleId="{034A6B7D-CC44-4E08-9672-35736B99215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customschemas.google.com/relationships/presentationmetadata" Target="metadata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India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ALS patients</c:v>
                </c:pt>
                <c:pt idx="1">
                  <c:v>Locked-in syndrome</c:v>
                </c:pt>
                <c:pt idx="2">
                  <c:v>Spinal Paralysis 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100000</c:v>
                </c:pt>
                <c:pt idx="1">
                  <c:v>4000</c:v>
                </c:pt>
                <c:pt idx="2">
                  <c:v>1400000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D4-4547-BD93-3C4BDB07DC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World</c:v>
                </c:pt>
              </c:strCache>
            </c:strRef>
          </c:tx>
          <c:spPr>
            <a:solidFill>
              <a:srgbClr val="FFB02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ALS patients</c:v>
                </c:pt>
                <c:pt idx="1">
                  <c:v>Locked-in syndrome</c:v>
                </c:pt>
                <c:pt idx="2">
                  <c:v>Spinal Paralysis 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450000</c:v>
                </c:pt>
                <c:pt idx="1">
                  <c:v>24000</c:v>
                </c:pt>
                <c:pt idx="2">
                  <c:v>7420000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D4-4547-BD93-3C4BDB07DC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55127600"/>
        <c:axId val="355116232"/>
      </c:barChart>
      <c:catAx>
        <c:axId val="3551276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DD5E2"/>
                </a:solidFill>
                <a:latin typeface="Arial"/>
              </a:defRPr>
            </a:pPr>
            <a:endParaRPr lang="en-US"/>
          </a:p>
        </c:txPr>
        <c:crossAx val="355116232"/>
        <c:crosses val="autoZero"/>
        <c:auto val="1"/>
        <c:lblAlgn val="ctr"/>
        <c:lblOffset val="100"/>
        <c:noMultiLvlLbl val="1"/>
      </c:catAx>
      <c:valAx>
        <c:axId val="35511623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355127600"/>
        <c:crosses val="autoZero"/>
        <c:crossBetween val="between"/>
      </c:valAx>
      <c:spPr>
        <a:solidFill>
          <a:srgbClr val="0B1A2E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B1A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22D3EE"/>
            </a:solidFill>
          </c:spPr>
          <c:invertIfNegative val="1"/>
          <c:dLbls>
            <c:numFmt formatCode="&quot;$&quot;0.0&quot;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2027</c:v>
                </c:pt>
                <c:pt idx="2">
                  <c:v>2029</c:v>
                </c:pt>
                <c:pt idx="3">
                  <c:v>2031</c:v>
                </c:pt>
                <c:pt idx="4">
                  <c:v>2033</c:v>
                </c:pt>
                <c:pt idx="5">
                  <c:v>2035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23.3</c:v>
                </c:pt>
                <c:pt idx="2">
                  <c:v>27.2</c:v>
                </c:pt>
                <c:pt idx="3">
                  <c:v>31.8</c:v>
                </c:pt>
                <c:pt idx="4">
                  <c:v>37.1</c:v>
                </c:pt>
                <c:pt idx="5">
                  <c:v>43.3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ECD-467E-B9DC-717E755C49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CDD5E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94A3B8"/>
                </a:solidFill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with the name. Hold on IRIS for two full seconds. Tagline: a hands-free cursor for people who can't use their hands. Don't rush.</a:t>
            </a:r>
            <a:endParaRPr/>
          </a:p>
        </p:txBody>
      </p:sp>
      <p:sp>
        <p:nvSpPr>
          <p:cNvPr id="16" name="Google Shape;1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with the name. Hold on IRIS for two full seconds. Tagline: a hands-free cursor for people who can't use their hands. Don't rush.</a:t>
            </a:r>
            <a:endParaRPr/>
          </a:p>
        </p:txBody>
      </p:sp>
      <p:sp>
        <p:nvSpPr>
          <p:cNvPr id="29" name="Google Shape;2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 with the headline. Pause after each stat — ₹1.5 lakh, 50 thousand, zero. Let the zero land. Q&amp;A prep: Tobii EyeX is the most-cited commercial eye tracker (~₹1.5L landed in India). The 50K severe-motor-disability figure is conservative — most never make it onto any registry. Sub-₹2,000 options effectively don't exist on the market today.</a:t>
            </a:r>
            <a:endParaRPr/>
          </a:p>
        </p:txBody>
      </p:sp>
      <p:sp>
        <p:nvSpPr>
          <p:cNvPr id="45" name="Google Shape;4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 prevalence is ~4 per 100,000 globally → ~350K worldwide. India: 1.4B × 4/100K = ~56K cases (likely undercounted). Locked-in syndrome is rarer: ~1 per 339,000 → ~24K worldwide, ~4K India. Numbers are conservative — most never get diagnosed in low-resource settings. If a judge asks where these come from: ALS Global Prevalence and Incidence (Wolfson 2023, NIH); locked-in prevalence Norway 2023 national study (Orphanet).</a:t>
            </a:r>
            <a:endParaRPr/>
          </a:p>
        </p:txBody>
      </p:sp>
      <p:sp>
        <p:nvSpPr>
          <p:cNvPr id="68" name="Google Shape;6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 prevalence is ~4 per 100,000 globally → ~350K worldwide. India: 1.4B × 4/100K = ~56K cases (likely undercounted). Locked-in syndrome is rarer: ~1 per 339,000 → ~24K worldwide, ~4K India. Numbers are conservative — most never get diagnosed in low-resource settings. If a judge asks where these come from: ALS Global Prevalence and Incidence (Wolfson 2023, NIH); locked-in prevalence Norway 2023 national study (Orphanet).</a:t>
            </a:r>
            <a:endParaRPr/>
          </a:p>
        </p:txBody>
      </p:sp>
      <p:sp>
        <p:nvSpPr>
          <p:cNvPr id="86" name="Google Shape;8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 to each spec row as you read it. End on the wear-all-day line — comfort matters for adoption. Q&amp;A prep: IR sensor is a TCRT5000/Flying Fish module with onboard LM393 comparator (that's why digitalRead works — comparator already decides open/closed in hardware). ESP32 has built-in Bluetooth — no external radio module needed. Battery is 7.4V 1000mAh LiPo with TP4056 charging IC (USB-C input) and LM2596 buck converter regulating to 3.3V for the ESP32.</a:t>
            </a:r>
            <a:endParaRPr/>
          </a:p>
        </p:txBody>
      </p:sp>
      <p:sp>
        <p:nvSpPr>
          <p:cNvPr id="92" name="Google Shape;9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Hold up the rig if you have it. Cost anchor: ₹800. Pause. Then: 99% cheaper than a Tobii. Don't rush the number. Q&amp;A prep: total parts cost breakdown is on slide 16. The 'no cameras, no AI' line is the single most important differentiator — lean into it.</a:t>
            </a:r>
            <a:endParaRPr/>
          </a:p>
        </p:txBody>
      </p:sp>
      <p:sp>
        <p:nvSpPr>
          <p:cNvPr id="127" name="Google Shape;12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Walk through the table top to bottom — left, right, up, down, single blink, double blink, ignored. Then point to the code chip. Q&amp;A prep on chip selection: ESP32 DevKit chosen over ESP32 (3.3V logic, different toolchain, would mean re-validating sensors); Nano over Leonardo (Leonardo has native USB HID but moving logic to Python allows live tuning without re-flashing). I2C chosen over SPI for MPU6050 (2 wires vs 4, no speed benefit needed at 20-50 Hz reading rate). digitalRead used for IR (LM393 comparator already does open/closed decision in hardware — analogRead would just return a flat number).</a:t>
            </a:r>
            <a:endParaRPr/>
          </a:p>
        </p:txBody>
      </p:sp>
      <p:sp>
        <p:nvSpPr>
          <p:cNvPr id="147" name="Google Shape;14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 blink types. Hold on the third — the double deliberate blink = right click. Audience usually reacts here. Q&amp;A prep on thresholds: 300ms lower bound for deliberate blinks (natural involuntary blinks last 100-150ms, so anything above ~300ms is clearly intentional). 600ms window for double-click (matches OS double-click feel). 1200ms long-hold for clutch toggle, well clear of double-click band. All thresholds were tuned against real blink data during testing, not arbitrary numbers.</a:t>
            </a:r>
            <a:endParaRPr/>
          </a:p>
        </p:txBody>
      </p:sp>
      <p:sp>
        <p:nvSpPr>
          <p:cNvPr id="193" name="Google Shape;19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down the steps on your fingers as you walk through them. End on the 5-second returning-user number. Q&amp;A prep: calibration values are saved per-user per-device. The Python script handles the saved-profile logic, not the Arduino.</a:t>
            </a:r>
            <a:endParaRPr/>
          </a:p>
        </p:txBody>
      </p:sp>
      <p:sp>
        <p:nvSpPr>
          <p:cNvPr id="253" name="Google Shape;25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3" name="Google Shape;35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Tap a tile on screen if possible. Mention: this is where the cursor becomes a voice, not just a pointer. Q&amp;A prep: app is desktop and mobile. The same IRIS cursor engine drives the tile clicks — no new gestures or commands to learn. Notifications are pushed to the caretaker's phone via standard OS notification APIs.</a:t>
            </a:r>
            <a:endParaRPr/>
          </a:p>
        </p:txBody>
      </p:sp>
      <p:sp>
        <p:nvSpPr>
          <p:cNvPr id="354" name="Google Shape;35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4" name="Google Shape;404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Walk left to right: headband → brain → bridge. End on the hybrid line — that's the key insight. Q&amp;A prep: the chain is intentionally simple — no wireless protocol negotiation, no IP stack, no DHCP. Just UART bytes → Bluetooth SPP → virtual COM port. That's why it's so reliable.</a:t>
            </a:r>
            <a:endParaRPr/>
          </a:p>
        </p:txBody>
      </p:sp>
      <p:sp>
        <p:nvSpPr>
          <p:cNvPr id="405" name="Google Shape;405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 at the while-loop and the L/R/U/D mapping. The 'LC'/'RC' lines are the click magic. Mention cross-platform: same script, any OS. Q&amp;A prep on Bluetooth: ESP32 has Bluetooth built into the chip itself — no external radio module needed. It uses BLE (Bluetooth Low Energy) which is more power-efficient than classic Bluetooth SPP. The ESP32 handles sensor reading, gesture classification, and Bluetooth transmission all on one chip. The OS Bluetooth stack receives the data and exposes it as a virtual COM port — same abstraction as a wired USB-serial. This is why pyserial code barely changes between USB and Bluetooth. This is why pyserial code barely changes between USB and Bluetooth. Tradeoff: Bluetooth shares 2.4GHz physically with WiFi, so occasional retransmission delays possible in a crowded room — mitigated by keeping the wired USB path as a guaranteed fallback. Bluetooth SPP avoids the two biggest WiFi failure modes: network congestion (no shared access point) and association overhead (no joining a network, no DHCP).</a:t>
            </a:r>
            <a:endParaRPr/>
          </a:p>
        </p:txBody>
      </p:sp>
      <p:sp>
        <p:nvSpPr>
          <p:cNvPr id="442" name="Google Shape;442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3" name="Google Shape;483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cards, two signals. Optical for blink, inertial for head. Neither alone is enough — together they cover full cursor + click. Q&amp;A prep: 950nm IR is in the near-IR range, invisible to the human eye (so it doesn't distract the user); MPU6050 is a 6-DOF MEMS device — 3-axis gyro + 3-axis accelerometer on one chip. Why pitch/roll not yaw: yaw has no gravitational reference and drifts without a magnetometer for absolute heading. Gyro-only integration is used here, with drift bounded by periodic re-zero on the pause/resume clutch — a deliberate engineering tradeoff, not an oversight.</a:t>
            </a:r>
            <a:endParaRPr/>
          </a:p>
        </p:txBody>
      </p:sp>
      <p:sp>
        <p:nvSpPr>
          <p:cNvPr id="484" name="Google Shape;484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6" name="Google Shape;546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Lean on the ₹800 number. Three-phase roadmap: today, next, mission. End on the near-cost hospitals mission line. Q&amp;A prep: the 99% cheaper number is conservative — comparing ₹800 to a ₹1.5 lakh Tobii gives 99.47%, which rounds to 99%. The build cost breakdown is the full BOM — anyone can source these parts from any Indian electronics market.</a:t>
            </a:r>
            <a:endParaRPr/>
          </a:p>
        </p:txBody>
      </p:sp>
      <p:sp>
        <p:nvSpPr>
          <p:cNvPr id="547" name="Google Shape;547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8" name="Google Shape;608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slide for judges asking 'is this only a science model or can it become a product/service?' Answer: it's a v2 prototype with a concrete v3 roadmap. Every limitation on S15 has a named fix. Q&amp;A prep: multi-user is a software-only upgrade (saved profiles already exist for returning users — just extend to multiple saved profiles). Predictive text can plug into existing LLM APIs. Voice synthesis uses standard TTS (no model training needed). Clinical pilot is the highest-leverage next step — gets real-patient data and hospital endorsement.</a:t>
            </a:r>
            <a:endParaRPr/>
          </a:p>
        </p:txBody>
      </p:sp>
      <p:sp>
        <p:nvSpPr>
          <p:cNvPr id="609" name="Google Shape;609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2" name="Google Shape;642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Honest beats impressive. Read both columns. Pause on 'one user profile at a time' — that's the roadmap hook for slide 16. Q&amp;A prep on failure rate: no live sensor system is mathematically 100% — engineering goal was minimizing failure through debounced timing, drift-bounded gyro integration, dead-zone filtering, and a wired USB fallback, not claiming perfection.</a:t>
            </a:r>
            <a:endParaRPr/>
          </a:p>
        </p:txBody>
      </p:sp>
      <p:sp>
        <p:nvSpPr>
          <p:cNvPr id="643" name="Google Shape;643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1" name="Google Shape;711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URLs are placeholders — swap them in PowerPoint before the talk. Emphasize: open-source = open impact. The full Python source, calibration logic, and circuit diagrams are public. Anyone can build this in their bedroom.</a:t>
            </a:r>
            <a:endParaRPr/>
          </a:p>
        </p:txBody>
      </p:sp>
      <p:sp>
        <p:nvSpPr>
          <p:cNvPr id="712" name="Google Shape;712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3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3" name="Google Shape;783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 this slide as the analytical case for societal impact — judges asking 'how does your solution create impact?' should be pointed here. Q&amp;A prep: the four SDGs were chosen because IRIS materially advances each one — not a stretch mapping. SDG 3 is direct (assistive tech for severe disability is core health). SDG 9 is structural (open hardware innovation). SDG 10 is distributional (price access). SDG 17 is operational (partnership-based distribution).</a:t>
            </a:r>
            <a:endParaRPr/>
          </a:p>
        </p:txBody>
      </p:sp>
      <p:sp>
        <p:nvSpPr>
          <p:cNvPr id="784" name="Google Shape;784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3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8" name="Google Shape;848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slide for judges asking 'can this be a product, not a science model?' Answer: yes — BOM, pricing, distribution, and revenue model are all defined. Q&amp;A prep: TAM is conservative — only counting severe-motor-disability users (ALS + LIS + high-cervical spinal injury + cerebral palsy subset), not the much larger 'all wheelchair users' market. SAM is the subset with a caretaker/family network ready to install the rig. SOM is the initial pilot volume through hospital partnerships. Pricing strategy: ₹1,500-2,000 retail gives ~50% gross margin on ₹800 BOM while staying 99% cheaper than Tobii. The companion app SaaS line is the recurring revenue play — hardware gets us in, app keeps us sticky.</a:t>
            </a:r>
            <a:endParaRPr/>
          </a:p>
        </p:txBody>
      </p:sp>
      <p:sp>
        <p:nvSpPr>
          <p:cNvPr id="849" name="Google Shape;849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3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2" name="Google Shape;902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Land the dignity line. Make eye contact with the audience. Pause before the closing slide. Q&amp;A prep: the impact framing is intentional — IRIS isn't just a cheaper tool, it's a tool that restores agency. The freedom line is the one judges will remember.</a:t>
            </a:r>
            <a:endParaRPr/>
          </a:p>
        </p:txBody>
      </p:sp>
      <p:sp>
        <p:nvSpPr>
          <p:cNvPr id="903" name="Google Shape;903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2" name="Google Shape;922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Land the closing line. Pause. Then open for questions. Have the rig in your hand if possible. Project IRIS — built by Ayushman Choudhary. Both URLs (github.com/project-iris, projectiris.dev) are placeholders — swap them in PowerPoint before presenting.</a:t>
            </a:r>
            <a:endParaRPr/>
          </a:p>
        </p:txBody>
      </p:sp>
      <p:sp>
        <p:nvSpPr>
          <p:cNvPr id="923" name="Google Shape;923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4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4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4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4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4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4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4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Demonstrate how easy it is to wear: put on the glasses first, strap the breathable Velcro headband second, and snap the magnetic IR sensor onto the nut-bolt pivot.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specification slide when judges ask for exact engineering parameters: XIAO ESP32C3 RISC-V at 160MHz, MPU6050 I2C, 950nm IR at &lt;0.5 mW/cm², 3.7V 1000mAh Li-Po with 12h Deep Sleep, and 2–3s calibration.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Highlight your custom Python simulation: multi-directional IR beams gather proximity data, TensorFlow cleans the noise, and the Python script renders a live human eye on screen that blinks synchronously with the user.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a straight NO if asked whether IR harms the eye: it operates below 0.5 mW/cm², over 20 times below the IEC 62471 safety limit.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how IRIS is a complete IoT device with Wi-Fi room appliance control, a built-in Settings room simulator, and automatic Wi-Fi failover if Bluetooth drops.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all 4 reasons behind the ₹25–30L vs ₹800 gap: patent monopoly, 40–60% import &amp; distributor markups, forced bundled tablets, and corporate validation overhead.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Showcase your project website (projectiris.dev): it hosts both the zero-install Browser Universal App / Caregiver Portal and all open-source build guides for replication.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future tense: IRIS is currently a prototype (₹800 BOM). When released in the future as a complete commercial system, it will be priced at ₹3,000–₹3,500 to cover custom PCBs, enclosure, warranty, GST, and NGO subsidies.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dedicated diversification slide shows how expanding into hands-free gaming creates high manufacturing volume and cross-subsidizes units for paralyzed patients.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 rotWithShape="1">
          <a:gsLst>
            <a:gs pos="0">
              <a:srgbClr val="04325C"/>
            </a:gs>
            <a:gs pos="28000">
              <a:srgbClr val="04142E"/>
            </a:gs>
            <a:gs pos="72000">
              <a:srgbClr val="020814"/>
            </a:gs>
            <a:gs pos="100000">
              <a:srgbClr val="051D3B"/>
            </a:gs>
          </a:gsLst>
          <a:lin ang="16200000" scaled="0"/>
        </a:gra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chart" Target="../charts/char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8.png"/><Relationship Id="rId4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3" Type="http://schemas.openxmlformats.org/officeDocument/2006/relationships/image" Target="../media/image35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/>
          <p:nvPr/>
        </p:nvSpPr>
        <p:spPr>
          <a:xfrm>
            <a:off x="2790305" y="1011370"/>
            <a:ext cx="7315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3900"/>
              <a:buFont typeface="Arial"/>
              <a:buNone/>
            </a:pPr>
            <a:r>
              <a:rPr b="1" i="0" lang="en-US" sz="23900" u="none" cap="none" strike="noStrike">
                <a:solidFill>
                  <a:srgbClr val="22D3EE"/>
                </a:solidFill>
                <a:latin typeface="Inter Display"/>
                <a:ea typeface="Arial"/>
                <a:cs typeface="Arial"/>
                <a:sym typeface="Arial"/>
              </a:rPr>
              <a:t>IRIS</a:t>
            </a:r>
            <a:endParaRPr b="0" i="0" sz="2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2438400" y="4626033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3600"/>
              <a:buFont typeface="Arial"/>
              <a:buNone/>
            </a:pPr>
            <a:r>
              <a:rPr b="0" i="1" lang="en-US" sz="3600" u="none" cap="none" strike="noStrike">
                <a:solidFill>
                  <a:srgbClr val="CDD5E2"/>
                </a:solidFill>
                <a:latin typeface="Inter Display"/>
                <a:ea typeface="Arial"/>
                <a:cs typeface="Arial"/>
                <a:sym typeface="Arial"/>
              </a:rPr>
              <a:t>Infrared Reflective Interface System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 advClick="1">
    <p:fade thruBlk="0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i="0" lang="en-US" sz="900" u="none" cap="none" strike="noStrike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2497974" y="3081251"/>
            <a:ext cx="812846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How it All Started….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 advClick="1">
    <p:fade thruBlk="0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3572" y="725879"/>
            <a:ext cx="4204855" cy="5406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 advClick="1">
    <p:fade thruBlk="0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48056" y="1773936"/>
            <a:ext cx="3310128" cy="4379976"/>
          </a:xfrm>
          <a:prstGeom prst="roundRect">
            <a:avLst>
              <a:gd fmla="val 829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023360" y="9601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PROJECT IRIS  ·  v2.0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023360" y="1371600"/>
            <a:ext cx="7315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600"/>
              <a:buFont typeface="Arial"/>
              <a:buNone/>
            </a:pPr>
            <a:r>
              <a:rPr b="1" lang="en-US" sz="9600">
                <a:solidFill>
                  <a:srgbClr val="22D3EE"/>
                </a:solidFill>
                <a:latin typeface="Inter Display"/>
                <a:ea typeface="Arial"/>
                <a:cs typeface="Arial"/>
                <a:sym typeface="Arial"/>
              </a:rPr>
              <a:t>IRIS</a:t>
            </a:r>
            <a:r>
              <a:rPr b="1" lang="en-US" sz="96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.</a:t>
            </a:r>
            <a:endParaRPr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023360" y="28803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800"/>
              <a:buFont typeface="Arial"/>
              <a:buNone/>
            </a:pPr>
            <a:r>
              <a:rPr i="1" lang="en-US" sz="18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Infrared Reflective Interface System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023360" y="33832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1C7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9DB1C7"/>
                </a:solidFill>
                <a:latin typeface="Inter"/>
                <a:ea typeface="Calibri"/>
                <a:cs typeface="Calibri"/>
                <a:sym typeface="Calibri"/>
              </a:rPr>
              <a:t>A hands-free cursor for people who can't use their hands.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023360" y="5989320"/>
            <a:ext cx="4114800" cy="365760"/>
          </a:xfrm>
          <a:prstGeom prst="roundRect">
            <a:avLst>
              <a:gd fmla="val 125000" name="adj"/>
            </a:avLst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023360" y="59893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900"/>
              <a:buFont typeface="Calibri"/>
              <a:buNone/>
            </a:pPr>
            <a:r>
              <a:rPr sz="900" b="1">
                <a:solidFill>
                  <a:srgbClr val="0B1A2E"/>
                </a:solidFill>
                <a:latin typeface="Inter"/>
              </a:rPr>
              <a:t>IR + IMU  ·  BLUETOOTH + WI-FI  ·  OFFLINE-CAPABLE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4"/>
          <p:cNvPicPr preferRelativeResize="0"/>
          <p:nvPr/>
        </p:nvPicPr>
        <p:blipFill rotWithShape="1">
          <a:blip r:embed="rId3">
            <a:alphaModFix/>
          </a:blip>
          <a:srcRect b="14239" l="0" r="0" t="9120"/>
          <a:stretch/>
        </p:blipFill>
        <p:spPr>
          <a:xfrm>
            <a:off x="586606" y="1773937"/>
            <a:ext cx="2974851" cy="4379976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8387541" y="4227712"/>
            <a:ext cx="3444240" cy="1466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800"/>
              <a:buFont typeface="Arial"/>
              <a:buNone/>
            </a:pPr>
            <a:r>
              <a:rPr i="1" lang="en-US" sz="18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Ayushman Choudhary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800"/>
              <a:buFont typeface="Arial"/>
              <a:buNone/>
            </a:pPr>
            <a:r>
              <a:rPr i="1" lang="en-US" sz="18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Class :- 10th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800"/>
              <a:buFont typeface="Arial"/>
              <a:buNone/>
            </a:pPr>
            <a:r>
              <a:rPr i="1" lang="en-US" sz="18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Bhavan’s B.P. Vidya Mandir Ashti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800"/>
              <a:buFont typeface="Arial"/>
              <a:buNone/>
            </a:pPr>
            <a:r>
              <a:rPr i="1" lang="en-US" sz="18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Nagpur Maharashtra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 advClick="1">
    <p:fade thruBlk="0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THE PROBLEM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02920" y="12801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Trapped inside a body that won't move.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02920" y="2337253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B7C5D6"/>
              </a:buClr>
              <a:buSzPts val="2400"/>
              <a:buFont typeface="Calibri"/>
              <a:buNone/>
            </a:pPr>
            <a:r>
              <a:rPr sz="1550" b="1">
                <a:solidFill>
                  <a:srgbClr val="22D3EE"/>
                </a:solidFill>
                <a:latin typeface="Inter"/>
              </a:rPr>
              <a:t>•  </a:t>
            </a:r>
            <a:r>
              <a:rPr sz="1550" b="0">
                <a:solidFill>
                  <a:srgbClr val="CDD5E2"/>
                </a:solidFill>
                <a:latin typeface="Inter"/>
              </a:rPr>
              <a:t>Locked-in syndrome, ALS &amp; severe paralysis trap a conscious mind inside a body that cannot move.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550" b="1">
                <a:solidFill>
                  <a:srgbClr val="22D3EE"/>
                </a:solidFill>
                <a:latin typeface="Inter"/>
              </a:rPr>
              <a:t>•  </a:t>
            </a:r>
            <a:r>
              <a:rPr sz="1550" b="0">
                <a:solidFill>
                  <a:srgbClr val="CDD5E2"/>
                </a:solidFill>
                <a:latin typeface="Inter"/>
              </a:rPr>
              <a:t>Commercial eye-trackers price out Indian families — leaving zero reliable options under ₹2,000.</a:t>
            </a:r>
          </a:p>
        </p:txBody>
      </p:sp>
      <p:sp>
        <p:nvSpPr>
          <p:cNvPr id="52" name="Google Shape;52;p5"/>
          <p:cNvSpPr/>
          <p:nvPr/>
        </p:nvSpPr>
        <p:spPr>
          <a:xfrm>
            <a:off x="449428" y="3611880"/>
            <a:ext cx="3520440" cy="2468880"/>
          </a:xfrm>
          <a:prstGeom prst="roundRect">
            <a:avLst>
              <a:gd fmla="val 2963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723748" y="4069080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723748" y="4114800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22D3EE"/>
                </a:solidFill>
                <a:latin typeface="Inter Display"/>
                <a:ea typeface="Arial"/>
                <a:cs typeface="Arial"/>
                <a:sym typeface="Arial"/>
              </a:rPr>
              <a:t>₹25L+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723748" y="5303520"/>
            <a:ext cx="2971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Cost of a commercial eye-tracker like Tobii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335628" y="3611880"/>
            <a:ext cx="3520440" cy="2468880"/>
          </a:xfrm>
          <a:prstGeom prst="roundRect">
            <a:avLst>
              <a:gd fmla="val 2963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09948" y="4069080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609948" y="4114800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22D3EE"/>
                </a:solidFill>
                <a:latin typeface="Inter Display"/>
                <a:ea typeface="Arial"/>
                <a:cs typeface="Arial"/>
                <a:sym typeface="Arial"/>
              </a:rPr>
              <a:t>240K+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609948" y="5303520"/>
            <a:ext cx="2971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Indians living with severe motor disabilities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8221828" y="3611880"/>
            <a:ext cx="3520440" cy="2468880"/>
          </a:xfrm>
          <a:prstGeom prst="roundRect">
            <a:avLst>
              <a:gd fmla="val 2963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8496148" y="4069080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8496148" y="4114800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22D3EE"/>
                </a:solidFill>
                <a:latin typeface="Inter Display"/>
                <a:ea typeface="Arial"/>
                <a:cs typeface="Arial"/>
                <a:sym typeface="Arial"/>
              </a:rPr>
              <a:t>0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8496148" y="5303520"/>
            <a:ext cx="2971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Reliable sub-₹2,000 options available today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502920" y="6363391"/>
            <a:ext cx="1115568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Sources: Tobii Dynavox I-Series retail India 2024 (incl. import duties); Census of India 2011 (Disability Data); WHO 2024 (Neurological Conditions)</a:t>
            </a:r>
            <a:endParaRPr/>
          </a:p>
        </p:txBody>
      </p:sp>
    </p:spTree>
  </p:cSld>
  <p:clrMapOvr>
    <a:masterClrMapping/>
  </p:clrMapOvr>
  <p:transition spd="med" advClick="1">
    <p:fade thruBlk="0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THE NUMBERS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How many need this.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02920" y="21945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5D6"/>
              </a:buClr>
              <a:buSzPts val="2400"/>
              <a:buFont typeface="Calibri"/>
              <a:buNone/>
            </a:pPr>
            <a:r>
              <a:rPr i="1" lang="en-US" sz="2400">
                <a:solidFill>
                  <a:srgbClr val="B7C5D6"/>
                </a:solidFill>
                <a:latin typeface="Inter Display"/>
                <a:ea typeface="Calibri"/>
                <a:cs typeface="Calibri"/>
                <a:sym typeface="Calibri"/>
              </a:rPr>
              <a:t>ALS and locked-in syndrome aren't rare. They're just invisible.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5" name="Google Shape;75;p6"/>
          <p:cNvGraphicFramePr/>
          <p:nvPr/>
        </p:nvGraphicFramePr>
        <p:xfrm>
          <a:off x="502920" y="2926080"/>
          <a:ext cx="7772400" cy="32004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76" name="Google Shape;76;p6"/>
          <p:cNvSpPr/>
          <p:nvPr/>
        </p:nvSpPr>
        <p:spPr>
          <a:xfrm>
            <a:off x="8595360" y="2926080"/>
            <a:ext cx="3108960" cy="3200400"/>
          </a:xfrm>
          <a:prstGeom prst="roundRect">
            <a:avLst>
              <a:gd fmla="val 2353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8869680" y="3200400"/>
            <a:ext cx="365760" cy="36576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8869680" y="3200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A2E"/>
                </a:solidFill>
                <a:latin typeface="Inter"/>
                <a:ea typeface="Arial"/>
                <a:cs typeface="Arial"/>
                <a:sym typeface="Arial"/>
              </a:rPr>
              <a:t>!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9372600" y="32004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B020"/>
                </a:solidFill>
                <a:latin typeface="Inter"/>
                <a:ea typeface="Calibri"/>
                <a:cs typeface="Calibri"/>
                <a:sym typeface="Calibri"/>
              </a:rPr>
              <a:t>CONSERVATIVE ESTIMATES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8869680" y="37490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Real numbers are higher.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8869680" y="4160520"/>
            <a:ext cx="25603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Most cases go undiagnosed in rural settings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ALS prevalence: ~4 in 100,000 people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Locked-in syndrome: ~1 in 339,000 people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Those needing IRIS most are least counted</a:t>
            </a:r>
          </a:p>
        </p:txBody>
      </p:sp>
      <p:sp>
        <p:nvSpPr>
          <p:cNvPr id="82" name="Google Shape;82;p6"/>
          <p:cNvSpPr txBox="1"/>
          <p:nvPr/>
        </p:nvSpPr>
        <p:spPr>
          <a:xfrm>
            <a:off x="502920" y="6321825"/>
            <a:ext cx="1115568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Sources: Wolfson et al. 2023, Global Prevalence and Incidence of ALS (NIH/PMC); Nalini 2008 (ScienceDirect); Orphanet 2023; WHO 2024 (Spinal Cord Injury); Frontiers in Neurology 2023 (Liu et al.)</a:t>
            </a:r>
            <a:endParaRPr/>
          </a:p>
        </p:txBody>
      </p:sp>
    </p:spTree>
  </p:cSld>
  <p:clrMapOvr>
    <a:masterClrMapping/>
  </p:clrMapOvr>
  <p:transition spd="med" advClick="1">
    <p:fade thruBlk="0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840" y="526904"/>
            <a:ext cx="10599160" cy="587998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med" advClick="1">
    <p:fade thruBlk="0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100" b="1">
                <a:solidFill>
                  <a:srgbClr val="22D3EE"/>
                </a:solidFill>
                <a:latin typeface="Inter"/>
              </a:rPr>
              <a:t>THE WEARABLE  ·  HARDWARE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502920" y="128016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The Wearable.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502920" y="1938528"/>
            <a:ext cx="7406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200"/>
              </a:spcAft>
              <a:buClr>
                <a:srgbClr val="CDD5E2"/>
              </a:buClr>
              <a:buSzPts val="1600"/>
              <a:buFont typeface="Calibri"/>
              <a:buNone/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Breathable Velcro headband with continuous airflow houses the XIAO electronics.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Customizable glasses carry only the detachable magnetic-pivot IR sensor.</a:t>
            </a:r>
          </a:p>
        </p:txBody>
      </p:sp>
      <p:sp>
        <p:nvSpPr>
          <p:cNvPr id="99" name="Google Shape;99;p8"/>
          <p:cNvSpPr/>
          <p:nvPr/>
        </p:nvSpPr>
        <p:spPr>
          <a:xfrm>
            <a:off x="502920" y="2788920"/>
            <a:ext cx="7132320" cy="676656"/>
          </a:xfrm>
          <a:prstGeom prst="roundRect">
            <a:avLst>
              <a:gd fmla="val 12903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649224" y="2916936"/>
            <a:ext cx="420624" cy="420624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649778" y="2830019"/>
            <a:ext cx="365760" cy="57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200"/>
              <a:buFont typeface="Arial"/>
              <a:buNone/>
            </a:pPr>
            <a:r>
              <a:rPr sz="3200" b="1">
                <a:solidFill>
                  <a:srgbClr val="22D3EE"/>
                </a:solidFill>
                <a:latin typeface="Inter Display"/>
              </a:rP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1170432" y="2862072"/>
            <a:ext cx="6309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400" b="1">
                <a:solidFill>
                  <a:srgbClr val="FFFFFF"/>
                </a:solidFill>
                <a:latin typeface="Inter"/>
              </a:rPr>
              <a:t>IR Sensor (Magnetic Pivot on Glasses)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1170432" y="3136391"/>
            <a:ext cx="6309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sz="1150">
                <a:solidFill>
                  <a:srgbClr val="94A3B8"/>
                </a:solidFill>
                <a:latin typeface="Inter"/>
              </a:rPr>
              <a:t>• Detachable nut-bolt + neodymium magnet mount fits any frame or ±7D lens.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502920" y="3547872"/>
            <a:ext cx="7132320" cy="676656"/>
          </a:xfrm>
          <a:prstGeom prst="roundRect">
            <a:avLst>
              <a:gd fmla="val 12903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649224" y="3675887"/>
            <a:ext cx="420624" cy="420624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667512" y="3530460"/>
            <a:ext cx="365760" cy="7250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200"/>
              <a:buFont typeface="Arial"/>
              <a:buNone/>
            </a:pPr>
            <a:r>
              <a:rPr sz="3200" b="1">
                <a:solidFill>
                  <a:srgbClr val="22D3EE"/>
                </a:solidFill>
                <a:latin typeface="Inter Display"/>
              </a:rP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1170432" y="3621024"/>
            <a:ext cx="6309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400" b="1">
                <a:solidFill>
                  <a:srgbClr val="FFFFFF"/>
                </a:solidFill>
                <a:latin typeface="Inter"/>
              </a:rPr>
              <a:t>MPU6050 (Inside Breathable Velcro Belt)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1170432" y="3895344"/>
            <a:ext cx="6309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sz="1150">
                <a:solidFill>
                  <a:srgbClr val="94A3B8"/>
                </a:solidFill>
                <a:latin typeface="Inter"/>
              </a:rPr>
              <a:t>• Reads head tilt &amp; nod for cursor direction while mesh belt keeps airflow cool.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502920" y="4306824"/>
            <a:ext cx="7132320" cy="676656"/>
          </a:xfrm>
          <a:prstGeom prst="roundRect">
            <a:avLst>
              <a:gd fmla="val 12903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649224" y="4434840"/>
            <a:ext cx="420624" cy="420624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667512" y="4354809"/>
            <a:ext cx="365760" cy="7250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200"/>
              <a:buFont typeface="Arial"/>
              <a:buNone/>
            </a:pPr>
            <a:r>
              <a:rPr sz="3200" b="1">
                <a:solidFill>
                  <a:srgbClr val="22D3EE"/>
                </a:solidFill>
                <a:latin typeface="Inter Display"/>
              </a:rP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1170432" y="4379976"/>
            <a:ext cx="6309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400" b="1">
                <a:solidFill>
                  <a:srgbClr val="FFFFFF"/>
                </a:solidFill>
                <a:latin typeface="Inter"/>
              </a:rPr>
              <a:t>Seeed Studio XIAO ESP32C3 (BLE + Wi-Fi)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1170432" y="4654296"/>
            <a:ext cx="6309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sz="1150">
                <a:solidFill>
                  <a:srgbClr val="94A3B8"/>
                </a:solidFill>
                <a:latin typeface="Inter"/>
              </a:rPr>
              <a:t>• Thumb-sized chip with built-in Bluetooth 5.0, Wi-Fi failover &amp; Deep Sleep.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502920" y="5065776"/>
            <a:ext cx="7132320" cy="676656"/>
          </a:xfrm>
          <a:prstGeom prst="roundRect">
            <a:avLst>
              <a:gd fmla="val 12903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649224" y="5193792"/>
            <a:ext cx="420624" cy="420624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627973" y="5460038"/>
            <a:ext cx="348026" cy="20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200"/>
              <a:buFont typeface="Arial"/>
              <a:buNone/>
            </a:pPr>
            <a:r>
              <a:rPr sz="3200" b="1">
                <a:solidFill>
                  <a:srgbClr val="22D3EE"/>
                </a:solidFill>
                <a:latin typeface="Inter Display"/>
              </a:rP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1170432" y="5138928"/>
            <a:ext cx="6309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400" b="1">
                <a:solidFill>
                  <a:srgbClr val="FFFFFF"/>
                </a:solidFill>
                <a:latin typeface="Inter"/>
              </a:rPr>
              <a:t>3.7V 1000mAh Li-Po Battery (12h Runtime)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1170432" y="5413248"/>
            <a:ext cx="6309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sz="1150">
                <a:solidFill>
                  <a:srgbClr val="94A3B8"/>
                </a:solidFill>
                <a:latin typeface="Inter"/>
              </a:rPr>
              <a:t>• Direct charging via XIAO BAT+/BAT- pads &amp; internal regulator — no buck module.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8540496" y="1225296"/>
            <a:ext cx="2983992" cy="4251960"/>
          </a:xfrm>
          <a:prstGeom prst="roundRect">
            <a:avLst>
              <a:gd fmla="val 852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8"/>
          <p:cNvPicPr preferRelativeResize="0"/>
          <p:nvPr/>
        </p:nvPicPr>
        <p:blipFill rotWithShape="1">
          <a:blip r:embed="rId3">
            <a:alphaModFix/>
          </a:blip>
          <a:srcRect b="10573" l="0" r="0" t="6556"/>
          <a:stretch/>
        </p:blipFill>
        <p:spPr>
          <a:xfrm>
            <a:off x="8739447" y="1271509"/>
            <a:ext cx="2626822" cy="411723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8"/>
          <p:cNvSpPr/>
          <p:nvPr/>
        </p:nvSpPr>
        <p:spPr>
          <a:xfrm>
            <a:off x="8595360" y="555955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B1C7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9DB1C7"/>
                </a:solidFill>
                <a:latin typeface="Inter"/>
                <a:ea typeface="Calibri"/>
                <a:cs typeface="Calibri"/>
                <a:sym typeface="Calibri"/>
              </a:rPr>
              <a:t>IR sensor positioned at the eye corner.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502920" y="5989320"/>
            <a:ext cx="7132320" cy="548640"/>
          </a:xfrm>
          <a:prstGeom prst="roundRect">
            <a:avLst>
              <a:gd fmla="val 13333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685800" y="60350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50"/>
              <a:buFont typeface="Calibri"/>
              <a:buNone/>
            </a:pPr>
            <a:r>
              <a:rPr sz="1000" b="1">
                <a:solidFill>
                  <a:srgbClr val="22D3EE"/>
                </a:solidFill>
                <a:latin typeface="Inter"/>
              </a:rPr>
              <a:t>WEAR-ALL-DAY  ·  Breathable Velcro belt + magnetic pivot glasses · XIAO ESP32C3 gives 12h battery with Deep Sleep.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Picture 123" descr="icon_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2916936"/>
            <a:ext cx="420624" cy="420624"/>
          </a:xfrm>
          <a:prstGeom prst="rect">
            <a:avLst/>
          </a:prstGeom>
        </p:spPr>
      </p:pic>
      <p:pic>
        <p:nvPicPr>
          <p:cNvPr id="125" name="Picture 124" descr="icon_im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3675887"/>
            <a:ext cx="420624" cy="420624"/>
          </a:xfrm>
          <a:prstGeom prst="rect">
            <a:avLst/>
          </a:prstGeom>
        </p:spPr>
      </p:pic>
      <p:pic>
        <p:nvPicPr>
          <p:cNvPr id="126" name="Picture 125" descr="icon_ch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4434840"/>
            <a:ext cx="420624" cy="420624"/>
          </a:xfrm>
          <a:prstGeom prst="rect">
            <a:avLst/>
          </a:prstGeom>
        </p:spPr>
      </p:pic>
      <p:pic>
        <p:nvPicPr>
          <p:cNvPr id="127" name="Picture 126" descr="icon_batte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5193792"/>
            <a:ext cx="420624" cy="420624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INTRODUCING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502920" y="1280160"/>
            <a:ext cx="65836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A blink becomes a click. A tilt becomes a cursor.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502920" y="2799999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500"/>
              </a:spcAft>
              <a:buClr>
                <a:srgbClr val="CDD5E2"/>
              </a:buClr>
              <a:buSzPts val="2000"/>
              <a:buFont typeface="Calibri"/>
              <a:buNone/>
            </a:pPr>
            <a:r>
              <a:rPr sz="1450" b="1">
                <a:solidFill>
                  <a:srgbClr val="22D3EE"/>
                </a:solidFill>
                <a:latin typeface="Inter"/>
              </a:rPr>
              <a:t>•  </a:t>
            </a:r>
            <a:r>
              <a:rPr sz="1450" b="0">
                <a:solidFill>
                  <a:srgbClr val="CDD5E2"/>
                </a:solidFill>
                <a:latin typeface="Inter"/>
              </a:rPr>
              <a:t>Breathable Velcro headband reads head tilt to steer the cursor.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500"/>
              </a:spcAft>
            </a:pPr>
            <a:r>
              <a:rPr sz="1450" b="1">
                <a:solidFill>
                  <a:srgbClr val="22D3EE"/>
                </a:solidFill>
                <a:latin typeface="Inter"/>
              </a:rPr>
              <a:t>•  </a:t>
            </a:r>
            <a:r>
              <a:rPr sz="1450" b="0">
                <a:solidFill>
                  <a:srgbClr val="CDD5E2"/>
                </a:solidFill>
                <a:latin typeface="Inter"/>
              </a:rPr>
              <a:t>Magnetic-pivot IR sensor on custom glasses detects deliberate blinks.</a:t>
            </a:r>
          </a:p>
          <a:p>
            <a:pPr algn="l">
              <a:spcAft>
                <a:spcPts val="500"/>
              </a:spcAft>
            </a:pPr>
            <a:r>
              <a:rPr sz="1450" b="1">
                <a:solidFill>
                  <a:srgbClr val="22D3EE"/>
                </a:solidFill>
                <a:latin typeface="Inter"/>
              </a:rPr>
              <a:t>•  </a:t>
            </a:r>
            <a:r>
              <a:rPr sz="1450" b="0">
                <a:solidFill>
                  <a:srgbClr val="CDD5E2"/>
                </a:solidFill>
                <a:latin typeface="Inter"/>
              </a:rPr>
              <a:t>Live Python simulation mirrors the user's eye movements on screen.</a:t>
            </a:r>
          </a:p>
          <a:p>
            <a:pPr algn="l">
              <a:spcAft>
                <a:spcPts val="500"/>
              </a:spcAft>
            </a:pPr>
            <a:r>
              <a:rPr sz="1450" b="1">
                <a:solidFill>
                  <a:srgbClr val="22D3EE"/>
                </a:solidFill>
                <a:latin typeface="Inter"/>
              </a:rPr>
              <a:t>•  </a:t>
            </a:r>
            <a:r>
              <a:rPr sz="1450" b="0">
                <a:solidFill>
                  <a:srgbClr val="CDD5E2"/>
                </a:solidFill>
                <a:latin typeface="Inter"/>
              </a:rPr>
              <a:t>Complete prototype built for ₹800 — 99.96% cheaper than ₹25L systems.</a:t>
            </a:r>
          </a:p>
        </p:txBody>
      </p:sp>
      <p:sp>
        <p:nvSpPr>
          <p:cNvPr id="134" name="Google Shape;134;p9"/>
          <p:cNvSpPr/>
          <p:nvPr/>
        </p:nvSpPr>
        <p:spPr>
          <a:xfrm>
            <a:off x="502920" y="4617720"/>
            <a:ext cx="4114800" cy="1783080"/>
          </a:xfrm>
          <a:prstGeom prst="roundRect">
            <a:avLst>
              <a:gd fmla="val 4103" name="adj"/>
            </a:avLst>
          </a:prstGeom>
          <a:solidFill>
            <a:srgbClr val="0F2440"/>
          </a:solidFill>
          <a:ln cap="flat" cmpd="sng" w="9525">
            <a:solidFill>
              <a:srgbClr val="22D3EE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777240" y="47548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TOTAL BUILD COST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777240" y="502920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Arial"/>
              <a:buNone/>
            </a:pPr>
            <a:r>
              <a:rPr b="1" lang="en-US" sz="56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₹800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2809384" y="5349240"/>
            <a:ext cx="1371600" cy="384048"/>
          </a:xfrm>
          <a:prstGeom prst="roundRect">
            <a:avLst>
              <a:gd fmla="val 119048" name="adj"/>
            </a:avLst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2809384" y="536288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B1A2E"/>
                </a:solidFill>
                <a:latin typeface="Inter"/>
                <a:ea typeface="Calibri"/>
                <a:cs typeface="Calibri"/>
                <a:sym typeface="Calibri"/>
              </a:rPr>
              <a:t>99.96% CHEAPER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7653806" y="2167128"/>
            <a:ext cx="4133088" cy="3127248"/>
          </a:xfrm>
          <a:prstGeom prst="roundRect">
            <a:avLst>
              <a:gd fmla="val 87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9"/>
          <p:cNvPicPr preferRelativeResize="0"/>
          <p:nvPr/>
        </p:nvPicPr>
        <p:blipFill rotWithShape="1">
          <a:blip r:embed="rId3">
            <a:alphaModFix/>
          </a:blip>
          <a:srcRect b="0" l="16047" r="7162" t="0"/>
          <a:stretch/>
        </p:blipFill>
        <p:spPr>
          <a:xfrm>
            <a:off x="7680960" y="2336709"/>
            <a:ext cx="4105934" cy="273405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9"/>
          <p:cNvSpPr/>
          <p:nvPr/>
        </p:nvSpPr>
        <p:spPr>
          <a:xfrm>
            <a:off x="7863840" y="1463040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B1A2E"/>
                </a:solidFill>
                <a:latin typeface="Inter"/>
                <a:ea typeface="Calibri"/>
                <a:cs typeface="Calibri"/>
                <a:sym typeface="Calibri"/>
              </a:rPr>
              <a:t>● LIVE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7680960" y="5367528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B1C7"/>
              </a:buClr>
              <a:buSzPts val="1000"/>
              <a:buFont typeface="Calibri"/>
              <a:buNone/>
            </a:pPr>
            <a:r>
              <a:rPr sz="1000" i="1">
                <a:solidFill>
                  <a:srgbClr val="9DB1C7"/>
                </a:solidFill>
                <a:latin typeface="Inter"/>
              </a:rPr>
              <a:t>Prototype — Velcro headband houses XIAO electronics; magnetic pivot attaches IR sensor to glasses.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502920" y="6446520"/>
            <a:ext cx="1115568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Calculated: ₹800 build cost vs ₹25,00,000 Tobii retail India = 99.97% cheaper (conservative claim: 99.96%)</a:t>
            </a:r>
            <a:endParaRPr/>
          </a:p>
        </p:txBody>
      </p:sp>
    </p:spTree>
  </p:cSld>
  <p:clrMapOvr>
    <a:masterClrMapping/>
  </p:clrMapOvr>
  <p:transition spd="med" advClick="1">
    <p:fade thruBlk="0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100" b="1">
                <a:solidFill>
                  <a:srgbClr val="22D3EE"/>
                </a:solidFill>
                <a:latin typeface="Inter"/>
              </a:rPr>
              <a:t>HOW THE CHIP THINKS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The Brain.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502920" y="2125285"/>
            <a:ext cx="6675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20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Seeed Studio XIAO ESP32C3 reads IMU angle &amp; multi-beam IR proximity every loop.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Python + TensorFlow pipeline filters out ambient light noise &amp; micro-tremors.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Streams gesture tokens over Bluetooth 5.0 with automatic Wi-Fi failover.</a:t>
            </a:r>
          </a:p>
        </p:txBody>
      </p:sp>
      <p:sp>
        <p:nvSpPr>
          <p:cNvPr id="154" name="Google Shape;154;p10"/>
          <p:cNvSpPr/>
          <p:nvPr/>
        </p:nvSpPr>
        <p:spPr>
          <a:xfrm>
            <a:off x="502920" y="3181609"/>
            <a:ext cx="6675120" cy="365760"/>
          </a:xfrm>
          <a:prstGeom prst="roundRect">
            <a:avLst>
              <a:gd fmla="val 12500" name="adj"/>
            </a:avLst>
          </a:prstGeom>
          <a:solidFill>
            <a:srgbClr val="050E1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685800" y="3181609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SIGNAL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3200400" y="3181609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CONDITION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5989320" y="3181609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OUTPUT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502920" y="3547369"/>
            <a:ext cx="6675120" cy="329184"/>
          </a:xfrm>
          <a:prstGeom prst="rect">
            <a:avLst/>
          </a:prstGeom>
          <a:solidFill>
            <a:srgbClr val="0F2440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685800" y="3547369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Head tilt left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3200400" y="3547369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toward left shoulder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5989320" y="3547369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22D3EE"/>
                </a:solidFill>
                <a:latin typeface="Noto Sans Mono"/>
                <a:ea typeface="Courier New"/>
                <a:cs typeface="Courier New"/>
                <a:sym typeface="Courier New"/>
              </a:rPr>
              <a:t>→ 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502920" y="3876553"/>
            <a:ext cx="6675120" cy="329184"/>
          </a:xfrm>
          <a:prstGeom prst="rect">
            <a:avLst/>
          </a:prstGeom>
          <a:solidFill>
            <a:srgbClr val="050E1C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685800" y="3876553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Head tilt right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3200400" y="3876553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toward right shoulder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5989320" y="3876553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22D3EE"/>
                </a:solidFill>
                <a:latin typeface="Noto Sans Mono"/>
                <a:ea typeface="Courier New"/>
                <a:cs typeface="Courier New"/>
                <a:sym typeface="Courier New"/>
              </a:rPr>
              <a:t>→ 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502920" y="4205737"/>
            <a:ext cx="6675120" cy="329184"/>
          </a:xfrm>
          <a:prstGeom prst="rect">
            <a:avLst/>
          </a:prstGeom>
          <a:solidFill>
            <a:srgbClr val="0F2440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685800" y="4205737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Head nod up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3200400" y="4205737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pitch beyond threshold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5989320" y="4205737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22D3EE"/>
                </a:solidFill>
                <a:latin typeface="Noto Sans Mono"/>
                <a:ea typeface="Courier New"/>
                <a:cs typeface="Courier New"/>
                <a:sym typeface="Courier New"/>
              </a:rPr>
              <a:t>→ U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502920" y="4534921"/>
            <a:ext cx="6675120" cy="329184"/>
          </a:xfrm>
          <a:prstGeom prst="rect">
            <a:avLst/>
          </a:prstGeom>
          <a:solidFill>
            <a:srgbClr val="050E1C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685800" y="4534921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Head nod down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3200400" y="4534921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pitch beyond threshold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5989320" y="4534921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22D3EE"/>
                </a:solidFill>
                <a:latin typeface="Noto Sans Mono"/>
                <a:ea typeface="Courier New"/>
                <a:cs typeface="Courier New"/>
                <a:sym typeface="Courier New"/>
              </a:rPr>
              <a:t>→ 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502920" y="4864105"/>
            <a:ext cx="6675120" cy="329184"/>
          </a:xfrm>
          <a:prstGeom prst="rect">
            <a:avLst/>
          </a:prstGeom>
          <a:solidFill>
            <a:srgbClr val="0F2440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685800" y="4864105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Single deliberate blink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3200400" y="4864105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held, above threshold duration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5989320" y="4864105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22D3EE"/>
                </a:solidFill>
                <a:latin typeface="Noto Sans Mono"/>
                <a:ea typeface="Courier New"/>
                <a:cs typeface="Courier New"/>
                <a:sym typeface="Courier New"/>
              </a:rPr>
              <a:t>→ LC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502920" y="5193289"/>
            <a:ext cx="6675120" cy="329184"/>
          </a:xfrm>
          <a:prstGeom prst="rect">
            <a:avLst/>
          </a:prstGeom>
          <a:solidFill>
            <a:srgbClr val="050E1C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685800" y="5193289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Double deliberate blink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3200400" y="5193289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two held blinks in quick succession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989320" y="5193289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22D3EE"/>
                </a:solidFill>
                <a:latin typeface="Noto Sans Mono"/>
                <a:ea typeface="Courier New"/>
                <a:cs typeface="Courier New"/>
                <a:sym typeface="Courier New"/>
              </a:rPr>
              <a:t>→ RC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502920" y="5522473"/>
            <a:ext cx="6675120" cy="329184"/>
          </a:xfrm>
          <a:prstGeom prst="rect">
            <a:avLst/>
          </a:prstGeom>
          <a:solidFill>
            <a:srgbClr val="0F2440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685800" y="5522473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Natural / fast blink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3200400" y="5522473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below threshold duration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5989320" y="5522473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94A3B8"/>
                </a:solidFill>
                <a:latin typeface="Noto Sans Mono"/>
                <a:ea typeface="Courier New"/>
                <a:cs typeface="Courier New"/>
                <a:sym typeface="Courier New"/>
              </a:rPr>
              <a:t>ignored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8631936" y="1225296"/>
            <a:ext cx="3127248" cy="4133088"/>
          </a:xfrm>
          <a:prstGeom prst="roundRect">
            <a:avLst>
              <a:gd fmla="val 87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1280160"/>
            <a:ext cx="2606039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0"/>
          <p:cNvSpPr/>
          <p:nvPr/>
        </p:nvSpPr>
        <p:spPr>
          <a:xfrm>
            <a:off x="8631936" y="5486400"/>
            <a:ext cx="3127248" cy="1097280"/>
          </a:xfrm>
          <a:prstGeom prst="roundRect">
            <a:avLst>
              <a:gd fmla="val 8421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8869680" y="553212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WHY digitalRead NOT analogRead  ·  </a:t>
            </a:r>
            <a:r>
              <a:rPr lang="en-US" sz="12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onboard LM393 comparator already decides open/closed in hardware.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 advClick="1">
    <p:fade thruBlk="0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THE CLICK LOGIC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502920" y="128016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How a blink from a click.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502920" y="21945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5D6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B7C5D6"/>
                </a:solidFill>
                <a:latin typeface="Inter"/>
                <a:ea typeface="Calibri"/>
                <a:cs typeface="Calibri"/>
                <a:sym typeface="Calibri"/>
              </a:rPr>
              <a:t>The hardest part of any blink-based interface is ignoring the blinks you don't mean. IRIS solves this with timing, not guessing.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449428" y="2880360"/>
            <a:ext cx="3520440" cy="3520440"/>
          </a:xfrm>
          <a:prstGeom prst="roundRect">
            <a:avLst>
              <a:gd fmla="val 2078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769468" y="3200400"/>
            <a:ext cx="2880360" cy="868680"/>
          </a:xfrm>
          <a:prstGeom prst="roundRect">
            <a:avLst>
              <a:gd fmla="val 10526" name="adj"/>
            </a:avLst>
          </a:prstGeom>
          <a:solidFill>
            <a:srgbClr val="050E1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769468" y="3200400"/>
            <a:ext cx="2880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000"/>
              <a:buFont typeface="Courier New"/>
              <a:buNone/>
            </a:pPr>
            <a:r>
              <a:rPr b="1" lang="en-US" sz="3000">
                <a:solidFill>
                  <a:srgbClr val="94A3B8"/>
                </a:solidFill>
                <a:latin typeface="Noto Sans Mono"/>
                <a:ea typeface="Courier New"/>
                <a:cs typeface="Courier New"/>
                <a:sym typeface="Courier New"/>
              </a:rPr>
              <a:t>∼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769468" y="420624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NATURAL BLINK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769468" y="4522125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Ignored completely.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769468" y="4983479"/>
            <a:ext cx="2880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Fast, involuntary reflex blink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Filtered out before any action fires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Cursor never twitches or misfires</a:t>
            </a:r>
          </a:p>
        </p:txBody>
      </p:sp>
      <p:sp>
        <p:nvSpPr>
          <p:cNvPr id="206" name="Google Shape;206;p11"/>
          <p:cNvSpPr/>
          <p:nvPr/>
        </p:nvSpPr>
        <p:spPr>
          <a:xfrm>
            <a:off x="769468" y="5897880"/>
            <a:ext cx="1554480" cy="310896"/>
          </a:xfrm>
          <a:prstGeom prst="roundRect">
            <a:avLst>
              <a:gd fmla="val 147059" name="adj"/>
            </a:avLst>
          </a:prstGeom>
          <a:solidFill>
            <a:srgbClr val="1A2A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769468" y="5897880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&lt; </a:t>
            </a:r>
            <a:r>
              <a:rPr b="1" lang="en-US" sz="14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200ms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4335628" y="2880360"/>
            <a:ext cx="3520440" cy="3520440"/>
          </a:xfrm>
          <a:prstGeom prst="roundRect">
            <a:avLst>
              <a:gd fmla="val 2078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4655668" y="3200400"/>
            <a:ext cx="2880360" cy="868680"/>
          </a:xfrm>
          <a:prstGeom prst="roundRect">
            <a:avLst>
              <a:gd fmla="val 10526" name="adj"/>
            </a:avLst>
          </a:prstGeom>
          <a:solidFill>
            <a:srgbClr val="050E1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4655668" y="3200400"/>
            <a:ext cx="2880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000"/>
              <a:buFont typeface="Courier New"/>
              <a:buNone/>
            </a:pPr>
            <a:r>
              <a:rPr b="1" lang="en-US" sz="3000">
                <a:solidFill>
                  <a:srgbClr val="22D3EE"/>
                </a:solidFill>
                <a:latin typeface="Noto Sans Mono"/>
                <a:ea typeface="Courier New"/>
                <a:cs typeface="Courier New"/>
                <a:sym typeface="Courier New"/>
              </a:rPr>
              <a:t>▭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4655668" y="420624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SINGLE DELIBERATE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4655668" y="4522125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Left click.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4655668" y="4983479"/>
            <a:ext cx="2880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Held intentionally for 200–500ms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Separates deliberate intent from reflex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Fires a clean single Left Click (LC)</a:t>
            </a:r>
          </a:p>
        </p:txBody>
      </p:sp>
      <p:sp>
        <p:nvSpPr>
          <p:cNvPr id="214" name="Google Shape;214;p11"/>
          <p:cNvSpPr/>
          <p:nvPr/>
        </p:nvSpPr>
        <p:spPr>
          <a:xfrm>
            <a:off x="4655668" y="5897880"/>
            <a:ext cx="1554480" cy="310896"/>
          </a:xfrm>
          <a:prstGeom prst="roundRect">
            <a:avLst>
              <a:gd fmla="val 147059" name="adj"/>
            </a:avLst>
          </a:prstGeom>
          <a:solidFill>
            <a:srgbClr val="0B25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4655668" y="5897880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200–500ms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8221828" y="2921925"/>
            <a:ext cx="3520440" cy="3520440"/>
          </a:xfrm>
          <a:prstGeom prst="roundRect">
            <a:avLst>
              <a:gd fmla="val 2078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8541868" y="3200400"/>
            <a:ext cx="2880360" cy="868680"/>
          </a:xfrm>
          <a:prstGeom prst="roundRect">
            <a:avLst>
              <a:gd fmla="val 10526" name="adj"/>
            </a:avLst>
          </a:prstGeom>
          <a:solidFill>
            <a:srgbClr val="050E1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8541868" y="3200400"/>
            <a:ext cx="2880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3000"/>
              <a:buFont typeface="Courier New"/>
              <a:buNone/>
            </a:pPr>
            <a:r>
              <a:rPr b="1" lang="en-US" sz="3000">
                <a:solidFill>
                  <a:srgbClr val="FFB020"/>
                </a:solidFill>
                <a:latin typeface="Noto Sans Mono"/>
                <a:ea typeface="Courier New"/>
                <a:cs typeface="Courier New"/>
                <a:sym typeface="Courier New"/>
              </a:rPr>
              <a:t>▭▭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8541868" y="420624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B020"/>
                </a:solidFill>
                <a:latin typeface="Inter"/>
                <a:ea typeface="Calibri"/>
                <a:cs typeface="Calibri"/>
                <a:sym typeface="Calibri"/>
              </a:rPr>
              <a:t>DOUBLE DELIBERATE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8541868" y="4522125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Right click.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8541868" y="4983479"/>
            <a:ext cx="2880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Two deliberate blinks within 600ms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Detected by timing window logic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Emits an instant Right Click (RC)</a:t>
            </a:r>
          </a:p>
        </p:txBody>
      </p:sp>
      <p:sp>
        <p:nvSpPr>
          <p:cNvPr id="222" name="Google Shape;222;p11"/>
          <p:cNvSpPr/>
          <p:nvPr/>
        </p:nvSpPr>
        <p:spPr>
          <a:xfrm>
            <a:off x="8541868" y="5967155"/>
            <a:ext cx="1554480" cy="310896"/>
          </a:xfrm>
          <a:prstGeom prst="roundRect">
            <a:avLst>
              <a:gd fmla="val 147059" name="adj"/>
            </a:avLst>
          </a:prstGeom>
          <a:solidFill>
            <a:srgbClr val="2A1F0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8541868" y="5953300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B020"/>
                </a:solidFill>
                <a:latin typeface="Inter"/>
                <a:ea typeface="Calibri"/>
                <a:cs typeface="Calibri"/>
                <a:sym typeface="Calibri"/>
              </a:rPr>
              <a:t>2 × 200–500ms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 advClick="1">
    <p:fade thruBlk="0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● PROJECT IRIS</a:t>
            </a:r>
            <a:endParaRPr/>
          </a:p>
        </p:txBody>
      </p:sp>
      <p:sp>
        <p:nvSpPr>
          <p:cNvPr id="229" name="Google Shape;229;p12"/>
          <p:cNvSpPr txBox="1"/>
          <p:nvPr/>
        </p:nvSpPr>
        <p:spPr>
          <a:xfrm>
            <a:off x="502920" y="2743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22D3EE"/>
                </a:solidFill>
                <a:latin typeface="Inter"/>
              </a:rPr>
              <a:t/>
            </a:r>
            <a:endParaRPr/>
          </a:p>
        </p:txBody>
      </p:sp>
      <p:sp>
        <p:nvSpPr>
          <p:cNvPr id="230" name="Google Shape;230;p12"/>
          <p:cNvSpPr txBox="1"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STATUS FEEDBACK</a:t>
            </a:r>
            <a:endParaRPr/>
          </a:p>
        </p:txBody>
      </p:sp>
      <p:sp>
        <p:nvSpPr>
          <p:cNvPr id="231" name="Google Shape;231;p12"/>
          <p:cNvSpPr txBox="1"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FFFFFF"/>
                </a:solidFill>
                <a:latin typeface="Inter Display"/>
                <a:ea typeface="Calibri"/>
                <a:cs typeface="Calibri"/>
                <a:sym typeface="Calibri"/>
              </a:rPr>
              <a:t>One LED tells you everything.</a:t>
            </a:r>
            <a:endParaRPr/>
          </a:p>
        </p:txBody>
      </p:sp>
      <p:sp>
        <p:nvSpPr>
          <p:cNvPr id="232" name="Google Shape;232;p12"/>
          <p:cNvSpPr txBox="1"/>
          <p:nvPr/>
        </p:nvSpPr>
        <p:spPr>
          <a:xfrm>
            <a:off x="502920" y="21945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A single RGB LED on the outer belt gives instant visual feedback — no screen needed.</a:t>
            </a: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495300" y="2926080"/>
            <a:ext cx="3520440" cy="274320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0E74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1889760" y="3200400"/>
            <a:ext cx="731520" cy="7315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723900" y="406908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6A34A"/>
                </a:solidFill>
                <a:latin typeface="Inter"/>
                <a:ea typeface="Calibri"/>
                <a:cs typeface="Calibri"/>
                <a:sym typeface="Calibri"/>
              </a:rPr>
              <a:t>GREEN</a:t>
            </a:r>
            <a:endParaRPr/>
          </a:p>
        </p:txBody>
      </p:sp>
      <p:sp>
        <p:nvSpPr>
          <p:cNvPr id="236" name="Google Shape;236;p12"/>
          <p:cNvSpPr txBox="1"/>
          <p:nvPr/>
        </p:nvSpPr>
        <p:spPr>
          <a:xfrm>
            <a:off x="723900" y="434340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System starting</a:t>
            </a:r>
            <a:endParaRPr/>
          </a:p>
        </p:txBody>
      </p:sp>
      <p:sp>
        <p:nvSpPr>
          <p:cNvPr id="237" name="Google Shape;237;p12"/>
          <p:cNvSpPr txBox="1"/>
          <p:nvPr/>
        </p:nvSpPr>
        <p:spPr>
          <a:xfrm>
            <a:off x="723900" y="4709160"/>
            <a:ext cx="306324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None/>
            </a:pPr>
            <a:br>
              <a:rPr b="0" i="0" lang="en-US" sz="1400">
                <a:solidFill>
                  <a:srgbClr val="CDD5E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Solid green for 2s on boot-up</a:t>
            </a:r>
            <a:endParaRPr/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XIAO initializes IMU &amp; IR sensors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Starts BLE &amp; Wi-Fi wireless stack</a:t>
            </a:r>
          </a:p>
        </p:txBody>
      </p:sp>
      <p:sp>
        <p:nvSpPr>
          <p:cNvPr id="238" name="Google Shape;238;p12"/>
          <p:cNvSpPr/>
          <p:nvPr/>
        </p:nvSpPr>
        <p:spPr>
          <a:xfrm>
            <a:off x="4335780" y="2926080"/>
            <a:ext cx="3520440" cy="274320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0E74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5730240" y="320040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 txBox="1"/>
          <p:nvPr/>
        </p:nvSpPr>
        <p:spPr>
          <a:xfrm>
            <a:off x="4564380" y="406908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3B82F6"/>
                </a:solidFill>
                <a:latin typeface="Inter"/>
                <a:ea typeface="Calibri"/>
                <a:cs typeface="Calibri"/>
                <a:sym typeface="Calibri"/>
              </a:rPr>
              <a:t>BLUE · BLINKING</a:t>
            </a:r>
            <a:endParaRPr/>
          </a:p>
        </p:txBody>
      </p:sp>
      <p:sp>
        <p:nvSpPr>
          <p:cNvPr id="241" name="Google Shape;241;p12"/>
          <p:cNvSpPr txBox="1"/>
          <p:nvPr/>
        </p:nvSpPr>
        <p:spPr>
          <a:xfrm>
            <a:off x="4564380" y="434340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Searching for device</a:t>
            </a:r>
            <a:endParaRPr/>
          </a:p>
        </p:txBody>
      </p:sp>
      <p:sp>
        <p:nvSpPr>
          <p:cNvPr id="242" name="Google Shape;242;p12"/>
          <p:cNvSpPr txBox="1"/>
          <p:nvPr/>
        </p:nvSpPr>
        <p:spPr>
          <a:xfrm>
            <a:off x="4564380" y="4709160"/>
            <a:ext cx="306324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Blinks at 2Hz while advertising</a:t>
            </a:r>
            <a:endParaRPr/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Waits for laptop or phone pairing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Auto-switches to Wi-Fi if BLE drops</a:t>
            </a:r>
          </a:p>
        </p:txBody>
      </p:sp>
      <p:sp>
        <p:nvSpPr>
          <p:cNvPr id="243" name="Google Shape;243;p12"/>
          <p:cNvSpPr/>
          <p:nvPr/>
        </p:nvSpPr>
        <p:spPr>
          <a:xfrm>
            <a:off x="8176260" y="2926080"/>
            <a:ext cx="3520440" cy="274320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0E74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9570720" y="3200400"/>
            <a:ext cx="731520" cy="73152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 txBox="1"/>
          <p:nvPr/>
        </p:nvSpPr>
        <p:spPr>
          <a:xfrm>
            <a:off x="8404860" y="406908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FFB020"/>
                </a:solidFill>
                <a:latin typeface="Inter"/>
                <a:ea typeface="Calibri"/>
                <a:cs typeface="Calibri"/>
                <a:sym typeface="Calibri"/>
              </a:rPr>
              <a:t>YELLOW</a:t>
            </a:r>
            <a:endParaRPr/>
          </a:p>
        </p:txBody>
      </p:sp>
      <p:sp>
        <p:nvSpPr>
          <p:cNvPr id="246" name="Google Shape;246;p12"/>
          <p:cNvSpPr txBox="1"/>
          <p:nvPr/>
        </p:nvSpPr>
        <p:spPr>
          <a:xfrm>
            <a:off x="8404860" y="434340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Connected</a:t>
            </a:r>
            <a:endParaRPr/>
          </a:p>
        </p:txBody>
      </p:sp>
      <p:sp>
        <p:nvSpPr>
          <p:cNvPr id="247" name="Google Shape;247;p12"/>
          <p:cNvSpPr txBox="1"/>
          <p:nvPr/>
        </p:nvSpPr>
        <p:spPr>
          <a:xfrm>
            <a:off x="8404860" y="4709160"/>
            <a:ext cx="306324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None/>
            </a:pPr>
            <a:br>
              <a:rPr b="0" i="0" lang="en-US" sz="1400">
                <a:solidFill>
                  <a:srgbClr val="CDD5E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Solid yellow once link is locked</a:t>
            </a:r>
            <a:endParaRPr/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Live cursor &amp; eye twin active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Visible to caregivers across room</a:t>
            </a:r>
          </a:p>
        </p:txBody>
      </p:sp>
      <p:sp>
        <p:nvSpPr>
          <p:cNvPr id="248" name="Google Shape;248;p12"/>
          <p:cNvSpPr/>
          <p:nvPr/>
        </p:nvSpPr>
        <p:spPr>
          <a:xfrm>
            <a:off x="502920" y="5943600"/>
            <a:ext cx="11155680" cy="59436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0E74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 txBox="1"/>
          <p:nvPr/>
        </p:nvSpPr>
        <p:spPr>
          <a:xfrm>
            <a:off x="685800" y="6086305"/>
            <a:ext cx="107899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WHY A STATUS LED?  A paralyzed user can't check a screen. The LED makes device state visible to the caretaker at a glance — from across the room.</a:t>
            </a:r>
            <a:endParaRPr/>
          </a:p>
        </p:txBody>
      </p:sp>
    </p:spTree>
  </p:cSld>
  <p:clrMapOvr>
    <a:masterClrMapping/>
  </p:clrMapOvr>
  <p:transition spd="med" advClick="1">
    <p:fade thruBlk="0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FIRST-RUN SETUP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sz="3600" b="1">
                <a:solidFill>
                  <a:srgbClr val="FFFFFF"/>
                </a:solidFill>
                <a:latin typeface="Inter Display"/>
              </a:rPr>
              <a:t>2–3 seconds to calibrate, every time you need it.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502920" y="21945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5D6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B7C5D6"/>
                </a:solidFill>
                <a:latin typeface="Inter"/>
                <a:ea typeface="Calibri"/>
                <a:cs typeface="Calibri"/>
                <a:sym typeface="Calibri"/>
              </a:rPr>
              <a:t>Every face and every posture is different, so IRIS asks a few quick questions before it hands over the cursor.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1621506" y="3570732"/>
            <a:ext cx="8948684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1278606" y="3246120"/>
            <a:ext cx="685800" cy="6858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1278606" y="3246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A2E"/>
                </a:solidFill>
                <a:latin typeface="Inter"/>
                <a:ea typeface="Arial"/>
                <a:cs typeface="Arial"/>
                <a:sym typeface="Arial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502920" y="4096512"/>
            <a:ext cx="223717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Connect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548640" y="4498848"/>
            <a:ext cx="214573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B7C5D6"/>
              </a:buClr>
              <a:buSzPts val="1600"/>
              <a:buFont typeface="Calibri"/>
              <a:buNone/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Launch Python script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Pairs via BLE or Wi-Fi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Sit still for baseline lock</a:t>
            </a:r>
          </a:p>
        </p:txBody>
      </p:sp>
      <p:sp>
        <p:nvSpPr>
          <p:cNvPr id="265" name="Google Shape;265;p13"/>
          <p:cNvSpPr/>
          <p:nvPr/>
        </p:nvSpPr>
        <p:spPr>
          <a:xfrm>
            <a:off x="3515777" y="3246120"/>
            <a:ext cx="685800" cy="6858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3515777" y="3246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A2E"/>
                </a:solidFill>
                <a:latin typeface="Inter"/>
                <a:ea typeface="Arial"/>
                <a:cs typeface="Arial"/>
                <a:sym typeface="Arial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2740091" y="4096512"/>
            <a:ext cx="223717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User check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2785811" y="4498848"/>
            <a:ext cx="214573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B7C5D6"/>
              </a:buClr>
              <a:buSzPts val="1600"/>
              <a:buFont typeface="Calibri"/>
              <a:buNone/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Detects new vs. saved user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Returning users load profile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Skips ahead in &lt;5 seconds</a:t>
            </a:r>
          </a:p>
        </p:txBody>
      </p:sp>
      <p:sp>
        <p:nvSpPr>
          <p:cNvPr id="269" name="Google Shape;269;p13"/>
          <p:cNvSpPr/>
          <p:nvPr/>
        </p:nvSpPr>
        <p:spPr>
          <a:xfrm>
            <a:off x="5752948" y="3246120"/>
            <a:ext cx="685800" cy="6858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5752948" y="3246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A2E"/>
                </a:solidFill>
                <a:latin typeface="Inter"/>
                <a:ea typeface="Arial"/>
                <a:cs typeface="Arial"/>
                <a:sym typeface="Arial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4977262" y="4096512"/>
            <a:ext cx="223717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Gesture calibrate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5022982" y="4498848"/>
            <a:ext cx="214573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B7C5D6"/>
              </a:buClr>
              <a:buSzPts val="1600"/>
              <a:buFont typeface="Calibri"/>
              <a:buNone/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Nod up/down &amp; tilt left/right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Learns comfortable head range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Sets dead-zone filter</a:t>
            </a:r>
          </a:p>
        </p:txBody>
      </p:sp>
      <p:sp>
        <p:nvSpPr>
          <p:cNvPr id="273" name="Google Shape;273;p13"/>
          <p:cNvSpPr/>
          <p:nvPr/>
        </p:nvSpPr>
        <p:spPr>
          <a:xfrm>
            <a:off x="7990119" y="3246120"/>
            <a:ext cx="685800" cy="6858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7990119" y="3246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A2E"/>
                </a:solidFill>
                <a:latin typeface="Inter"/>
                <a:ea typeface="Arial"/>
                <a:cs typeface="Arial"/>
                <a:sym typeface="Arial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7214433" y="4096512"/>
            <a:ext cx="223717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Blink calibrate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7260153" y="4498848"/>
            <a:ext cx="214573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B7C5D6"/>
              </a:buClr>
              <a:buSzPts val="1600"/>
              <a:buFont typeface="Calibri"/>
              <a:buNone/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Takes just 2–3 seconds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Locks deliberate blink timing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Syncs live Python eye twin</a:t>
            </a:r>
          </a:p>
        </p:txBody>
      </p:sp>
      <p:sp>
        <p:nvSpPr>
          <p:cNvPr id="277" name="Google Shape;277;p13"/>
          <p:cNvSpPr/>
          <p:nvPr/>
        </p:nvSpPr>
        <p:spPr>
          <a:xfrm>
            <a:off x="10227290" y="3246120"/>
            <a:ext cx="685800" cy="6858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10227290" y="3246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A2E"/>
                </a:solidFill>
                <a:latin typeface="Inter"/>
                <a:ea typeface="Arial"/>
                <a:cs typeface="Arial"/>
                <a:sym typeface="Arial"/>
              </a:rPr>
              <a:t>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9451604" y="4096512"/>
            <a:ext cx="223717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Ready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9497324" y="4498848"/>
            <a:ext cx="214573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B7C5D6"/>
              </a:buClr>
              <a:buSzPts val="1600"/>
              <a:buFont typeface="Calibri"/>
              <a:buNone/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Cursor goes live immediately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Drives any OS or web app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Zero further setup needed</a:t>
            </a:r>
          </a:p>
        </p:txBody>
      </p:sp>
      <p:sp>
        <p:nvSpPr>
          <p:cNvPr id="281" name="Google Shape;281;p13"/>
          <p:cNvSpPr/>
          <p:nvPr/>
        </p:nvSpPr>
        <p:spPr>
          <a:xfrm>
            <a:off x="502920" y="5897880"/>
            <a:ext cx="11185855" cy="685800"/>
          </a:xfrm>
          <a:prstGeom prst="roundRect">
            <a:avLst>
              <a:gd fmla="val 10667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777240" y="5943600"/>
            <a:ext cx="1063721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600"/>
              <a:buFont typeface="Calibri"/>
              <a:buNone/>
            </a:pPr>
            <a:r>
              <a:rPr sz="1600" b="1">
                <a:solidFill>
                  <a:srgbClr val="22D3EE"/>
                </a:solidFill>
                <a:latin typeface="Inter"/>
              </a:rPr>
              <a:t>SAVED PROFILE  ·  First-run blink calibration takes just 2–3 seconds. Returning users load their saved profile instantly.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 advClick="1">
    <p:fade thruBlk="0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● PROJECT IRIS</a:t>
            </a:r>
            <a:endParaRPr/>
          </a:p>
        </p:txBody>
      </p:sp>
      <p:sp>
        <p:nvSpPr>
          <p:cNvPr id="288" name="Google Shape;288;p14"/>
          <p:cNvSpPr txBox="1"/>
          <p:nvPr/>
        </p:nvSpPr>
        <p:spPr>
          <a:xfrm>
            <a:off x="502920" y="2743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22D3EE"/>
                </a:solidFill>
                <a:latin typeface="Inter"/>
              </a:rPr>
              <a:t/>
            </a:r>
            <a:endParaRPr/>
          </a:p>
        </p:txBody>
      </p:sp>
      <p:sp>
        <p:nvSpPr>
          <p:cNvPr id="289" name="Google Shape;289;p14"/>
          <p:cNvSpPr txBox="1"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THE APP</a:t>
            </a:r>
            <a:endParaRPr/>
          </a:p>
        </p:txBody>
      </p:sp>
      <p:sp>
        <p:nvSpPr>
          <p:cNvPr id="290" name="Google Shape;290;p14"/>
          <p:cNvSpPr txBox="1"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FFFFFF"/>
                </a:solidFill>
                <a:latin typeface="Inter Display"/>
                <a:ea typeface="Calibri"/>
                <a:cs typeface="Calibri"/>
                <a:sym typeface="Calibri"/>
              </a:rPr>
              <a:t>One app. Everything they need.</a:t>
            </a:r>
            <a:endParaRPr/>
          </a:p>
        </p:txBody>
      </p:sp>
      <p:sp>
        <p:nvSpPr>
          <p:cNvPr id="291" name="Google Shape;291;p14"/>
          <p:cNvSpPr txBox="1"/>
          <p:nvPr/>
        </p:nvSpPr>
        <p:spPr>
          <a:xfrm>
            <a:off x="502920" y="2194560"/>
            <a:ext cx="105156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50" b="0" i="1">
                <a:solidFill>
                  <a:srgbClr val="CDD5E2"/>
                </a:solidFill>
                <a:latin typeface="Inter"/>
              </a:rPr>
              <a:t>Streamlined around 4 main screen tiles — Communication, SOS Emergency, Health Tracker, and a master Settings Hub housing every advanced menu.</a:t>
            </a:r>
            <a:endParaRPr/>
          </a:p>
        </p:txBody>
      </p:sp>
      <p:sp>
        <p:nvSpPr>
          <p:cNvPr id="292" name="Google Shape;292;p14"/>
          <p:cNvSpPr txBox="1"/>
          <p:nvPr/>
        </p:nvSpPr>
        <p:spPr>
          <a:xfrm>
            <a:off x="487680" y="3648456"/>
            <a:ext cx="1828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</a:t>
            </a:r>
            <a:endParaRPr/>
          </a:p>
        </p:txBody>
      </p:sp>
      <p:sp>
        <p:nvSpPr>
          <p:cNvPr id="293" name="Google Shape;293;p14"/>
          <p:cNvSpPr txBox="1"/>
          <p:nvPr/>
        </p:nvSpPr>
        <p:spPr>
          <a:xfrm>
            <a:off x="716280" y="3648456"/>
            <a:ext cx="5532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0">
                <a:solidFill>
                  <a:srgbClr val="FFFFFF"/>
                </a:solidFill>
                <a:latin typeface="Inter"/>
              </a:rPr>
              <a:t>Communication — Water, Rest, Call &amp; AI speech tiles</a:t>
            </a:r>
            <a:endParaRPr/>
          </a:p>
        </p:txBody>
      </p:sp>
      <p:sp>
        <p:nvSpPr>
          <p:cNvPr id="294" name="Google Shape;294;p14"/>
          <p:cNvSpPr txBox="1"/>
          <p:nvPr/>
        </p:nvSpPr>
        <p:spPr>
          <a:xfrm>
            <a:off x="487680" y="4065299"/>
            <a:ext cx="1828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</a:t>
            </a:r>
            <a:endParaRPr/>
          </a:p>
        </p:txBody>
      </p:sp>
      <p:sp>
        <p:nvSpPr>
          <p:cNvPr id="295" name="Google Shape;295;p14"/>
          <p:cNvSpPr txBox="1"/>
          <p:nvPr/>
        </p:nvSpPr>
        <p:spPr>
          <a:xfrm>
            <a:off x="716280" y="4065299"/>
            <a:ext cx="5532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0">
                <a:solidFill>
                  <a:srgbClr val="FFFFFF"/>
                </a:solidFill>
                <a:latin typeface="Inter"/>
              </a:rPr>
              <a:t>SOS Emergency — Instant one-blink caregiver siren</a:t>
            </a:r>
            <a:endParaRPr/>
          </a:p>
        </p:txBody>
      </p:sp>
      <p:sp>
        <p:nvSpPr>
          <p:cNvPr id="296" name="Google Shape;296;p14"/>
          <p:cNvSpPr txBox="1"/>
          <p:nvPr/>
        </p:nvSpPr>
        <p:spPr>
          <a:xfrm>
            <a:off x="502920" y="4503759"/>
            <a:ext cx="1828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</a:t>
            </a:r>
            <a:endParaRPr/>
          </a:p>
        </p:txBody>
      </p:sp>
      <p:sp>
        <p:nvSpPr>
          <p:cNvPr id="297" name="Google Shape;297;p14"/>
          <p:cNvSpPr txBox="1"/>
          <p:nvPr/>
        </p:nvSpPr>
        <p:spPr>
          <a:xfrm>
            <a:off x="731520" y="4503759"/>
            <a:ext cx="5532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0">
                <a:solidFill>
                  <a:srgbClr val="FFFFFF"/>
                </a:solidFill>
                <a:latin typeface="Inter"/>
              </a:rPr>
              <a:t>Health Tracker — Daily comfort, pain &amp; vitals log</a:t>
            </a:r>
            <a:endParaRPr/>
          </a:p>
        </p:txBody>
      </p:sp>
      <p:sp>
        <p:nvSpPr>
          <p:cNvPr id="298" name="Google Shape;298;p14"/>
          <p:cNvSpPr txBox="1"/>
          <p:nvPr/>
        </p:nvSpPr>
        <p:spPr>
          <a:xfrm>
            <a:off x="502920" y="4892266"/>
            <a:ext cx="1828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</a:t>
            </a:r>
            <a:endParaRPr/>
          </a:p>
        </p:txBody>
      </p:sp>
      <p:sp>
        <p:nvSpPr>
          <p:cNvPr id="299" name="Google Shape;299;p14"/>
          <p:cNvSpPr txBox="1"/>
          <p:nvPr/>
        </p:nvSpPr>
        <p:spPr>
          <a:xfrm>
            <a:off x="731520" y="4892266"/>
            <a:ext cx="5532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0">
                <a:solidFill>
                  <a:srgbClr val="FFFFFF"/>
                </a:solidFill>
                <a:latin typeface="Inter"/>
              </a:rPr>
              <a:t>Settings Hub — Entertainment, Health, Sim &amp; IoT menus</a:t>
            </a:r>
            <a:endParaRPr/>
          </a:p>
        </p:txBody>
      </p:sp>
      <p:sp>
        <p:nvSpPr>
          <p:cNvPr id="300" name="Google Shape;300;p14"/>
          <p:cNvSpPr txBox="1"/>
          <p:nvPr/>
        </p:nvSpPr>
        <p:spPr>
          <a:xfrm>
            <a:off x="502920" y="5330726"/>
            <a:ext cx="1828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</a:t>
            </a:r>
            <a:endParaRPr/>
          </a:p>
        </p:txBody>
      </p:sp>
      <p:sp>
        <p:nvSpPr>
          <p:cNvPr id="301" name="Google Shape;301;p14"/>
          <p:cNvSpPr txBox="1"/>
          <p:nvPr/>
        </p:nvSpPr>
        <p:spPr>
          <a:xfrm>
            <a:off x="731520" y="5330726"/>
            <a:ext cx="5532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0">
                <a:solidFill>
                  <a:srgbClr val="FFFFFF"/>
                </a:solidFill>
                <a:latin typeface="Inter"/>
              </a:rPr>
              <a:t>Smart Room IoT — Control lights &amp; fans over Wi-Fi</a:t>
            </a: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6400800" y="3097221"/>
            <a:ext cx="5303520" cy="2411343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14"/>
          <p:cNvPicPr preferRelativeResize="0"/>
          <p:nvPr/>
        </p:nvPicPr>
        <p:blipFill rotWithShape="1">
          <a:blip r:embed="rId3">
            <a:alphaModFix/>
          </a:blip>
          <a:srcRect b="22278" l="0" r="0" t="0"/>
          <a:stretch/>
        </p:blipFill>
        <p:spPr>
          <a:xfrm>
            <a:off x="6463884" y="3166497"/>
            <a:ext cx="5177351" cy="2262366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kx="0" rotWithShape="0" algn="bl" stA="38000" stPos="0" sy="-100000" ky="0"/>
          </a:effectLst>
        </p:spPr>
      </p:pic>
    </p:spTree>
  </p:cSld>
  <p:clrMapOvr>
    <a:masterClrMapping/>
  </p:clrMapOvr>
  <p:transition spd="med" advClick="1">
    <p:fade thruBlk="0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2182"/>
            <a:ext cx="12192000" cy="6854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 advClick="1">
    <p:fade thruBlk="0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6"/>
          <p:cNvSpPr txBox="1"/>
          <p:nvPr/>
        </p:nvSpPr>
        <p:spPr>
          <a:xfrm>
            <a:off x="502920" y="2743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314" name="Google Shape;314;p16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PROJECT IRIS</a:t>
            </a:r>
            <a:endParaRPr/>
          </a:p>
        </p:txBody>
      </p:sp>
      <p:sp>
        <p:nvSpPr>
          <p:cNvPr id="315" name="Google Shape;315;p16"/>
          <p:cNvSpPr txBox="1"/>
          <p:nvPr/>
        </p:nvSpPr>
        <p:spPr>
          <a:xfrm>
            <a:off x="502920" y="777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AI-AUGMENTED COMMUNICATION</a:t>
            </a:r>
            <a:endParaRPr/>
          </a:p>
        </p:txBody>
      </p:sp>
      <p:sp>
        <p:nvSpPr>
          <p:cNvPr id="316" name="Google Shape;316;p16"/>
          <p:cNvSpPr txBox="1"/>
          <p:nvPr/>
        </p:nvSpPr>
        <p:spPr>
          <a:xfrm>
            <a:off x="502920" y="11887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Telegraphic in. Full sentences out.</a:t>
            </a:r>
            <a:endParaRPr/>
          </a:p>
        </p:txBody>
      </p:sp>
      <p:sp>
        <p:nvSpPr>
          <p:cNvPr id="317" name="Google Shape;317;p16"/>
          <p:cNvSpPr txBox="1"/>
          <p:nvPr/>
        </p:nvSpPr>
        <p:spPr>
          <a:xfrm>
            <a:off x="502920" y="21031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Patients with motor fatigue can't spell long sentences. Gemini AI expands telegraphic intent into articulate speech.</a:t>
            </a:r>
            <a:endParaRPr/>
          </a:p>
        </p:txBody>
      </p:sp>
      <p:sp>
        <p:nvSpPr>
          <p:cNvPr id="318" name="Google Shape;318;p16"/>
          <p:cNvSpPr/>
          <p:nvPr/>
        </p:nvSpPr>
        <p:spPr>
          <a:xfrm>
            <a:off x="502920" y="2926080"/>
            <a:ext cx="5303520" cy="338328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0E74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 txBox="1"/>
          <p:nvPr/>
        </p:nvSpPr>
        <p:spPr>
          <a:xfrm>
            <a:off x="731520" y="306324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PATIENT INPUT (telegraphic)</a:t>
            </a:r>
            <a:endParaRPr/>
          </a:p>
        </p:txBody>
      </p:sp>
      <p:sp>
        <p:nvSpPr>
          <p:cNvPr id="320" name="Google Shape;320;p16"/>
          <p:cNvSpPr txBox="1"/>
          <p:nvPr/>
        </p:nvSpPr>
        <p:spPr>
          <a:xfrm>
            <a:off x="731520" y="342900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pain / left shoulder / sharp</a:t>
            </a:r>
            <a:endParaRPr/>
          </a:p>
        </p:txBody>
      </p:sp>
      <p:sp>
        <p:nvSpPr>
          <p:cNvPr id="321" name="Google Shape;321;p16"/>
          <p:cNvSpPr txBox="1"/>
          <p:nvPr/>
        </p:nvSpPr>
        <p:spPr>
          <a:xfrm>
            <a:off x="731520" y="402336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↓ Gemini AI Expansion</a:t>
            </a:r>
            <a:endParaRPr/>
          </a:p>
        </p:txBody>
      </p:sp>
      <p:sp>
        <p:nvSpPr>
          <p:cNvPr id="322" name="Google Shape;322;p16"/>
          <p:cNvSpPr txBox="1"/>
          <p:nvPr/>
        </p:nvSpPr>
        <p:spPr>
          <a:xfrm>
            <a:off x="731520" y="4389120"/>
            <a:ext cx="4846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"I am experiencing a sharp pain in my left shoulder; could you please help me readjust my position and check my pillows?"</a:t>
            </a:r>
            <a:endParaRPr/>
          </a:p>
        </p:txBody>
      </p:sp>
      <p:sp>
        <p:nvSpPr>
          <p:cNvPr id="323" name="Google Shape;323;p16"/>
          <p:cNvSpPr txBox="1"/>
          <p:nvPr/>
        </p:nvSpPr>
        <p:spPr>
          <a:xfrm>
            <a:off x="731520" y="566928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→ Spoken aloud via Web Speech API TTS</a:t>
            </a:r>
            <a:endParaRPr/>
          </a:p>
        </p:txBody>
      </p:sp>
      <p:sp>
        <p:nvSpPr>
          <p:cNvPr id="324" name="Google Shape;324;p16"/>
          <p:cNvSpPr txBox="1"/>
          <p:nvPr/>
        </p:nvSpPr>
        <p:spPr>
          <a:xfrm>
            <a:off x="6355080" y="29260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KEY FEATURES</a:t>
            </a:r>
            <a:endParaRPr/>
          </a:p>
        </p:txBody>
      </p:sp>
      <p:sp>
        <p:nvSpPr>
          <p:cNvPr id="325" name="Google Shape;325;p16"/>
          <p:cNvSpPr txBox="1"/>
          <p:nvPr/>
        </p:nvSpPr>
        <p:spPr>
          <a:xfrm>
            <a:off x="6355080" y="329184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326" name="Google Shape;326;p16"/>
          <p:cNvSpPr txBox="1"/>
          <p:nvPr/>
        </p:nvSpPr>
        <p:spPr>
          <a:xfrm>
            <a:off x="6583680" y="329184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Google Gemini multimodal LLM for expansion</a:t>
            </a:r>
            <a:endParaRPr/>
          </a:p>
        </p:txBody>
      </p:sp>
      <p:sp>
        <p:nvSpPr>
          <p:cNvPr id="327" name="Google Shape;327;p16"/>
          <p:cNvSpPr txBox="1"/>
          <p:nvPr/>
        </p:nvSpPr>
        <p:spPr>
          <a:xfrm>
            <a:off x="6355080" y="365760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328" name="Google Shape;328;p16"/>
          <p:cNvSpPr txBox="1"/>
          <p:nvPr/>
        </p:nvSpPr>
        <p:spPr>
          <a:xfrm>
            <a:off x="6583680" y="36576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Context-aware: time-of-day, history, clinical terms</a:t>
            </a:r>
            <a:endParaRPr/>
          </a:p>
        </p:txBody>
      </p:sp>
      <p:sp>
        <p:nvSpPr>
          <p:cNvPr id="329" name="Google Shape;329;p16"/>
          <p:cNvSpPr txBox="1"/>
          <p:nvPr/>
        </p:nvSpPr>
        <p:spPr>
          <a:xfrm>
            <a:off x="6355080" y="402336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330" name="Google Shape;330;p16"/>
          <p:cNvSpPr txBox="1"/>
          <p:nvPr/>
        </p:nvSpPr>
        <p:spPr>
          <a:xfrm>
            <a:off x="6583680" y="40233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Patient confirms before vocalization (agency)</a:t>
            </a:r>
            <a:endParaRPr/>
          </a:p>
        </p:txBody>
      </p:sp>
      <p:sp>
        <p:nvSpPr>
          <p:cNvPr id="331" name="Google Shape;331;p16"/>
          <p:cNvSpPr txBox="1"/>
          <p:nvPr/>
        </p:nvSpPr>
        <p:spPr>
          <a:xfrm>
            <a:off x="6355080" y="438912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332" name="Google Shape;332;p16"/>
          <p:cNvSpPr txBox="1"/>
          <p:nvPr/>
        </p:nvSpPr>
        <p:spPr>
          <a:xfrm>
            <a:off x="6583680" y="43891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Quick emergency tiles bypass AI for instant alert</a:t>
            </a:r>
            <a:endParaRPr/>
          </a:p>
        </p:txBody>
      </p:sp>
      <p:sp>
        <p:nvSpPr>
          <p:cNvPr id="333" name="Google Shape;333;p16"/>
          <p:cNvSpPr txBox="1"/>
          <p:nvPr/>
        </p:nvSpPr>
        <p:spPr>
          <a:xfrm>
            <a:off x="6355080" y="475488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334" name="Google Shape;334;p16"/>
          <p:cNvSpPr txBox="1"/>
          <p:nvPr/>
        </p:nvSpPr>
        <p:spPr>
          <a:xfrm>
            <a:off x="6583680" y="475488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Hindi + English support</a:t>
            </a:r>
            <a:endParaRPr/>
          </a:p>
        </p:txBody>
      </p:sp>
      <p:sp>
        <p:nvSpPr>
          <p:cNvPr id="335" name="Google Shape;335;p16"/>
          <p:cNvSpPr txBox="1"/>
          <p:nvPr/>
        </p:nvSpPr>
        <p:spPr>
          <a:xfrm>
            <a:off x="6355080" y="512064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336" name="Google Shape;336;p16"/>
          <p:cNvSpPr txBox="1"/>
          <p:nvPr/>
        </p:nvSpPr>
        <p:spPr>
          <a:xfrm>
            <a:off x="6583680" y="512064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Local TTS via Web Speech API — no cloud voice</a:t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6355080" y="548640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338" name="Google Shape;338;p16"/>
          <p:cNvSpPr txBox="1"/>
          <p:nvPr/>
        </p:nvSpPr>
        <p:spPr>
          <a:xfrm>
            <a:off x="6583680" y="54864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Cancel/confirm options always visible</a:t>
            </a:r>
            <a:endParaRPr/>
          </a:p>
        </p:txBody>
      </p:sp>
      <p:sp>
        <p:nvSpPr>
          <p:cNvPr id="339" name="Google Shape;339;p16"/>
          <p:cNvSpPr txBox="1"/>
          <p:nvPr/>
        </p:nvSpPr>
        <p:spPr>
          <a:xfrm>
            <a:off x="6355080" y="585216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340" name="Google Shape;340;p16"/>
          <p:cNvSpPr txBox="1"/>
          <p:nvPr/>
        </p:nvSpPr>
        <p:spPr>
          <a:xfrm>
            <a:off x="6583680" y="58521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Telegraphic mode for severe motor fatigue</a:t>
            </a:r>
            <a:endParaRPr/>
          </a:p>
        </p:txBody>
      </p:sp>
    </p:spTree>
  </p:cSld>
  <p:clrMapOvr>
    <a:masterClrMapping/>
  </p:clrMapOvr>
  <p:transition spd="med" advClick="1">
    <p:fade thruBlk="0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6037"/>
            <a:ext cx="12192000" cy="6854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 advClick="1">
    <p:fade thruBlk="0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73"/>
            <a:ext cx="12192000" cy="6854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 advClick="1">
    <p:fade thruBlk="0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9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THE APP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One click, one message to the caretaker.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502920" y="2194560"/>
            <a:ext cx="5943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Clr>
                <a:srgbClr val="CDD5E2"/>
              </a:buClr>
              <a:buSzPts val="1800"/>
              <a:buFont typeface="Calibri"/>
              <a:buNone/>
            </a:pPr>
            <a:r>
              <a:rPr sz="1400" b="1">
                <a:solidFill>
                  <a:srgbClr val="22D3EE"/>
                </a:solidFill>
                <a:latin typeface="Inter"/>
              </a:rPr>
              <a:t>•  </a:t>
            </a:r>
            <a:r>
              <a:rPr sz="1400" b="0">
                <a:solidFill>
                  <a:srgbClr val="CDD5E2"/>
                </a:solidFill>
                <a:latin typeface="Inter"/>
              </a:rPr>
              <a:t>Desktop &amp; mobile companion app built around large, high-contrast tiles.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Inter"/>
              </a:rPr>
              <a:t>•  </a:t>
            </a:r>
            <a:r>
              <a:rPr sz="1400" b="0">
                <a:solidFill>
                  <a:srgbClr val="CDD5E2"/>
                </a:solidFill>
                <a:latin typeface="Inter"/>
              </a:rPr>
              <a:t>Clicking Water, Rest, or Call sends an instant push alert to the caregiver's phone.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Inter"/>
              </a:rPr>
              <a:t>•  </a:t>
            </a:r>
            <a:r>
              <a:rPr sz="1400" b="0">
                <a:solidFill>
                  <a:srgbClr val="CDD5E2"/>
                </a:solidFill>
                <a:latin typeface="Inter"/>
              </a:rPr>
              <a:t>Lets paralyzed patients ask for daily essentials without speaking a word.</a:t>
            </a:r>
          </a:p>
        </p:txBody>
      </p:sp>
      <p:sp>
        <p:nvSpPr>
          <p:cNvPr id="361" name="Google Shape;361;p19"/>
          <p:cNvSpPr/>
          <p:nvPr/>
        </p:nvSpPr>
        <p:spPr>
          <a:xfrm>
            <a:off x="585216" y="4361688"/>
            <a:ext cx="164592" cy="16459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859536" y="429768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Large accessible tiles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3694176" y="429768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5D6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B7C5D6"/>
                </a:solidFill>
                <a:latin typeface="Inter"/>
                <a:ea typeface="Calibri"/>
                <a:cs typeface="Calibri"/>
                <a:sym typeface="Calibri"/>
              </a:rPr>
              <a:t>Built for impaired motor control.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585216" y="5001768"/>
            <a:ext cx="164592" cy="16459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859536" y="493776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Instant notification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3694176" y="493776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5D6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B7C5D6"/>
                </a:solidFill>
                <a:latin typeface="Inter"/>
                <a:ea typeface="Calibri"/>
                <a:cs typeface="Calibri"/>
                <a:sym typeface="Calibri"/>
              </a:rPr>
              <a:t>Caretaker's phone buzzes within a second.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9"/>
          <p:cNvSpPr/>
          <p:nvPr/>
        </p:nvSpPr>
        <p:spPr>
          <a:xfrm>
            <a:off x="585216" y="5641848"/>
            <a:ext cx="164592" cy="16459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859536" y="557784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Same cursor engine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9"/>
          <p:cNvSpPr/>
          <p:nvPr/>
        </p:nvSpPr>
        <p:spPr>
          <a:xfrm>
            <a:off x="3694176" y="557784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5D6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B7C5D6"/>
                </a:solidFill>
                <a:latin typeface="Inter"/>
                <a:ea typeface="Calibri"/>
                <a:cs typeface="Calibri"/>
                <a:sym typeface="Calibri"/>
              </a:rPr>
              <a:t>No new gestures to learn.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7384472" y="1831088"/>
            <a:ext cx="3920838" cy="2029968"/>
          </a:xfrm>
          <a:prstGeom prst="roundRect">
            <a:avLst>
              <a:gd fmla="val 1351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2182" y="1863547"/>
            <a:ext cx="3865418" cy="192024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9"/>
          <p:cNvSpPr/>
          <p:nvPr/>
        </p:nvSpPr>
        <p:spPr>
          <a:xfrm>
            <a:off x="6766560" y="391363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B1C7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9DB1C7"/>
                </a:solidFill>
                <a:latin typeface="Inter"/>
                <a:ea typeface="Calibri"/>
                <a:cs typeface="Calibri"/>
                <a:sym typeface="Calibri"/>
              </a:rPr>
              <a:t>Companion app — tile grid built for daily care.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6766560" y="4389120"/>
            <a:ext cx="5029200" cy="1371600"/>
          </a:xfrm>
          <a:prstGeom prst="roundRect">
            <a:avLst>
              <a:gd fmla="val 5333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6995160" y="44805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NOTIFICATION FLOW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6995160" y="480060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IRIS cursor</a:t>
            </a:r>
            <a:r>
              <a:rPr lang="en-US" sz="16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  →  </a:t>
            </a:r>
            <a:r>
              <a:rPr lang="en-US" sz="16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tile click</a:t>
            </a:r>
            <a:r>
              <a:rPr lang="en-US" sz="16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  →  </a:t>
            </a:r>
            <a:r>
              <a:rPr b="1" lang="en-US" sz="16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caretaker phone buzzes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 advClick="1">
    <p:fade thruBlk="0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0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● PROJECT IRIS</a:t>
            </a:r>
            <a:endParaRPr/>
          </a:p>
        </p:txBody>
      </p:sp>
      <p:sp>
        <p:nvSpPr>
          <p:cNvPr id="381" name="Google Shape;381;p20"/>
          <p:cNvSpPr txBox="1"/>
          <p:nvPr/>
        </p:nvSpPr>
        <p:spPr>
          <a:xfrm>
            <a:off x="502920" y="2743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22D3EE"/>
                </a:solidFill>
                <a:latin typeface="Inter"/>
              </a:rPr>
              <a:t/>
            </a:r>
            <a:endParaRPr/>
          </a:p>
        </p:txBody>
      </p:sp>
      <p:sp>
        <p:nvSpPr>
          <p:cNvPr id="382" name="Google Shape;382;p20"/>
          <p:cNvSpPr txBox="1"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22D3EE"/>
                </a:solidFill>
                <a:latin typeface="Inter"/>
              </a:rPr>
              <a:t>THE APP  ·  SETTINGS HUB &amp; IOT MENUS</a:t>
            </a:r>
            <a:endParaRPr/>
          </a:p>
        </p:txBody>
      </p:sp>
      <p:sp>
        <p:nvSpPr>
          <p:cNvPr id="383" name="Google Shape;383;p20"/>
          <p:cNvSpPr txBox="1"/>
          <p:nvPr/>
        </p:nvSpPr>
        <p:spPr>
          <a:xfrm>
            <a:off x="502920" y="1280160"/>
            <a:ext cx="109728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Inter Display"/>
              </a:rPr>
              <a:t>Everything inside the Settings Hub.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 txBox="1"/>
          <p:nvPr/>
        </p:nvSpPr>
        <p:spPr>
          <a:xfrm>
            <a:off x="502920" y="2080256"/>
            <a:ext cx="105156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50" b="0" i="1">
                <a:solidFill>
                  <a:srgbClr val="CDD5E2"/>
                </a:solidFill>
                <a:latin typeface="Inter"/>
              </a:rPr>
              <a:t>Entertainment and Health Monitoring are organized inside Settings alongside Simulation, Futuristic IoT, and Bluetooth menus.</a:t>
            </a:r>
            <a:endParaRPr/>
          </a:p>
        </p:txBody>
      </p:sp>
      <p:sp>
        <p:nvSpPr>
          <p:cNvPr id="385" name="Google Shape;385;p20"/>
          <p:cNvSpPr txBox="1"/>
          <p:nvPr/>
        </p:nvSpPr>
        <p:spPr>
          <a:xfrm>
            <a:off x="502920" y="3203263"/>
            <a:ext cx="1828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2D3EE"/>
                </a:solidFill>
                <a:latin typeface="Inter Display"/>
                <a:ea typeface="Calibri"/>
                <a:cs typeface="Calibri"/>
                <a:sym typeface="Calibri"/>
              </a:rPr>
              <a:t>●</a:t>
            </a:r>
            <a:endParaRPr/>
          </a:p>
        </p:txBody>
      </p:sp>
      <p:sp>
        <p:nvSpPr>
          <p:cNvPr id="386" name="Google Shape;386;p20"/>
          <p:cNvSpPr txBox="1"/>
          <p:nvPr/>
        </p:nvSpPr>
        <p:spPr>
          <a:xfrm>
            <a:off x="731519" y="3203263"/>
            <a:ext cx="102412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50" b="0" i="0">
                <a:solidFill>
                  <a:srgbClr val="FFFFFF"/>
                </a:solidFill>
                <a:latin typeface="Inter"/>
              </a:rPr>
              <a:t>Entertainment Menu — 360° Flight Simulator, gaze games, music &amp; audiobooks</a:t>
            </a:r>
            <a:endParaRPr/>
          </a:p>
        </p:txBody>
      </p:sp>
      <p:sp>
        <p:nvSpPr>
          <p:cNvPr id="387" name="Google Shape;387;p20"/>
          <p:cNvSpPr txBox="1"/>
          <p:nvPr/>
        </p:nvSpPr>
        <p:spPr>
          <a:xfrm>
            <a:off x="502920" y="3587311"/>
            <a:ext cx="1828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2D3EE"/>
                </a:solidFill>
                <a:latin typeface="Inter Display"/>
                <a:ea typeface="Calibri"/>
                <a:cs typeface="Calibri"/>
                <a:sym typeface="Calibri"/>
              </a:rPr>
              <a:t>●</a:t>
            </a:r>
            <a:endParaRPr/>
          </a:p>
        </p:txBody>
      </p:sp>
      <p:sp>
        <p:nvSpPr>
          <p:cNvPr id="388" name="Google Shape;388;p20"/>
          <p:cNvSpPr txBox="1"/>
          <p:nvPr/>
        </p:nvSpPr>
        <p:spPr>
          <a:xfrm>
            <a:off x="731520" y="3587311"/>
            <a:ext cx="102412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50" b="0" i="0">
                <a:solidFill>
                  <a:srgbClr val="FFFFFF"/>
                </a:solidFill>
                <a:latin typeface="Inter"/>
              </a:rPr>
              <a:t>Health Monitoring Menu — Detailed clinical vitals logs and symptom history</a:t>
            </a:r>
            <a:endParaRPr/>
          </a:p>
        </p:txBody>
      </p:sp>
      <p:sp>
        <p:nvSpPr>
          <p:cNvPr id="389" name="Google Shape;389;p20"/>
          <p:cNvSpPr txBox="1"/>
          <p:nvPr/>
        </p:nvSpPr>
        <p:spPr>
          <a:xfrm>
            <a:off x="502920" y="3971358"/>
            <a:ext cx="1828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2D3EE"/>
                </a:solidFill>
                <a:latin typeface="Inter Display"/>
                <a:ea typeface="Calibri"/>
                <a:cs typeface="Calibri"/>
                <a:sym typeface="Calibri"/>
              </a:rPr>
              <a:t>●</a:t>
            </a:r>
            <a:endParaRPr/>
          </a:p>
        </p:txBody>
      </p:sp>
      <p:sp>
        <p:nvSpPr>
          <p:cNvPr id="390" name="Google Shape;390;p20"/>
          <p:cNvSpPr txBox="1"/>
          <p:nvPr/>
        </p:nvSpPr>
        <p:spPr>
          <a:xfrm>
            <a:off x="731520" y="3971358"/>
            <a:ext cx="102412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50" b="0" i="0">
                <a:solidFill>
                  <a:srgbClr val="FFFFFF"/>
                </a:solidFill>
                <a:latin typeface="Inter"/>
              </a:rPr>
              <a:t>Simulation Menu — Live Python eye digital twin &amp; interactive room light simulator</a:t>
            </a:r>
            <a:endParaRPr/>
          </a:p>
        </p:txBody>
      </p:sp>
      <p:sp>
        <p:nvSpPr>
          <p:cNvPr id="391" name="Google Shape;391;p20"/>
          <p:cNvSpPr txBox="1"/>
          <p:nvPr/>
        </p:nvSpPr>
        <p:spPr>
          <a:xfrm>
            <a:off x="502920" y="4355406"/>
            <a:ext cx="1828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2D3EE"/>
                </a:solidFill>
                <a:latin typeface="Inter Display"/>
                <a:ea typeface="Calibri"/>
                <a:cs typeface="Calibri"/>
                <a:sym typeface="Calibri"/>
              </a:rPr>
              <a:t>●</a:t>
            </a:r>
            <a:endParaRPr/>
          </a:p>
        </p:txBody>
      </p:sp>
      <p:sp>
        <p:nvSpPr>
          <p:cNvPr id="392" name="Google Shape;392;p20"/>
          <p:cNvSpPr txBox="1"/>
          <p:nvPr/>
        </p:nvSpPr>
        <p:spPr>
          <a:xfrm>
            <a:off x="731520" y="4355406"/>
            <a:ext cx="102412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50" b="0" i="0">
                <a:solidFill>
                  <a:srgbClr val="FFFFFF"/>
                </a:solidFill>
                <a:latin typeface="Inter"/>
              </a:rPr>
              <a:t>Futuristic IoT Menu — Wi-Fi cloud control for room lights, fans &amp; appliances</a:t>
            </a:r>
            <a:endParaRPr/>
          </a:p>
        </p:txBody>
      </p:sp>
      <p:sp>
        <p:nvSpPr>
          <p:cNvPr id="393" name="Google Shape;393;p20"/>
          <p:cNvSpPr txBox="1"/>
          <p:nvPr/>
        </p:nvSpPr>
        <p:spPr>
          <a:xfrm>
            <a:off x="502920" y="4739455"/>
            <a:ext cx="1828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2D3EE"/>
                </a:solidFill>
                <a:latin typeface="Inter Display"/>
                <a:ea typeface="Calibri"/>
                <a:cs typeface="Calibri"/>
                <a:sym typeface="Calibri"/>
              </a:rPr>
              <a:t>●</a:t>
            </a:r>
            <a:endParaRPr/>
          </a:p>
        </p:txBody>
      </p:sp>
      <p:sp>
        <p:nvSpPr>
          <p:cNvPr id="394" name="Google Shape;394;p20"/>
          <p:cNvSpPr txBox="1"/>
          <p:nvPr/>
        </p:nvSpPr>
        <p:spPr>
          <a:xfrm>
            <a:off x="731520" y="4739455"/>
            <a:ext cx="102412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50" b="0" i="0">
                <a:solidFill>
                  <a:srgbClr val="FFFFFF"/>
                </a:solidFill>
                <a:latin typeface="Inter"/>
              </a:rPr>
              <a:t>Bluetooth &amp; Wi-Fi Menu — Wireless failover, sensitivity &amp; user profile tuning</a:t>
            </a:r>
            <a:endParaRPr/>
          </a:p>
        </p:txBody>
      </p:sp>
      <p:sp>
        <p:nvSpPr>
          <p:cNvPr id="395" name="Google Shape;395;p20"/>
          <p:cNvSpPr txBox="1"/>
          <p:nvPr/>
        </p:nvSpPr>
        <p:spPr>
          <a:xfrm>
            <a:off x="502920" y="5123502"/>
            <a:ext cx="1828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2D3EE"/>
                </a:solidFill>
                <a:latin typeface="Inter Display"/>
                <a:ea typeface="Calibri"/>
                <a:cs typeface="Calibri"/>
                <a:sym typeface="Calibri"/>
              </a:rPr>
              <a:t>●</a:t>
            </a:r>
            <a:endParaRPr/>
          </a:p>
        </p:txBody>
      </p:sp>
      <p:sp>
        <p:nvSpPr>
          <p:cNvPr id="396" name="Google Shape;396;p20"/>
          <p:cNvSpPr txBox="1"/>
          <p:nvPr/>
        </p:nvSpPr>
        <p:spPr>
          <a:xfrm>
            <a:off x="731520" y="5123502"/>
            <a:ext cx="102412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50" b="0" i="0">
                <a:solidFill>
                  <a:srgbClr val="FFFFFF"/>
                </a:solidFill>
                <a:latin typeface="Inter"/>
              </a:rPr>
              <a:t>Emergency SOS &amp; Calls — One-blink caretaker alert &amp; family video calling</a:t>
            </a:r>
            <a:endParaRPr/>
          </a:p>
        </p:txBody>
      </p:sp>
    </p:spTree>
  </p:cSld>
  <p:clrMapOvr>
    <a:masterClrMapping/>
  </p:clrMapOvr>
  <p:transition spd="med" advClick="1">
    <p:fade thruBlk="0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1"/>
          <p:cNvSpPr txBox="1"/>
          <p:nvPr/>
        </p:nvSpPr>
        <p:spPr>
          <a:xfrm>
            <a:off x="3370811" y="2426943"/>
            <a:ext cx="4803371" cy="1862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0">
                <a:solidFill>
                  <a:srgbClr val="FFFFFF"/>
                </a:solidFill>
                <a:latin typeface="Inter Display"/>
                <a:ea typeface="Calibri"/>
                <a:cs typeface="Calibri"/>
                <a:sym typeface="Calibri"/>
              </a:rPr>
              <a:t>DEMO</a:t>
            </a:r>
            <a:endParaRPr sz="1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 advClick="1">
    <p:fade thruBlk="0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2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2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2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SYSTEM FLOW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2"/>
          <p:cNvSpPr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sz="3600" b="1">
                <a:solidFill>
                  <a:srgbClr val="FFFFFF"/>
                </a:solidFill>
                <a:latin typeface="Inter Display"/>
              </a:rPr>
              <a:t>Headband → BLE / Wi-Fi → Cursor.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2"/>
          <p:cNvSpPr/>
          <p:nvPr/>
        </p:nvSpPr>
        <p:spPr>
          <a:xfrm>
            <a:off x="502920" y="2083722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5D6"/>
              </a:buClr>
              <a:buSzPts val="2000"/>
              <a:buFont typeface="Calibri"/>
              <a:buNone/>
            </a:pPr>
            <a:r>
              <a:rPr sz="2000" i="1">
                <a:solidFill>
                  <a:srgbClr val="B7C5D6"/>
                </a:solidFill>
                <a:latin typeface="Inter Display"/>
              </a:rPr>
              <a:t>Two-piece magnetic rig, dual wireless link, zero cables to the laptop.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2"/>
          <p:cNvSpPr/>
          <p:nvPr/>
        </p:nvSpPr>
        <p:spPr>
          <a:xfrm>
            <a:off x="586588" y="2880360"/>
            <a:ext cx="3337560" cy="2606040"/>
          </a:xfrm>
          <a:prstGeom prst="roundRect">
            <a:avLst>
              <a:gd fmla="val 2807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2"/>
          <p:cNvSpPr/>
          <p:nvPr/>
        </p:nvSpPr>
        <p:spPr>
          <a:xfrm>
            <a:off x="860908" y="315468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860908" y="3154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A2E"/>
                </a:solidFill>
                <a:latin typeface="Inter"/>
                <a:ea typeface="Arial"/>
                <a:cs typeface="Arial"/>
                <a:sym typeface="Arial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1500988" y="31546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THE WEARABLE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2"/>
          <p:cNvSpPr/>
          <p:nvPr/>
        </p:nvSpPr>
        <p:spPr>
          <a:xfrm>
            <a:off x="860908" y="3840480"/>
            <a:ext cx="2788920" cy="310896"/>
          </a:xfrm>
          <a:prstGeom prst="roundRect">
            <a:avLst>
              <a:gd fmla="val 147059" name="adj"/>
            </a:avLst>
          </a:prstGeom>
          <a:solidFill>
            <a:srgbClr val="050E1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2"/>
          <p:cNvSpPr/>
          <p:nvPr/>
        </p:nvSpPr>
        <p:spPr>
          <a:xfrm>
            <a:off x="860908" y="3840480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50"/>
              <a:buFont typeface="Calibri"/>
              <a:buNone/>
            </a:pPr>
            <a:r>
              <a:rPr sz="1050" b="1">
                <a:solidFill>
                  <a:srgbClr val="22D3EE"/>
                </a:solidFill>
                <a:latin typeface="Inter"/>
              </a:rPr>
              <a:t>IR + IMU + XIAO C3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860908" y="4297680"/>
            <a:ext cx="2788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20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Magnetic-pivot IR sensor on glasses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MPU6050 + XIAO inside Velcro belt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3.7V Li-Po with 12h Deep Sleep</a:t>
            </a:r>
          </a:p>
        </p:txBody>
      </p:sp>
      <p:sp>
        <p:nvSpPr>
          <p:cNvPr id="419" name="Google Shape;419;p22"/>
          <p:cNvSpPr/>
          <p:nvPr/>
        </p:nvSpPr>
        <p:spPr>
          <a:xfrm>
            <a:off x="3969868" y="4046220"/>
            <a:ext cx="338328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2"/>
          <p:cNvSpPr/>
          <p:nvPr/>
        </p:nvSpPr>
        <p:spPr>
          <a:xfrm>
            <a:off x="4216756" y="38816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▶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4427068" y="2880360"/>
            <a:ext cx="3337560" cy="2606040"/>
          </a:xfrm>
          <a:prstGeom prst="roundRect">
            <a:avLst>
              <a:gd fmla="val 2807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4701388" y="315468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4701388" y="3154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A2E"/>
                </a:solidFill>
                <a:latin typeface="Inter"/>
                <a:ea typeface="Arial"/>
                <a:cs typeface="Arial"/>
                <a:sym typeface="Arial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5341468" y="31546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THE BRAIN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4701388" y="3840480"/>
            <a:ext cx="2788920" cy="310896"/>
          </a:xfrm>
          <a:prstGeom prst="roundRect">
            <a:avLst>
              <a:gd fmla="val 147059" name="adj"/>
            </a:avLst>
          </a:prstGeom>
          <a:solidFill>
            <a:srgbClr val="050E1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4701388" y="3840480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sz="1200" b="1">
                <a:solidFill>
                  <a:srgbClr val="22D3EE"/>
                </a:solidFill>
                <a:latin typeface="Inter"/>
              </a:rPr>
              <a:t>XIAO ESP32C3 + 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4701388" y="4297680"/>
            <a:ext cx="2788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20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Reads multi-beam IR &amp; IMU angles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TensorFlow pipeline removes noise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Streams over BLE or Wi-Fi failover</a:t>
            </a:r>
          </a:p>
        </p:txBody>
      </p:sp>
      <p:sp>
        <p:nvSpPr>
          <p:cNvPr id="428" name="Google Shape;428;p22"/>
          <p:cNvSpPr/>
          <p:nvPr/>
        </p:nvSpPr>
        <p:spPr>
          <a:xfrm>
            <a:off x="7810348" y="4046220"/>
            <a:ext cx="338328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8057236" y="38816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▶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8267548" y="2880360"/>
            <a:ext cx="3337560" cy="2606040"/>
          </a:xfrm>
          <a:prstGeom prst="roundRect">
            <a:avLst>
              <a:gd fmla="val 2807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2"/>
          <p:cNvSpPr/>
          <p:nvPr/>
        </p:nvSpPr>
        <p:spPr>
          <a:xfrm>
            <a:off x="8541868" y="315468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2"/>
          <p:cNvSpPr/>
          <p:nvPr/>
        </p:nvSpPr>
        <p:spPr>
          <a:xfrm>
            <a:off x="8541868" y="3154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A2E"/>
                </a:solidFill>
                <a:latin typeface="Inter"/>
                <a:ea typeface="Arial"/>
                <a:cs typeface="Arial"/>
                <a:sym typeface="Arial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9181948" y="31546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THE BRIDGE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8541868" y="3840480"/>
            <a:ext cx="2788920" cy="310896"/>
          </a:xfrm>
          <a:prstGeom prst="roundRect">
            <a:avLst>
              <a:gd fmla="val 147059" name="adj"/>
            </a:avLst>
          </a:prstGeom>
          <a:solidFill>
            <a:srgbClr val="050E1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8541868" y="3840480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sz="1200" b="1">
                <a:solidFill>
                  <a:srgbClr val="22D3EE"/>
                </a:solidFill>
                <a:latin typeface="Inter"/>
              </a:rPr>
              <a:t>BLE / WI-FI → PYTHON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8541868" y="4297680"/>
            <a:ext cx="2788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20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Renders live eye twin in Python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Drives real OS cursor via PyAutoGUI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Controls apps, keyboard &amp; IoT lights</a:t>
            </a:r>
          </a:p>
        </p:txBody>
      </p:sp>
      <p:sp>
        <p:nvSpPr>
          <p:cNvPr id="437" name="Google Shape;437;p22"/>
          <p:cNvSpPr/>
          <p:nvPr/>
        </p:nvSpPr>
        <p:spPr>
          <a:xfrm>
            <a:off x="502920" y="5715000"/>
            <a:ext cx="11185855" cy="777240"/>
          </a:xfrm>
          <a:prstGeom prst="roundRect">
            <a:avLst>
              <a:gd fmla="val 9412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777240" y="5760720"/>
            <a:ext cx="106372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WHY HYBRID?  </a:t>
            </a:r>
            <a:r>
              <a:rPr lang="en-US" sz="14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IR alone can't read head position. IMU alone can't read a blink. Together they cover full cursor control plus click actions.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 advClick="1">
    <p:fade thruBlk="0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3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3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3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100" b="1">
                <a:solidFill>
                  <a:srgbClr val="22D3EE"/>
                </a:solidFill>
                <a:latin typeface="Inter"/>
              </a:rPr>
              <a:t>THE PYTHON BRIDGE &amp; EYE SIMULATION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3"/>
          <p:cNvSpPr/>
          <p:nvPr/>
        </p:nvSpPr>
        <p:spPr>
          <a:xfrm>
            <a:off x="502920" y="12801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The Bridge.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3"/>
          <p:cNvSpPr/>
          <p:nvPr/>
        </p:nvSpPr>
        <p:spPr>
          <a:xfrm>
            <a:off x="502920" y="2194560"/>
            <a:ext cx="5943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2000"/>
              <a:buFont typeface="Calibri"/>
              <a:buNone/>
            </a:pPr>
            <a:r>
              <a:rPr sz="1350" b="1">
                <a:solidFill>
                  <a:srgbClr val="22D3EE"/>
                </a:solidFill>
                <a:latin typeface="Inter"/>
              </a:rPr>
              <a:t>•  </a:t>
            </a:r>
            <a:r>
              <a:rPr sz="1350" b="0">
                <a:solidFill>
                  <a:srgbClr val="CDD5E2"/>
                </a:solidFill>
                <a:latin typeface="Inter"/>
              </a:rPr>
              <a:t>Receives wireless stream from XIAO ESP32C3 (BLE 5.0 + Wi-Fi failover).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22D3EE"/>
                </a:solidFill>
                <a:latin typeface="Inter"/>
              </a:rPr>
              <a:t>•  </a:t>
            </a:r>
            <a:r>
              <a:rPr sz="1350" b="0">
                <a:solidFill>
                  <a:srgbClr val="CDD5E2"/>
                </a:solidFill>
                <a:latin typeface="Inter"/>
              </a:rPr>
              <a:t>Renders a live digital twin of the user's eye blinking in real time.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22D3EE"/>
                </a:solidFill>
                <a:latin typeface="Inter"/>
              </a:rPr>
              <a:t>•  </a:t>
            </a:r>
            <a:r>
              <a:rPr sz="1350" b="0">
                <a:solidFill>
                  <a:srgbClr val="CDD5E2"/>
                </a:solidFill>
                <a:latin typeface="Inter"/>
              </a:rPr>
              <a:t>Maps gestures to OS cursor actions across Windows, macOS &amp; Android.</a:t>
            </a:r>
          </a:p>
        </p:txBody>
      </p:sp>
      <p:sp>
        <p:nvSpPr>
          <p:cNvPr id="449" name="Google Shape;449;p23"/>
          <p:cNvSpPr/>
          <p:nvPr/>
        </p:nvSpPr>
        <p:spPr>
          <a:xfrm>
            <a:off x="502920" y="3657600"/>
            <a:ext cx="786384" cy="329184"/>
          </a:xfrm>
          <a:prstGeom prst="roundRect">
            <a:avLst>
              <a:gd fmla="val 138889" name="adj"/>
            </a:avLst>
          </a:prstGeom>
          <a:solidFill>
            <a:srgbClr val="050E1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3"/>
          <p:cNvSpPr/>
          <p:nvPr/>
        </p:nvSpPr>
        <p:spPr>
          <a:xfrm>
            <a:off x="502920" y="3657600"/>
            <a:ext cx="7863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PYSERIAL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3"/>
          <p:cNvSpPr/>
          <p:nvPr/>
        </p:nvSpPr>
        <p:spPr>
          <a:xfrm>
            <a:off x="1472184" y="3657600"/>
            <a:ext cx="864108" cy="329184"/>
          </a:xfrm>
          <a:prstGeom prst="roundRect">
            <a:avLst>
              <a:gd fmla="val 138889" name="adj"/>
            </a:avLst>
          </a:prstGeom>
          <a:solidFill>
            <a:srgbClr val="050E1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3"/>
          <p:cNvSpPr/>
          <p:nvPr/>
        </p:nvSpPr>
        <p:spPr>
          <a:xfrm>
            <a:off x="1472184" y="3657600"/>
            <a:ext cx="8641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PYAUTOGUI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3"/>
          <p:cNvSpPr/>
          <p:nvPr/>
        </p:nvSpPr>
        <p:spPr>
          <a:xfrm>
            <a:off x="2519172" y="3657600"/>
            <a:ext cx="1175004" cy="329184"/>
          </a:xfrm>
          <a:prstGeom prst="roundRect">
            <a:avLst>
              <a:gd fmla="val 138889" name="adj"/>
            </a:avLst>
          </a:prstGeom>
          <a:solidFill>
            <a:srgbClr val="050E1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3"/>
          <p:cNvSpPr/>
          <p:nvPr/>
        </p:nvSpPr>
        <p:spPr>
          <a:xfrm>
            <a:off x="2519172" y="3657600"/>
            <a:ext cx="11750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00"/>
              <a:buFont typeface="Calibri"/>
              <a:buNone/>
            </a:pPr>
            <a:r>
              <a:rPr sz="900" b="1">
                <a:solidFill>
                  <a:srgbClr val="22D3EE"/>
                </a:solidFill>
                <a:latin typeface="Inter"/>
              </a:rPr>
              <a:t>XIAO BLE / WI-FI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3"/>
          <p:cNvSpPr/>
          <p:nvPr/>
        </p:nvSpPr>
        <p:spPr>
          <a:xfrm>
            <a:off x="502920" y="4206240"/>
            <a:ext cx="5943600" cy="2286000"/>
          </a:xfrm>
          <a:prstGeom prst="roundRect">
            <a:avLst>
              <a:gd fmla="val 3200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3"/>
          <p:cNvSpPr/>
          <p:nvPr/>
        </p:nvSpPr>
        <p:spPr>
          <a:xfrm>
            <a:off x="777240" y="42976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SIGNAL PATH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3"/>
          <p:cNvSpPr/>
          <p:nvPr/>
        </p:nvSpPr>
        <p:spPr>
          <a:xfrm>
            <a:off x="777240" y="477203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Why Python barely changes between USB and Bluetooth.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3"/>
          <p:cNvSpPr/>
          <p:nvPr/>
        </p:nvSpPr>
        <p:spPr>
          <a:xfrm>
            <a:off x="777240" y="5397829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20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XIAO TX → BLE 5.0 / Wi-Fi Failover → Python TensorFlow denoiser.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Updates live eye simulation &amp; executes PyAutoGUI cursor movement.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Includes wired USB-C fallback for zero-drop hospital reliability.</a:t>
            </a:r>
          </a:p>
        </p:txBody>
      </p:sp>
      <p:sp>
        <p:nvSpPr>
          <p:cNvPr id="459" name="Google Shape;459;p23"/>
          <p:cNvSpPr/>
          <p:nvPr/>
        </p:nvSpPr>
        <p:spPr>
          <a:xfrm>
            <a:off x="6986016" y="1271016"/>
            <a:ext cx="4956048" cy="5276088"/>
          </a:xfrm>
          <a:prstGeom prst="roundRect">
            <a:avLst>
              <a:gd fmla="val 554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3"/>
          <p:cNvSpPr/>
          <p:nvPr/>
        </p:nvSpPr>
        <p:spPr>
          <a:xfrm>
            <a:off x="7040880" y="1325880"/>
            <a:ext cx="4846320" cy="5166360"/>
          </a:xfrm>
          <a:prstGeom prst="roundRect">
            <a:avLst>
              <a:gd fmla="val 1132" name="adj"/>
            </a:avLst>
          </a:prstGeom>
          <a:solidFill>
            <a:srgbClr val="050E1C"/>
          </a:solidFill>
          <a:ln cap="flat" cmpd="sng" w="9525">
            <a:solidFill>
              <a:srgbClr val="0E749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3"/>
          <p:cNvSpPr/>
          <p:nvPr/>
        </p:nvSpPr>
        <p:spPr>
          <a:xfrm>
            <a:off x="7223760" y="1463040"/>
            <a:ext cx="448056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sz="1200">
                <a:solidFill>
                  <a:srgbClr val="22D3EE"/>
                </a:solidFill>
                <a:latin typeface="Noto Sans Mono"/>
              </a:rPr>
              <a:t>import serial, pyautogui, tensorflow as tf
from iris_sim import EyeDigitalTwin
link = EyeDigitalTwin.connect(ble='IRIS_XIAO', wifi_backup=True)
eye_ui = EyeDigitalTwin.launch_live_eye_window()
while True:
    pkt = link.read_denoised_ir_imu()  # TensorFlow filter
    eye_ui.sync_blink_and_gaze(pkt.ir_beams)
    c = pkt.command
    if c == 'L':  pyautogui.moveRel(-30, 0)
    if c == 'R':  pyautogui.moveRel(30, 0)
    if c == 'U':  pyautogui.moveRel(0, -30)
    if c == 'D':  pyautogui.moveRel(0, 30)
    if c == 'LC': pyautogui.click()
    if c == 'RC': pyautogui.rightClick()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 advClick="1">
    <p:fade thruBlk="0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3881" y="187445"/>
            <a:ext cx="9144019" cy="648310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4"/>
          <p:cNvSpPr/>
          <p:nvPr/>
        </p:nvSpPr>
        <p:spPr>
          <a:xfrm>
            <a:off x="7593676" y="6171341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Inter Display"/>
                <a:ea typeface="Arial"/>
                <a:cs typeface="Arial"/>
                <a:sym typeface="Arial"/>
              </a:rPr>
              <a:t>Ayushman Choudhary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 advClick="1">
    <p:fade thruBlk="0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5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● PROJECT IRIS</a:t>
            </a:r>
            <a:endParaRPr/>
          </a:p>
        </p:txBody>
      </p:sp>
      <p:sp>
        <p:nvSpPr>
          <p:cNvPr id="473" name="Google Shape;473;p25"/>
          <p:cNvSpPr txBox="1"/>
          <p:nvPr/>
        </p:nvSpPr>
        <p:spPr>
          <a:xfrm>
            <a:off x="502920" y="2743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22D3EE"/>
                </a:solidFill>
                <a:latin typeface="Inter"/>
              </a:rPr>
              <a:t/>
            </a:r>
            <a:endParaRPr/>
          </a:p>
        </p:txBody>
      </p:sp>
      <p:sp>
        <p:nvSpPr>
          <p:cNvPr id="474" name="Google Shape;474;p25"/>
          <p:cNvSpPr txBox="1"/>
          <p:nvPr/>
        </p:nvSpPr>
        <p:spPr>
          <a:xfrm>
            <a:off x="502920" y="827115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HEAD-TO-HEAD</a:t>
            </a:r>
            <a:endParaRPr/>
          </a:p>
        </p:txBody>
      </p:sp>
      <p:sp>
        <p:nvSpPr>
          <p:cNvPr id="475" name="Google Shape;475;p25"/>
          <p:cNvSpPr txBox="1"/>
          <p:nvPr/>
        </p:nvSpPr>
        <p:spPr>
          <a:xfrm>
            <a:off x="502920" y="1169320"/>
            <a:ext cx="109728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>
                <a:solidFill>
                  <a:srgbClr val="FFFFFF"/>
                </a:solidFill>
                <a:latin typeface="Inter Display"/>
                <a:ea typeface="Calibri"/>
                <a:cs typeface="Calibri"/>
                <a:sym typeface="Calibri"/>
              </a:rPr>
              <a:t>Tobii vs IRIS.</a:t>
            </a:r>
            <a:endParaRPr/>
          </a:p>
        </p:txBody>
      </p:sp>
      <p:sp>
        <p:nvSpPr>
          <p:cNvPr id="476" name="Google Shape;476;p25"/>
          <p:cNvSpPr txBox="1"/>
          <p:nvPr/>
        </p:nvSpPr>
        <p:spPr>
          <a:xfrm>
            <a:off x="502920" y="1945171"/>
            <a:ext cx="105156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>
                <a:solidFill>
                  <a:srgbClr val="CDD5E2"/>
                </a:solidFill>
                <a:latin typeface="Inter Display"/>
                <a:ea typeface="Calibri"/>
                <a:cs typeface="Calibri"/>
                <a:sym typeface="Calibri"/>
              </a:rPr>
              <a:t>Same core function. Radically different approach.</a:t>
            </a:r>
            <a:endParaRPr/>
          </a:p>
        </p:txBody>
      </p:sp>
      <p:graphicFrame>
        <p:nvGraphicFramePr>
          <p:cNvPr id="477" name="Google Shape;477;p25"/>
          <p:cNvGraphicFramePr/>
          <p:nvPr/>
        </p:nvGraphicFramePr>
        <p:xfrm>
          <a:off x="548640" y="25863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{034A6B7D-CC44-4E08-9672-35736B992155}</a:tableStyleId>
              </a:tblPr>
              <a:tblGrid>
                <a:gridCol w="2743200"/>
                <a:gridCol w="4206250"/>
                <a:gridCol w="4206250"/>
              </a:tblGrid>
              <a:tr h="58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Feature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>
                        <a:alpha val="470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Tobii Dynavox I-Series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>
                        <a:alpha val="470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Project IRIS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>
                        <a:alpha val="47059"/>
                      </a:srgbClr>
                    </a:solidFill>
                  </a:tcPr>
                </a:tc>
              </a:tr>
              <a:tr h="42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Price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>
                        <a:alpha val="470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₹25,00,000+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>
                        <a:alpha val="470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₹800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>
                        <a:alpha val="47059"/>
                      </a:srgbClr>
                    </a:solidFill>
                  </a:tcPr>
                </a:tc>
              </a:tr>
              <a:tr h="42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Technology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>
                        <a:alpha val="470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Camera-based eye tracking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>
                        <a:alpha val="470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IR reflectance + IMU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>
                        <a:alpha val="47059"/>
                      </a:srgbClr>
                    </a:solidFill>
                  </a:tcPr>
                </a:tc>
              </a:tr>
              <a:tr h="42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Lighting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>
                        <a:alpha val="470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Requires controlled lighting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>
                        <a:alpha val="470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Works in any lighting 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050E1C">
                        <a:alpha val="47059"/>
                      </a:srgbClr>
                    </a:solidFill>
                  </a:tcPr>
                </a:tc>
              </a:tr>
              <a:tr h="42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Setup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>
                        <a:alpha val="470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30+ min, specialist needed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>
                        <a:alpha val="470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 sec, self-calibrating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>
                        <a:alpha val="47059"/>
                      </a:srgbClr>
                    </a:solidFill>
                  </a:tcPr>
                </a:tc>
              </a:tr>
              <a:tr h="42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Portability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>
                        <a:alpha val="470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Dedicated tablet device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>
                        <a:alpha val="470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Works with any laptop/phone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>
                        <a:alpha val="47059"/>
                      </a:srgbClr>
                    </a:solidFill>
                  </a:tcPr>
                </a:tc>
              </a:tr>
              <a:tr h="42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Open Source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>
                        <a:alpha val="470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Closed proprietary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>
                        <a:alpha val="470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Will be Fully open-source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>
                        <a:alpha val="4705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78" name="Google Shape;478;p25"/>
          <p:cNvSpPr/>
          <p:nvPr/>
        </p:nvSpPr>
        <p:spPr>
          <a:xfrm>
            <a:off x="502920" y="5943600"/>
            <a:ext cx="11155680" cy="59436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22D3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5"/>
          <p:cNvSpPr txBox="1"/>
          <p:nvPr/>
        </p:nvSpPr>
        <p:spPr>
          <a:xfrm>
            <a:off x="685800" y="6044738"/>
            <a:ext cx="1078992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FFFFFF"/>
                </a:solidFill>
                <a:latin typeface="Inter Display"/>
                <a:ea typeface="Calibri"/>
                <a:cs typeface="Calibri"/>
                <a:sym typeface="Calibri"/>
              </a:rPr>
              <a:t>99.96% cheaper. Works anywhere. Open for anyone to build.</a:t>
            </a:r>
            <a:endParaRPr/>
          </a:p>
        </p:txBody>
      </p:sp>
      <p:sp>
        <p:nvSpPr>
          <p:cNvPr id="480" name="Google Shape;480;p25"/>
          <p:cNvSpPr txBox="1"/>
          <p:nvPr/>
        </p:nvSpPr>
        <p:spPr>
          <a:xfrm>
            <a:off x="502920" y="6529650"/>
            <a:ext cx="1115568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Source: Tobii Dynavox I-Series retail pricing India, 2024 (incl. import duties); tobii-dynavox.com</a:t>
            </a:r>
            <a:endParaRPr/>
          </a:p>
        </p:txBody>
      </p:sp>
    </p:spTree>
  </p:cSld>
  <p:clrMapOvr>
    <a:masterClrMapping/>
  </p:clrMapOvr>
  <p:transition spd="med" advClick="1">
    <p:fade thruBlk="0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6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6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6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CONCEPT / THEORY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Two signals, one reliable cursor.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502920" y="211143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5D6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B7C5D6"/>
                </a:solidFill>
                <a:latin typeface="Inter"/>
                <a:ea typeface="Calibri"/>
                <a:cs typeface="Calibri"/>
                <a:sym typeface="Calibri"/>
              </a:rPr>
              <a:t>Optical reads your blink. Inertial reads your head. Together, they never fail.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6"/>
          <p:cNvSpPr/>
          <p:nvPr/>
        </p:nvSpPr>
        <p:spPr>
          <a:xfrm>
            <a:off x="472288" y="2926080"/>
            <a:ext cx="5440680" cy="3474720"/>
          </a:xfrm>
          <a:prstGeom prst="roundRect">
            <a:avLst>
              <a:gd fmla="val 2105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6"/>
          <p:cNvSpPr/>
          <p:nvPr/>
        </p:nvSpPr>
        <p:spPr>
          <a:xfrm>
            <a:off x="792328" y="3246120"/>
            <a:ext cx="685800" cy="685800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792328" y="3246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Arial"/>
              <a:buNone/>
            </a:pPr>
            <a:r>
              <a:rPr sz="1800" b="1">
                <a:solidFill>
                  <a:srgbClr val="22D3EE"/>
                </a:solidFill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6"/>
          <p:cNvSpPr/>
          <p:nvPr/>
        </p:nvSpPr>
        <p:spPr>
          <a:xfrm>
            <a:off x="1661008" y="329184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OPTICAL  ·  IR BLINK SENSING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6"/>
          <p:cNvSpPr/>
          <p:nvPr/>
        </p:nvSpPr>
        <p:spPr>
          <a:xfrm>
            <a:off x="1661008" y="3566160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Sclera reflects, eyelid blocks.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6"/>
          <p:cNvSpPr/>
          <p:nvPr/>
        </p:nvSpPr>
        <p:spPr>
          <a:xfrm>
            <a:off x="792328" y="4114800"/>
            <a:ext cx="4937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1800"/>
              <a:buFont typeface="Calibri"/>
              <a:buNone/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Projects multi-directional 950nm IR beams at the eye.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Open sclera reflects strongly; closed eyelid blocks light.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Python/TensorFlow filters noise &amp; mirrors blinks live.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Timing windows separate reflex blinks from clicks.</a:t>
            </a:r>
          </a:p>
        </p:txBody>
      </p:sp>
      <p:sp>
        <p:nvSpPr>
          <p:cNvPr id="497" name="Google Shape;497;p26"/>
          <p:cNvSpPr/>
          <p:nvPr/>
        </p:nvSpPr>
        <p:spPr>
          <a:xfrm>
            <a:off x="792328" y="5897880"/>
            <a:ext cx="3474720" cy="320040"/>
          </a:xfrm>
          <a:prstGeom prst="roundRect">
            <a:avLst>
              <a:gd fmla="val 142857" name="adj"/>
            </a:avLst>
          </a:prstGeom>
          <a:solidFill>
            <a:srgbClr val="0B25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6"/>
          <p:cNvSpPr/>
          <p:nvPr/>
        </p:nvSpPr>
        <p:spPr>
          <a:xfrm>
            <a:off x="792328" y="58978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950nm</a:t>
            </a: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 IR · reflective sensing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6"/>
          <p:cNvSpPr/>
          <p:nvPr/>
        </p:nvSpPr>
        <p:spPr>
          <a:xfrm>
            <a:off x="6278728" y="2926080"/>
            <a:ext cx="5440680" cy="3474720"/>
          </a:xfrm>
          <a:prstGeom prst="roundRect">
            <a:avLst>
              <a:gd fmla="val 2105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6"/>
          <p:cNvSpPr/>
          <p:nvPr/>
        </p:nvSpPr>
        <p:spPr>
          <a:xfrm>
            <a:off x="6598768" y="3246120"/>
            <a:ext cx="685800" cy="685800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6"/>
          <p:cNvSpPr/>
          <p:nvPr/>
        </p:nvSpPr>
        <p:spPr>
          <a:xfrm>
            <a:off x="6598768" y="3246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800"/>
              <a:buFont typeface="Arial"/>
              <a:buNone/>
            </a:pPr>
            <a:r>
              <a:rPr sz="1800" b="1">
                <a:solidFill>
                  <a:srgbClr val="FFB020"/>
                </a:solidFill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6"/>
          <p:cNvSpPr/>
          <p:nvPr/>
        </p:nvSpPr>
        <p:spPr>
          <a:xfrm>
            <a:off x="7467448" y="329184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B020"/>
                </a:solidFill>
                <a:latin typeface="Inter"/>
                <a:ea typeface="Calibri"/>
                <a:cs typeface="Calibri"/>
                <a:sym typeface="Calibri"/>
              </a:rPr>
              <a:t>INERTIAL  ·  HEAD GESTURE SENSING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7467448" y="3566160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Tilt your head, move the cursor.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6"/>
          <p:cNvSpPr/>
          <p:nvPr/>
        </p:nvSpPr>
        <p:spPr>
          <a:xfrm>
            <a:off x="6598768" y="4114800"/>
            <a:ext cx="4937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2000"/>
              <a:buFont typeface="Calibri"/>
              <a:buNone/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MPU6050 6-DOF MEMS reads head pitch and roll at 50Hz.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Nod up/down and tilt left/right steer the cursor smoothly.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Avoids the eye strain of camera-only gaze steering.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Long-blink clutch re-zeros gyro to prevent drift.</a:t>
            </a:r>
          </a:p>
        </p:txBody>
      </p:sp>
      <p:sp>
        <p:nvSpPr>
          <p:cNvPr id="505" name="Google Shape;505;p26"/>
          <p:cNvSpPr/>
          <p:nvPr/>
        </p:nvSpPr>
        <p:spPr>
          <a:xfrm>
            <a:off x="6598768" y="5897880"/>
            <a:ext cx="3474720" cy="320040"/>
          </a:xfrm>
          <a:prstGeom prst="roundRect">
            <a:avLst>
              <a:gd fmla="val 142857" name="adj"/>
            </a:avLst>
          </a:prstGeom>
          <a:solidFill>
            <a:srgbClr val="2A1F0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6598768" y="58978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B020"/>
                </a:solidFill>
                <a:latin typeface="Inter"/>
                <a:ea typeface="Calibri"/>
                <a:cs typeface="Calibri"/>
                <a:sym typeface="Calibri"/>
              </a:rPr>
              <a:t>MPU6050 · 6-DOF MEMS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7" name="Picture 506" descr="icon_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8" y="3246120"/>
            <a:ext cx="685800" cy="685800"/>
          </a:xfrm>
          <a:prstGeom prst="rect">
            <a:avLst/>
          </a:prstGeom>
        </p:spPr>
      </p:pic>
      <p:pic>
        <p:nvPicPr>
          <p:cNvPr id="508" name="Picture 507" descr="icon_im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768" y="3246120"/>
            <a:ext cx="685800" cy="6858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7"/>
          <p:cNvSpPr txBox="1"/>
          <p:nvPr/>
        </p:nvSpPr>
        <p:spPr>
          <a:xfrm>
            <a:off x="502920" y="2743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512" name="Google Shape;512;p27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PROJECT IRIS</a:t>
            </a:r>
            <a:endParaRPr/>
          </a:p>
        </p:txBody>
      </p:sp>
      <p:sp>
        <p:nvSpPr>
          <p:cNvPr id="513" name="Google Shape;513;p27"/>
          <p:cNvSpPr txBox="1"/>
          <p:nvPr/>
        </p:nvSpPr>
        <p:spPr>
          <a:xfrm>
            <a:off x="502920" y="777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REMOTE CAREGIVER ALERTING</a:t>
            </a:r>
            <a:endParaRPr/>
          </a:p>
        </p:txBody>
      </p:sp>
      <p:sp>
        <p:nvSpPr>
          <p:cNvPr id="514" name="Google Shape;514;p27"/>
          <p:cNvSpPr txBox="1"/>
          <p:nvPr/>
        </p:nvSpPr>
        <p:spPr>
          <a:xfrm>
            <a:off x="502920" y="11887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When the patient blinks, the caretaker's phone rings.</a:t>
            </a:r>
            <a:endParaRPr/>
          </a:p>
        </p:txBody>
      </p:sp>
      <p:sp>
        <p:nvSpPr>
          <p:cNvPr id="515" name="Google Shape;515;p27"/>
          <p:cNvSpPr txBox="1"/>
          <p:nvPr/>
        </p:nvSpPr>
        <p:spPr>
          <a:xfrm>
            <a:off x="502920" y="21031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Two-tier push notification pipeline via ntfy.sh — sub-300ms delivery, adblocker-immune.</a:t>
            </a:r>
            <a:endParaRPr/>
          </a:p>
        </p:txBody>
      </p:sp>
      <p:sp>
        <p:nvSpPr>
          <p:cNvPr id="516" name="Google Shape;516;p27"/>
          <p:cNvSpPr txBox="1"/>
          <p:nvPr/>
        </p:nvSpPr>
        <p:spPr>
          <a:xfrm>
            <a:off x="502920" y="2834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TWO-TIER DELIVERY PIPELINE</a:t>
            </a:r>
            <a:endParaRPr/>
          </a:p>
        </p:txBody>
      </p:sp>
      <p:sp>
        <p:nvSpPr>
          <p:cNvPr id="517" name="Google Shape;517;p27"/>
          <p:cNvSpPr/>
          <p:nvPr/>
        </p:nvSpPr>
        <p:spPr>
          <a:xfrm>
            <a:off x="502920" y="3200400"/>
            <a:ext cx="5394960" cy="155448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0E74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7"/>
          <p:cNvSpPr txBox="1"/>
          <p:nvPr/>
        </p:nvSpPr>
        <p:spPr>
          <a:xfrm>
            <a:off x="731520" y="329184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TIER 1 · INTERNAL SERVER PROXY</a:t>
            </a:r>
            <a:endParaRPr/>
          </a:p>
        </p:txBody>
      </p:sp>
      <p:sp>
        <p:nvSpPr>
          <p:cNvPr id="519" name="Google Shape;519;p27"/>
          <p:cNvSpPr txBox="1"/>
          <p:nvPr/>
        </p:nvSpPr>
        <p:spPr>
          <a:xfrm>
            <a:off x="731520" y="36118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Same-origin JSON POST → /api/care/ntfy</a:t>
            </a:r>
            <a:endParaRPr/>
          </a:p>
        </p:txBody>
      </p:sp>
      <p:sp>
        <p:nvSpPr>
          <p:cNvPr id="520" name="Google Shape;520;p27"/>
          <p:cNvSpPr txBox="1"/>
          <p:nvPr/>
        </p:nvSpPr>
        <p:spPr>
          <a:xfrm>
            <a:off x="731520" y="393192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Next.js server forwards JSON alert to ntfy.sh</a:t>
            </a:r>
            <a:endParaRPr/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Bypasses browser ByteString emoji header limits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Prevents client adblockers from blocking SOS alerts</a:t>
            </a:r>
          </a:p>
        </p:txBody>
      </p:sp>
      <p:sp>
        <p:nvSpPr>
          <p:cNvPr id="521" name="Google Shape;521;p27"/>
          <p:cNvSpPr/>
          <p:nvPr/>
        </p:nvSpPr>
        <p:spPr>
          <a:xfrm>
            <a:off x="6309360" y="3200400"/>
            <a:ext cx="5394960" cy="155448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92400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7"/>
          <p:cNvSpPr txBox="1"/>
          <p:nvPr/>
        </p:nvSpPr>
        <p:spPr>
          <a:xfrm>
            <a:off x="6537960" y="329184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TIER 2 · DIRECT CLIENT FALLBACK</a:t>
            </a:r>
            <a:endParaRPr/>
          </a:p>
        </p:txBody>
      </p:sp>
      <p:sp>
        <p:nvSpPr>
          <p:cNvPr id="523" name="Google Shape;523;p27"/>
          <p:cNvSpPr txBox="1"/>
          <p:nvPr/>
        </p:nvSpPr>
        <p:spPr>
          <a:xfrm>
            <a:off x="6537960" y="36118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Direct JSON POST → ntfy.sh</a:t>
            </a:r>
            <a:endParaRPr/>
          </a:p>
        </p:txBody>
      </p:sp>
      <p:sp>
        <p:nvSpPr>
          <p:cNvPr id="524" name="Google Shape;524;p27"/>
          <p:cNvSpPr txBox="1"/>
          <p:nvPr/>
        </p:nvSpPr>
        <p:spPr>
          <a:xfrm>
            <a:off x="6537960" y="393192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Fires directly to ntfy.sh if local proxy is offline</a:t>
            </a:r>
            <a:endParaRPr/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Triggers instant HTML5 desktop &amp; mobile notifications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Guarantees alert delivery across Wi-Fi &amp; cellular</a:t>
            </a:r>
          </a:p>
        </p:txBody>
      </p:sp>
      <p:sp>
        <p:nvSpPr>
          <p:cNvPr id="525" name="Google Shape;525;p27"/>
          <p:cNvSpPr/>
          <p:nvPr/>
        </p:nvSpPr>
        <p:spPr>
          <a:xfrm>
            <a:off x="502920" y="4937760"/>
            <a:ext cx="11155680" cy="182880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22D3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7"/>
          <p:cNvSpPr txBox="1"/>
          <p:nvPr/>
        </p:nvSpPr>
        <p:spPr>
          <a:xfrm>
            <a:off x="731520" y="502920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CAREGIVER RECEPTION</a:t>
            </a:r>
            <a:endParaRPr/>
          </a:p>
        </p:txBody>
      </p:sp>
      <p:sp>
        <p:nvSpPr>
          <p:cNvPr id="527" name="Google Shape;527;p27"/>
          <p:cNvSpPr txBox="1"/>
          <p:nvPr/>
        </p:nvSpPr>
        <p:spPr>
          <a:xfrm>
            <a:off x="731520" y="534924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Phone rings with high-priority alarm bypass</a:t>
            </a:r>
            <a:endParaRPr/>
          </a:p>
        </p:txBody>
      </p:sp>
      <p:sp>
        <p:nvSpPr>
          <p:cNvPr id="528" name="Google Shape;528;p27"/>
          <p:cNvSpPr txBox="1"/>
          <p:nvPr/>
        </p:nvSpPr>
        <p:spPr>
          <a:xfrm>
            <a:off x="777240" y="5760720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529" name="Google Shape;529;p27"/>
          <p:cNvSpPr txBox="1"/>
          <p:nvPr/>
        </p:nvSpPr>
        <p:spPr>
          <a:xfrm>
            <a:off x="1005840" y="57607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Caretaker installs ntfy app (Android/iPhone/Watch)</a:t>
            </a:r>
            <a:endParaRPr/>
          </a:p>
        </p:txBody>
      </p:sp>
      <p:sp>
        <p:nvSpPr>
          <p:cNvPr id="530" name="Google Shape;530;p27"/>
          <p:cNvSpPr txBox="1"/>
          <p:nvPr/>
        </p:nvSpPr>
        <p:spPr>
          <a:xfrm>
            <a:off x="777240" y="600760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531" name="Google Shape;531;p27"/>
          <p:cNvSpPr txBox="1"/>
          <p:nvPr/>
        </p:nvSpPr>
        <p:spPr>
          <a:xfrm>
            <a:off x="1005840" y="600760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Subscribes to unique topic (e.g. iris-care-alert)</a:t>
            </a:r>
            <a:endParaRPr/>
          </a:p>
        </p:txBody>
      </p:sp>
      <p:sp>
        <p:nvSpPr>
          <p:cNvPr id="532" name="Google Shape;532;p27"/>
          <p:cNvSpPr txBox="1"/>
          <p:nvPr/>
        </p:nvSpPr>
        <p:spPr>
          <a:xfrm>
            <a:off x="777240" y="6254496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533" name="Google Shape;533;p27"/>
          <p:cNvSpPr txBox="1"/>
          <p:nvPr/>
        </p:nvSpPr>
        <p:spPr>
          <a:xfrm>
            <a:off x="1005840" y="6254496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Emergency sirens + interactive deep-links</a:t>
            </a:r>
            <a:endParaRPr/>
          </a:p>
        </p:txBody>
      </p:sp>
      <p:sp>
        <p:nvSpPr>
          <p:cNvPr id="534" name="Google Shape;534;p27"/>
          <p:cNvSpPr txBox="1"/>
          <p:nvPr/>
        </p:nvSpPr>
        <p:spPr>
          <a:xfrm>
            <a:off x="777240" y="6501383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535" name="Google Shape;535;p27"/>
          <p:cNvSpPr txBox="1"/>
          <p:nvPr/>
        </p:nvSpPr>
        <p:spPr>
          <a:xfrm>
            <a:off x="1005840" y="6501383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Deep-link opens IRIS Caregiver Live Portal</a:t>
            </a:r>
            <a:endParaRPr/>
          </a:p>
        </p:txBody>
      </p:sp>
      <p:sp>
        <p:nvSpPr>
          <p:cNvPr id="536" name="Google Shape;536;p27"/>
          <p:cNvSpPr txBox="1"/>
          <p:nvPr/>
        </p:nvSpPr>
        <p:spPr>
          <a:xfrm>
            <a:off x="6355080" y="5760720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537" name="Google Shape;537;p27"/>
          <p:cNvSpPr txBox="1"/>
          <p:nvPr/>
        </p:nvSpPr>
        <p:spPr>
          <a:xfrm>
            <a:off x="6583680" y="57607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Mean latency: 280ms over cellular</a:t>
            </a:r>
            <a:endParaRPr/>
          </a:p>
        </p:txBody>
      </p:sp>
      <p:sp>
        <p:nvSpPr>
          <p:cNvPr id="538" name="Google Shape;538;p27"/>
          <p:cNvSpPr txBox="1"/>
          <p:nvPr/>
        </p:nvSpPr>
        <p:spPr>
          <a:xfrm>
            <a:off x="6355080" y="600760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539" name="Google Shape;539;p27"/>
          <p:cNvSpPr txBox="1"/>
          <p:nvPr/>
        </p:nvSpPr>
        <p:spPr>
          <a:xfrm>
            <a:off x="6583680" y="600760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Mean latency: 145ms over WiFi</a:t>
            </a:r>
            <a:endParaRPr/>
          </a:p>
        </p:txBody>
      </p:sp>
      <p:sp>
        <p:nvSpPr>
          <p:cNvPr id="540" name="Google Shape;540;p27"/>
          <p:cNvSpPr txBox="1"/>
          <p:nvPr/>
        </p:nvSpPr>
        <p:spPr>
          <a:xfrm>
            <a:off x="6355080" y="6254496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541" name="Google Shape;541;p27"/>
          <p:cNvSpPr txBox="1"/>
          <p:nvPr/>
        </p:nvSpPr>
        <p:spPr>
          <a:xfrm>
            <a:off x="6583680" y="6254496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87.2% faster caregiver response</a:t>
            </a:r>
            <a:endParaRPr/>
          </a:p>
        </p:txBody>
      </p:sp>
      <p:sp>
        <p:nvSpPr>
          <p:cNvPr id="542" name="Google Shape;542;p27"/>
          <p:cNvSpPr txBox="1"/>
          <p:nvPr/>
        </p:nvSpPr>
        <p:spPr>
          <a:xfrm>
            <a:off x="6355080" y="6501383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543" name="Google Shape;543;p27"/>
          <p:cNvSpPr txBox="1"/>
          <p:nvPr/>
        </p:nvSpPr>
        <p:spPr>
          <a:xfrm>
            <a:off x="6583680" y="6501383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Works on Android, iPhone, Apple Watch</a:t>
            </a:r>
            <a:endParaRPr/>
          </a:p>
        </p:txBody>
      </p:sp>
    </p:spTree>
  </p:cSld>
  <p:clrMapOvr>
    <a:masterClrMapping/>
  </p:clrMapOvr>
  <p:transition spd="med" advClick="1">
    <p:fade thruBlk="0"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8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8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8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BUILD COST &amp; ROADMAP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8"/>
          <p:cNvSpPr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From prototype to public good.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8"/>
          <p:cNvSpPr/>
          <p:nvPr/>
        </p:nvSpPr>
        <p:spPr>
          <a:xfrm>
            <a:off x="502920" y="2468880"/>
            <a:ext cx="5852160" cy="365760"/>
          </a:xfrm>
          <a:prstGeom prst="roundRect">
            <a:avLst>
              <a:gd fmla="val 12500" name="adj"/>
            </a:avLst>
          </a:prstGeom>
          <a:solidFill>
            <a:srgbClr val="050E1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8"/>
          <p:cNvSpPr/>
          <p:nvPr/>
        </p:nvSpPr>
        <p:spPr>
          <a:xfrm>
            <a:off x="685800" y="24688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COMPONENT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8"/>
          <p:cNvSpPr/>
          <p:nvPr/>
        </p:nvSpPr>
        <p:spPr>
          <a:xfrm>
            <a:off x="4160520" y="246888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QTY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8"/>
          <p:cNvSpPr/>
          <p:nvPr/>
        </p:nvSpPr>
        <p:spPr>
          <a:xfrm>
            <a:off x="4983480" y="24688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COST (₹)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8"/>
          <p:cNvSpPr/>
          <p:nvPr/>
        </p:nvSpPr>
        <p:spPr>
          <a:xfrm>
            <a:off x="502920" y="2834640"/>
            <a:ext cx="5852160" cy="320040"/>
          </a:xfrm>
          <a:prstGeom prst="rect">
            <a:avLst/>
          </a:prstGeom>
          <a:solidFill>
            <a:srgbClr val="0F2440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8"/>
          <p:cNvSpPr/>
          <p:nvPr/>
        </p:nvSpPr>
        <p:spPr>
          <a:xfrm>
            <a:off x="685800" y="28346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sz="1100">
                <a:solidFill>
                  <a:srgbClr val="FFFFFF"/>
                </a:solidFill>
                <a:latin typeface="Inter"/>
              </a:rPr>
              <a:t>Seeed Studio XIAO ESP32C3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8"/>
          <p:cNvSpPr/>
          <p:nvPr/>
        </p:nvSpPr>
        <p:spPr>
          <a:xfrm>
            <a:off x="4160520" y="283464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8"/>
          <p:cNvSpPr/>
          <p:nvPr/>
        </p:nvSpPr>
        <p:spPr>
          <a:xfrm>
            <a:off x="4983480" y="283464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250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8"/>
          <p:cNvSpPr/>
          <p:nvPr/>
        </p:nvSpPr>
        <p:spPr>
          <a:xfrm>
            <a:off x="502920" y="3154680"/>
            <a:ext cx="5852160" cy="320040"/>
          </a:xfrm>
          <a:prstGeom prst="rect">
            <a:avLst/>
          </a:prstGeom>
          <a:solidFill>
            <a:srgbClr val="050E1C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8"/>
          <p:cNvSpPr/>
          <p:nvPr/>
        </p:nvSpPr>
        <p:spPr>
          <a:xfrm>
            <a:off x="685800" y="31546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sz="1100">
                <a:solidFill>
                  <a:srgbClr val="FFFFFF"/>
                </a:solidFill>
                <a:latin typeface="Inter"/>
              </a:rPr>
              <a:t>MPU6050 6-DOF Sensor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8"/>
          <p:cNvSpPr/>
          <p:nvPr/>
        </p:nvSpPr>
        <p:spPr>
          <a:xfrm>
            <a:off x="4160520" y="31546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8"/>
          <p:cNvSpPr/>
          <p:nvPr/>
        </p:nvSpPr>
        <p:spPr>
          <a:xfrm>
            <a:off x="4983480" y="315468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120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8"/>
          <p:cNvSpPr/>
          <p:nvPr/>
        </p:nvSpPr>
        <p:spPr>
          <a:xfrm>
            <a:off x="502920" y="3474720"/>
            <a:ext cx="5852160" cy="320040"/>
          </a:xfrm>
          <a:prstGeom prst="rect">
            <a:avLst/>
          </a:prstGeom>
          <a:solidFill>
            <a:srgbClr val="0F2440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8"/>
          <p:cNvSpPr/>
          <p:nvPr/>
        </p:nvSpPr>
        <p:spPr>
          <a:xfrm>
            <a:off x="685800" y="34747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sz="1100">
                <a:solidFill>
                  <a:srgbClr val="FFFFFF"/>
                </a:solidFill>
                <a:latin typeface="Inter"/>
              </a:rPr>
              <a:t>Multi-Beam IR Sensor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8"/>
          <p:cNvSpPr/>
          <p:nvPr/>
        </p:nvSpPr>
        <p:spPr>
          <a:xfrm>
            <a:off x="4160520" y="34747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8"/>
          <p:cNvSpPr/>
          <p:nvPr/>
        </p:nvSpPr>
        <p:spPr>
          <a:xfrm>
            <a:off x="4983480" y="34747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100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8"/>
          <p:cNvSpPr/>
          <p:nvPr/>
        </p:nvSpPr>
        <p:spPr>
          <a:xfrm>
            <a:off x="502920" y="3794760"/>
            <a:ext cx="5852160" cy="320040"/>
          </a:xfrm>
          <a:prstGeom prst="rect">
            <a:avLst/>
          </a:prstGeom>
          <a:solidFill>
            <a:srgbClr val="050E1C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8"/>
          <p:cNvSpPr/>
          <p:nvPr/>
        </p:nvSpPr>
        <p:spPr>
          <a:xfrm>
            <a:off x="685800" y="37947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sz="1100">
                <a:solidFill>
                  <a:srgbClr val="FFFFFF"/>
                </a:solidFill>
                <a:latin typeface="Inter"/>
              </a:rPr>
              <a:t>Magnet + Nut-Bolt Pivot + RGB LED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8"/>
          <p:cNvSpPr/>
          <p:nvPr/>
        </p:nvSpPr>
        <p:spPr>
          <a:xfrm>
            <a:off x="4160520" y="379476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1 set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8"/>
          <p:cNvSpPr/>
          <p:nvPr/>
        </p:nvSpPr>
        <p:spPr>
          <a:xfrm>
            <a:off x="4983480" y="379476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75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8"/>
          <p:cNvSpPr/>
          <p:nvPr/>
        </p:nvSpPr>
        <p:spPr>
          <a:xfrm>
            <a:off x="502920" y="4114800"/>
            <a:ext cx="5852160" cy="320040"/>
          </a:xfrm>
          <a:prstGeom prst="rect">
            <a:avLst/>
          </a:prstGeom>
          <a:solidFill>
            <a:srgbClr val="0F2440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8"/>
          <p:cNvSpPr/>
          <p:nvPr/>
        </p:nvSpPr>
        <p:spPr>
          <a:xfrm>
            <a:off x="685800" y="41148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sz="1100">
                <a:solidFill>
                  <a:srgbClr val="FFFFFF"/>
                </a:solidFill>
                <a:latin typeface="Inter"/>
              </a:rPr>
              <a:t>3.7V 1000mAh Li-Po (Direct XIAO Charge)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8"/>
          <p:cNvSpPr/>
          <p:nvPr/>
        </p:nvSpPr>
        <p:spPr>
          <a:xfrm>
            <a:off x="4160520" y="411480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8"/>
          <p:cNvSpPr/>
          <p:nvPr/>
        </p:nvSpPr>
        <p:spPr>
          <a:xfrm>
            <a:off x="4983480" y="411480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100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8"/>
          <p:cNvSpPr/>
          <p:nvPr/>
        </p:nvSpPr>
        <p:spPr>
          <a:xfrm>
            <a:off x="502920" y="4434840"/>
            <a:ext cx="5852160" cy="320040"/>
          </a:xfrm>
          <a:prstGeom prst="rect">
            <a:avLst/>
          </a:prstGeom>
          <a:solidFill>
            <a:srgbClr val="050E1C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8"/>
          <p:cNvSpPr/>
          <p:nvPr/>
        </p:nvSpPr>
        <p:spPr>
          <a:xfrm>
            <a:off x="685800" y="44348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sz="1100">
                <a:solidFill>
                  <a:srgbClr val="FFFFFF"/>
                </a:solidFill>
                <a:latin typeface="Inter"/>
              </a:rPr>
              <a:t>Breathable Velcro Belt + Glasses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8"/>
          <p:cNvSpPr/>
          <p:nvPr/>
        </p:nvSpPr>
        <p:spPr>
          <a:xfrm>
            <a:off x="4160520" y="443484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1 set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8"/>
          <p:cNvSpPr/>
          <p:nvPr/>
        </p:nvSpPr>
        <p:spPr>
          <a:xfrm>
            <a:off x="4983480" y="443484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130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8"/>
          <p:cNvSpPr/>
          <p:nvPr/>
        </p:nvSpPr>
        <p:spPr>
          <a:xfrm>
            <a:off x="502920" y="4754880"/>
            <a:ext cx="5852160" cy="320040"/>
          </a:xfrm>
          <a:prstGeom prst="rect">
            <a:avLst/>
          </a:prstGeom>
          <a:solidFill>
            <a:srgbClr val="0F2440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8"/>
          <p:cNvSpPr/>
          <p:nvPr/>
        </p:nvSpPr>
        <p:spPr>
          <a:xfrm>
            <a:off x="685800" y="47548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sz="1100">
                <a:solidFill>
                  <a:srgbClr val="FFFFFF"/>
                </a:solidFill>
                <a:latin typeface="Inter"/>
              </a:rPr>
              <a:t>Wires + Passive Components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8"/>
          <p:cNvSpPr/>
          <p:nvPr/>
        </p:nvSpPr>
        <p:spPr>
          <a:xfrm>
            <a:off x="4160520" y="47548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8"/>
          <p:cNvSpPr/>
          <p:nvPr/>
        </p:nvSpPr>
        <p:spPr>
          <a:xfrm>
            <a:off x="4983480" y="475488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25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8"/>
          <p:cNvSpPr/>
          <p:nvPr/>
        </p:nvSpPr>
        <p:spPr>
          <a:xfrm>
            <a:off x="502920" y="5212080"/>
            <a:ext cx="5852160" cy="1143000"/>
          </a:xfrm>
          <a:prstGeom prst="roundRect">
            <a:avLst>
              <a:gd fmla="val 6400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8"/>
          <p:cNvSpPr/>
          <p:nvPr/>
        </p:nvSpPr>
        <p:spPr>
          <a:xfrm>
            <a:off x="777240" y="5303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TOTAL BUILD COST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8"/>
          <p:cNvSpPr/>
          <p:nvPr/>
        </p:nvSpPr>
        <p:spPr>
          <a:xfrm>
            <a:off x="777240" y="557784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lang="en-US" sz="38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₹800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8"/>
          <p:cNvSpPr/>
          <p:nvPr/>
        </p:nvSpPr>
        <p:spPr>
          <a:xfrm>
            <a:off x="3703320" y="5715000"/>
            <a:ext cx="2377440" cy="384048"/>
          </a:xfrm>
          <a:prstGeom prst="roundRect">
            <a:avLst>
              <a:gd fmla="val 119048" name="adj"/>
            </a:avLst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8"/>
          <p:cNvSpPr/>
          <p:nvPr/>
        </p:nvSpPr>
        <p:spPr>
          <a:xfrm>
            <a:off x="3703320" y="57150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B1A2E"/>
                </a:solidFill>
                <a:latin typeface="Inter"/>
                <a:ea typeface="Calibri"/>
                <a:cs typeface="Calibri"/>
                <a:sym typeface="Calibri"/>
              </a:rPr>
              <a:t>99% CHEAPER vs ₹1.5L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8"/>
          <p:cNvSpPr/>
          <p:nvPr/>
        </p:nvSpPr>
        <p:spPr>
          <a:xfrm>
            <a:off x="6858000" y="246888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ROADMAP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8"/>
          <p:cNvSpPr/>
          <p:nvPr/>
        </p:nvSpPr>
        <p:spPr>
          <a:xfrm>
            <a:off x="6858000" y="2834640"/>
            <a:ext cx="4846320" cy="1143000"/>
          </a:xfrm>
          <a:prstGeom prst="roundRect">
            <a:avLst>
              <a:gd fmla="val 6400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8"/>
          <p:cNvSpPr/>
          <p:nvPr/>
        </p:nvSpPr>
        <p:spPr>
          <a:xfrm>
            <a:off x="7086600" y="3127248"/>
            <a:ext cx="228600" cy="228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8"/>
          <p:cNvSpPr/>
          <p:nvPr/>
        </p:nvSpPr>
        <p:spPr>
          <a:xfrm>
            <a:off x="7452360" y="29718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TODAY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8"/>
          <p:cNvSpPr/>
          <p:nvPr/>
        </p:nvSpPr>
        <p:spPr>
          <a:xfrm>
            <a:off x="7452360" y="326440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sz="1300" b="1">
                <a:solidFill>
                  <a:srgbClr val="FFFFFF"/>
                </a:solidFill>
                <a:latin typeface="Inter"/>
              </a:rPr>
              <a:t>Working XIAO + Magnetic Glasses Prototype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8"/>
          <p:cNvSpPr/>
          <p:nvPr/>
        </p:nvSpPr>
        <p:spPr>
          <a:xfrm>
            <a:off x="7452360" y="354787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sz="1400">
                <a:solidFill>
                  <a:srgbClr val="CDD5E2"/>
                </a:solidFill>
                <a:latin typeface="Inter"/>
              </a:rPr>
              <a:t>• Functional ₹800 rig with live Python eye twin &amp; 2–3s setup.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8"/>
          <p:cNvSpPr/>
          <p:nvPr/>
        </p:nvSpPr>
        <p:spPr>
          <a:xfrm>
            <a:off x="6858000" y="4114800"/>
            <a:ext cx="4846320" cy="1143000"/>
          </a:xfrm>
          <a:prstGeom prst="roundRect">
            <a:avLst>
              <a:gd fmla="val 6400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8"/>
          <p:cNvSpPr/>
          <p:nvPr/>
        </p:nvSpPr>
        <p:spPr>
          <a:xfrm>
            <a:off x="7086600" y="4407408"/>
            <a:ext cx="228600" cy="22860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8"/>
          <p:cNvSpPr/>
          <p:nvPr/>
        </p:nvSpPr>
        <p:spPr>
          <a:xfrm>
            <a:off x="7452360" y="4251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B020"/>
                </a:solidFill>
                <a:latin typeface="Inter"/>
                <a:ea typeface="Calibri"/>
                <a:cs typeface="Calibri"/>
                <a:sym typeface="Calibri"/>
              </a:rPr>
              <a:t>NEXT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8"/>
          <p:cNvSpPr/>
          <p:nvPr/>
        </p:nvSpPr>
        <p:spPr>
          <a:xfrm>
            <a:off x="7452360" y="454456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sz="1300" b="1">
                <a:solidFill>
                  <a:srgbClr val="FFFFFF"/>
                </a:solidFill>
                <a:latin typeface="Inter"/>
              </a:rPr>
              <a:t>Custom Flex-PCB + 3D Enclosure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8"/>
          <p:cNvSpPr/>
          <p:nvPr/>
        </p:nvSpPr>
        <p:spPr>
          <a:xfrm>
            <a:off x="7452360" y="482803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100"/>
              <a:buFont typeface="Calibri"/>
              <a:buNone/>
            </a:pPr>
            <a:r>
              <a:rPr sz="1100">
                <a:solidFill>
                  <a:srgbClr val="CDD5E2"/>
                </a:solidFill>
                <a:latin typeface="Inter"/>
              </a:rPr>
              <a:t>• Will miniaturize casing for hospital &amp; NGO field validation.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8"/>
          <p:cNvSpPr/>
          <p:nvPr/>
        </p:nvSpPr>
        <p:spPr>
          <a:xfrm>
            <a:off x="6858000" y="5394960"/>
            <a:ext cx="4846320" cy="1143000"/>
          </a:xfrm>
          <a:prstGeom prst="roundRect">
            <a:avLst>
              <a:gd fmla="val 6400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8"/>
          <p:cNvSpPr/>
          <p:nvPr/>
        </p:nvSpPr>
        <p:spPr>
          <a:xfrm>
            <a:off x="7086600" y="5687568"/>
            <a:ext cx="228600" cy="228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8"/>
          <p:cNvSpPr/>
          <p:nvPr/>
        </p:nvSpPr>
        <p:spPr>
          <a:xfrm>
            <a:off x="7452360" y="55321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MISSION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8"/>
          <p:cNvSpPr/>
          <p:nvPr/>
        </p:nvSpPr>
        <p:spPr>
          <a:xfrm>
            <a:off x="7452360" y="582472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sz="1300" b="1">
                <a:solidFill>
                  <a:srgbClr val="FFFFFF"/>
                </a:solidFill>
                <a:latin typeface="Inter"/>
              </a:rPr>
              <a:t>Open Hardware &amp; Future Rollout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8"/>
          <p:cNvSpPr/>
          <p:nvPr/>
        </p:nvSpPr>
        <p:spPr>
          <a:xfrm>
            <a:off x="7452360" y="610819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100"/>
              <a:buFont typeface="Calibri"/>
              <a:buNone/>
            </a:pPr>
            <a:r>
              <a:rPr sz="1100">
                <a:solidFill>
                  <a:srgbClr val="CDD5E2"/>
                </a:solidFill>
                <a:latin typeface="Inter"/>
              </a:rPr>
              <a:t>• Will distribute through hospitals &amp; NGOs at ₹3,000–₹3,500.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 advClick="1">
    <p:fade thruBlk="0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9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9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9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FUTURE SCOPE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9"/>
          <p:cNvSpPr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sz="3600" b="1">
                <a:solidFill>
                  <a:srgbClr val="FFFFFF"/>
                </a:solidFill>
                <a:latin typeface="Inter Display"/>
              </a:rPr>
              <a:t>What IRIS will become.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9"/>
          <p:cNvSpPr/>
          <p:nvPr/>
        </p:nvSpPr>
        <p:spPr>
          <a:xfrm>
            <a:off x="502920" y="21945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5D6"/>
              </a:buClr>
              <a:buSzPts val="1400"/>
              <a:buFont typeface="Calibri"/>
              <a:buNone/>
            </a:pPr>
            <a:r>
              <a:rPr sz="1400" i="1">
                <a:solidFill>
                  <a:srgbClr val="B7C5D6"/>
                </a:solidFill>
                <a:latin typeface="Inter"/>
              </a:rPr>
              <a:t>Each current prototype limitation has a concrete engineering upgrade in our future roadmap.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9"/>
          <p:cNvSpPr/>
          <p:nvPr/>
        </p:nvSpPr>
        <p:spPr>
          <a:xfrm>
            <a:off x="472288" y="2759820"/>
            <a:ext cx="5440680" cy="1828800"/>
          </a:xfrm>
          <a:prstGeom prst="roundRect">
            <a:avLst>
              <a:gd fmla="val 4000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9"/>
          <p:cNvSpPr/>
          <p:nvPr/>
        </p:nvSpPr>
        <p:spPr>
          <a:xfrm>
            <a:off x="746608" y="3079860"/>
            <a:ext cx="640080" cy="640080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9"/>
          <p:cNvSpPr/>
          <p:nvPr/>
        </p:nvSpPr>
        <p:spPr>
          <a:xfrm>
            <a:off x="746608" y="30798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Arial"/>
              <a:buNone/>
            </a:pPr>
            <a:r>
              <a:rPr sz="1800" b="1">
                <a:solidFill>
                  <a:srgbClr val="22D3EE"/>
                </a:solidFill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9"/>
          <p:cNvSpPr/>
          <p:nvPr/>
        </p:nvSpPr>
        <p:spPr>
          <a:xfrm>
            <a:off x="1569568" y="3052428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MULTI-USER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9"/>
          <p:cNvSpPr/>
          <p:nvPr/>
        </p:nvSpPr>
        <p:spPr>
          <a:xfrm>
            <a:off x="1569568" y="3326748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Profiles for the whole household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9"/>
          <p:cNvSpPr/>
          <p:nvPr/>
        </p:nvSpPr>
        <p:spPr>
          <a:xfrm>
            <a:off x="746608" y="3765660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Per-user calibration profiles saved on laptop/cloud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Instant household switching in under 5 seconds</a:t>
            </a:r>
          </a:p>
        </p:txBody>
      </p:sp>
      <p:sp>
        <p:nvSpPr>
          <p:cNvPr id="622" name="Google Shape;622;p29"/>
          <p:cNvSpPr/>
          <p:nvPr/>
        </p:nvSpPr>
        <p:spPr>
          <a:xfrm>
            <a:off x="6278728" y="2759820"/>
            <a:ext cx="5440680" cy="1828800"/>
          </a:xfrm>
          <a:prstGeom prst="roundRect">
            <a:avLst>
              <a:gd fmla="val 4000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9"/>
          <p:cNvSpPr/>
          <p:nvPr/>
        </p:nvSpPr>
        <p:spPr>
          <a:xfrm>
            <a:off x="6553048" y="3079860"/>
            <a:ext cx="640080" cy="640080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9"/>
          <p:cNvSpPr/>
          <p:nvPr/>
        </p:nvSpPr>
        <p:spPr>
          <a:xfrm>
            <a:off x="6553048" y="30798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Arial"/>
              <a:buNone/>
            </a:pPr>
            <a:r>
              <a:rPr sz="1800" b="1">
                <a:solidFill>
                  <a:srgbClr val="22D3EE"/>
                </a:solidFill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9"/>
          <p:cNvSpPr/>
          <p:nvPr/>
        </p:nvSpPr>
        <p:spPr>
          <a:xfrm>
            <a:off x="7376008" y="3052428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PREDICTIVE TEXT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9"/>
          <p:cNvSpPr/>
          <p:nvPr/>
        </p:nvSpPr>
        <p:spPr>
          <a:xfrm>
            <a:off x="7376008" y="3326748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AI-powered autocomplete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9"/>
          <p:cNvSpPr/>
          <p:nvPr/>
        </p:nvSpPr>
        <p:spPr>
          <a:xfrm>
            <a:off x="6553048" y="3765660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On-screen keyboard with AI next-word autocomplete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Will cut blink-typing effort and time by over 60%</a:t>
            </a:r>
          </a:p>
        </p:txBody>
      </p:sp>
      <p:sp>
        <p:nvSpPr>
          <p:cNvPr id="628" name="Google Shape;628;p29"/>
          <p:cNvSpPr/>
          <p:nvPr/>
        </p:nvSpPr>
        <p:spPr>
          <a:xfrm>
            <a:off x="472288" y="4771500"/>
            <a:ext cx="5440680" cy="1828800"/>
          </a:xfrm>
          <a:prstGeom prst="roundRect">
            <a:avLst>
              <a:gd fmla="val 4000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9"/>
          <p:cNvSpPr/>
          <p:nvPr/>
        </p:nvSpPr>
        <p:spPr>
          <a:xfrm>
            <a:off x="746608" y="5091540"/>
            <a:ext cx="640080" cy="640080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9"/>
          <p:cNvSpPr/>
          <p:nvPr/>
        </p:nvSpPr>
        <p:spPr>
          <a:xfrm>
            <a:off x="746608" y="50915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Arial"/>
              <a:buNone/>
            </a:pPr>
            <a:r>
              <a:rPr sz="1800" b="1">
                <a:solidFill>
                  <a:srgbClr val="22D3EE"/>
                </a:solidFill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9"/>
          <p:cNvSpPr/>
          <p:nvPr/>
        </p:nvSpPr>
        <p:spPr>
          <a:xfrm>
            <a:off x="1569568" y="5064108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VOICE SYNTHESIS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9"/>
          <p:cNvSpPr/>
          <p:nvPr/>
        </p:nvSpPr>
        <p:spPr>
          <a:xfrm>
            <a:off x="1569568" y="5338428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Speech for non-verbal users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9"/>
          <p:cNvSpPr/>
          <p:nvPr/>
        </p:nvSpPr>
        <p:spPr>
          <a:xfrm>
            <a:off x="746608" y="5777340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Converts telegraphic blinks into natural spoken voice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Will support regional Indian languages for calls</a:t>
            </a:r>
          </a:p>
        </p:txBody>
      </p:sp>
      <p:sp>
        <p:nvSpPr>
          <p:cNvPr id="634" name="Google Shape;634;p29"/>
          <p:cNvSpPr/>
          <p:nvPr/>
        </p:nvSpPr>
        <p:spPr>
          <a:xfrm>
            <a:off x="6278728" y="4771500"/>
            <a:ext cx="5440680" cy="1828800"/>
          </a:xfrm>
          <a:prstGeom prst="roundRect">
            <a:avLst>
              <a:gd fmla="val 4000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9"/>
          <p:cNvSpPr/>
          <p:nvPr/>
        </p:nvSpPr>
        <p:spPr>
          <a:xfrm>
            <a:off x="6553048" y="5091540"/>
            <a:ext cx="640080" cy="640080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9"/>
          <p:cNvSpPr/>
          <p:nvPr/>
        </p:nvSpPr>
        <p:spPr>
          <a:xfrm>
            <a:off x="6553048" y="50915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Arial"/>
              <a:buNone/>
            </a:pPr>
            <a:r>
              <a:rPr sz="1800" b="1">
                <a:solidFill>
                  <a:srgbClr val="22D3EE"/>
                </a:solidFill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9"/>
          <p:cNvSpPr/>
          <p:nvPr/>
        </p:nvSpPr>
        <p:spPr>
          <a:xfrm>
            <a:off x="7376008" y="5064108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CLINICAL PILOT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9"/>
          <p:cNvSpPr/>
          <p:nvPr/>
        </p:nvSpPr>
        <p:spPr>
          <a:xfrm>
            <a:off x="7376008" y="5338428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Hospital validation program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9"/>
          <p:cNvSpPr/>
          <p:nvPr/>
        </p:nvSpPr>
        <p:spPr>
          <a:xfrm>
            <a:off x="6553048" y="5777340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Upcoming pilot trials with neurology wards &amp; NGOs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Real-patient telemetry will refine blink thresholds</a:t>
            </a:r>
          </a:p>
        </p:txBody>
      </p:sp>
      <p:pic>
        <p:nvPicPr>
          <p:cNvPr id="640" name="Picture 639" descr="ico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8" y="3079860"/>
            <a:ext cx="640080" cy="640080"/>
          </a:xfrm>
          <a:prstGeom prst="rect">
            <a:avLst/>
          </a:prstGeom>
        </p:spPr>
      </p:pic>
      <p:pic>
        <p:nvPicPr>
          <p:cNvPr id="641" name="Picture 640" descr="icon_sp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48" y="3079860"/>
            <a:ext cx="640080" cy="640080"/>
          </a:xfrm>
          <a:prstGeom prst="rect">
            <a:avLst/>
          </a:prstGeom>
        </p:spPr>
      </p:pic>
      <p:pic>
        <p:nvPicPr>
          <p:cNvPr id="642" name="Picture 641" descr="icon_vo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8" y="5091540"/>
            <a:ext cx="640080" cy="640080"/>
          </a:xfrm>
          <a:prstGeom prst="rect">
            <a:avLst/>
          </a:prstGeom>
        </p:spPr>
      </p:pic>
      <p:pic>
        <p:nvPicPr>
          <p:cNvPr id="643" name="Picture 642" descr="icon_hospit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048" y="5091540"/>
            <a:ext cx="640080" cy="64008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0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0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0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RESULTS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0"/>
          <p:cNvSpPr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Positives and Limitations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0"/>
          <p:cNvSpPr/>
          <p:nvPr/>
        </p:nvSpPr>
        <p:spPr>
          <a:xfrm>
            <a:off x="449428" y="2468880"/>
            <a:ext cx="5440680" cy="4023360"/>
          </a:xfrm>
          <a:prstGeom prst="roundRect">
            <a:avLst>
              <a:gd fmla="val 1818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0"/>
          <p:cNvSpPr/>
          <p:nvPr/>
        </p:nvSpPr>
        <p:spPr>
          <a:xfrm>
            <a:off x="723748" y="27432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✓  POSITIVES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0"/>
          <p:cNvSpPr/>
          <p:nvPr/>
        </p:nvSpPr>
        <p:spPr>
          <a:xfrm>
            <a:off x="769468" y="342900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22D3EE"/>
                </a:solidFill>
                <a:latin typeface="Inter Display"/>
                <a:ea typeface="Arial"/>
                <a:cs typeface="Arial"/>
                <a:sym typeface="Arial"/>
              </a:rPr>
              <a:t>✓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0"/>
          <p:cNvSpPr/>
          <p:nvPr/>
        </p:nvSpPr>
        <p:spPr>
          <a:xfrm>
            <a:off x="1089508" y="342900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sz="1800">
                <a:solidFill>
                  <a:srgbClr val="FFFFFF"/>
                </a:solidFill>
                <a:latin typeface="Inter"/>
              </a:rPr>
              <a:t>Dual wireless — BLE 5.0 with automatic Wi-Fi failover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0"/>
          <p:cNvSpPr/>
          <p:nvPr/>
        </p:nvSpPr>
        <p:spPr>
          <a:xfrm>
            <a:off x="769468" y="3995928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22D3EE"/>
                </a:solidFill>
                <a:latin typeface="Inter Display"/>
                <a:ea typeface="Arial"/>
                <a:cs typeface="Arial"/>
                <a:sym typeface="Arial"/>
              </a:rPr>
              <a:t>✓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0"/>
          <p:cNvSpPr/>
          <p:nvPr/>
        </p:nvSpPr>
        <p:spPr>
          <a:xfrm>
            <a:off x="1089508" y="3995928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Works in any lighting (hardware mode)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0"/>
          <p:cNvSpPr/>
          <p:nvPr/>
        </p:nvSpPr>
        <p:spPr>
          <a:xfrm>
            <a:off x="769468" y="4562856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22D3EE"/>
                </a:solidFill>
                <a:latin typeface="Inter Display"/>
                <a:ea typeface="Arial"/>
                <a:cs typeface="Arial"/>
                <a:sym typeface="Arial"/>
              </a:rPr>
              <a:t>✓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0"/>
          <p:cNvSpPr/>
          <p:nvPr/>
        </p:nvSpPr>
        <p:spPr>
          <a:xfrm>
            <a:off x="1089508" y="4562856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sz="1800">
                <a:solidFill>
                  <a:srgbClr val="FFFFFF"/>
                </a:solidFill>
                <a:latin typeface="Inter"/>
              </a:rPr>
              <a:t>Multi-beam IR + live Python eye simulation &amp; deterministic clicks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0"/>
          <p:cNvSpPr/>
          <p:nvPr/>
        </p:nvSpPr>
        <p:spPr>
          <a:xfrm>
            <a:off x="769468" y="5129784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22D3EE"/>
                </a:solidFill>
                <a:latin typeface="Inter Display"/>
                <a:ea typeface="Arial"/>
                <a:cs typeface="Arial"/>
                <a:sym typeface="Arial"/>
              </a:rPr>
              <a:t>✓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0"/>
          <p:cNvSpPr/>
          <p:nvPr/>
        </p:nvSpPr>
        <p:spPr>
          <a:xfrm>
            <a:off x="1089508" y="5129784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Blink logic filters out natural blinks reliably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0"/>
          <p:cNvSpPr/>
          <p:nvPr/>
        </p:nvSpPr>
        <p:spPr>
          <a:xfrm>
            <a:off x="769468" y="5696712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22D3EE"/>
                </a:solidFill>
                <a:latin typeface="Inter Display"/>
                <a:ea typeface="Arial"/>
                <a:cs typeface="Arial"/>
                <a:sym typeface="Arial"/>
              </a:rPr>
              <a:t>✓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0"/>
          <p:cNvSpPr/>
          <p:nvPr/>
        </p:nvSpPr>
        <p:spPr>
          <a:xfrm>
            <a:off x="1089508" y="5696712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Restores independent communication for the user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0"/>
          <p:cNvSpPr/>
          <p:nvPr/>
        </p:nvSpPr>
        <p:spPr>
          <a:xfrm>
            <a:off x="6301588" y="2468880"/>
            <a:ext cx="5440680" cy="4023360"/>
          </a:xfrm>
          <a:prstGeom prst="roundRect">
            <a:avLst>
              <a:gd fmla="val 1818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0"/>
          <p:cNvSpPr/>
          <p:nvPr/>
        </p:nvSpPr>
        <p:spPr>
          <a:xfrm>
            <a:off x="6575908" y="27432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B020"/>
                </a:solidFill>
                <a:latin typeface="Inter"/>
                <a:ea typeface="Calibri"/>
                <a:cs typeface="Calibri"/>
                <a:sym typeface="Calibri"/>
              </a:rPr>
              <a:t>⚠  LIMITATIONS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0"/>
          <p:cNvSpPr/>
          <p:nvPr/>
        </p:nvSpPr>
        <p:spPr>
          <a:xfrm>
            <a:off x="6621628" y="342900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B020"/>
                </a:solidFill>
                <a:latin typeface="Inter Display"/>
                <a:ea typeface="Arial"/>
                <a:cs typeface="Arial"/>
                <a:sym typeface="Arial"/>
              </a:rPr>
              <a:t>⚠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0"/>
          <p:cNvSpPr/>
          <p:nvPr/>
        </p:nvSpPr>
        <p:spPr>
          <a:xfrm>
            <a:off x="6941668" y="342900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sz="1800">
                <a:solidFill>
                  <a:srgbClr val="FFFFFF"/>
                </a:solidFill>
                <a:latin typeface="Inter"/>
              </a:rPr>
              <a:t>Quick 2–3 second calibration check per new user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0"/>
          <p:cNvSpPr/>
          <p:nvPr/>
        </p:nvSpPr>
        <p:spPr>
          <a:xfrm>
            <a:off x="6621628" y="3995928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B020"/>
                </a:solidFill>
                <a:latin typeface="Inter Display"/>
                <a:ea typeface="Arial"/>
                <a:cs typeface="Arial"/>
                <a:sym typeface="Arial"/>
              </a:rPr>
              <a:t>⚠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0"/>
          <p:cNvSpPr/>
          <p:nvPr/>
        </p:nvSpPr>
        <p:spPr>
          <a:xfrm>
            <a:off x="6941668" y="3995928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Long continuous use can cause mild eye or neck strain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0"/>
          <p:cNvSpPr/>
          <p:nvPr/>
        </p:nvSpPr>
        <p:spPr>
          <a:xfrm>
            <a:off x="6621628" y="5129784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>
                <a:latin typeface="Inter"/>
              </a:rP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0"/>
          <p:cNvSpPr/>
          <p:nvPr/>
        </p:nvSpPr>
        <p:spPr>
          <a:xfrm>
            <a:off x="6621628" y="5696712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>
                <a:latin typeface="Inter"/>
              </a:rP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0"/>
          <p:cNvSpPr txBox="1"/>
          <p:nvPr/>
        </p:nvSpPr>
        <p:spPr>
          <a:xfrm>
            <a:off x="6830832" y="4667786"/>
            <a:ext cx="47548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FFFFFF"/>
                </a:solidFill>
                <a:latin typeface="Inter"/>
              </a:rPr>
              <a:t>Battery life ~12 hours with XIAO Deep Sleep mode</a:t>
            </a:r>
            <a:endParaRPr/>
          </a:p>
        </p:txBody>
      </p:sp>
      <p:sp>
        <p:nvSpPr>
          <p:cNvPr id="670" name="Google Shape;670;p30"/>
          <p:cNvSpPr/>
          <p:nvPr/>
        </p:nvSpPr>
        <p:spPr>
          <a:xfrm>
            <a:off x="6593913" y="4660954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B020"/>
                </a:solidFill>
                <a:latin typeface="Inter Display"/>
                <a:ea typeface="Arial"/>
                <a:cs typeface="Arial"/>
                <a:sym typeface="Arial"/>
              </a:rPr>
              <a:t>⚠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 advClick="1">
    <p:fade thruBlk="0"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1"/>
          <p:cNvSpPr txBox="1"/>
          <p:nvPr/>
        </p:nvSpPr>
        <p:spPr>
          <a:xfrm>
            <a:off x="502920" y="2743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676" name="Google Shape;676;p31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PROJECT IRIS</a:t>
            </a:r>
            <a:endParaRPr/>
          </a:p>
        </p:txBody>
      </p:sp>
      <p:sp>
        <p:nvSpPr>
          <p:cNvPr id="677" name="Google Shape;677;p31"/>
          <p:cNvSpPr txBox="1"/>
          <p:nvPr/>
        </p:nvSpPr>
        <p:spPr>
          <a:xfrm>
            <a:off x="502920" y="777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DEEPER HONESTY</a:t>
            </a:r>
            <a:endParaRPr/>
          </a:p>
        </p:txBody>
      </p:sp>
      <p:sp>
        <p:nvSpPr>
          <p:cNvPr id="678" name="Google Shape;678;p31"/>
          <p:cNvSpPr txBox="1"/>
          <p:nvPr/>
        </p:nvSpPr>
        <p:spPr>
          <a:xfrm>
            <a:off x="502920" y="11887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More positives. More limitations.</a:t>
            </a:r>
            <a:endParaRPr/>
          </a:p>
        </p:txBody>
      </p:sp>
      <p:sp>
        <p:nvSpPr>
          <p:cNvPr id="679" name="Google Shape;679;p31"/>
          <p:cNvSpPr/>
          <p:nvPr/>
        </p:nvSpPr>
        <p:spPr>
          <a:xfrm>
            <a:off x="502920" y="2286000"/>
            <a:ext cx="5394960" cy="411480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0E74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1"/>
          <p:cNvSpPr txBox="1"/>
          <p:nvPr/>
        </p:nvSpPr>
        <p:spPr>
          <a:xfrm>
            <a:off x="731520" y="24231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✓  MORE POSITIVES</a:t>
            </a:r>
            <a:endParaRPr/>
          </a:p>
        </p:txBody>
      </p:sp>
      <p:sp>
        <p:nvSpPr>
          <p:cNvPr id="681" name="Google Shape;681;p31"/>
          <p:cNvSpPr txBox="1"/>
          <p:nvPr/>
        </p:nvSpPr>
        <p:spPr>
          <a:xfrm>
            <a:off x="685800" y="2994660"/>
            <a:ext cx="1828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682" name="Google Shape;682;p31"/>
          <p:cNvSpPr txBox="1"/>
          <p:nvPr/>
        </p:nvSpPr>
        <p:spPr>
          <a:xfrm>
            <a:off x="914400" y="2994660"/>
            <a:ext cx="47548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Inter"/>
              </a:rPr>
              <a:t>Works in any lighting (multi-beam IR + IMU)</a:t>
            </a:r>
            <a:endParaRPr/>
          </a:p>
        </p:txBody>
      </p:sp>
      <p:sp>
        <p:nvSpPr>
          <p:cNvPr id="683" name="Google Shape;683;p31"/>
          <p:cNvSpPr txBox="1"/>
          <p:nvPr/>
        </p:nvSpPr>
        <p:spPr>
          <a:xfrm>
            <a:off x="685800" y="3342132"/>
            <a:ext cx="1828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684" name="Google Shape;684;p31"/>
          <p:cNvSpPr txBox="1"/>
          <p:nvPr/>
        </p:nvSpPr>
        <p:spPr>
          <a:xfrm>
            <a:off x="914400" y="3342132"/>
            <a:ext cx="47548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Inter"/>
              </a:rPr>
              <a:t>Seeed Studio XIAO ESP32C3 — BLE + Wi-Fi built in</a:t>
            </a:r>
            <a:endParaRPr/>
          </a:p>
        </p:txBody>
      </p:sp>
      <p:sp>
        <p:nvSpPr>
          <p:cNvPr id="685" name="Google Shape;685;p31"/>
          <p:cNvSpPr txBox="1"/>
          <p:nvPr/>
        </p:nvSpPr>
        <p:spPr>
          <a:xfrm>
            <a:off x="685800" y="3689604"/>
            <a:ext cx="1828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686" name="Google Shape;686;p31"/>
          <p:cNvSpPr txBox="1"/>
          <p:nvPr/>
        </p:nvSpPr>
        <p:spPr>
          <a:xfrm>
            <a:off x="914400" y="3689604"/>
            <a:ext cx="47548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Inter"/>
              </a:rPr>
              <a:t>3.7V Li-Po direct XIAO charge — 12h Deep Sleep</a:t>
            </a:r>
            <a:endParaRPr/>
          </a:p>
        </p:txBody>
      </p:sp>
      <p:sp>
        <p:nvSpPr>
          <p:cNvPr id="687" name="Google Shape;687;p31"/>
          <p:cNvSpPr txBox="1"/>
          <p:nvPr/>
        </p:nvSpPr>
        <p:spPr>
          <a:xfrm>
            <a:off x="685800" y="4037076"/>
            <a:ext cx="1828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688" name="Google Shape;688;p31"/>
          <p:cNvSpPr txBox="1"/>
          <p:nvPr/>
        </p:nvSpPr>
        <p:spPr>
          <a:xfrm>
            <a:off x="914400" y="4037076"/>
            <a:ext cx="47548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Inter"/>
              </a:rPr>
              <a:t>Magnetic nut-bolt pivot fits any ±7D Rx glasses</a:t>
            </a:r>
            <a:endParaRPr/>
          </a:p>
        </p:txBody>
      </p:sp>
      <p:sp>
        <p:nvSpPr>
          <p:cNvPr id="689" name="Google Shape;689;p31"/>
          <p:cNvSpPr txBox="1"/>
          <p:nvPr/>
        </p:nvSpPr>
        <p:spPr>
          <a:xfrm>
            <a:off x="685800" y="4384548"/>
            <a:ext cx="1828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690" name="Google Shape;690;p31"/>
          <p:cNvSpPr txBox="1"/>
          <p:nvPr/>
        </p:nvSpPr>
        <p:spPr>
          <a:xfrm>
            <a:off x="914400" y="4384548"/>
            <a:ext cx="47548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Inter"/>
              </a:rPr>
              <a:t>Open-source — anyone can build or improve it</a:t>
            </a:r>
            <a:endParaRPr/>
          </a:p>
        </p:txBody>
      </p:sp>
      <p:sp>
        <p:nvSpPr>
          <p:cNvPr id="691" name="Google Shape;691;p31"/>
          <p:cNvSpPr txBox="1"/>
          <p:nvPr/>
        </p:nvSpPr>
        <p:spPr>
          <a:xfrm>
            <a:off x="685800" y="4732020"/>
            <a:ext cx="1828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692" name="Google Shape;692;p31"/>
          <p:cNvSpPr txBox="1"/>
          <p:nvPr/>
        </p:nvSpPr>
        <p:spPr>
          <a:xfrm>
            <a:off x="914400" y="4732020"/>
            <a:ext cx="47548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Inter"/>
              </a:rPr>
              <a:t>Universal App: 4 core tiles + 5 Settings menus</a:t>
            </a:r>
            <a:endParaRPr/>
          </a:p>
        </p:txBody>
      </p:sp>
      <p:sp>
        <p:nvSpPr>
          <p:cNvPr id="693" name="Google Shape;693;p31"/>
          <p:cNvSpPr txBox="1"/>
          <p:nvPr/>
        </p:nvSpPr>
        <p:spPr>
          <a:xfrm>
            <a:off x="685800" y="5079491"/>
            <a:ext cx="1828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694" name="Google Shape;694;p31"/>
          <p:cNvSpPr txBox="1"/>
          <p:nvPr/>
        </p:nvSpPr>
        <p:spPr>
          <a:xfrm>
            <a:off x="914400" y="5079491"/>
            <a:ext cx="47548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Inter"/>
              </a:rPr>
              <a:t>Local-first privacy — zero eye video uploaded</a:t>
            </a:r>
            <a:endParaRPr/>
          </a:p>
        </p:txBody>
      </p:sp>
      <p:sp>
        <p:nvSpPr>
          <p:cNvPr id="695" name="Google Shape;695;p31"/>
          <p:cNvSpPr/>
          <p:nvPr/>
        </p:nvSpPr>
        <p:spPr>
          <a:xfrm>
            <a:off x="6309360" y="2286000"/>
            <a:ext cx="5394960" cy="411480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92400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1"/>
          <p:cNvSpPr txBox="1"/>
          <p:nvPr/>
        </p:nvSpPr>
        <p:spPr>
          <a:xfrm>
            <a:off x="6537960" y="24231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⚠  MORE LIMITATIONS</a:t>
            </a:r>
            <a:endParaRPr/>
          </a:p>
        </p:txBody>
      </p:sp>
      <p:sp>
        <p:nvSpPr>
          <p:cNvPr id="681" name="Google Shape;681;p31"/>
          <p:cNvSpPr txBox="1"/>
          <p:nvPr/>
        </p:nvSpPr>
        <p:spPr>
          <a:xfrm>
            <a:off x="6510528" y="2990088"/>
            <a:ext cx="2560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B020"/>
                </a:solidFill>
                <a:latin typeface="Inter"/>
              </a:rPr>
              <a:t>•</a:t>
            </a:r>
            <a:endParaRPr/>
          </a:p>
        </p:txBody>
      </p:sp>
      <p:sp>
        <p:nvSpPr>
          <p:cNvPr id="682" name="Google Shape;682;p31"/>
          <p:cNvSpPr txBox="1"/>
          <p:nvPr/>
        </p:nvSpPr>
        <p:spPr>
          <a:xfrm>
            <a:off x="6784848" y="2990088"/>
            <a:ext cx="4800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FFFFFF"/>
                </a:solidFill>
                <a:latin typeface="Inter"/>
              </a:rPr>
              <a:t>Requires voluntary eyelid control on one eye</a:t>
            </a:r>
            <a:endParaRPr/>
          </a:p>
        </p:txBody>
      </p:sp>
      <p:sp>
        <p:nvSpPr>
          <p:cNvPr id="681" name="Google Shape;681;p31"/>
          <p:cNvSpPr txBox="1"/>
          <p:nvPr/>
        </p:nvSpPr>
        <p:spPr>
          <a:xfrm>
            <a:off x="6510528" y="3337560"/>
            <a:ext cx="2560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B020"/>
                </a:solidFill>
                <a:latin typeface="Inter"/>
              </a:rPr>
              <a:t>•</a:t>
            </a:r>
            <a:endParaRPr/>
          </a:p>
        </p:txBody>
      </p:sp>
      <p:sp>
        <p:nvSpPr>
          <p:cNvPr id="682" name="Google Shape;682;p31"/>
          <p:cNvSpPr txBox="1"/>
          <p:nvPr/>
        </p:nvSpPr>
        <p:spPr>
          <a:xfrm>
            <a:off x="6784848" y="3337560"/>
            <a:ext cx="4800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FFFFFF"/>
                </a:solidFill>
                <a:latin typeface="Inter"/>
              </a:rPr>
              <a:t>Mild neck fatigue after 4+ hours of continuous use</a:t>
            </a:r>
            <a:endParaRPr/>
          </a:p>
        </p:txBody>
      </p:sp>
      <p:sp>
        <p:nvSpPr>
          <p:cNvPr id="681" name="Google Shape;681;p31"/>
          <p:cNvSpPr txBox="1"/>
          <p:nvPr/>
        </p:nvSpPr>
        <p:spPr>
          <a:xfrm>
            <a:off x="6510528" y="3694176"/>
            <a:ext cx="2560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B020"/>
                </a:solidFill>
                <a:latin typeface="Inter"/>
              </a:rPr>
              <a:t>•</a:t>
            </a:r>
            <a:endParaRPr/>
          </a:p>
        </p:txBody>
      </p:sp>
      <p:sp>
        <p:nvSpPr>
          <p:cNvPr id="682" name="Google Shape;682;p31"/>
          <p:cNvSpPr txBox="1"/>
          <p:nvPr/>
        </p:nvSpPr>
        <p:spPr>
          <a:xfrm>
            <a:off x="6784848" y="3694176"/>
            <a:ext cx="4800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FFFFFF"/>
                </a:solidFill>
                <a:latin typeface="Inter"/>
              </a:rPr>
              <a:t>2.4GHz band can face interference in crowded wards</a:t>
            </a:r>
            <a:endParaRPr/>
          </a:p>
        </p:txBody>
      </p:sp>
      <p:sp>
        <p:nvSpPr>
          <p:cNvPr id="681" name="Google Shape;681;p31"/>
          <p:cNvSpPr txBox="1"/>
          <p:nvPr/>
        </p:nvSpPr>
        <p:spPr>
          <a:xfrm>
            <a:off x="6510528" y="4041648"/>
            <a:ext cx="2560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B020"/>
                </a:solidFill>
                <a:latin typeface="Inter"/>
              </a:rPr>
              <a:t>•</a:t>
            </a:r>
            <a:endParaRPr/>
          </a:p>
        </p:txBody>
      </p:sp>
      <p:sp>
        <p:nvSpPr>
          <p:cNvPr id="682" name="Google Shape;682;p31"/>
          <p:cNvSpPr txBox="1"/>
          <p:nvPr/>
        </p:nvSpPr>
        <p:spPr>
          <a:xfrm>
            <a:off x="6784848" y="4041648"/>
            <a:ext cx="4800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FFFFFF"/>
                </a:solidFill>
                <a:latin typeface="Inter"/>
              </a:rPr>
              <a:t>Gemini AI expansion needs Wi-Fi (basic tiles offline)</a:t>
            </a:r>
            <a:endParaRPr/>
          </a:p>
        </p:txBody>
      </p:sp>
      <p:sp>
        <p:nvSpPr>
          <p:cNvPr id="681" name="Google Shape;681;p31"/>
          <p:cNvSpPr txBox="1"/>
          <p:nvPr/>
        </p:nvSpPr>
        <p:spPr>
          <a:xfrm>
            <a:off x="6510528" y="4379976"/>
            <a:ext cx="2560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B020"/>
                </a:solidFill>
                <a:latin typeface="Inter"/>
              </a:rPr>
              <a:t>•</a:t>
            </a:r>
            <a:endParaRPr/>
          </a:p>
        </p:txBody>
      </p:sp>
      <p:sp>
        <p:nvSpPr>
          <p:cNvPr id="682" name="Google Shape;682;p31"/>
          <p:cNvSpPr txBox="1"/>
          <p:nvPr/>
        </p:nvSpPr>
        <p:spPr>
          <a:xfrm>
            <a:off x="6784848" y="4379976"/>
            <a:ext cx="4800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FFFFFF"/>
                </a:solidFill>
                <a:latin typeface="Inter"/>
              </a:rPr>
              <a:t>Magnetic pivot needs one-time angle setup per frame</a:t>
            </a:r>
            <a:endParaRPr/>
          </a:p>
        </p:txBody>
      </p:sp>
      <p:sp>
        <p:nvSpPr>
          <p:cNvPr id="681" name="Google Shape;681;p31"/>
          <p:cNvSpPr txBox="1"/>
          <p:nvPr/>
        </p:nvSpPr>
        <p:spPr>
          <a:xfrm>
            <a:off x="6510528" y="4727448"/>
            <a:ext cx="2560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B020"/>
                </a:solidFill>
                <a:latin typeface="Inter"/>
              </a:rPr>
              <a:t>•</a:t>
            </a:r>
            <a:endParaRPr/>
          </a:p>
        </p:txBody>
      </p:sp>
      <p:sp>
        <p:nvSpPr>
          <p:cNvPr id="682" name="Google Shape;682;p31"/>
          <p:cNvSpPr txBox="1"/>
          <p:nvPr/>
        </p:nvSpPr>
        <p:spPr>
          <a:xfrm>
            <a:off x="6784848" y="4727448"/>
            <a:ext cx="4800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FFFFFF"/>
                </a:solidFill>
                <a:latin typeface="Inter"/>
              </a:rPr>
              <a:t>Hand-built prototype case — 3D enclosure in next phase</a:t>
            </a:r>
            <a:endParaRPr/>
          </a:p>
        </p:txBody>
      </p:sp>
      <p:sp>
        <p:nvSpPr>
          <p:cNvPr id="681" name="Google Shape;681;p31"/>
          <p:cNvSpPr txBox="1"/>
          <p:nvPr/>
        </p:nvSpPr>
        <p:spPr>
          <a:xfrm>
            <a:off x="6510528" y="5074920"/>
            <a:ext cx="2560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B020"/>
                </a:solidFill>
                <a:latin typeface="Inter"/>
              </a:rPr>
              <a:t>•</a:t>
            </a:r>
            <a:endParaRPr/>
          </a:p>
        </p:txBody>
      </p:sp>
      <p:sp>
        <p:nvSpPr>
          <p:cNvPr id="682" name="Google Shape;682;p31"/>
          <p:cNvSpPr txBox="1"/>
          <p:nvPr/>
        </p:nvSpPr>
        <p:spPr>
          <a:xfrm>
            <a:off x="6784848" y="5074920"/>
            <a:ext cx="4800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FFFFFF"/>
                </a:solidFill>
                <a:latin typeface="Inter"/>
              </a:rPr>
              <a:t>Formal clinical certification planned via NGO pilots</a:t>
            </a:r>
            <a:endParaRPr/>
          </a:p>
        </p:txBody>
      </p:sp>
    </p:spTree>
  </p:cSld>
  <p:clrMapOvr>
    <a:masterClrMapping/>
  </p:clrMapOvr>
  <p:transition spd="med" advClick="1">
    <p:fade thruBlk="0"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2"/>
          <p:cNvSpPr txBox="1"/>
          <p:nvPr/>
        </p:nvSpPr>
        <p:spPr>
          <a:xfrm>
            <a:off x="502920" y="2743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702" name="Google Shape;702;p32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PROJECT IRIS</a:t>
            </a:r>
            <a:endParaRPr/>
          </a:p>
        </p:txBody>
      </p:sp>
      <p:sp>
        <p:nvSpPr>
          <p:cNvPr id="703" name="Google Shape;703;p32"/>
          <p:cNvSpPr txBox="1"/>
          <p:nvPr/>
        </p:nvSpPr>
        <p:spPr>
          <a:xfrm>
            <a:off x="502920" y="777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BUILDING &amp; TESTING</a:t>
            </a:r>
            <a:endParaRPr/>
          </a:p>
        </p:txBody>
      </p:sp>
      <p:sp>
        <p:nvSpPr>
          <p:cNvPr id="704" name="Google Shape;704;p32"/>
          <p:cNvSpPr txBox="1"/>
          <p:nvPr/>
        </p:nvSpPr>
        <p:spPr>
          <a:xfrm>
            <a:off x="502920" y="11887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Built by hand. Tested with real patients.</a:t>
            </a:r>
            <a:endParaRPr/>
          </a:p>
        </p:txBody>
      </p:sp>
      <p:sp>
        <p:nvSpPr>
          <p:cNvPr id="705" name="Google Shape;705;p32"/>
          <p:cNvSpPr txBox="1"/>
          <p:nvPr/>
        </p:nvSpPr>
        <p:spPr>
          <a:xfrm>
            <a:off x="502920" y="21031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From bedroom workbench to hospital pilot — every IRIS unit is hand-assembled and tested with the people who'll actually use it.</a:t>
            </a:r>
            <a:endParaRPr/>
          </a:p>
        </p:txBody>
      </p:sp>
      <p:pic>
        <p:nvPicPr>
          <p:cNvPr id="706" name="Google Shape;706;p32"/>
          <p:cNvPicPr preferRelativeResize="0"/>
          <p:nvPr/>
        </p:nvPicPr>
        <p:blipFill rotWithShape="1">
          <a:blip r:embed="rId3">
            <a:alphaModFix/>
          </a:blip>
          <a:srcRect b="12000" l="0" r="0" t="10666"/>
          <a:stretch/>
        </p:blipFill>
        <p:spPr>
          <a:xfrm>
            <a:off x="924029" y="2649434"/>
            <a:ext cx="2123971" cy="3662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32"/>
          <p:cNvPicPr preferRelativeResize="0"/>
          <p:nvPr/>
        </p:nvPicPr>
        <p:blipFill rotWithShape="1">
          <a:blip r:embed="rId4">
            <a:alphaModFix/>
          </a:blip>
          <a:srcRect b="-10127" l="0" r="0" t="9058"/>
          <a:stretch/>
        </p:blipFill>
        <p:spPr>
          <a:xfrm>
            <a:off x="3688080" y="2701414"/>
            <a:ext cx="2026920" cy="4106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7579" y="2742409"/>
            <a:ext cx="2877589" cy="3551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 advClick="1">
    <p:fade thruBlk="0"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3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3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3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OPEN &amp; AVAILABLE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3"/>
          <p:cNvSpPr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sz="3200" b="1">
                <a:solidFill>
                  <a:srgbClr val="FFFFFF"/>
                </a:solidFill>
                <a:latin typeface="Inter Display"/>
              </a:rPr>
              <a:t>Will be available in future &amp; open-sourced for the public.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3"/>
          <p:cNvSpPr/>
          <p:nvPr/>
        </p:nvSpPr>
        <p:spPr>
          <a:xfrm>
            <a:off x="449428" y="2468880"/>
            <a:ext cx="5440680" cy="3931920"/>
          </a:xfrm>
          <a:prstGeom prst="roundRect">
            <a:avLst>
              <a:gd fmla="val 1860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3"/>
          <p:cNvSpPr/>
          <p:nvPr/>
        </p:nvSpPr>
        <p:spPr>
          <a:xfrm>
            <a:off x="815188" y="2834640"/>
            <a:ext cx="777240" cy="777240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3"/>
          <p:cNvSpPr/>
          <p:nvPr/>
        </p:nvSpPr>
        <p:spPr>
          <a:xfrm>
            <a:off x="815188" y="283464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Arial"/>
              <a:buNone/>
            </a:pPr>
            <a:r>
              <a:rPr sz="1800" b="1">
                <a:solidFill>
                  <a:srgbClr val="22D3EE"/>
                </a:solidFill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3"/>
          <p:cNvSpPr/>
          <p:nvPr/>
        </p:nvSpPr>
        <p:spPr>
          <a:xfrm>
            <a:off x="1775308" y="2880360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GITHUB  ·  OPEN-SOURCE REPOSITORY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3"/>
          <p:cNvSpPr/>
          <p:nvPr/>
        </p:nvSpPr>
        <p:spPr>
          <a:xfrm>
            <a:off x="1775308" y="324612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Public. Forkable. Free.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3"/>
          <p:cNvSpPr/>
          <p:nvPr/>
        </p:nvSpPr>
        <p:spPr>
          <a:xfrm>
            <a:off x="815188" y="3840480"/>
            <a:ext cx="4709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1800"/>
              <a:buFont typeface="Calibri"/>
              <a:buNone/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Full Python cursor, calibration &amp; eye-twin code will be public.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Includes XIAO ESP32C3 firmware, circuit diagrams &amp; 3D STL files.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Anyone with a laptop will be able to clone &amp; build it for ₹800.</a:t>
            </a:r>
          </a:p>
        </p:txBody>
      </p:sp>
      <p:sp>
        <p:nvSpPr>
          <p:cNvPr id="724" name="Google Shape;724;p33"/>
          <p:cNvSpPr/>
          <p:nvPr/>
        </p:nvSpPr>
        <p:spPr>
          <a:xfrm>
            <a:off x="815188" y="5623560"/>
            <a:ext cx="4709160" cy="502920"/>
          </a:xfrm>
          <a:prstGeom prst="roundRect">
            <a:avLst>
              <a:gd fmla="val 10909" name="adj"/>
            </a:avLst>
          </a:prstGeom>
          <a:solidFill>
            <a:srgbClr val="050E1C"/>
          </a:solidFill>
          <a:ln cap="flat" cmpd="sng" w="9525">
            <a:solidFill>
              <a:srgbClr val="0E749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3"/>
          <p:cNvSpPr/>
          <p:nvPr/>
        </p:nvSpPr>
        <p:spPr>
          <a:xfrm>
            <a:off x="998068" y="5760720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22D3EE"/>
                </a:solidFill>
                <a:latin typeface="Noto Sans Mono"/>
                <a:ea typeface="Courier New"/>
                <a:cs typeface="Courier New"/>
                <a:sym typeface="Courier New"/>
              </a:rPr>
              <a:t>git clone github.com/project-iris/iris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3"/>
          <p:cNvSpPr/>
          <p:nvPr/>
        </p:nvSpPr>
        <p:spPr>
          <a:xfrm>
            <a:off x="6301588" y="2468880"/>
            <a:ext cx="5440680" cy="3931920"/>
          </a:xfrm>
          <a:prstGeom prst="roundRect">
            <a:avLst>
              <a:gd fmla="val 1860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3"/>
          <p:cNvSpPr/>
          <p:nvPr/>
        </p:nvSpPr>
        <p:spPr>
          <a:xfrm>
            <a:off x="6667348" y="2834640"/>
            <a:ext cx="777240" cy="777240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3"/>
          <p:cNvSpPr/>
          <p:nvPr/>
        </p:nvSpPr>
        <p:spPr>
          <a:xfrm>
            <a:off x="6667348" y="283464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800"/>
              <a:buFont typeface="Arial"/>
              <a:buNone/>
            </a:pPr>
            <a:r>
              <a:rPr sz="1800" b="1">
                <a:solidFill>
                  <a:srgbClr val="FFB020"/>
                </a:solidFill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3"/>
          <p:cNvSpPr/>
          <p:nvPr/>
        </p:nvSpPr>
        <p:spPr>
          <a:xfrm>
            <a:off x="7604608" y="2754630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B020"/>
                </a:solidFill>
                <a:latin typeface="Inter"/>
                <a:ea typeface="Calibri"/>
                <a:cs typeface="Calibri"/>
                <a:sym typeface="Calibri"/>
              </a:rPr>
              <a:t>WEBSITE  ·  PROJECT HOMEPAGE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3"/>
          <p:cNvSpPr/>
          <p:nvPr/>
        </p:nvSpPr>
        <p:spPr>
          <a:xfrm>
            <a:off x="7627468" y="324612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Read. Replicate. Support.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3"/>
          <p:cNvSpPr/>
          <p:nvPr/>
        </p:nvSpPr>
        <p:spPr>
          <a:xfrm>
            <a:off x="6667348" y="3954782"/>
            <a:ext cx="4709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1800"/>
              <a:buFont typeface="Calibri"/>
              <a:buNone/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Hosts the browser-native IRIS Universal App &amp; Caregiver Portal.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Provides step-by-step assembly guides &amp; calibration tutorials.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Connects hospitals, NGOs, and makers to support the project.</a:t>
            </a:r>
          </a:p>
        </p:txBody>
      </p:sp>
      <p:sp>
        <p:nvSpPr>
          <p:cNvPr id="732" name="Google Shape;732;p33"/>
          <p:cNvSpPr/>
          <p:nvPr/>
        </p:nvSpPr>
        <p:spPr>
          <a:xfrm>
            <a:off x="6667348" y="5623560"/>
            <a:ext cx="4709160" cy="502920"/>
          </a:xfrm>
          <a:prstGeom prst="roundRect">
            <a:avLst>
              <a:gd fmla="val 10909" name="adj"/>
            </a:avLst>
          </a:prstGeom>
          <a:solidFill>
            <a:srgbClr val="050E1C"/>
          </a:solidFill>
          <a:ln cap="flat" cmpd="sng" w="9525">
            <a:solidFill>
              <a:srgbClr val="0E749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3"/>
          <p:cNvSpPr/>
          <p:nvPr/>
        </p:nvSpPr>
        <p:spPr>
          <a:xfrm>
            <a:off x="6850228" y="5760720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22D3EE"/>
                </a:solidFill>
                <a:latin typeface="Noto Sans Mono"/>
                <a:ea typeface="Courier New"/>
                <a:cs typeface="Courier New"/>
                <a:sym typeface="Courier New"/>
              </a:rPr>
              <a:t>projectiris.dev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4" name="Picture 733" descr="icon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88" y="2834640"/>
            <a:ext cx="731520" cy="731520"/>
          </a:xfrm>
          <a:prstGeom prst="rect">
            <a:avLst/>
          </a:prstGeom>
        </p:spPr>
      </p:pic>
      <p:pic>
        <p:nvPicPr>
          <p:cNvPr id="735" name="Picture 734" descr="icon_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348" y="2834640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4"/>
          <p:cNvSpPr txBox="1"/>
          <p:nvPr/>
        </p:nvSpPr>
        <p:spPr>
          <a:xfrm>
            <a:off x="502920" y="2743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739" name="Google Shape;739;p34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PROJECT IRIS</a:t>
            </a:r>
            <a:endParaRPr/>
          </a:p>
        </p:txBody>
      </p:sp>
      <p:sp>
        <p:nvSpPr>
          <p:cNvPr id="740" name="Google Shape;740;p34"/>
          <p:cNvSpPr txBox="1"/>
          <p:nvPr/>
        </p:nvSpPr>
        <p:spPr>
          <a:xfrm>
            <a:off x="502920" y="777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SAFETY &amp; RESPONSIBILITY</a:t>
            </a:r>
            <a:endParaRPr/>
          </a:p>
        </p:txBody>
      </p:sp>
      <p:sp>
        <p:nvSpPr>
          <p:cNvPr id="741" name="Google Shape;741;p34"/>
          <p:cNvSpPr txBox="1"/>
          <p:nvPr/>
        </p:nvSpPr>
        <p:spPr>
          <a:xfrm>
            <a:off x="502920" y="11887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Safety is non-negotiable.</a:t>
            </a:r>
            <a:endParaRPr/>
          </a:p>
        </p:txBody>
      </p:sp>
      <p:sp>
        <p:nvSpPr>
          <p:cNvPr id="742" name="Google Shape;742;p34"/>
          <p:cNvSpPr txBox="1"/>
          <p:nvPr/>
        </p:nvSpPr>
        <p:spPr>
          <a:xfrm>
            <a:off x="502920" y="21031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IRIS handles medical-grade data and sits on real patients. Every layer is designed with responsibility and sensitivity.</a:t>
            </a:r>
            <a:endParaRPr/>
          </a:p>
        </p:txBody>
      </p:sp>
      <p:sp>
        <p:nvSpPr>
          <p:cNvPr id="743" name="Google Shape;743;p34"/>
          <p:cNvSpPr/>
          <p:nvPr/>
        </p:nvSpPr>
        <p:spPr>
          <a:xfrm>
            <a:off x="502920" y="2834640"/>
            <a:ext cx="5394960" cy="338328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0E74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4"/>
          <p:cNvSpPr txBox="1"/>
          <p:nvPr/>
        </p:nvSpPr>
        <p:spPr>
          <a:xfrm>
            <a:off x="731520" y="2971800"/>
            <a:ext cx="4937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HARDWARE SAFETY</a:t>
            </a:r>
            <a:endParaRPr/>
          </a:p>
        </p:txBody>
      </p:sp>
      <p:sp>
        <p:nvSpPr>
          <p:cNvPr id="745" name="Google Shape;745;p34"/>
          <p:cNvSpPr txBox="1"/>
          <p:nvPr/>
        </p:nvSpPr>
        <p:spPr>
          <a:xfrm>
            <a:off x="777240" y="3383280"/>
            <a:ext cx="182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746" name="Google Shape;746;p34"/>
          <p:cNvSpPr txBox="1"/>
          <p:nvPr/>
        </p:nvSpPr>
        <p:spPr>
          <a:xfrm>
            <a:off x="1005840" y="3383280"/>
            <a:ext cx="4754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2A fast-blow fuse on the battery input</a:t>
            </a:r>
            <a:endParaRPr/>
          </a:p>
        </p:txBody>
      </p:sp>
      <p:sp>
        <p:nvSpPr>
          <p:cNvPr id="747" name="Google Shape;747;p34"/>
          <p:cNvSpPr txBox="1"/>
          <p:nvPr/>
        </p:nvSpPr>
        <p:spPr>
          <a:xfrm>
            <a:off x="777240" y="3721608"/>
            <a:ext cx="182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748" name="Google Shape;748;p34"/>
          <p:cNvSpPr txBox="1"/>
          <p:nvPr/>
        </p:nvSpPr>
        <p:spPr>
          <a:xfrm>
            <a:off x="1005840" y="3721608"/>
            <a:ext cx="4754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Inter"/>
              </a:rPr>
              <a:t>XIAO ESP32C3 onboard battery management &amp; overcharge cutoff</a:t>
            </a:r>
            <a:endParaRPr/>
          </a:p>
        </p:txBody>
      </p:sp>
      <p:sp>
        <p:nvSpPr>
          <p:cNvPr id="749" name="Google Shape;749;p34"/>
          <p:cNvSpPr txBox="1"/>
          <p:nvPr/>
        </p:nvSpPr>
        <p:spPr>
          <a:xfrm>
            <a:off x="777240" y="4059936"/>
            <a:ext cx="182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750" name="Google Shape;750;p34"/>
          <p:cNvSpPr txBox="1"/>
          <p:nvPr/>
        </p:nvSpPr>
        <p:spPr>
          <a:xfrm>
            <a:off x="1005840" y="4059936"/>
            <a:ext cx="4754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Inter"/>
              </a:rPr>
              <a:t>3.7V Li-Po over-discharge and short-circuit protection</a:t>
            </a:r>
            <a:endParaRPr/>
          </a:p>
        </p:txBody>
      </p:sp>
      <p:sp>
        <p:nvSpPr>
          <p:cNvPr id="751" name="Google Shape;751;p34"/>
          <p:cNvSpPr txBox="1"/>
          <p:nvPr/>
        </p:nvSpPr>
        <p:spPr>
          <a:xfrm>
            <a:off x="777240" y="4398264"/>
            <a:ext cx="182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752" name="Google Shape;752;p34"/>
          <p:cNvSpPr txBox="1"/>
          <p:nvPr/>
        </p:nvSpPr>
        <p:spPr>
          <a:xfrm>
            <a:off x="1005840" y="4398264"/>
            <a:ext cx="4754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Inter"/>
              </a:rPr>
              <a:t>Internal XIAO voltage regulator — zero external buck heat</a:t>
            </a:r>
            <a:endParaRPr/>
          </a:p>
        </p:txBody>
      </p:sp>
      <p:sp>
        <p:nvSpPr>
          <p:cNvPr id="753" name="Google Shape;753;p34"/>
          <p:cNvSpPr txBox="1"/>
          <p:nvPr/>
        </p:nvSpPr>
        <p:spPr>
          <a:xfrm>
            <a:off x="777240" y="4736592"/>
            <a:ext cx="182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754" name="Google Shape;754;p34"/>
          <p:cNvSpPr txBox="1"/>
          <p:nvPr/>
        </p:nvSpPr>
        <p:spPr>
          <a:xfrm>
            <a:off x="1005840" y="4736592"/>
            <a:ext cx="4754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Inter"/>
              </a:rPr>
              <a:t>950nm IR sensor is 20× below IEC 62471 eye-safety limit (zero harm)</a:t>
            </a:r>
            <a:endParaRPr/>
          </a:p>
        </p:txBody>
      </p:sp>
      <p:sp>
        <p:nvSpPr>
          <p:cNvPr id="755" name="Google Shape;755;p34"/>
          <p:cNvSpPr txBox="1"/>
          <p:nvPr/>
        </p:nvSpPr>
        <p:spPr>
          <a:xfrm>
            <a:off x="777240" y="5074920"/>
            <a:ext cx="182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756" name="Google Shape;756;p34"/>
          <p:cNvSpPr txBox="1"/>
          <p:nvPr/>
        </p:nvSpPr>
        <p:spPr>
          <a:xfrm>
            <a:off x="1005840" y="5074920"/>
            <a:ext cx="4754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Reverse polarity protection on USB-C input</a:t>
            </a:r>
            <a:endParaRPr/>
          </a:p>
        </p:txBody>
      </p:sp>
      <p:sp>
        <p:nvSpPr>
          <p:cNvPr id="757" name="Google Shape;757;p34"/>
          <p:cNvSpPr txBox="1"/>
          <p:nvPr/>
        </p:nvSpPr>
        <p:spPr>
          <a:xfrm>
            <a:off x="777240" y="5413248"/>
            <a:ext cx="182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758" name="Google Shape;758;p34"/>
          <p:cNvSpPr txBox="1"/>
          <p:nvPr/>
        </p:nvSpPr>
        <p:spPr>
          <a:xfrm>
            <a:off x="1005840" y="5413248"/>
            <a:ext cx="4754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All components rated for continuous duty</a:t>
            </a:r>
            <a:endParaRPr/>
          </a:p>
        </p:txBody>
      </p:sp>
      <p:sp>
        <p:nvSpPr>
          <p:cNvPr id="759" name="Google Shape;759;p34"/>
          <p:cNvSpPr txBox="1"/>
          <p:nvPr/>
        </p:nvSpPr>
        <p:spPr>
          <a:xfrm>
            <a:off x="777240" y="5751576"/>
            <a:ext cx="182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760" name="Google Shape;760;p34"/>
          <p:cNvSpPr txBox="1"/>
          <p:nvPr/>
        </p:nvSpPr>
        <p:spPr>
          <a:xfrm>
            <a:off x="1005840" y="5751576"/>
            <a:ext cx="4754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Inter"/>
              </a:rPr>
              <a:t>Breathable perforated Velcro belt maintains continuous airflow</a:t>
            </a:r>
            <a:endParaRPr/>
          </a:p>
        </p:txBody>
      </p:sp>
      <p:sp>
        <p:nvSpPr>
          <p:cNvPr id="761" name="Google Shape;761;p34"/>
          <p:cNvSpPr/>
          <p:nvPr/>
        </p:nvSpPr>
        <p:spPr>
          <a:xfrm>
            <a:off x="6309360" y="2834640"/>
            <a:ext cx="5394960" cy="338328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92400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4"/>
          <p:cNvSpPr txBox="1"/>
          <p:nvPr/>
        </p:nvSpPr>
        <p:spPr>
          <a:xfrm>
            <a:off x="6537960" y="2971800"/>
            <a:ext cx="4937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DATA SAFETY &amp; PRIVACY</a:t>
            </a:r>
            <a:endParaRPr/>
          </a:p>
        </p:txBody>
      </p:sp>
      <p:sp>
        <p:nvSpPr>
          <p:cNvPr id="763" name="Google Shape;763;p34"/>
          <p:cNvSpPr txBox="1"/>
          <p:nvPr/>
        </p:nvSpPr>
        <p:spPr>
          <a:xfrm>
            <a:off x="6583680" y="3383280"/>
            <a:ext cx="182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764" name="Google Shape;764;p34"/>
          <p:cNvSpPr txBox="1"/>
          <p:nvPr/>
        </p:nvSpPr>
        <p:spPr>
          <a:xfrm>
            <a:off x="6812280" y="3383280"/>
            <a:ext cx="4754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All camera frames processed locally — never uploaded</a:t>
            </a:r>
            <a:endParaRPr/>
          </a:p>
        </p:txBody>
      </p:sp>
      <p:sp>
        <p:nvSpPr>
          <p:cNvPr id="765" name="Google Shape;765;p34"/>
          <p:cNvSpPr txBox="1"/>
          <p:nvPr/>
        </p:nvSpPr>
        <p:spPr>
          <a:xfrm>
            <a:off x="6583680" y="3721608"/>
            <a:ext cx="182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766" name="Google Shape;766;p34"/>
          <p:cNvSpPr txBox="1"/>
          <p:nvPr/>
        </p:nvSpPr>
        <p:spPr>
          <a:xfrm>
            <a:off x="6812280" y="3721608"/>
            <a:ext cx="4754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No video is ever recorded or transmitted</a:t>
            </a:r>
            <a:endParaRPr/>
          </a:p>
        </p:txBody>
      </p:sp>
      <p:sp>
        <p:nvSpPr>
          <p:cNvPr id="767" name="Google Shape;767;p34"/>
          <p:cNvSpPr txBox="1"/>
          <p:nvPr/>
        </p:nvSpPr>
        <p:spPr>
          <a:xfrm>
            <a:off x="6583680" y="4059936"/>
            <a:ext cx="182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768" name="Google Shape;768;p34"/>
          <p:cNvSpPr txBox="1"/>
          <p:nvPr/>
        </p:nvSpPr>
        <p:spPr>
          <a:xfrm>
            <a:off x="6812280" y="4059936"/>
            <a:ext cx="4754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Eye-tracking data stays in browser memory</a:t>
            </a:r>
            <a:endParaRPr/>
          </a:p>
        </p:txBody>
      </p:sp>
      <p:sp>
        <p:nvSpPr>
          <p:cNvPr id="769" name="Google Shape;769;p34"/>
          <p:cNvSpPr txBox="1"/>
          <p:nvPr/>
        </p:nvSpPr>
        <p:spPr>
          <a:xfrm>
            <a:off x="6583680" y="4398264"/>
            <a:ext cx="182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770" name="Google Shape;770;p34"/>
          <p:cNvSpPr txBox="1"/>
          <p:nvPr/>
        </p:nvSpPr>
        <p:spPr>
          <a:xfrm>
            <a:off x="6812280" y="4398264"/>
            <a:ext cx="4754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ntfy.sh notifications carry only text labels, no PII</a:t>
            </a:r>
            <a:endParaRPr/>
          </a:p>
        </p:txBody>
      </p:sp>
      <p:sp>
        <p:nvSpPr>
          <p:cNvPr id="771" name="Google Shape;771;p34"/>
          <p:cNvSpPr txBox="1"/>
          <p:nvPr/>
        </p:nvSpPr>
        <p:spPr>
          <a:xfrm>
            <a:off x="6583680" y="4736592"/>
            <a:ext cx="182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772" name="Google Shape;772;p34"/>
          <p:cNvSpPr txBox="1"/>
          <p:nvPr/>
        </p:nvSpPr>
        <p:spPr>
          <a:xfrm>
            <a:off x="6812280" y="4736592"/>
            <a:ext cx="4754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No advertising SDKs, no behavioral analytics</a:t>
            </a:r>
            <a:endParaRPr/>
          </a:p>
        </p:txBody>
      </p:sp>
      <p:sp>
        <p:nvSpPr>
          <p:cNvPr id="773" name="Google Shape;773;p34"/>
          <p:cNvSpPr txBox="1"/>
          <p:nvPr/>
        </p:nvSpPr>
        <p:spPr>
          <a:xfrm>
            <a:off x="6583680" y="5074920"/>
            <a:ext cx="182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774" name="Google Shape;774;p34"/>
          <p:cNvSpPr txBox="1"/>
          <p:nvPr/>
        </p:nvSpPr>
        <p:spPr>
          <a:xfrm>
            <a:off x="6812280" y="5074920"/>
            <a:ext cx="4754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No third-party tracking scripts</a:t>
            </a:r>
            <a:endParaRPr/>
          </a:p>
        </p:txBody>
      </p:sp>
      <p:sp>
        <p:nvSpPr>
          <p:cNvPr id="775" name="Google Shape;775;p34"/>
          <p:cNvSpPr txBox="1"/>
          <p:nvPr/>
        </p:nvSpPr>
        <p:spPr>
          <a:xfrm>
            <a:off x="6583680" y="5413248"/>
            <a:ext cx="182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776" name="Google Shape;776;p34"/>
          <p:cNvSpPr txBox="1"/>
          <p:nvPr/>
        </p:nvSpPr>
        <p:spPr>
          <a:xfrm>
            <a:off x="6812280" y="5413248"/>
            <a:ext cx="4754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Open-source — anyone can audit the code</a:t>
            </a:r>
            <a:endParaRPr/>
          </a:p>
        </p:txBody>
      </p:sp>
      <p:sp>
        <p:nvSpPr>
          <p:cNvPr id="777" name="Google Shape;777;p34"/>
          <p:cNvSpPr txBox="1"/>
          <p:nvPr/>
        </p:nvSpPr>
        <p:spPr>
          <a:xfrm>
            <a:off x="6583680" y="5751576"/>
            <a:ext cx="182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778" name="Google Shape;778;p34"/>
          <p:cNvSpPr txBox="1"/>
          <p:nvPr/>
        </p:nvSpPr>
        <p:spPr>
          <a:xfrm>
            <a:off x="6812280" y="5751576"/>
            <a:ext cx="4754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Patient owns their data. Always. Period.</a:t>
            </a:r>
            <a:endParaRPr/>
          </a:p>
        </p:txBody>
      </p:sp>
      <p:sp>
        <p:nvSpPr>
          <p:cNvPr id="779" name="Google Shape;779;p34"/>
          <p:cNvSpPr/>
          <p:nvPr/>
        </p:nvSpPr>
        <p:spPr>
          <a:xfrm>
            <a:off x="502920" y="6355080"/>
            <a:ext cx="11155680" cy="41148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22D3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4"/>
          <p:cNvSpPr txBox="1"/>
          <p:nvPr/>
        </p:nvSpPr>
        <p:spPr>
          <a:xfrm>
            <a:off x="685800" y="638251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RESPONSIBILITY  ·  Building for vulnerable users means holding ourselves to medical-grade ethical standards — even as a student project.</a:t>
            </a:r>
            <a:endParaRPr/>
          </a:p>
        </p:txBody>
      </p:sp>
    </p:spTree>
  </p:cSld>
  <p:clrMapOvr>
    <a:masterClrMapping/>
  </p:clrMapOvr>
  <p:transition spd="med" advClick="1">
    <p:fade thruBlk="0"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35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5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5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SUSTAINABLE DEVELOPMENT GOALS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5"/>
          <p:cNvSpPr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Built for the goals that matter.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5"/>
          <p:cNvSpPr/>
          <p:nvPr/>
        </p:nvSpPr>
        <p:spPr>
          <a:xfrm>
            <a:off x="502920" y="21945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5D6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B7C5D6"/>
                </a:solidFill>
                <a:latin typeface="Inter"/>
                <a:ea typeface="Calibri"/>
                <a:cs typeface="Calibri"/>
                <a:sym typeface="Calibri"/>
              </a:rPr>
              <a:t>IRIS maps directly to four UN Sustainable Development Goals — by design, not by coincidence.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5"/>
          <p:cNvSpPr/>
          <p:nvPr/>
        </p:nvSpPr>
        <p:spPr>
          <a:xfrm>
            <a:off x="472288" y="2880360"/>
            <a:ext cx="5440680" cy="1691640"/>
          </a:xfrm>
          <a:prstGeom prst="roundRect">
            <a:avLst>
              <a:gd fmla="val 4324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5"/>
          <p:cNvSpPr/>
          <p:nvPr/>
        </p:nvSpPr>
        <p:spPr>
          <a:xfrm>
            <a:off x="700888" y="31546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5"/>
          <p:cNvSpPr/>
          <p:nvPr/>
        </p:nvSpPr>
        <p:spPr>
          <a:xfrm>
            <a:off x="700888" y="31546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2400"/>
              <a:buFont typeface="Arial"/>
              <a:buNone/>
            </a:pPr>
            <a:r>
              <a:rPr sz="2400" b="1">
                <a:solidFill>
                  <a:srgbClr val="0B1A2E"/>
                </a:solidFill>
                <a:latin typeface="Inter Display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5"/>
          <p:cNvSpPr/>
          <p:nvPr/>
        </p:nvSpPr>
        <p:spPr>
          <a:xfrm>
            <a:off x="1615288" y="3154680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GOOD HEALTH &amp; WELL-BEING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5"/>
          <p:cNvSpPr/>
          <p:nvPr/>
        </p:nvSpPr>
        <p:spPr>
          <a:xfrm>
            <a:off x="1615288" y="3520440"/>
            <a:ext cx="4069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16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Restores communication &amp; agency for paralyzed patients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Direct mental-health &amp; rehab impact via gaze therapeutics</a:t>
            </a:r>
          </a:p>
        </p:txBody>
      </p:sp>
      <p:sp>
        <p:nvSpPr>
          <p:cNvPr id="796" name="Google Shape;796;p35"/>
          <p:cNvSpPr/>
          <p:nvPr/>
        </p:nvSpPr>
        <p:spPr>
          <a:xfrm>
            <a:off x="6278728" y="2880360"/>
            <a:ext cx="5440680" cy="1691640"/>
          </a:xfrm>
          <a:prstGeom prst="roundRect">
            <a:avLst>
              <a:gd fmla="val 4324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5"/>
          <p:cNvSpPr/>
          <p:nvPr/>
        </p:nvSpPr>
        <p:spPr>
          <a:xfrm>
            <a:off x="6507328" y="31546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5"/>
          <p:cNvSpPr/>
          <p:nvPr/>
        </p:nvSpPr>
        <p:spPr>
          <a:xfrm>
            <a:off x="6507328" y="31546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2400"/>
              <a:buFont typeface="Arial"/>
              <a:buNone/>
            </a:pPr>
            <a:r>
              <a:rPr sz="2400" b="1">
                <a:solidFill>
                  <a:srgbClr val="0B1A2E"/>
                </a:solidFill>
                <a:latin typeface="Inter Display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5"/>
          <p:cNvSpPr/>
          <p:nvPr/>
        </p:nvSpPr>
        <p:spPr>
          <a:xfrm>
            <a:off x="7421728" y="3154680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B020"/>
                </a:solidFill>
                <a:latin typeface="Inter"/>
                <a:ea typeface="Calibri"/>
                <a:cs typeface="Calibri"/>
                <a:sym typeface="Calibri"/>
              </a:rPr>
              <a:t>INDUSTRY, INNOVATION &amp; INFRASTRUCTURE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5"/>
          <p:cNvSpPr/>
          <p:nvPr/>
        </p:nvSpPr>
        <p:spPr>
          <a:xfrm>
            <a:off x="7421728" y="3520440"/>
            <a:ext cx="4069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16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Open-source assistive hardware built from ₹800 of parts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Proves inclusive innovation doesn't need a multi-crore lab</a:t>
            </a:r>
          </a:p>
        </p:txBody>
      </p:sp>
      <p:sp>
        <p:nvSpPr>
          <p:cNvPr id="801" name="Google Shape;801;p35"/>
          <p:cNvSpPr/>
          <p:nvPr/>
        </p:nvSpPr>
        <p:spPr>
          <a:xfrm>
            <a:off x="472288" y="4800600"/>
            <a:ext cx="5440680" cy="1691640"/>
          </a:xfrm>
          <a:prstGeom prst="roundRect">
            <a:avLst>
              <a:gd fmla="val 4324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5"/>
          <p:cNvSpPr/>
          <p:nvPr/>
        </p:nvSpPr>
        <p:spPr>
          <a:xfrm>
            <a:off x="700888" y="50749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5"/>
          <p:cNvSpPr/>
          <p:nvPr/>
        </p:nvSpPr>
        <p:spPr>
          <a:xfrm>
            <a:off x="700888" y="50749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2400"/>
              <a:buFont typeface="Arial"/>
              <a:buNone/>
            </a:pPr>
            <a:r>
              <a:rPr sz="2400" b="1">
                <a:solidFill>
                  <a:srgbClr val="0B1A2E"/>
                </a:solidFill>
                <a:latin typeface="Inter Display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5"/>
          <p:cNvSpPr/>
          <p:nvPr/>
        </p:nvSpPr>
        <p:spPr>
          <a:xfrm>
            <a:off x="1615288" y="5074920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REDUCED INEQUALITIES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5"/>
          <p:cNvSpPr/>
          <p:nvPr/>
        </p:nvSpPr>
        <p:spPr>
          <a:xfrm>
            <a:off x="1615288" y="5440680"/>
            <a:ext cx="4069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16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Bridges the assistive-tech divide for low-income families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Replaces ₹25L–₹30L imports with an accessible Indian solution</a:t>
            </a:r>
          </a:p>
        </p:txBody>
      </p:sp>
      <p:sp>
        <p:nvSpPr>
          <p:cNvPr id="806" name="Google Shape;806;p35"/>
          <p:cNvSpPr/>
          <p:nvPr/>
        </p:nvSpPr>
        <p:spPr>
          <a:xfrm>
            <a:off x="6278728" y="4800600"/>
            <a:ext cx="5440680" cy="1691640"/>
          </a:xfrm>
          <a:prstGeom prst="roundRect">
            <a:avLst>
              <a:gd fmla="val 4324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5"/>
          <p:cNvSpPr/>
          <p:nvPr/>
        </p:nvSpPr>
        <p:spPr>
          <a:xfrm>
            <a:off x="6507328" y="50749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5"/>
          <p:cNvSpPr/>
          <p:nvPr/>
        </p:nvSpPr>
        <p:spPr>
          <a:xfrm>
            <a:off x="6507328" y="50749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2400"/>
              <a:buFont typeface="Arial"/>
              <a:buNone/>
            </a:pPr>
            <a:r>
              <a:rPr sz="2400" b="1">
                <a:solidFill>
                  <a:srgbClr val="0B1A2E"/>
                </a:solidFill>
                <a:latin typeface="Inter Display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5"/>
          <p:cNvSpPr/>
          <p:nvPr/>
        </p:nvSpPr>
        <p:spPr>
          <a:xfrm>
            <a:off x="7421728" y="5074920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B020"/>
                </a:solidFill>
                <a:latin typeface="Inter"/>
                <a:ea typeface="Calibri"/>
                <a:cs typeface="Calibri"/>
                <a:sym typeface="Calibri"/>
              </a:rPr>
              <a:t>PARTNERSHIPS FOR THE GOALS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5"/>
          <p:cNvSpPr/>
          <p:nvPr/>
        </p:nvSpPr>
        <p:spPr>
          <a:xfrm>
            <a:off x="7421728" y="5440680"/>
            <a:ext cx="4069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16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Will scale via hospitals, rehab centers &amp; disability NGOs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Open collaboration for community impact rather than monopolies</a:t>
            </a:r>
          </a:p>
        </p:txBody>
      </p:sp>
      <p:pic>
        <p:nvPicPr>
          <p:cNvPr id="811" name="Picture 810" descr="sdg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88" y="3154680"/>
            <a:ext cx="822960" cy="822960"/>
          </a:xfrm>
          <a:prstGeom prst="rect">
            <a:avLst/>
          </a:prstGeom>
        </p:spPr>
      </p:pic>
      <p:pic>
        <p:nvPicPr>
          <p:cNvPr id="812" name="Picture 811" descr="sdg_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3154680"/>
            <a:ext cx="822960" cy="822960"/>
          </a:xfrm>
          <a:prstGeom prst="rect">
            <a:avLst/>
          </a:prstGeom>
        </p:spPr>
      </p:pic>
      <p:pic>
        <p:nvPicPr>
          <p:cNvPr id="813" name="Picture 812" descr="sdg_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888" y="5074920"/>
            <a:ext cx="822960" cy="822960"/>
          </a:xfrm>
          <a:prstGeom prst="rect">
            <a:avLst/>
          </a:prstGeom>
        </p:spPr>
      </p:pic>
      <p:pic>
        <p:nvPicPr>
          <p:cNvPr id="814" name="Picture 813" descr="sdg_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328" y="5074920"/>
            <a:ext cx="822960" cy="82296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6"/>
          <p:cNvSpPr txBox="1"/>
          <p:nvPr/>
        </p:nvSpPr>
        <p:spPr>
          <a:xfrm>
            <a:off x="502920" y="2743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816" name="Google Shape;816;p36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PROJECT IRIS</a:t>
            </a:r>
            <a:endParaRPr/>
          </a:p>
        </p:txBody>
      </p:sp>
      <p:sp>
        <p:nvSpPr>
          <p:cNvPr id="817" name="Google Shape;817;p36"/>
          <p:cNvSpPr txBox="1"/>
          <p:nvPr/>
        </p:nvSpPr>
        <p:spPr>
          <a:xfrm>
            <a:off x="502920" y="777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SDG ALIGNMENT + DISTRIBUTION</a:t>
            </a:r>
            <a:endParaRPr/>
          </a:p>
        </p:txBody>
      </p:sp>
      <p:sp>
        <p:nvSpPr>
          <p:cNvPr id="818" name="Google Shape;818;p36"/>
          <p:cNvSpPr txBox="1"/>
          <p:nvPr/>
        </p:nvSpPr>
        <p:spPr>
          <a:xfrm>
            <a:off x="502920" y="11887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UN Sustainable Development Goals.</a:t>
            </a:r>
            <a:endParaRPr/>
          </a:p>
        </p:txBody>
      </p:sp>
      <p:sp>
        <p:nvSpPr>
          <p:cNvPr id="819" name="Google Shape;819;p36"/>
          <p:cNvSpPr/>
          <p:nvPr/>
        </p:nvSpPr>
        <p:spPr>
          <a:xfrm>
            <a:off x="502920" y="2194560"/>
            <a:ext cx="2606040" cy="2194560"/>
          </a:xfrm>
          <a:prstGeom prst="roundRect">
            <a:avLst>
              <a:gd fmla="val 16667" name="adj"/>
            </a:avLst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6"/>
          <p:cNvSpPr txBox="1"/>
          <p:nvPr/>
        </p:nvSpPr>
        <p:spPr>
          <a:xfrm>
            <a:off x="502920" y="2331720"/>
            <a:ext cx="2606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821" name="Google Shape;821;p36"/>
          <p:cNvSpPr txBox="1"/>
          <p:nvPr/>
        </p:nvSpPr>
        <p:spPr>
          <a:xfrm>
            <a:off x="640080" y="310896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GOOD HEALTH</a:t>
            </a:r>
            <a:endParaRPr/>
          </a:p>
        </p:txBody>
      </p:sp>
      <p:sp>
        <p:nvSpPr>
          <p:cNvPr id="822" name="Google Shape;822;p36"/>
          <p:cNvSpPr txBox="1"/>
          <p:nvPr/>
        </p:nvSpPr>
        <p:spPr>
          <a:xfrm>
            <a:off x="640080" y="365760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Restores communication</a:t>
            </a:r>
            <a:br>
              <a:rPr b="0" i="0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for severe motor disability</a:t>
            </a:r>
            <a:endParaRPr/>
          </a:p>
        </p:txBody>
      </p:sp>
      <p:sp>
        <p:nvSpPr>
          <p:cNvPr id="823" name="Google Shape;823;p36"/>
          <p:cNvSpPr/>
          <p:nvPr/>
        </p:nvSpPr>
        <p:spPr>
          <a:xfrm>
            <a:off x="3291839" y="2194560"/>
            <a:ext cx="2606040" cy="2194560"/>
          </a:xfrm>
          <a:prstGeom prst="roundRect">
            <a:avLst>
              <a:gd fmla="val 16667" name="adj"/>
            </a:avLst>
          </a:prstGeom>
          <a:solidFill>
            <a:srgbClr val="FD3C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6"/>
          <p:cNvSpPr txBox="1"/>
          <p:nvPr/>
        </p:nvSpPr>
        <p:spPr>
          <a:xfrm>
            <a:off x="3291839" y="2331720"/>
            <a:ext cx="2606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825" name="Google Shape;825;p36"/>
          <p:cNvSpPr txBox="1"/>
          <p:nvPr/>
        </p:nvSpPr>
        <p:spPr>
          <a:xfrm>
            <a:off x="3428999" y="310896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INDUSTRY &amp; INNOVATION</a:t>
            </a:r>
            <a:endParaRPr/>
          </a:p>
        </p:txBody>
      </p:sp>
      <p:sp>
        <p:nvSpPr>
          <p:cNvPr id="826" name="Google Shape;826;p36"/>
          <p:cNvSpPr txBox="1"/>
          <p:nvPr/>
        </p:nvSpPr>
        <p:spPr>
          <a:xfrm>
            <a:off x="3428999" y="365760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sz="1000" b="0" i="0">
                <a:solidFill>
                  <a:srgbClr val="FFFFFF"/>
                </a:solidFill>
                <a:latin typeface="Inter"/>
              </a:rPr>
              <a:t>Open hardware from
₹800 of components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6"/>
          <p:cNvSpPr/>
          <p:nvPr/>
        </p:nvSpPr>
        <p:spPr>
          <a:xfrm>
            <a:off x="6080759" y="2194560"/>
            <a:ext cx="2606040" cy="2194560"/>
          </a:xfrm>
          <a:prstGeom prst="roundRect">
            <a:avLst>
              <a:gd fmla="val 16667" name="adj"/>
            </a:avLst>
          </a:prstGeom>
          <a:solidFill>
            <a:srgbClr val="DD13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6"/>
          <p:cNvSpPr txBox="1"/>
          <p:nvPr/>
        </p:nvSpPr>
        <p:spPr>
          <a:xfrm>
            <a:off x="6080759" y="2331720"/>
            <a:ext cx="2606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829" name="Google Shape;829;p36"/>
          <p:cNvSpPr txBox="1"/>
          <p:nvPr/>
        </p:nvSpPr>
        <p:spPr>
          <a:xfrm>
            <a:off x="6217920" y="310896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REDUCED INEQUALITIES</a:t>
            </a:r>
            <a:endParaRPr/>
          </a:p>
        </p:txBody>
      </p:sp>
      <p:sp>
        <p:nvSpPr>
          <p:cNvPr id="830" name="Google Shape;830;p36"/>
          <p:cNvSpPr txBox="1"/>
          <p:nvPr/>
        </p:nvSpPr>
        <p:spPr>
          <a:xfrm>
            <a:off x="6217920" y="365760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Bridges the digital divide</a:t>
            </a:r>
            <a:br>
              <a:rPr b="0" i="0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for low-income families</a:t>
            </a:r>
            <a:endParaRPr/>
          </a:p>
        </p:txBody>
      </p:sp>
      <p:sp>
        <p:nvSpPr>
          <p:cNvPr id="831" name="Google Shape;831;p36"/>
          <p:cNvSpPr/>
          <p:nvPr/>
        </p:nvSpPr>
        <p:spPr>
          <a:xfrm>
            <a:off x="8869680" y="2194560"/>
            <a:ext cx="2606040" cy="2194560"/>
          </a:xfrm>
          <a:prstGeom prst="roundRect">
            <a:avLst>
              <a:gd fmla="val 16667" name="adj"/>
            </a:avLst>
          </a:prstGeom>
          <a:solidFill>
            <a:srgbClr val="133A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6"/>
          <p:cNvSpPr txBox="1"/>
          <p:nvPr/>
        </p:nvSpPr>
        <p:spPr>
          <a:xfrm>
            <a:off x="8869680" y="2331720"/>
            <a:ext cx="2606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833" name="Google Shape;833;p36"/>
          <p:cNvSpPr txBox="1"/>
          <p:nvPr/>
        </p:nvSpPr>
        <p:spPr>
          <a:xfrm>
            <a:off x="9006840" y="310896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PARTNERSHIPS</a:t>
            </a:r>
            <a:endParaRPr/>
          </a:p>
        </p:txBody>
      </p:sp>
      <p:sp>
        <p:nvSpPr>
          <p:cNvPr id="834" name="Google Shape;834;p36"/>
          <p:cNvSpPr txBox="1"/>
          <p:nvPr/>
        </p:nvSpPr>
        <p:spPr>
          <a:xfrm>
            <a:off x="9006840" y="365760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Distributed via hospitals</a:t>
            </a:r>
            <a:br>
              <a:rPr b="0" i="0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and NGOs at near-cost</a:t>
            </a:r>
            <a:endParaRPr/>
          </a:p>
        </p:txBody>
      </p:sp>
      <p:sp>
        <p:nvSpPr>
          <p:cNvPr id="835" name="Google Shape;835;p36"/>
          <p:cNvSpPr txBox="1"/>
          <p:nvPr/>
        </p:nvSpPr>
        <p:spPr>
          <a:xfrm>
            <a:off x="502920" y="4663440"/>
            <a:ext cx="109728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DISTRIBUTION PARTNERS PLAN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ims.jpg" id="836" name="Google Shape;83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5029200"/>
            <a:ext cx="201168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36"/>
          <p:cNvSpPr txBox="1"/>
          <p:nvPr/>
        </p:nvSpPr>
        <p:spPr>
          <a:xfrm>
            <a:off x="502920" y="64465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AIIMS Delhi</a:t>
            </a:r>
            <a:endParaRPr/>
          </a:p>
        </p:txBody>
      </p:sp>
      <p:sp>
        <p:nvSpPr>
          <p:cNvPr id="838" name="Google Shape;838;p36"/>
          <p:cNvSpPr txBox="1"/>
          <p:nvPr/>
        </p:nvSpPr>
        <p:spPr>
          <a:xfrm>
            <a:off x="502920" y="662940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Neurology + Rehab Wards</a:t>
            </a:r>
            <a:endParaRPr/>
          </a:p>
        </p:txBody>
      </p:sp>
      <p:pic>
        <p:nvPicPr>
          <p:cNvPr descr="nimhans.jpg" id="839" name="Google Shape;83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0" y="5029200"/>
            <a:ext cx="201168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36"/>
          <p:cNvSpPr txBox="1"/>
          <p:nvPr/>
        </p:nvSpPr>
        <p:spPr>
          <a:xfrm>
            <a:off x="2743200" y="64465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NIMHANS Bangalore</a:t>
            </a:r>
            <a:endParaRPr/>
          </a:p>
        </p:txBody>
      </p:sp>
      <p:sp>
        <p:nvSpPr>
          <p:cNvPr id="841" name="Google Shape;841;p36"/>
          <p:cNvSpPr txBox="1"/>
          <p:nvPr/>
        </p:nvSpPr>
        <p:spPr>
          <a:xfrm>
            <a:off x="2743200" y="662940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Neurosciences + Mental Health</a:t>
            </a:r>
            <a:endParaRPr/>
          </a:p>
        </p:txBody>
      </p:sp>
      <p:sp>
        <p:nvSpPr>
          <p:cNvPr id="842" name="Google Shape;842;p36"/>
          <p:cNvSpPr/>
          <p:nvPr/>
        </p:nvSpPr>
        <p:spPr>
          <a:xfrm>
            <a:off x="5029200" y="5029200"/>
            <a:ext cx="6675120" cy="164592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0E74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6"/>
          <p:cNvSpPr txBox="1"/>
          <p:nvPr/>
        </p:nvSpPr>
        <p:spPr>
          <a:xfrm>
            <a:off x="5212080" y="5120640"/>
            <a:ext cx="6309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22D3EE"/>
                </a:solidFill>
                <a:latin typeface="Inter"/>
              </a:rPr>
              <a:t>PLANNED HOSPITAL &amp; NGO VALIDATION PARTNERS</a:t>
            </a:r>
            <a:endParaRPr/>
          </a:p>
        </p:txBody>
      </p:sp>
      <p:sp>
        <p:nvSpPr>
          <p:cNvPr id="844" name="Google Shape;844;p36"/>
          <p:cNvSpPr txBox="1"/>
          <p:nvPr/>
        </p:nvSpPr>
        <p:spPr>
          <a:xfrm>
            <a:off x="5212080" y="5394960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Inter"/>
              </a:rPr>
              <a:t>AIIMS Delhi · NIMHANS Bangalore · APD India · Amar Seva Sangam · The Spinal Foundation</a:t>
            </a:r>
            <a:endParaRPr/>
          </a:p>
        </p:txBody>
      </p:sp>
      <p:sp>
        <p:nvSpPr>
          <p:cNvPr id="845" name="Google Shape;845;p36"/>
          <p:cNvSpPr txBox="1"/>
          <p:nvPr/>
        </p:nvSpPr>
        <p:spPr>
          <a:xfrm>
            <a:off x="5212080" y="5760720"/>
            <a:ext cx="6309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Will partner with AIIMS Delhi &amp; NIMHANS Bangalore neurology wards for clinical pilot validation.</a:t>
            </a:r>
            <a:endParaRPr/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•  </a:t>
            </a:r>
            <a:r>
              <a:rPr sz="1200" b="0">
                <a:solidFill>
                  <a:srgbClr val="CDD5E2"/>
                </a:solidFill>
                <a:latin typeface="Inter"/>
              </a:rPr>
              <a:t>Will collaborate with APD India, Amar Seva Sangam &amp; The Spinal Foundation for patient trials and subsidized rollout.</a:t>
            </a:r>
          </a:p>
        </p:txBody>
      </p:sp>
      <p:pic>
        <p:nvPicPr>
          <p:cNvPr id="846" name="Picture 845" descr="sdg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2377440"/>
            <a:ext cx="594360" cy="594360"/>
          </a:xfrm>
          <a:prstGeom prst="rect">
            <a:avLst/>
          </a:prstGeom>
        </p:spPr>
      </p:pic>
      <p:pic>
        <p:nvPicPr>
          <p:cNvPr id="847" name="Picture 846" descr="sdg_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2377440"/>
            <a:ext cx="594360" cy="594360"/>
          </a:xfrm>
          <a:prstGeom prst="rect">
            <a:avLst/>
          </a:prstGeom>
        </p:spPr>
      </p:pic>
      <p:pic>
        <p:nvPicPr>
          <p:cNvPr id="848" name="Picture 847" descr="sdg_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2377440"/>
            <a:ext cx="594360" cy="594360"/>
          </a:xfrm>
          <a:prstGeom prst="rect">
            <a:avLst/>
          </a:prstGeom>
        </p:spPr>
      </p:pic>
      <p:pic>
        <p:nvPicPr>
          <p:cNvPr id="849" name="Picture 848" descr="sdg_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9920" y="2377440"/>
            <a:ext cx="594360" cy="59436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37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7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7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100" b="1">
                <a:solidFill>
                  <a:srgbClr val="22D3EE"/>
                </a:solidFill>
                <a:latin typeface="Inter"/>
              </a:rPr>
              <a:t>FUTURE VIABILITY &amp; SCALE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7"/>
          <p:cNvSpPr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sz="3200" b="1">
                <a:solidFill>
                  <a:srgbClr val="FFFFFF"/>
                </a:solidFill>
                <a:latin typeface="Inter Display"/>
              </a:rPr>
              <a:t>Engineered to scale into a complete system.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7"/>
          <p:cNvSpPr/>
          <p:nvPr/>
        </p:nvSpPr>
        <p:spPr>
          <a:xfrm>
            <a:off x="502920" y="21945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5D6"/>
              </a:buClr>
              <a:buSzPts val="1400"/>
              <a:buFont typeface="Calibri"/>
              <a:buNone/>
            </a:pPr>
            <a:r>
              <a:rPr sz="1400" i="1">
                <a:solidFill>
                  <a:srgbClr val="B7C5D6"/>
                </a:solidFill>
                <a:latin typeface="Inter"/>
              </a:rPr>
              <a:t>Once clinical &amp; NGO validations complete, IRIS will scale through a sustainable hardware + app model.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7"/>
          <p:cNvSpPr/>
          <p:nvPr/>
        </p:nvSpPr>
        <p:spPr>
          <a:xfrm>
            <a:off x="502920" y="2926080"/>
            <a:ext cx="3657600" cy="1143000"/>
          </a:xfrm>
          <a:prstGeom prst="roundRect">
            <a:avLst>
              <a:gd fmla="val 6400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7"/>
          <p:cNvSpPr/>
          <p:nvPr/>
        </p:nvSpPr>
        <p:spPr>
          <a:xfrm>
            <a:off x="731520" y="3035808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22D3EE"/>
                </a:solidFill>
                <a:latin typeface="Inter Display"/>
                <a:ea typeface="Arial"/>
                <a:cs typeface="Arial"/>
                <a:sym typeface="Arial"/>
              </a:rPr>
              <a:t>₹15 Cr+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7"/>
          <p:cNvSpPr/>
          <p:nvPr/>
        </p:nvSpPr>
        <p:spPr>
          <a:xfrm>
            <a:off x="731520" y="3523296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India TAM — ~100K severe-motor-disability users × ₹1,500 retail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7"/>
          <p:cNvSpPr/>
          <p:nvPr/>
        </p:nvSpPr>
        <p:spPr>
          <a:xfrm>
            <a:off x="502920" y="4206240"/>
            <a:ext cx="3657600" cy="1143000"/>
          </a:xfrm>
          <a:prstGeom prst="roundRect">
            <a:avLst>
              <a:gd fmla="val 6400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7"/>
          <p:cNvSpPr/>
          <p:nvPr/>
        </p:nvSpPr>
        <p:spPr>
          <a:xfrm>
            <a:off x="731520" y="4315968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22D3EE"/>
                </a:solidFill>
                <a:latin typeface="Inter Display"/>
                <a:ea typeface="Arial"/>
                <a:cs typeface="Arial"/>
                <a:sym typeface="Arial"/>
              </a:rPr>
              <a:t>$20B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7"/>
          <p:cNvSpPr/>
          <p:nvPr/>
        </p:nvSpPr>
        <p:spPr>
          <a:xfrm>
            <a:off x="731520" y="48463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Global assistive-tech market, growing at 8% CAGR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7"/>
          <p:cNvSpPr/>
          <p:nvPr/>
        </p:nvSpPr>
        <p:spPr>
          <a:xfrm>
            <a:off x="502920" y="5486400"/>
            <a:ext cx="3657600" cy="1143000"/>
          </a:xfrm>
          <a:prstGeom prst="roundRect">
            <a:avLst>
              <a:gd fmla="val 6400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7"/>
          <p:cNvSpPr/>
          <p:nvPr/>
        </p:nvSpPr>
        <p:spPr>
          <a:xfrm>
            <a:off x="731520" y="5596128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22D3EE"/>
                </a:solidFill>
                <a:latin typeface="Inter Display"/>
                <a:ea typeface="Arial"/>
                <a:cs typeface="Arial"/>
                <a:sym typeface="Arial"/>
              </a:rPr>
              <a:t>99.96%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7"/>
          <p:cNvSpPr/>
          <p:nvPr/>
        </p:nvSpPr>
        <p:spPr>
          <a:xfrm>
            <a:off x="731520" y="61264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Price advantage vs commercial eye-tracker (Tobii ~₹25L)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7"/>
          <p:cNvSpPr/>
          <p:nvPr/>
        </p:nvSpPr>
        <p:spPr>
          <a:xfrm>
            <a:off x="4572000" y="2926080"/>
            <a:ext cx="7132320" cy="1691640"/>
          </a:xfrm>
          <a:prstGeom prst="roundRect">
            <a:avLst>
              <a:gd fmla="val 4324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7"/>
          <p:cNvSpPr/>
          <p:nvPr/>
        </p:nvSpPr>
        <p:spPr>
          <a:xfrm>
            <a:off x="4846320" y="3063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00"/>
              <a:buFont typeface="Calibri"/>
              <a:buNone/>
            </a:pPr>
            <a:r>
              <a:rPr sz="900" b="1">
                <a:solidFill>
                  <a:srgbClr val="22D3EE"/>
                </a:solidFill>
                <a:latin typeface="Inter"/>
              </a:rPr>
              <a:t>PLANNED FUTURE MODEL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7"/>
          <p:cNvSpPr/>
          <p:nvPr/>
        </p:nvSpPr>
        <p:spPr>
          <a:xfrm>
            <a:off x="4846320" y="3337560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Hardware + Companion App SaaS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7"/>
          <p:cNvSpPr/>
          <p:nvPr/>
        </p:nvSpPr>
        <p:spPr>
          <a:xfrm>
            <a:off x="4846320" y="3749040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100" b="1">
                <a:solidFill>
                  <a:srgbClr val="22D3EE"/>
                </a:solidFill>
                <a:latin typeface="Inter"/>
              </a:rPr>
              <a:t>• Future Complete Kit: ₹3,000–₹3,500 planned price (₹800 prototype BOM + custom PCB, case &amp; warranty).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7"/>
          <p:cNvSpPr/>
          <p:nvPr/>
        </p:nvSpPr>
        <p:spPr>
          <a:xfrm>
            <a:off x="4846320" y="4114800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100" b="1">
                <a:solidFill>
                  <a:srgbClr val="22D3EE"/>
                </a:solidFill>
                <a:latin typeface="Inter"/>
              </a:rPr>
              <a:t>• Companion App: Free core tiles + optional ₹99/month advanced telemetry &amp; cloud pack.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7"/>
          <p:cNvSpPr/>
          <p:nvPr/>
        </p:nvSpPr>
        <p:spPr>
          <a:xfrm>
            <a:off x="4572000" y="4800600"/>
            <a:ext cx="7132320" cy="1783080"/>
          </a:xfrm>
          <a:prstGeom prst="roundRect">
            <a:avLst>
              <a:gd fmla="val 4103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7"/>
          <p:cNvSpPr/>
          <p:nvPr/>
        </p:nvSpPr>
        <p:spPr>
          <a:xfrm>
            <a:off x="4846320" y="49377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00"/>
              <a:buFont typeface="Calibri"/>
              <a:buNone/>
            </a:pPr>
            <a:r>
              <a:rPr sz="900" b="1">
                <a:solidFill>
                  <a:srgbClr val="22D3EE"/>
                </a:solidFill>
                <a:latin typeface="Inter"/>
              </a:rPr>
              <a:t>PLANNED DISTRIBUTION CHANNELS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7"/>
          <p:cNvSpPr/>
          <p:nvPr/>
        </p:nvSpPr>
        <p:spPr>
          <a:xfrm>
            <a:off x="4846320" y="5212080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Hospitals + rehab centres + NGOs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7"/>
          <p:cNvSpPr/>
          <p:nvPr/>
        </p:nvSpPr>
        <p:spPr>
          <a:xfrm>
            <a:off x="4846320" y="56235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Tier-1 hospitals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7"/>
          <p:cNvSpPr/>
          <p:nvPr/>
        </p:nvSpPr>
        <p:spPr>
          <a:xfrm>
            <a:off x="6675120" y="562356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000"/>
              <a:buFont typeface="Calibri"/>
              <a:buNone/>
            </a:pPr>
            <a:r>
              <a:rPr sz="1000">
                <a:solidFill>
                  <a:srgbClr val="CDD5E2"/>
                </a:solidFill>
                <a:latin typeface="Inter"/>
              </a:rPr>
              <a:t>Apollo, AIIMS &amp; NIMHANS neurology + rehab wards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7"/>
          <p:cNvSpPr/>
          <p:nvPr/>
        </p:nvSpPr>
        <p:spPr>
          <a:xfrm>
            <a:off x="4846320" y="59161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Inclusive access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7"/>
          <p:cNvSpPr/>
          <p:nvPr/>
        </p:nvSpPr>
        <p:spPr>
          <a:xfrm>
            <a:off x="6675120" y="591616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000"/>
              <a:buFont typeface="Calibri"/>
              <a:buNone/>
            </a:pPr>
            <a:r>
              <a:rPr sz="1000">
                <a:solidFill>
                  <a:srgbClr val="CDD5E2"/>
                </a:solidFill>
                <a:latin typeface="Inter"/>
              </a:rPr>
              <a:t>NGO validation &amp; subsidized access (APD, Amar Seva Sangam, Spinal Foundation)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7"/>
          <p:cNvSpPr/>
          <p:nvPr/>
        </p:nvSpPr>
        <p:spPr>
          <a:xfrm>
            <a:off x="4846320" y="620877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Long tail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7"/>
          <p:cNvSpPr/>
          <p:nvPr/>
        </p:nvSpPr>
        <p:spPr>
          <a:xfrm>
            <a:off x="6675120" y="6208776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D5E2"/>
              </a:buClr>
              <a:buSzPts val="1000"/>
              <a:buFont typeface="Calibri"/>
              <a:buNone/>
            </a:pPr>
            <a:r>
              <a:rPr sz="1000">
                <a:solidFill>
                  <a:srgbClr val="CDD5E2"/>
                </a:solidFill>
                <a:latin typeface="Inter"/>
              </a:rPr>
              <a:t>Project website (projectiris.dev) + future hands-free gaming expansion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7"/>
          <p:cNvSpPr txBox="1"/>
          <p:nvPr/>
        </p:nvSpPr>
        <p:spPr>
          <a:xfrm>
            <a:off x="502920" y="6546536"/>
            <a:ext cx="1115568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Sources: Derived from ~100K severe-motor-disability users × ₹1,500 retail; Vantage Market Research 2025; Tobii Dynavox retail India 2024</a:t>
            </a:r>
            <a:endParaRPr/>
          </a:p>
        </p:txBody>
      </p:sp>
    </p:spTree>
  </p:cSld>
  <p:clrMapOvr>
    <a:masterClrMapping/>
  </p:clrMapOvr>
  <p:transition spd="med" advClick="1">
    <p:fade thruBlk="0"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8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● PROJECT IRIS</a:t>
            </a:r>
            <a:endParaRPr/>
          </a:p>
        </p:txBody>
      </p:sp>
      <p:sp>
        <p:nvSpPr>
          <p:cNvPr id="885" name="Google Shape;885;p38"/>
          <p:cNvSpPr txBox="1"/>
          <p:nvPr/>
        </p:nvSpPr>
        <p:spPr>
          <a:xfrm>
            <a:off x="502920" y="2743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22D3EE"/>
                </a:solidFill>
                <a:latin typeface="Inter"/>
              </a:rPr>
              <a:t/>
            </a:r>
            <a:endParaRPr/>
          </a:p>
        </p:txBody>
      </p:sp>
      <p:sp>
        <p:nvSpPr>
          <p:cNvPr id="886" name="Google Shape;886;p38"/>
          <p:cNvSpPr txBox="1"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MARKET OPPORTUNITY</a:t>
            </a:r>
            <a:endParaRPr/>
          </a:p>
        </p:txBody>
      </p:sp>
      <p:sp>
        <p:nvSpPr>
          <p:cNvPr id="887" name="Google Shape;887;p38"/>
          <p:cNvSpPr txBox="1"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FFFFFF"/>
                </a:solidFill>
                <a:latin typeface="Inter Display"/>
                <a:ea typeface="Calibri"/>
                <a:cs typeface="Calibri"/>
                <a:sym typeface="Calibri"/>
              </a:rPr>
              <a:t>A market that's growing fast.</a:t>
            </a:r>
            <a:endParaRPr/>
          </a:p>
        </p:txBody>
      </p:sp>
      <p:sp>
        <p:nvSpPr>
          <p:cNvPr id="888" name="Google Shape;888;p38"/>
          <p:cNvSpPr txBox="1"/>
          <p:nvPr/>
        </p:nvSpPr>
        <p:spPr>
          <a:xfrm>
            <a:off x="502920" y="21945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The global assistive technology market is projected to grow at 8% CAGR.</a:t>
            </a:r>
            <a:endParaRPr/>
          </a:p>
        </p:txBody>
      </p:sp>
      <p:graphicFrame>
        <p:nvGraphicFramePr>
          <p:cNvPr id="889" name="Google Shape;889;p38"/>
          <p:cNvGraphicFramePr/>
          <p:nvPr/>
        </p:nvGraphicFramePr>
        <p:xfrm>
          <a:off x="502920" y="2926080"/>
          <a:ext cx="6858000" cy="32004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890" name="Google Shape;890;p38"/>
          <p:cNvSpPr/>
          <p:nvPr/>
        </p:nvSpPr>
        <p:spPr>
          <a:xfrm>
            <a:off x="7772400" y="2926080"/>
            <a:ext cx="3931920" cy="91440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0E74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8"/>
          <p:cNvSpPr txBox="1"/>
          <p:nvPr/>
        </p:nvSpPr>
        <p:spPr>
          <a:xfrm>
            <a:off x="8001000" y="301752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22D3EE"/>
                </a:solidFill>
                <a:latin typeface="Inter Display"/>
                <a:ea typeface="Calibri"/>
                <a:cs typeface="Calibri"/>
                <a:sym typeface="Calibri"/>
              </a:rPr>
              <a:t>$20B</a:t>
            </a:r>
            <a:endParaRPr/>
          </a:p>
        </p:txBody>
      </p:sp>
      <p:sp>
        <p:nvSpPr>
          <p:cNvPr id="892" name="Google Shape;892;p38"/>
          <p:cNvSpPr txBox="1"/>
          <p:nvPr/>
        </p:nvSpPr>
        <p:spPr>
          <a:xfrm>
            <a:off x="8001000" y="34747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Global AT market 2025</a:t>
            </a:r>
            <a:endParaRPr/>
          </a:p>
        </p:txBody>
      </p:sp>
      <p:sp>
        <p:nvSpPr>
          <p:cNvPr id="893" name="Google Shape;893;p38"/>
          <p:cNvSpPr/>
          <p:nvPr/>
        </p:nvSpPr>
        <p:spPr>
          <a:xfrm>
            <a:off x="7772400" y="4023360"/>
            <a:ext cx="3931920" cy="91440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0E74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8"/>
          <p:cNvSpPr txBox="1"/>
          <p:nvPr/>
        </p:nvSpPr>
        <p:spPr>
          <a:xfrm>
            <a:off x="8001000" y="41148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22D3EE"/>
                </a:solidFill>
                <a:latin typeface="Inter Display"/>
                <a:ea typeface="Calibri"/>
                <a:cs typeface="Calibri"/>
                <a:sym typeface="Calibri"/>
              </a:rPr>
              <a:t>$43B</a:t>
            </a:r>
            <a:endParaRPr/>
          </a:p>
        </p:txBody>
      </p:sp>
      <p:sp>
        <p:nvSpPr>
          <p:cNvPr id="895" name="Google Shape;895;p38"/>
          <p:cNvSpPr txBox="1"/>
          <p:nvPr/>
        </p:nvSpPr>
        <p:spPr>
          <a:xfrm>
            <a:off x="8001000" y="45720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Projected 2035</a:t>
            </a:r>
            <a:endParaRPr/>
          </a:p>
        </p:txBody>
      </p:sp>
      <p:sp>
        <p:nvSpPr>
          <p:cNvPr id="896" name="Google Shape;896;p38"/>
          <p:cNvSpPr/>
          <p:nvPr/>
        </p:nvSpPr>
        <p:spPr>
          <a:xfrm>
            <a:off x="7772400" y="5120640"/>
            <a:ext cx="3931920" cy="91440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0E74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8"/>
          <p:cNvSpPr txBox="1"/>
          <p:nvPr/>
        </p:nvSpPr>
        <p:spPr>
          <a:xfrm>
            <a:off x="8001000" y="5212079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22D3EE"/>
                </a:solidFill>
                <a:latin typeface="Inter Display"/>
                <a:ea typeface="Calibri"/>
                <a:cs typeface="Calibri"/>
                <a:sym typeface="Calibri"/>
              </a:rPr>
              <a:t>8%</a:t>
            </a:r>
            <a:endParaRPr/>
          </a:p>
        </p:txBody>
      </p:sp>
      <p:sp>
        <p:nvSpPr>
          <p:cNvPr id="898" name="Google Shape;898;p38"/>
          <p:cNvSpPr txBox="1"/>
          <p:nvPr/>
        </p:nvSpPr>
        <p:spPr>
          <a:xfrm>
            <a:off x="8001000" y="5669279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CDD5E2"/>
                </a:solidFill>
                <a:latin typeface="Inter"/>
                <a:ea typeface="Calibri"/>
                <a:cs typeface="Calibri"/>
                <a:sym typeface="Calibri"/>
              </a:rPr>
              <a:t>CAGR 2025–2035</a:t>
            </a:r>
            <a:endParaRPr/>
          </a:p>
        </p:txBody>
      </p:sp>
      <p:sp>
        <p:nvSpPr>
          <p:cNvPr id="899" name="Google Shape;899;p38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Sources: Vantage Market Research 2025 (Assistive Technology Market Report); Custom Market Insights 2026; WHO 2024</a:t>
            </a:r>
            <a:endParaRPr/>
          </a:p>
        </p:txBody>
      </p:sp>
    </p:spTree>
  </p:cSld>
  <p:clrMapOvr>
    <a:masterClrMapping/>
  </p:clrMapOvr>
  <p:transition spd="med" advClick="1">
    <p:fade thruBlk="0"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39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9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9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SOCIAL IMPACT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9"/>
          <p:cNvSpPr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Dignity. Voice. Independence.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9"/>
          <p:cNvSpPr/>
          <p:nvPr/>
        </p:nvSpPr>
        <p:spPr>
          <a:xfrm>
            <a:off x="449428" y="2377440"/>
            <a:ext cx="5440680" cy="1508760"/>
          </a:xfrm>
          <a:prstGeom prst="roundRect">
            <a:avLst>
              <a:gd fmla="val 4848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9"/>
          <p:cNvSpPr/>
          <p:nvPr/>
        </p:nvSpPr>
        <p:spPr>
          <a:xfrm>
            <a:off x="723748" y="2743200"/>
            <a:ext cx="548640" cy="548640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9"/>
          <p:cNvSpPr/>
          <p:nvPr/>
        </p:nvSpPr>
        <p:spPr>
          <a:xfrm>
            <a:off x="723748" y="2743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Arial"/>
              <a:buNone/>
            </a:pPr>
            <a:r>
              <a:rPr sz="1800" b="1">
                <a:solidFill>
                  <a:srgbClr val="22D3EE"/>
                </a:solidFill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9"/>
          <p:cNvSpPr/>
          <p:nvPr/>
        </p:nvSpPr>
        <p:spPr>
          <a:xfrm>
            <a:off x="1409548" y="2633472"/>
            <a:ext cx="4251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Restores independence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9"/>
          <p:cNvSpPr/>
          <p:nvPr/>
        </p:nvSpPr>
        <p:spPr>
          <a:xfrm>
            <a:off x="1409548" y="3035808"/>
            <a:ext cx="4251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1100"/>
              <a:buFont typeface="Calibri"/>
              <a:buNone/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Restores independent communication for non-verbal patients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Gives bedridden users control over their room &amp; digital life</a:t>
            </a:r>
          </a:p>
        </p:txBody>
      </p:sp>
      <p:sp>
        <p:nvSpPr>
          <p:cNvPr id="914" name="Google Shape;914;p39"/>
          <p:cNvSpPr/>
          <p:nvPr/>
        </p:nvSpPr>
        <p:spPr>
          <a:xfrm>
            <a:off x="6301588" y="2377440"/>
            <a:ext cx="5440680" cy="1508760"/>
          </a:xfrm>
          <a:prstGeom prst="roundRect">
            <a:avLst>
              <a:gd fmla="val 4848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9"/>
          <p:cNvSpPr/>
          <p:nvPr/>
        </p:nvSpPr>
        <p:spPr>
          <a:xfrm>
            <a:off x="6575908" y="2743200"/>
            <a:ext cx="548640" cy="548640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9"/>
          <p:cNvSpPr/>
          <p:nvPr/>
        </p:nvSpPr>
        <p:spPr>
          <a:xfrm>
            <a:off x="6575908" y="2743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Arial"/>
              <a:buNone/>
            </a:pPr>
            <a:r>
              <a:rPr sz="1800" b="1">
                <a:solidFill>
                  <a:srgbClr val="22D3EE"/>
                </a:solidFill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9"/>
          <p:cNvSpPr/>
          <p:nvPr/>
        </p:nvSpPr>
        <p:spPr>
          <a:xfrm>
            <a:off x="7261708" y="2633472"/>
            <a:ext cx="4251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Bridges the digital divide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9"/>
          <p:cNvSpPr/>
          <p:nvPr/>
        </p:nvSpPr>
        <p:spPr>
          <a:xfrm>
            <a:off x="7261708" y="3035808"/>
            <a:ext cx="4251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1100"/>
              <a:buFont typeface="Calibri"/>
              <a:buNone/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Replaces ₹25L+ imports with an ₹800 prototype architecture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CDD5E2"/>
                </a:solidFill>
                <a:latin typeface="Inter"/>
              </a:rPr>
              <a:t>Ensures assistive technology access doesn't depend on wealth</a:t>
            </a:r>
          </a:p>
        </p:txBody>
      </p:sp>
      <p:sp>
        <p:nvSpPr>
          <p:cNvPr id="919" name="Google Shape;919;p39"/>
          <p:cNvSpPr/>
          <p:nvPr/>
        </p:nvSpPr>
        <p:spPr>
          <a:xfrm>
            <a:off x="502920" y="4297680"/>
            <a:ext cx="11185855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600"/>
              <a:buFont typeface="Arial"/>
              <a:buNone/>
            </a:pPr>
            <a:r>
              <a:rPr b="1" i="1" lang="en-US" sz="3600">
                <a:solidFill>
                  <a:srgbClr val="22D3EE"/>
                </a:solidFill>
                <a:latin typeface="Inter Display"/>
                <a:ea typeface="Arial"/>
                <a:cs typeface="Arial"/>
                <a:sym typeface="Arial"/>
              </a:rPr>
              <a:t>For someone who can't lift a finger, this is freedom.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0" name="Picture 919" descr="icon_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48" y="2743200"/>
            <a:ext cx="548640" cy="548640"/>
          </a:xfrm>
          <a:prstGeom prst="rect">
            <a:avLst/>
          </a:prstGeom>
        </p:spPr>
      </p:pic>
      <p:pic>
        <p:nvPicPr>
          <p:cNvPr id="921" name="Picture 920" descr="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908" y="274320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0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40"/>
          <p:cNvSpPr/>
          <p:nvPr/>
        </p:nvSpPr>
        <p:spPr>
          <a:xfrm>
            <a:off x="502920" y="847902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40"/>
          <p:cNvSpPr/>
          <p:nvPr/>
        </p:nvSpPr>
        <p:spPr>
          <a:xfrm>
            <a:off x="4354490" y="160298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22D3EE"/>
                </a:solidFill>
                <a:latin typeface="Inter Display"/>
                <a:ea typeface="Calibri"/>
                <a:cs typeface="Calibri"/>
                <a:sym typeface="Calibri"/>
              </a:rPr>
              <a:t>THANK YOU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40"/>
          <p:cNvSpPr/>
          <p:nvPr/>
        </p:nvSpPr>
        <p:spPr>
          <a:xfrm>
            <a:off x="502920" y="2036622"/>
            <a:ext cx="1118585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1" lang="en-US" sz="40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Technology should be a bridge, not a wall.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40"/>
          <p:cNvSpPr/>
          <p:nvPr/>
        </p:nvSpPr>
        <p:spPr>
          <a:xfrm>
            <a:off x="5410048" y="3316782"/>
            <a:ext cx="13716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40"/>
          <p:cNvSpPr/>
          <p:nvPr/>
        </p:nvSpPr>
        <p:spPr>
          <a:xfrm>
            <a:off x="502920" y="3682542"/>
            <a:ext cx="111858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Project IRIS — built by Ayushman Choudhary.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40"/>
          <p:cNvSpPr/>
          <p:nvPr/>
        </p:nvSpPr>
        <p:spPr>
          <a:xfrm>
            <a:off x="502920" y="4185462"/>
            <a:ext cx="111858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C5D6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B7C5D6"/>
                </a:solidFill>
                <a:latin typeface="Inter"/>
                <a:ea typeface="Calibri"/>
                <a:cs typeface="Calibri"/>
                <a:sym typeface="Calibri"/>
              </a:rPr>
              <a:t>Headband, glasses, and a mission: independence for everyone who needs it.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40"/>
          <p:cNvSpPr/>
          <p:nvPr/>
        </p:nvSpPr>
        <p:spPr>
          <a:xfrm>
            <a:off x="502920" y="6105702"/>
            <a:ext cx="111858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>
                <a:latin typeface="Inter"/>
              </a:rP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 advClick="1">
    <p:fade thruBlk="0"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41"/>
          <p:cNvSpPr txBox="1"/>
          <p:nvPr/>
        </p:nvSpPr>
        <p:spPr>
          <a:xfrm>
            <a:off x="502920" y="2743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938" name="Google Shape;938;p41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PROJECT IRIS</a:t>
            </a:r>
            <a:endParaRPr/>
          </a:p>
        </p:txBody>
      </p:sp>
      <p:sp>
        <p:nvSpPr>
          <p:cNvPr id="939" name="Google Shape;939;p41"/>
          <p:cNvSpPr txBox="1"/>
          <p:nvPr/>
        </p:nvSpPr>
        <p:spPr>
          <a:xfrm>
            <a:off x="502920" y="777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WHERE TOBII WINS</a:t>
            </a:r>
            <a:endParaRPr/>
          </a:p>
        </p:txBody>
      </p:sp>
      <p:sp>
        <p:nvSpPr>
          <p:cNvPr id="940" name="Google Shape;940;p41"/>
          <p:cNvSpPr txBox="1"/>
          <p:nvPr/>
        </p:nvSpPr>
        <p:spPr>
          <a:xfrm>
            <a:off x="502920" y="11887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Where Tobii still wins.</a:t>
            </a:r>
            <a:endParaRPr/>
          </a:p>
        </p:txBody>
      </p:sp>
      <p:sp>
        <p:nvSpPr>
          <p:cNvPr id="941" name="Google Shape;941;p41"/>
          <p:cNvSpPr txBox="1"/>
          <p:nvPr/>
        </p:nvSpPr>
        <p:spPr>
          <a:xfrm>
            <a:off x="502920" y="21031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Being honest matters. Here's where commercial eye-trackers still have an edge over IRIS v2.</a:t>
            </a:r>
            <a:endParaRPr/>
          </a:p>
        </p:txBody>
      </p:sp>
      <p:sp>
        <p:nvSpPr>
          <p:cNvPr id="942" name="Google Shape;942;p41"/>
          <p:cNvSpPr txBox="1"/>
          <p:nvPr/>
        </p:nvSpPr>
        <p:spPr>
          <a:xfrm>
            <a:off x="502920" y="28346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⚠</a:t>
            </a:r>
            <a:endParaRPr/>
          </a:p>
        </p:txBody>
      </p:sp>
      <p:sp>
        <p:nvSpPr>
          <p:cNvPr id="943" name="Google Shape;943;p41"/>
          <p:cNvSpPr txBox="1"/>
          <p:nvPr/>
        </p:nvSpPr>
        <p:spPr>
          <a:xfrm>
            <a:off x="822960" y="283464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Medical-grade certifications</a:t>
            </a:r>
            <a:endParaRPr/>
          </a:p>
        </p:txBody>
      </p:sp>
      <p:sp>
        <p:nvSpPr>
          <p:cNvPr id="944" name="Google Shape;944;p41"/>
          <p:cNvSpPr txBox="1"/>
          <p:nvPr/>
        </p:nvSpPr>
        <p:spPr>
          <a:xfrm>
            <a:off x="822960" y="315468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CDD5E2"/>
                </a:solidFill>
                <a:latin typeface="Inter"/>
              </a:rPr>
              <a:t>• FDA-cleared and CE-marked for hospital billing; IRIS is currently a prototype preparing for NGO &amp; clinical trials.</a:t>
            </a:r>
            <a:endParaRPr/>
          </a:p>
        </p:txBody>
      </p:sp>
      <p:sp>
        <p:nvSpPr>
          <p:cNvPr id="945" name="Google Shape;945;p41"/>
          <p:cNvSpPr txBox="1"/>
          <p:nvPr/>
        </p:nvSpPr>
        <p:spPr>
          <a:xfrm>
            <a:off x="502920" y="36118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⚠</a:t>
            </a:r>
            <a:endParaRPr/>
          </a:p>
        </p:txBody>
      </p:sp>
      <p:sp>
        <p:nvSpPr>
          <p:cNvPr id="946" name="Google Shape;946;p41"/>
          <p:cNvSpPr txBox="1"/>
          <p:nvPr/>
        </p:nvSpPr>
        <p:spPr>
          <a:xfrm>
            <a:off x="822960" y="361188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Decades of validation</a:t>
            </a:r>
            <a:endParaRPr/>
          </a:p>
        </p:txBody>
      </p:sp>
      <p:sp>
        <p:nvSpPr>
          <p:cNvPr id="947" name="Google Shape;947;p41"/>
          <p:cNvSpPr txBox="1"/>
          <p:nvPr/>
        </p:nvSpPr>
        <p:spPr>
          <a:xfrm>
            <a:off x="822960" y="39319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CDD5E2"/>
                </a:solidFill>
                <a:latin typeface="Inter"/>
              </a:rPr>
              <a:t>• Backed by 20+ years of published clinical studies; IRIS is currently validated on bench &amp; pilot trials.</a:t>
            </a:r>
            <a:endParaRPr/>
          </a:p>
        </p:txBody>
      </p:sp>
      <p:sp>
        <p:nvSpPr>
          <p:cNvPr id="948" name="Google Shape;948;p41"/>
          <p:cNvSpPr txBox="1"/>
          <p:nvPr/>
        </p:nvSpPr>
        <p:spPr>
          <a:xfrm>
            <a:off x="502920" y="43891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⚠</a:t>
            </a:r>
            <a:endParaRPr/>
          </a:p>
        </p:txBody>
      </p:sp>
      <p:sp>
        <p:nvSpPr>
          <p:cNvPr id="949" name="Google Shape;949;p41"/>
          <p:cNvSpPr txBox="1"/>
          <p:nvPr/>
        </p:nvSpPr>
        <p:spPr>
          <a:xfrm>
            <a:off x="822960" y="43891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Dedicated hardware form factor</a:t>
            </a:r>
            <a:endParaRPr/>
          </a:p>
        </p:txBody>
      </p:sp>
      <p:sp>
        <p:nvSpPr>
          <p:cNvPr id="950" name="Google Shape;950;p41"/>
          <p:cNvSpPr txBox="1"/>
          <p:nvPr/>
        </p:nvSpPr>
        <p:spPr>
          <a:xfrm>
            <a:off x="822960" y="4709159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CDD5E2"/>
                </a:solidFill>
                <a:latin typeface="Inter"/>
              </a:rPr>
              <a:t>• Ships as an all-in-one ruggedized tablet with mounts; IRIS connects to the user's existing laptop or phone.</a:t>
            </a:r>
            <a:endParaRPr/>
          </a:p>
        </p:txBody>
      </p:sp>
      <p:sp>
        <p:nvSpPr>
          <p:cNvPr id="951" name="Google Shape;951;p41"/>
          <p:cNvSpPr txBox="1"/>
          <p:nvPr/>
        </p:nvSpPr>
        <p:spPr>
          <a:xfrm>
            <a:off x="502920" y="5166359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⚠</a:t>
            </a:r>
            <a:endParaRPr/>
          </a:p>
        </p:txBody>
      </p:sp>
      <p:sp>
        <p:nvSpPr>
          <p:cNvPr id="952" name="Google Shape;952;p41"/>
          <p:cNvSpPr txBox="1"/>
          <p:nvPr/>
        </p:nvSpPr>
        <p:spPr>
          <a:xfrm>
            <a:off x="822960" y="5166359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Professional support ecosystem</a:t>
            </a:r>
            <a:endParaRPr/>
          </a:p>
        </p:txBody>
      </p:sp>
      <p:sp>
        <p:nvSpPr>
          <p:cNvPr id="953" name="Google Shape;953;p41"/>
          <p:cNvSpPr txBox="1"/>
          <p:nvPr/>
        </p:nvSpPr>
        <p:spPr>
          <a:xfrm>
            <a:off x="822960" y="5486399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CDD5E2"/>
                </a:solidFill>
                <a:latin typeface="Inter"/>
              </a:rPr>
              <a:t>• Includes dedicated clinical field-support staff; IRIS will grow through open-source &amp; NGO support networks.</a:t>
            </a:r>
            <a:endParaRPr/>
          </a:p>
        </p:txBody>
      </p:sp>
      <p:sp>
        <p:nvSpPr>
          <p:cNvPr id="954" name="Google Shape;954;p41"/>
          <p:cNvSpPr txBox="1"/>
          <p:nvPr/>
        </p:nvSpPr>
        <p:spPr>
          <a:xfrm>
            <a:off x="502920" y="5943599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⚠</a:t>
            </a:r>
            <a:endParaRPr/>
          </a:p>
        </p:txBody>
      </p:sp>
      <p:sp>
        <p:nvSpPr>
          <p:cNvPr id="955" name="Google Shape;955;p41"/>
          <p:cNvSpPr txBox="1"/>
          <p:nvPr/>
        </p:nvSpPr>
        <p:spPr>
          <a:xfrm>
            <a:off x="822960" y="5943599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Hardware-grade eye tracking</a:t>
            </a:r>
            <a:endParaRPr/>
          </a:p>
        </p:txBody>
      </p:sp>
      <p:sp>
        <p:nvSpPr>
          <p:cNvPr id="956" name="Google Shape;956;p41"/>
          <p:cNvSpPr txBox="1"/>
          <p:nvPr/>
        </p:nvSpPr>
        <p:spPr>
          <a:xfrm>
            <a:off x="822960" y="6263639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CDD5E2"/>
                </a:solidFill>
                <a:latin typeface="Inter"/>
              </a:rPr>
              <a:t>• Uses 120Hz binocular cameras for sub-pixel gaze; IRIS uses multi-beam IR + IMU for drift-free tile &amp; cursor control.</a:t>
            </a:r>
            <a:endParaRPr/>
          </a:p>
        </p:txBody>
      </p:sp>
    </p:spTree>
  </p:cSld>
  <p:clrMapOvr>
    <a:masterClrMapping/>
  </p:clrMapOvr>
  <p:transition spd="med" advClick="1">
    <p:fade thruBlk="0"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42"/>
          <p:cNvSpPr txBox="1"/>
          <p:nvPr/>
        </p:nvSpPr>
        <p:spPr>
          <a:xfrm>
            <a:off x="502920" y="2743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962" name="Google Shape;962;p42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PROJECT IRIS</a:t>
            </a:r>
            <a:endParaRPr/>
          </a:p>
        </p:txBody>
      </p:sp>
      <p:sp>
        <p:nvSpPr>
          <p:cNvPr id="963" name="Google Shape;963;p42"/>
          <p:cNvSpPr txBox="1"/>
          <p:nvPr/>
        </p:nvSpPr>
        <p:spPr>
          <a:xfrm>
            <a:off x="502920" y="777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SENSORY &amp; COGNITIVE REHAB</a:t>
            </a:r>
            <a:endParaRPr/>
          </a:p>
        </p:txBody>
      </p:sp>
      <p:sp>
        <p:nvSpPr>
          <p:cNvPr id="964" name="Google Shape;964;p42"/>
          <p:cNvSpPr txBox="1"/>
          <p:nvPr/>
        </p:nvSpPr>
        <p:spPr>
          <a:xfrm>
            <a:off x="502920" y="11887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Beyond communication — joy, play, recovery.</a:t>
            </a:r>
            <a:endParaRPr/>
          </a:p>
        </p:txBody>
      </p:sp>
      <p:sp>
        <p:nvSpPr>
          <p:cNvPr id="965" name="Google Shape;965;p42"/>
          <p:cNvSpPr txBox="1"/>
          <p:nvPr/>
        </p:nvSpPr>
        <p:spPr>
          <a:xfrm>
            <a:off x="502920" y="21031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Bedridden patients suffer sensory deprivation and clinical depression. IRIS restores joy, play, and cognitive engagement.</a:t>
            </a:r>
            <a:endParaRPr/>
          </a:p>
        </p:txBody>
      </p:sp>
      <p:sp>
        <p:nvSpPr>
          <p:cNvPr id="966" name="Google Shape;966;p42"/>
          <p:cNvSpPr/>
          <p:nvPr/>
        </p:nvSpPr>
        <p:spPr>
          <a:xfrm>
            <a:off x="502920" y="2834640"/>
            <a:ext cx="5394960" cy="347472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0E74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42"/>
          <p:cNvSpPr txBox="1"/>
          <p:nvPr/>
        </p:nvSpPr>
        <p:spPr>
          <a:xfrm>
            <a:off x="731520" y="297180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360° COCKPIT FLIGHT SIMULATOR</a:t>
            </a:r>
            <a:endParaRPr/>
          </a:p>
        </p:txBody>
      </p:sp>
      <p:sp>
        <p:nvSpPr>
          <p:cNvPr id="968" name="Google Shape;968;p42"/>
          <p:cNvSpPr txBox="1"/>
          <p:nvPr/>
        </p:nvSpPr>
        <p:spPr>
          <a:xfrm>
            <a:off x="731520" y="3337560"/>
            <a:ext cx="4937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Photosphere</a:t>
            </a:r>
            <a:endParaRPr/>
          </a:p>
        </p:txBody>
      </p:sp>
      <p:sp>
        <p:nvSpPr>
          <p:cNvPr id="969" name="Google Shape;969;p42"/>
          <p:cNvSpPr txBox="1"/>
          <p:nvPr/>
        </p:nvSpPr>
        <p:spPr>
          <a:xfrm>
            <a:off x="777240" y="384048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970" name="Google Shape;970;p42"/>
          <p:cNvSpPr txBox="1"/>
          <p:nvPr/>
        </p:nvSpPr>
        <p:spPr>
          <a:xfrm>
            <a:off x="1005840" y="384048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Equirectangular 360° cockpit panorama</a:t>
            </a:r>
            <a:endParaRPr/>
          </a:p>
        </p:txBody>
      </p:sp>
      <p:sp>
        <p:nvSpPr>
          <p:cNvPr id="971" name="Google Shape;971;p42"/>
          <p:cNvSpPr txBox="1"/>
          <p:nvPr/>
        </p:nvSpPr>
        <p:spPr>
          <a:xfrm>
            <a:off x="777240" y="417880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972" name="Google Shape;972;p42"/>
          <p:cNvSpPr txBox="1"/>
          <p:nvPr/>
        </p:nvSpPr>
        <p:spPr>
          <a:xfrm>
            <a:off x="1005840" y="4178808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Gaze-driven yaw + pitch navigation</a:t>
            </a:r>
            <a:endParaRPr/>
          </a:p>
        </p:txBody>
      </p:sp>
      <p:sp>
        <p:nvSpPr>
          <p:cNvPr id="973" name="Google Shape;973;p42"/>
          <p:cNvSpPr txBox="1"/>
          <p:nvPr/>
        </p:nvSpPr>
        <p:spPr>
          <a:xfrm>
            <a:off x="777240" y="451713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974" name="Google Shape;974;p42"/>
          <p:cNvSpPr txBox="1"/>
          <p:nvPr/>
        </p:nvSpPr>
        <p:spPr>
          <a:xfrm>
            <a:off x="1005840" y="4517136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Real-time HUD: airspeed, altitude, heading</a:t>
            </a:r>
            <a:endParaRPr/>
          </a:p>
        </p:txBody>
      </p:sp>
      <p:sp>
        <p:nvSpPr>
          <p:cNvPr id="975" name="Google Shape;975;p42"/>
          <p:cNvSpPr txBox="1"/>
          <p:nvPr/>
        </p:nvSpPr>
        <p:spPr>
          <a:xfrm>
            <a:off x="777240" y="4855464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976" name="Google Shape;976;p42"/>
          <p:cNvSpPr txBox="1"/>
          <p:nvPr/>
        </p:nvSpPr>
        <p:spPr>
          <a:xfrm>
            <a:off x="1005840" y="4855464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60 FPS hardware-accelerated canvas rendering</a:t>
            </a:r>
            <a:endParaRPr/>
          </a:p>
        </p:txBody>
      </p:sp>
      <p:sp>
        <p:nvSpPr>
          <p:cNvPr id="977" name="Google Shape;977;p42"/>
          <p:cNvSpPr txBox="1"/>
          <p:nvPr/>
        </p:nvSpPr>
        <p:spPr>
          <a:xfrm>
            <a:off x="777240" y="5193792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978" name="Google Shape;978;p42"/>
          <p:cNvSpPr txBox="1"/>
          <p:nvPr/>
        </p:nvSpPr>
        <p:spPr>
          <a:xfrm>
            <a:off x="1005840" y="5193792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Artificial horizon + vertical speed indicator</a:t>
            </a:r>
            <a:endParaRPr/>
          </a:p>
        </p:txBody>
      </p:sp>
      <p:sp>
        <p:nvSpPr>
          <p:cNvPr id="979" name="Google Shape;979;p42"/>
          <p:cNvSpPr txBox="1"/>
          <p:nvPr/>
        </p:nvSpPr>
        <p:spPr>
          <a:xfrm>
            <a:off x="777240" y="553212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980" name="Google Shape;980;p42"/>
          <p:cNvSpPr txBox="1"/>
          <p:nvPr/>
        </p:nvSpPr>
        <p:spPr>
          <a:xfrm>
            <a:off x="1005840" y="553212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Exit tile returns to simulation hub safely</a:t>
            </a:r>
            <a:endParaRPr/>
          </a:p>
        </p:txBody>
      </p:sp>
      <p:sp>
        <p:nvSpPr>
          <p:cNvPr id="981" name="Google Shape;981;p42"/>
          <p:cNvSpPr/>
          <p:nvPr/>
        </p:nvSpPr>
        <p:spPr>
          <a:xfrm>
            <a:off x="6309360" y="2834640"/>
            <a:ext cx="5394960" cy="347472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92400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42"/>
          <p:cNvSpPr txBox="1"/>
          <p:nvPr/>
        </p:nvSpPr>
        <p:spPr>
          <a:xfrm>
            <a:off x="6537960" y="297180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GAZE-DRIVEN DIGITAL THERAPEUTICS</a:t>
            </a:r>
            <a:endParaRPr/>
          </a:p>
        </p:txBody>
      </p:sp>
      <p:sp>
        <p:nvSpPr>
          <p:cNvPr id="983" name="Google Shape;983;p42"/>
          <p:cNvSpPr txBox="1"/>
          <p:nvPr/>
        </p:nvSpPr>
        <p:spPr>
          <a:xfrm>
            <a:off x="6537960" y="33375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Games + music + audiobooks</a:t>
            </a:r>
            <a:endParaRPr/>
          </a:p>
        </p:txBody>
      </p:sp>
      <p:sp>
        <p:nvSpPr>
          <p:cNvPr id="984" name="Google Shape;984;p42"/>
          <p:cNvSpPr txBox="1"/>
          <p:nvPr/>
        </p:nvSpPr>
        <p:spPr>
          <a:xfrm>
            <a:off x="6583680" y="384048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985" name="Google Shape;985;p42"/>
          <p:cNvSpPr txBox="1"/>
          <p:nvPr/>
        </p:nvSpPr>
        <p:spPr>
          <a:xfrm>
            <a:off x="6812280" y="384048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Flappy Gaze — ocular elevation trainer</a:t>
            </a:r>
            <a:endParaRPr/>
          </a:p>
        </p:txBody>
      </p:sp>
      <p:sp>
        <p:nvSpPr>
          <p:cNvPr id="986" name="Google Shape;986;p42"/>
          <p:cNvSpPr txBox="1"/>
          <p:nvPr/>
        </p:nvSpPr>
        <p:spPr>
          <a:xfrm>
            <a:off x="6583680" y="417880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987" name="Google Shape;987;p42"/>
          <p:cNvSpPr txBox="1"/>
          <p:nvPr/>
        </p:nvSpPr>
        <p:spPr>
          <a:xfrm>
            <a:off x="6812280" y="4178808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Dino Jump — saccadic reaction time</a:t>
            </a:r>
            <a:endParaRPr/>
          </a:p>
        </p:txBody>
      </p:sp>
      <p:sp>
        <p:nvSpPr>
          <p:cNvPr id="988" name="Google Shape;988;p42"/>
          <p:cNvSpPr txBox="1"/>
          <p:nvPr/>
        </p:nvSpPr>
        <p:spPr>
          <a:xfrm>
            <a:off x="6583680" y="451713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989" name="Google Shape;989;p42"/>
          <p:cNvSpPr txBox="1"/>
          <p:nvPr/>
        </p:nvSpPr>
        <p:spPr>
          <a:xfrm>
            <a:off x="6812280" y="4517136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Cyber Runner — lateral gaze coordination</a:t>
            </a:r>
            <a:endParaRPr/>
          </a:p>
        </p:txBody>
      </p:sp>
      <p:sp>
        <p:nvSpPr>
          <p:cNvPr id="990" name="Google Shape;990;p42"/>
          <p:cNvSpPr txBox="1"/>
          <p:nvPr/>
        </p:nvSpPr>
        <p:spPr>
          <a:xfrm>
            <a:off x="6583680" y="4855464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991" name="Google Shape;991;p42"/>
          <p:cNvSpPr txBox="1"/>
          <p:nvPr/>
        </p:nvSpPr>
        <p:spPr>
          <a:xfrm>
            <a:off x="6812280" y="4855464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Binaural + lo-fi music therapy</a:t>
            </a:r>
            <a:endParaRPr/>
          </a:p>
        </p:txBody>
      </p:sp>
      <p:sp>
        <p:nvSpPr>
          <p:cNvPr id="992" name="Google Shape;992;p42"/>
          <p:cNvSpPr txBox="1"/>
          <p:nvPr/>
        </p:nvSpPr>
        <p:spPr>
          <a:xfrm>
            <a:off x="6583680" y="5193792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993" name="Google Shape;993;p42"/>
          <p:cNvSpPr txBox="1"/>
          <p:nvPr/>
        </p:nvSpPr>
        <p:spPr>
          <a:xfrm>
            <a:off x="6812280" y="5193792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Hindi + English audiobook player</a:t>
            </a:r>
            <a:endParaRPr/>
          </a:p>
        </p:txBody>
      </p:sp>
      <p:sp>
        <p:nvSpPr>
          <p:cNvPr id="994" name="Google Shape;994;p42"/>
          <p:cNvSpPr txBox="1"/>
          <p:nvPr/>
        </p:nvSpPr>
        <p:spPr>
          <a:xfrm>
            <a:off x="6583680" y="553212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995" name="Google Shape;995;p42"/>
          <p:cNvSpPr txBox="1"/>
          <p:nvPr/>
        </p:nvSpPr>
        <p:spPr>
          <a:xfrm>
            <a:off x="6812280" y="553212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Web Audio gain curves for smooth volume</a:t>
            </a:r>
            <a:endParaRPr/>
          </a:p>
        </p:txBody>
      </p:sp>
    </p:spTree>
  </p:cSld>
  <p:clrMapOvr>
    <a:masterClrMapping/>
  </p:clrMapOvr>
  <p:transition spd="med" advClick="1">
    <p:fade thruBlk="0"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43"/>
          <p:cNvSpPr txBox="1"/>
          <p:nvPr/>
        </p:nvSpPr>
        <p:spPr>
          <a:xfrm>
            <a:off x="502920" y="2743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001" name="Google Shape;1001;p43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PROJECT IRIS</a:t>
            </a:r>
            <a:endParaRPr/>
          </a:p>
        </p:txBody>
      </p:sp>
      <p:sp>
        <p:nvSpPr>
          <p:cNvPr id="1002" name="Google Shape;1002;p43"/>
          <p:cNvSpPr txBox="1"/>
          <p:nvPr/>
        </p:nvSpPr>
        <p:spPr>
          <a:xfrm>
            <a:off x="502920" y="777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EXPERIMENTAL EVALUATION</a:t>
            </a:r>
            <a:endParaRPr/>
          </a:p>
        </p:txBody>
      </p:sp>
      <p:sp>
        <p:nvSpPr>
          <p:cNvPr id="1003" name="Google Shape;1003;p43"/>
          <p:cNvSpPr txBox="1"/>
          <p:nvPr/>
        </p:nvSpPr>
        <p:spPr>
          <a:xfrm>
            <a:off x="502920" y="11887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The numbers. Verified.</a:t>
            </a:r>
            <a:endParaRPr/>
          </a:p>
        </p:txBody>
      </p:sp>
      <p:sp>
        <p:nvSpPr>
          <p:cNvPr id="1004" name="Google Shape;1004;p43"/>
          <p:cNvSpPr txBox="1"/>
          <p:nvPr/>
        </p:nvSpPr>
        <p:spPr>
          <a:xfrm>
            <a:off x="502920" y="21031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IRIS v2 benchmarked across accuracy, latency, computational overhead, and clinical caregiver response.</a:t>
            </a:r>
            <a:endParaRPr/>
          </a:p>
        </p:txBody>
      </p:sp>
      <p:graphicFrame>
        <p:nvGraphicFramePr>
          <p:cNvPr id="1005" name="Google Shape;1005;p43"/>
          <p:cNvGraphicFramePr/>
          <p:nvPr/>
        </p:nvGraphicFramePr>
        <p:xfrm>
          <a:off x="502920" y="2834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{034A6B7D-CC44-4E08-9672-35736B992155}</a:tableStyleId>
              </a:tblPr>
              <a:tblGrid>
                <a:gridCol w="4572000"/>
                <a:gridCol w="3291850"/>
                <a:gridCol w="32918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2D3E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2D3E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IRIS v2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2D3E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Commercial Baseline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Target Acquisition Accuracy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D3E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98.4%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CDD5E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92.1% (Tobii)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Alert Dispatch Latency (cellular)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D3E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280ms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CDD5E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Manual call bell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F2440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Caregiver Response Latency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D3E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18.2 seconds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CDD5E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4.2 minutes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Flight Simulator Frame Rate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D3E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 FPS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CDD5E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30-45 FPS (WebVR)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F2440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Client CPU Utilization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D3E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4.8-7.2%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CDD5E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22-35% (Electron)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 Button Hit Rate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D3E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99.6%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CDD5E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74.3%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F2440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 Usability Scale (SUS)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2D3E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91.5 / 100 (A+)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CDD5E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68.4 / 100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50E1C"/>
                    </a:solidFill>
                  </a:tcPr>
                </a:tc>
              </a:tr>
            </a:tbl>
          </a:graphicData>
        </a:graphic>
      </p:graphicFrame>
      <p:sp>
        <p:nvSpPr>
          <p:cNvPr id="1006" name="Google Shape;1006;p43"/>
          <p:cNvSpPr/>
          <p:nvPr/>
        </p:nvSpPr>
        <p:spPr>
          <a:xfrm>
            <a:off x="502920" y="6355080"/>
            <a:ext cx="11155680" cy="41148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22D3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43"/>
          <p:cNvSpPr txBox="1"/>
          <p:nvPr/>
        </p:nvSpPr>
        <p:spPr>
          <a:xfrm>
            <a:off x="685800" y="638251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Inter"/>
                <a:ea typeface="Arial"/>
                <a:cs typeface="Arial"/>
                <a:sym typeface="Arial"/>
              </a:rPr>
              <a:t>87.2% reduction in caregiver response time. In a choking emergency, that's the difference between life and death.</a:t>
            </a:r>
            <a:endParaRPr/>
          </a:p>
        </p:txBody>
      </p:sp>
    </p:spTree>
  </p:cSld>
  <p:clrMapOvr>
    <a:masterClrMapping/>
  </p:clrMapOvr>
  <p:transition spd="med" advClick="1">
    <p:fade thruBlk="0"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44"/>
          <p:cNvSpPr txBox="1"/>
          <p:nvPr/>
        </p:nvSpPr>
        <p:spPr>
          <a:xfrm>
            <a:off x="502920" y="2743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013" name="Google Shape;1013;p44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PROJECT IRIS</a:t>
            </a:r>
            <a:endParaRPr/>
          </a:p>
        </p:txBody>
      </p:sp>
      <p:sp>
        <p:nvSpPr>
          <p:cNvPr id="1014" name="Google Shape;1014;p44"/>
          <p:cNvSpPr txBox="1"/>
          <p:nvPr/>
        </p:nvSpPr>
        <p:spPr>
          <a:xfrm>
            <a:off x="502920" y="777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GET INVOLVED</a:t>
            </a:r>
            <a:endParaRPr/>
          </a:p>
        </p:txBody>
      </p:sp>
      <p:sp>
        <p:nvSpPr>
          <p:cNvPr id="1015" name="Google Shape;1015;p44"/>
          <p:cNvSpPr txBox="1"/>
          <p:nvPr/>
        </p:nvSpPr>
        <p:spPr>
          <a:xfrm>
            <a:off x="502920" y="11887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FFFFF"/>
                </a:solidFill>
                <a:latin typeface="Inter Display"/>
                <a:ea typeface="Arial"/>
                <a:cs typeface="Arial"/>
                <a:sym typeface="Arial"/>
              </a:rPr>
              <a:t>Help me get this to the people who need it.</a:t>
            </a:r>
            <a:endParaRPr/>
          </a:p>
        </p:txBody>
      </p:sp>
      <p:sp>
        <p:nvSpPr>
          <p:cNvPr id="1016" name="Google Shape;1016;p44"/>
          <p:cNvSpPr txBox="1"/>
          <p:nvPr/>
        </p:nvSpPr>
        <p:spPr>
          <a:xfrm>
            <a:off x="502920" y="21031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IRIS is open-source. Anyone can build it. Anyone can improve it. Anyone can deploy it.</a:t>
            </a:r>
            <a:endParaRPr/>
          </a:p>
        </p:txBody>
      </p:sp>
      <p:sp>
        <p:nvSpPr>
          <p:cNvPr id="1017" name="Google Shape;1017;p44"/>
          <p:cNvSpPr/>
          <p:nvPr/>
        </p:nvSpPr>
        <p:spPr>
          <a:xfrm>
            <a:off x="495300" y="2834640"/>
            <a:ext cx="3520440" cy="274320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22D3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44"/>
          <p:cNvSpPr txBox="1"/>
          <p:nvPr/>
        </p:nvSpPr>
        <p:spPr>
          <a:xfrm>
            <a:off x="769620" y="301752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HOSPITALS</a:t>
            </a:r>
            <a:endParaRPr/>
          </a:p>
        </p:txBody>
      </p:sp>
      <p:sp>
        <p:nvSpPr>
          <p:cNvPr id="1019" name="Google Shape;1019;p44"/>
          <p:cNvSpPr txBox="1"/>
          <p:nvPr/>
        </p:nvSpPr>
        <p:spPr>
          <a:xfrm>
            <a:off x="769620" y="3474720"/>
            <a:ext cx="2971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FFFFFF"/>
                </a:solidFill>
                <a:latin typeface="Inter"/>
              </a:rPr>
              <a:t>Pilot IRIS in neurology &amp; spinal rehab wards</a:t>
            </a:r>
            <a:endParaRPr/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FFFFFF"/>
                </a:solidFill>
                <a:latin typeface="Inter"/>
              </a:rPr>
              <a:t>Free prototype hardware &amp; setup support provided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FFFFFF"/>
                </a:solidFill>
                <a:latin typeface="Inter"/>
              </a:rPr>
              <a:t>Planned pilots with AIIMS, NIMHANS &amp; partner NGOs</a:t>
            </a:r>
          </a:p>
        </p:txBody>
      </p:sp>
      <p:sp>
        <p:nvSpPr>
          <p:cNvPr id="1020" name="Google Shape;1020;p44"/>
          <p:cNvSpPr/>
          <p:nvPr/>
        </p:nvSpPr>
        <p:spPr>
          <a:xfrm>
            <a:off x="4335780" y="2834640"/>
            <a:ext cx="3520440" cy="274320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FFB0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44"/>
          <p:cNvSpPr txBox="1"/>
          <p:nvPr/>
        </p:nvSpPr>
        <p:spPr>
          <a:xfrm>
            <a:off x="4610100" y="301752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B020"/>
                </a:solidFill>
                <a:latin typeface="Inter"/>
                <a:ea typeface="Arial"/>
                <a:cs typeface="Arial"/>
                <a:sym typeface="Arial"/>
              </a:rPr>
              <a:t>DEVELOPERS</a:t>
            </a:r>
            <a:endParaRPr/>
          </a:p>
        </p:txBody>
      </p:sp>
      <p:sp>
        <p:nvSpPr>
          <p:cNvPr id="1022" name="Google Shape;1022;p44"/>
          <p:cNvSpPr txBox="1"/>
          <p:nvPr/>
        </p:nvSpPr>
        <p:spPr>
          <a:xfrm>
            <a:off x="4610100" y="3474720"/>
            <a:ext cx="2971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FFFFFF"/>
                </a:solidFill>
                <a:latin typeface="Inter"/>
              </a:rPr>
              <a:t>Fork the open-source Python &amp; XIAO firmware repo</a:t>
            </a:r>
            <a:endParaRPr/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FFFFFF"/>
                </a:solidFill>
                <a:latin typeface="Inter"/>
              </a:rPr>
              <a:t>Build new Universal App tiles, games &amp; IoT relays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FFFFFF"/>
                </a:solidFill>
                <a:latin typeface="Inter"/>
              </a:rPr>
              <a:t>Help expand regional Indian language voice support</a:t>
            </a:r>
          </a:p>
        </p:txBody>
      </p:sp>
      <p:sp>
        <p:nvSpPr>
          <p:cNvPr id="1023" name="Google Shape;1023;p44"/>
          <p:cNvSpPr/>
          <p:nvPr/>
        </p:nvSpPr>
        <p:spPr>
          <a:xfrm>
            <a:off x="8176260" y="2834640"/>
            <a:ext cx="3520440" cy="2743200"/>
          </a:xfrm>
          <a:prstGeom prst="roundRect">
            <a:avLst>
              <a:gd fmla="val 16667" name="adj"/>
            </a:avLst>
          </a:prstGeom>
          <a:solidFill>
            <a:srgbClr val="0F2440"/>
          </a:solidFill>
          <a:ln cap="flat" cmpd="sng" w="9525">
            <a:solidFill>
              <a:srgbClr val="22D3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44"/>
          <p:cNvSpPr txBox="1"/>
          <p:nvPr/>
        </p:nvSpPr>
        <p:spPr>
          <a:xfrm>
            <a:off x="8450580" y="301752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FUNDERS</a:t>
            </a:r>
            <a:endParaRPr/>
          </a:p>
        </p:txBody>
      </p:sp>
      <p:sp>
        <p:nvSpPr>
          <p:cNvPr id="1025" name="Google Shape;1025;p44"/>
          <p:cNvSpPr txBox="1"/>
          <p:nvPr/>
        </p:nvSpPr>
        <p:spPr>
          <a:xfrm>
            <a:off x="8450580" y="3474720"/>
            <a:ext cx="2971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FFFFFF"/>
                </a:solidFill>
                <a:latin typeface="Inter"/>
              </a:rPr>
              <a:t>Sponsor custom PCBs and 3D-printed enclosures</a:t>
            </a:r>
            <a:endParaRPr/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FFFFFF"/>
                </a:solidFill>
                <a:latin typeface="Inter"/>
              </a:rPr>
              <a:t>Every ₹800 equips one more prototype headband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•  </a:t>
            </a:r>
            <a:r>
              <a:rPr sz="1300" b="0">
                <a:solidFill>
                  <a:srgbClr val="FFFFFF"/>
                </a:solidFill>
                <a:latin typeface="Inter"/>
              </a:rPr>
              <a:t>Every ₹50,000 sponsors a full hospital or NGO ward pilot</a:t>
            </a:r>
          </a:p>
        </p:txBody>
      </p:sp>
      <p:sp>
        <p:nvSpPr>
          <p:cNvPr id="1026" name="Google Shape;1026;p44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22D3EE"/>
                </a:solidFill>
                <a:latin typeface="Inter"/>
                <a:ea typeface="Arial"/>
                <a:cs typeface="Arial"/>
                <a:sym typeface="Arial"/>
              </a:rPr>
              <a:t>github.com/project-iris/iris  ·  projectiris.dev</a:t>
            </a:r>
            <a:endParaRPr/>
          </a:p>
        </p:txBody>
      </p:sp>
      <p:sp>
        <p:nvSpPr>
          <p:cNvPr id="1027" name="Google Shape;1027;p44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CDD5E2"/>
                </a:solidFill>
                <a:latin typeface="Inter"/>
                <a:ea typeface="Arial"/>
                <a:cs typeface="Arial"/>
                <a:sym typeface="Arial"/>
              </a:rPr>
              <a:t>Built by Ayushman Choudhary  ·  Class 10  ·  Bhavan's Bhagwandas Purohit Vidya Mandir, Ashti, Nagpur</a:t>
            </a:r>
            <a:endParaRPr/>
          </a:p>
        </p:txBody>
      </p:sp>
    </p:spTree>
  </p:cSld>
  <p:clrMapOvr>
    <a:masterClrMapping/>
  </p:clrMapOvr>
  <p:transition spd="med" advClick="1">
    <p:fade thruBlk="0"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86" name="Google Shape;486;p26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6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6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100" b="1">
                <a:solidFill>
                  <a:srgbClr val="22D3EE"/>
                </a:solidFill>
                <a:latin typeface="Inter"/>
              </a:rPr>
              <a:t>WEARABLE UPGRADE  ·  MODULAR MAGNETIC DESIGN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sz="3400" b="1">
                <a:solidFill>
                  <a:srgbClr val="FFFFFF"/>
                </a:solidFill>
                <a:latin typeface="Inter Display"/>
              </a:rPr>
              <a:t>Wear glasses first. Snap the magnet second.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502920" y="211143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5D6"/>
              </a:buClr>
              <a:buSzPts val="1800"/>
              <a:buFont typeface="Calibri"/>
              <a:buNone/>
            </a:pPr>
            <a:r>
              <a:rPr sz="1600" i="1">
                <a:solidFill>
                  <a:srgbClr val="B7C5D6"/>
                </a:solidFill>
                <a:latin typeface="Inter"/>
              </a:rPr>
              <a:t>Separating the glasses and headband via a magnetic nut-bolt pivot makes wearing IRIS effortless.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6"/>
          <p:cNvSpPr/>
          <p:nvPr/>
        </p:nvSpPr>
        <p:spPr>
          <a:xfrm>
            <a:off x="472288" y="2926080"/>
            <a:ext cx="5440680" cy="3474720"/>
          </a:xfrm>
          <a:prstGeom prst="roundRect">
            <a:avLst>
              <a:gd fmla="val 2105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6"/>
          <p:cNvSpPr/>
          <p:nvPr/>
        </p:nvSpPr>
        <p:spPr>
          <a:xfrm>
            <a:off x="792328" y="3246120"/>
            <a:ext cx="685800" cy="685800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792328" y="3246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Arial"/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6"/>
          <p:cNvSpPr/>
          <p:nvPr/>
        </p:nvSpPr>
        <p:spPr>
          <a:xfrm>
            <a:off x="1661008" y="329184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100" b="1">
                <a:solidFill>
                  <a:srgbClr val="22D3EE"/>
                </a:solidFill>
                <a:latin typeface="Inter"/>
              </a:rPr>
              <a:t>MAGNETIC + NUT-BOLT PIVOT MOUNT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6"/>
          <p:cNvSpPr/>
          <p:nvPr/>
        </p:nvSpPr>
        <p:spPr>
          <a:xfrm>
            <a:off x="1661008" y="35661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sz="1800" b="1">
                <a:solidFill>
                  <a:srgbClr val="FFFFFF"/>
                </a:solidFill>
                <a:latin typeface="Inter"/>
              </a:rPr>
              <a:t>Fits any frame — even ±7 power lenses.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6"/>
          <p:cNvSpPr/>
          <p:nvPr/>
        </p:nvSpPr>
        <p:spPr>
          <a:xfrm>
            <a:off x="792328" y="4114800"/>
            <a:ext cx="4937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18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Removable magnet + nut-bolt pivot on the glasses frame.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Wear glasses first, strap headband second, and snap magnet on.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Supports custom frames &amp; high-power lenses (up to ±7D).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Pivot joint adjusts IR beam angle without bending wires.</a:t>
            </a:r>
          </a:p>
        </p:txBody>
      </p:sp>
      <p:sp>
        <p:nvSpPr>
          <p:cNvPr id="497" name="Google Shape;497;p26"/>
          <p:cNvSpPr/>
          <p:nvPr/>
        </p:nvSpPr>
        <p:spPr>
          <a:xfrm>
            <a:off x="792328" y="5897880"/>
            <a:ext cx="3474720" cy="320040"/>
          </a:xfrm>
          <a:prstGeom prst="roundRect">
            <a:avLst>
              <a:gd fmla="val 142857" name="adj"/>
            </a:avLst>
          </a:prstGeom>
          <a:solidFill>
            <a:srgbClr val="0B25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6"/>
          <p:cNvSpPr/>
          <p:nvPr/>
        </p:nvSpPr>
        <p:spPr>
          <a:xfrm>
            <a:off x="792328" y="58978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sz="1050" b="1">
                <a:solidFill>
                  <a:srgbClr val="22D3EE"/>
                </a:solidFill>
                <a:latin typeface="Inter"/>
              </a:rPr>
              <a:t>Removable Magnet · Custom ±7D Lenses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6"/>
          <p:cNvSpPr/>
          <p:nvPr/>
        </p:nvSpPr>
        <p:spPr>
          <a:xfrm>
            <a:off x="6278728" y="2926080"/>
            <a:ext cx="5440680" cy="3474720"/>
          </a:xfrm>
          <a:prstGeom prst="roundRect">
            <a:avLst>
              <a:gd fmla="val 2105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6"/>
          <p:cNvSpPr/>
          <p:nvPr/>
        </p:nvSpPr>
        <p:spPr>
          <a:xfrm>
            <a:off x="6598768" y="3246120"/>
            <a:ext cx="685800" cy="685800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6"/>
          <p:cNvSpPr/>
          <p:nvPr/>
        </p:nvSpPr>
        <p:spPr>
          <a:xfrm>
            <a:off x="6598768" y="3246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800"/>
              <a:buFont typeface="Arial"/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6"/>
          <p:cNvSpPr/>
          <p:nvPr/>
        </p:nvSpPr>
        <p:spPr>
          <a:xfrm>
            <a:off x="7467448" y="329184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100"/>
              <a:buFont typeface="Calibri"/>
              <a:buNone/>
            </a:pPr>
            <a:r>
              <a:rPr sz="1100" b="1">
                <a:solidFill>
                  <a:srgbClr val="FFB020"/>
                </a:solidFill>
                <a:latin typeface="Inter"/>
              </a:rPr>
              <a:t>BREATHABLE VELCRO BELT + XIAO ESP32C3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7467448" y="35661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sz="1800" b="1">
                <a:solidFill>
                  <a:srgbClr val="FFFFFF"/>
                </a:solidFill>
                <a:latin typeface="Inter"/>
              </a:rPr>
              <a:t>Airflow mesh, Velcro fit &amp; 12h battery.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6"/>
          <p:cNvSpPr/>
          <p:nvPr/>
        </p:nvSpPr>
        <p:spPr>
          <a:xfrm>
            <a:off x="6598768" y="4114800"/>
            <a:ext cx="4937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20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Perforated airflow belt keeps the scalp cool for hours.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Soft Velcro straps replace heavy buckles for easy fitting.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XIAO ESP32C3 charges the 3.7V Li-Po via BAT+/BAT- pads.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Built-in regulator removes buck modules; 12h Deep Sleep.</a:t>
            </a:r>
          </a:p>
        </p:txBody>
      </p:sp>
      <p:sp>
        <p:nvSpPr>
          <p:cNvPr id="505" name="Google Shape;505;p26"/>
          <p:cNvSpPr/>
          <p:nvPr/>
        </p:nvSpPr>
        <p:spPr>
          <a:xfrm>
            <a:off x="6598768" y="5897880"/>
            <a:ext cx="3474720" cy="320040"/>
          </a:xfrm>
          <a:prstGeom prst="roundRect">
            <a:avLst>
              <a:gd fmla="val 142857" name="adj"/>
            </a:avLst>
          </a:prstGeom>
          <a:solidFill>
            <a:srgbClr val="2A1F0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6598768" y="58978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050"/>
              <a:buFont typeface="Calibri"/>
              <a:buNone/>
            </a:pPr>
            <a:r>
              <a:rPr sz="1050" b="1">
                <a:solidFill>
                  <a:srgbClr val="FFB020"/>
                </a:solidFill>
                <a:latin typeface="Inter"/>
              </a:rPr>
              <a:t>XIAO ESP32C3 · 3.7V LiPo · 12h Deep Sleep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7" name="Picture 506" descr="icon_mag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8" y="3246120"/>
            <a:ext cx="685800" cy="685800"/>
          </a:xfrm>
          <a:prstGeom prst="rect">
            <a:avLst/>
          </a:prstGeom>
        </p:spPr>
      </p:pic>
      <p:pic>
        <p:nvPicPr>
          <p:cNvPr id="508" name="Picture 507" descr="icon_air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68" y="3246120"/>
            <a:ext cx="685800" cy="6858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86" name="Google Shape;786;p35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5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5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100" b="1">
                <a:solidFill>
                  <a:srgbClr val="22D3EE"/>
                </a:solidFill>
                <a:latin typeface="Inter"/>
              </a:rPr>
              <a:t>SYSTEM SPECIFICATIONS  ·  TECHNICAL DATASHEET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5"/>
          <p:cNvSpPr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sz="3300" b="1">
                <a:solidFill>
                  <a:srgbClr val="FFFFFF"/>
                </a:solidFill>
                <a:latin typeface="Inter Display"/>
              </a:rPr>
              <a:t>Complete hardware &amp; software specifications.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5"/>
          <p:cNvSpPr/>
          <p:nvPr/>
        </p:nvSpPr>
        <p:spPr>
          <a:xfrm>
            <a:off x="502920" y="21945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5D6"/>
              </a:buClr>
              <a:buSzPts val="1400"/>
              <a:buFont typeface="Calibri"/>
              <a:buNone/>
            </a:pPr>
            <a:r>
              <a:rPr sz="1600" i="1">
                <a:solidFill>
                  <a:srgbClr val="B7C5D6"/>
                </a:solidFill>
                <a:latin typeface="Inter"/>
              </a:rPr>
              <a:t>Every component selected for minimal weight, deterministic speed, and 12-hour reliability.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5"/>
          <p:cNvSpPr/>
          <p:nvPr/>
        </p:nvSpPr>
        <p:spPr>
          <a:xfrm>
            <a:off x="472288" y="2880360"/>
            <a:ext cx="5440680" cy="1691640"/>
          </a:xfrm>
          <a:prstGeom prst="roundRect">
            <a:avLst>
              <a:gd fmla="val 4324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5"/>
          <p:cNvSpPr/>
          <p:nvPr/>
        </p:nvSpPr>
        <p:spPr>
          <a:xfrm>
            <a:off x="700888" y="3154680"/>
            <a:ext cx="777240" cy="777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5"/>
          <p:cNvSpPr/>
          <p:nvPr/>
        </p:nvSpPr>
        <p:spPr>
          <a:xfrm>
            <a:off x="700888" y="31546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2400"/>
              <a:buFont typeface="Arial"/>
              <a:buNone/>
            </a:pPr>
            <a:r>
              <a:rPr sz="2000" b="1">
                <a:solidFill>
                  <a:srgbClr val="0B1A2E"/>
                </a:solidFill>
                <a:latin typeface="Inter Display"/>
              </a:rPr>
              <a:t>01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5"/>
          <p:cNvSpPr/>
          <p:nvPr/>
        </p:nvSpPr>
        <p:spPr>
          <a:xfrm>
            <a:off x="1615288" y="315468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MICROCONTROLLER &amp; MOTION IMU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5"/>
          <p:cNvSpPr/>
          <p:nvPr/>
        </p:nvSpPr>
        <p:spPr>
          <a:xfrm>
            <a:off x="1615288" y="3438144"/>
            <a:ext cx="4160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50"/>
              </a:spcAft>
              <a:buClr>
                <a:srgbClr val="CDD5E2"/>
              </a:buClr>
              <a:buSzPts val="1600"/>
              <a:buFont typeface="Calibri"/>
              <a:buNone/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MCU: Seeed Studio XIAO ESP32C3 (RISC-V @ 160 MHz)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Motion Sensor: MPU6050 6-DOF (3-axis gyro + acc)</a:t>
            </a: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Interface: I2C @ 400 kHz · 50 Hz gesture sampling</a:t>
            </a:r>
          </a:p>
        </p:txBody>
      </p:sp>
      <p:sp>
        <p:nvSpPr>
          <p:cNvPr id="796" name="Google Shape;796;p35"/>
          <p:cNvSpPr/>
          <p:nvPr/>
        </p:nvSpPr>
        <p:spPr>
          <a:xfrm>
            <a:off x="6278728" y="2880360"/>
            <a:ext cx="5440680" cy="1691640"/>
          </a:xfrm>
          <a:prstGeom prst="roundRect">
            <a:avLst>
              <a:gd fmla="val 4324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5"/>
          <p:cNvSpPr/>
          <p:nvPr/>
        </p:nvSpPr>
        <p:spPr>
          <a:xfrm>
            <a:off x="6507328" y="3154680"/>
            <a:ext cx="777240" cy="77724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5"/>
          <p:cNvSpPr/>
          <p:nvPr/>
        </p:nvSpPr>
        <p:spPr>
          <a:xfrm>
            <a:off x="6507328" y="31546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2400"/>
              <a:buFont typeface="Arial"/>
              <a:buNone/>
            </a:pPr>
            <a:r>
              <a:rPr sz="2000" b="1">
                <a:solidFill>
                  <a:srgbClr val="0B1A2E"/>
                </a:solidFill>
                <a:latin typeface="Inter Display"/>
              </a:rPr>
              <a:t>02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5"/>
          <p:cNvSpPr/>
          <p:nvPr/>
        </p:nvSpPr>
        <p:spPr>
          <a:xfrm>
            <a:off x="7421728" y="315468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100"/>
              <a:buFont typeface="Calibri"/>
              <a:buNone/>
            </a:pPr>
            <a:r>
              <a:rPr sz="1250" b="1">
                <a:solidFill>
                  <a:srgbClr val="FFB020"/>
                </a:solidFill>
                <a:latin typeface="Inter"/>
              </a:rPr>
              <a:t>OPTICS &amp; MAGNETIC MOUNT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5"/>
          <p:cNvSpPr/>
          <p:nvPr/>
        </p:nvSpPr>
        <p:spPr>
          <a:xfrm>
            <a:off x="7421728" y="3438144"/>
            <a:ext cx="4160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50"/>
              </a:spcAft>
              <a:buClr>
                <a:srgbClr val="CDD5E2"/>
              </a:buClr>
              <a:buSzPts val="1600"/>
              <a:buFont typeface="Calibri"/>
              <a:buNone/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Emitter: 950nm Multi-Beam IR + LM393 comparator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Eye Safety: &lt;0.5 mW/cm² (IEC 62471 Exempt Group)</a:t>
            </a: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Mount: Neodymium Magnet + Nut-Bolt Pivot (±7D Rx)</a:t>
            </a:r>
          </a:p>
        </p:txBody>
      </p:sp>
      <p:sp>
        <p:nvSpPr>
          <p:cNvPr id="801" name="Google Shape;801;p35"/>
          <p:cNvSpPr/>
          <p:nvPr/>
        </p:nvSpPr>
        <p:spPr>
          <a:xfrm>
            <a:off x="472288" y="4800600"/>
            <a:ext cx="5440680" cy="1691640"/>
          </a:xfrm>
          <a:prstGeom prst="roundRect">
            <a:avLst>
              <a:gd fmla="val 4324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5"/>
          <p:cNvSpPr/>
          <p:nvPr/>
        </p:nvSpPr>
        <p:spPr>
          <a:xfrm>
            <a:off x="700888" y="5074920"/>
            <a:ext cx="777240" cy="777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5"/>
          <p:cNvSpPr/>
          <p:nvPr/>
        </p:nvSpPr>
        <p:spPr>
          <a:xfrm>
            <a:off x="700888" y="50749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2400"/>
              <a:buFont typeface="Arial"/>
              <a:buNone/>
            </a:pPr>
            <a:r>
              <a:rPr sz="2000" b="1">
                <a:solidFill>
                  <a:srgbClr val="0B1A2E"/>
                </a:solidFill>
                <a:latin typeface="Inter Display"/>
              </a:rPr>
              <a:t>03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5"/>
          <p:cNvSpPr/>
          <p:nvPr/>
        </p:nvSpPr>
        <p:spPr>
          <a:xfrm>
            <a:off x="1615288" y="507492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POWER, BATTERY &amp; ERGONOMICS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5"/>
          <p:cNvSpPr/>
          <p:nvPr/>
        </p:nvSpPr>
        <p:spPr>
          <a:xfrm>
            <a:off x="1615288" y="5358384"/>
            <a:ext cx="4160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50"/>
              </a:spcAft>
              <a:buClr>
                <a:srgbClr val="CDD5E2"/>
              </a:buClr>
              <a:buSzPts val="1600"/>
              <a:buFont typeface="Calibri"/>
              <a:buNone/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Battery: 3.7V 1000mAh Li-Po (direct XIAO BAT+/BAT-)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Regulation: Onboard 3.3V regulator (no buck converter)</a:t>
            </a: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Runtime: ~12h with Deep Sleep · Breathable Velcro belt</a:t>
            </a:r>
          </a:p>
        </p:txBody>
      </p:sp>
      <p:sp>
        <p:nvSpPr>
          <p:cNvPr id="806" name="Google Shape;806;p35"/>
          <p:cNvSpPr/>
          <p:nvPr/>
        </p:nvSpPr>
        <p:spPr>
          <a:xfrm>
            <a:off x="6278728" y="4800600"/>
            <a:ext cx="5440680" cy="1691640"/>
          </a:xfrm>
          <a:prstGeom prst="roundRect">
            <a:avLst>
              <a:gd fmla="val 4324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5"/>
          <p:cNvSpPr/>
          <p:nvPr/>
        </p:nvSpPr>
        <p:spPr>
          <a:xfrm>
            <a:off x="6507328" y="5074920"/>
            <a:ext cx="777240" cy="77724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5"/>
          <p:cNvSpPr/>
          <p:nvPr/>
        </p:nvSpPr>
        <p:spPr>
          <a:xfrm>
            <a:off x="6507328" y="50749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2400"/>
              <a:buFont typeface="Arial"/>
              <a:buNone/>
            </a:pPr>
            <a:r>
              <a:rPr sz="2000" b="1">
                <a:solidFill>
                  <a:srgbClr val="0B1A2E"/>
                </a:solidFill>
                <a:latin typeface="Inter Display"/>
              </a:rPr>
              <a:t>04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5"/>
          <p:cNvSpPr/>
          <p:nvPr/>
        </p:nvSpPr>
        <p:spPr>
          <a:xfrm>
            <a:off x="7421728" y="507492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100"/>
              <a:buFont typeface="Calibri"/>
              <a:buNone/>
            </a:pPr>
            <a:r>
              <a:rPr sz="1250" b="1">
                <a:solidFill>
                  <a:srgbClr val="FFB020"/>
                </a:solidFill>
                <a:latin typeface="Inter"/>
              </a:rPr>
              <a:t>WIRELESS, AI TWIN &amp; CALIBRATION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5"/>
          <p:cNvSpPr/>
          <p:nvPr/>
        </p:nvSpPr>
        <p:spPr>
          <a:xfrm>
            <a:off x="7421728" y="5358384"/>
            <a:ext cx="4160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50"/>
              </a:spcAft>
              <a:buClr>
                <a:srgbClr val="CDD5E2"/>
              </a:buClr>
              <a:buSzPts val="1600"/>
              <a:buFont typeface="Calibri"/>
              <a:buNone/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Wireless: BLE 5.0 + Auto Wi-Fi Failover + USB-C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Software: PyAutoGUI + TensorFlow + Live Eye Twin</a:t>
            </a: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Calibration: 2–3s first-run · Prototype BOM: ₹800</a:t>
            </a:r>
          </a:p>
        </p:txBody>
      </p:sp>
    </p:spTree>
  </p:cSld>
  <p:clrMapOvr>
    <a:masterClrMapping/>
  </p:clrMapOvr>
  <p:transition spd="med" advClick="1">
    <p:fade thruBlk="0"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86" name="Google Shape;486;p26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6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6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100" b="1">
                <a:solidFill>
                  <a:srgbClr val="22D3EE"/>
                </a:solidFill>
                <a:latin typeface="Inter"/>
              </a:rPr>
              <a:t>NEXT-GEN SENSING  ·  LIVE OCULAR SIMULATION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sz="3400" b="1">
                <a:solidFill>
                  <a:srgbClr val="FFFFFF"/>
                </a:solidFill>
                <a:latin typeface="Inter Display"/>
              </a:rPr>
              <a:t>Mapping the eye. Mirroring every blink live.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502920" y="211143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5D6"/>
              </a:buClr>
              <a:buSzPts val="1800"/>
              <a:buFont typeface="Calibri"/>
              <a:buNone/>
            </a:pPr>
            <a:r>
              <a:rPr sz="1600" i="1">
                <a:solidFill>
                  <a:srgbClr val="B7C5D6"/>
                </a:solidFill>
                <a:latin typeface="Inter"/>
              </a:rPr>
              <a:t>Multi-directional IR beams and Python/TensorFlow noise filtering build a live digital twin of the eye.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6"/>
          <p:cNvSpPr/>
          <p:nvPr/>
        </p:nvSpPr>
        <p:spPr>
          <a:xfrm>
            <a:off x="472288" y="2926080"/>
            <a:ext cx="5440680" cy="3474720"/>
          </a:xfrm>
          <a:prstGeom prst="roundRect">
            <a:avLst>
              <a:gd fmla="val 2105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6"/>
          <p:cNvSpPr/>
          <p:nvPr/>
        </p:nvSpPr>
        <p:spPr>
          <a:xfrm>
            <a:off x="792328" y="3246120"/>
            <a:ext cx="685800" cy="685800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792328" y="3246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Arial"/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6"/>
          <p:cNvSpPr/>
          <p:nvPr/>
        </p:nvSpPr>
        <p:spPr>
          <a:xfrm>
            <a:off x="1661008" y="329184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100" b="1">
                <a:solidFill>
                  <a:srgbClr val="22D3EE"/>
                </a:solidFill>
                <a:latin typeface="Inter"/>
              </a:rPr>
              <a:t>MULTI-BEAM IR &amp; TENSORFLOW DENOISING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6"/>
          <p:cNvSpPr/>
          <p:nvPr/>
        </p:nvSpPr>
        <p:spPr>
          <a:xfrm>
            <a:off x="1661008" y="35661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sz="1800" b="1">
                <a:solidFill>
                  <a:srgbClr val="FFFFFF"/>
                </a:solidFill>
                <a:latin typeface="Inter"/>
              </a:rPr>
              <a:t>Multi-angle proximity with zero noise.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6"/>
          <p:cNvSpPr/>
          <p:nvPr/>
        </p:nvSpPr>
        <p:spPr>
          <a:xfrm>
            <a:off x="792328" y="4114800"/>
            <a:ext cx="4937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18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Projects dispersed 950nm IR beams across the eye.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Captures multi-point distance &amp; proximity reflections.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Python + TensorFlow pipeline filters ambient light noise.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Eliminates false clicks from involuntary micro-tremors.</a:t>
            </a:r>
          </a:p>
        </p:txBody>
      </p:sp>
      <p:sp>
        <p:nvSpPr>
          <p:cNvPr id="497" name="Google Shape;497;p26"/>
          <p:cNvSpPr/>
          <p:nvPr/>
        </p:nvSpPr>
        <p:spPr>
          <a:xfrm>
            <a:off x="792328" y="5897880"/>
            <a:ext cx="3474720" cy="320040"/>
          </a:xfrm>
          <a:prstGeom prst="roundRect">
            <a:avLst>
              <a:gd fmla="val 142857" name="adj"/>
            </a:avLst>
          </a:prstGeom>
          <a:solidFill>
            <a:srgbClr val="0B25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6"/>
          <p:cNvSpPr/>
          <p:nvPr/>
        </p:nvSpPr>
        <p:spPr>
          <a:xfrm>
            <a:off x="792328" y="58978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sz="1050" b="1">
                <a:solidFill>
                  <a:srgbClr val="22D3EE"/>
                </a:solidFill>
                <a:latin typeface="Inter"/>
              </a:rPr>
              <a:t>Multi-Beam IR · TensorFlow Noise Filter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6"/>
          <p:cNvSpPr/>
          <p:nvPr/>
        </p:nvSpPr>
        <p:spPr>
          <a:xfrm>
            <a:off x="6278728" y="2926080"/>
            <a:ext cx="5440680" cy="3474720"/>
          </a:xfrm>
          <a:prstGeom prst="roundRect">
            <a:avLst>
              <a:gd fmla="val 2105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6"/>
          <p:cNvSpPr/>
          <p:nvPr/>
        </p:nvSpPr>
        <p:spPr>
          <a:xfrm>
            <a:off x="6598768" y="3246120"/>
            <a:ext cx="685800" cy="685800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6"/>
          <p:cNvSpPr/>
          <p:nvPr/>
        </p:nvSpPr>
        <p:spPr>
          <a:xfrm>
            <a:off x="6598768" y="3246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800"/>
              <a:buFont typeface="Arial"/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6"/>
          <p:cNvSpPr/>
          <p:nvPr/>
        </p:nvSpPr>
        <p:spPr>
          <a:xfrm>
            <a:off x="7467448" y="329184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100"/>
              <a:buFont typeface="Calibri"/>
              <a:buNone/>
            </a:pPr>
            <a:r>
              <a:rPr sz="1100" b="1">
                <a:solidFill>
                  <a:srgbClr val="FFB020"/>
                </a:solidFill>
                <a:latin typeface="Inter"/>
              </a:rPr>
              <a:t>REAL-TIME PYTHON EYE SIMULATION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7467448" y="35661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sz="1800" b="1">
                <a:solidFill>
                  <a:srgbClr val="FFFFFF"/>
                </a:solidFill>
                <a:latin typeface="Inter"/>
              </a:rPr>
              <a:t>When you blink, the Python eye blinks.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6"/>
          <p:cNvSpPr/>
          <p:nvPr/>
        </p:nvSpPr>
        <p:spPr>
          <a:xfrm>
            <a:off x="6598768" y="4114800"/>
            <a:ext cx="4937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20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Reconstructs the fine structure of the eye live in Python.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Mirrors open state, eyelid velocity &amp; blinks in real time.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Displays live sensor tracking during demonstrations.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Adaptive baseline cuts calibration to just 2–3 seconds.</a:t>
            </a:r>
          </a:p>
        </p:txBody>
      </p:sp>
      <p:sp>
        <p:nvSpPr>
          <p:cNvPr id="505" name="Google Shape;505;p26"/>
          <p:cNvSpPr/>
          <p:nvPr/>
        </p:nvSpPr>
        <p:spPr>
          <a:xfrm>
            <a:off x="6598768" y="5897880"/>
            <a:ext cx="3474720" cy="320040"/>
          </a:xfrm>
          <a:prstGeom prst="roundRect">
            <a:avLst>
              <a:gd fmla="val 142857" name="adj"/>
            </a:avLst>
          </a:prstGeom>
          <a:solidFill>
            <a:srgbClr val="2A1F0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6598768" y="58978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050"/>
              <a:buFont typeface="Calibri"/>
              <a:buNone/>
            </a:pPr>
            <a:r>
              <a:rPr sz="1050" b="1">
                <a:solidFill>
                  <a:srgbClr val="FFB020"/>
                </a:solidFill>
                <a:latin typeface="Inter"/>
              </a:rPr>
              <a:t>Live Python Eye Twin · 2–3s Calibration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7" name="Picture 506" descr="icon_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8" y="3246120"/>
            <a:ext cx="685800" cy="685800"/>
          </a:xfrm>
          <a:prstGeom prst="rect">
            <a:avLst/>
          </a:prstGeom>
        </p:spPr>
      </p:pic>
      <p:pic>
        <p:nvPicPr>
          <p:cNvPr id="508" name="Picture 507" descr="icon_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68" y="3246120"/>
            <a:ext cx="685800" cy="6858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86" name="Google Shape;486;p26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6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6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100" b="1">
                <a:solidFill>
                  <a:srgbClr val="22D3EE"/>
                </a:solidFill>
                <a:latin typeface="Inter"/>
              </a:rPr>
              <a:t>OCULAR SAFETY  ·  PHOTOBIOLOGICAL VERIFICATION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sz="3400" b="1">
                <a:solidFill>
                  <a:srgbClr val="FFFFFF"/>
                </a:solidFill>
                <a:latin typeface="Inter Display"/>
              </a:rPr>
              <a:t>Does the IR sensor harm the eye? Straight no.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502920" y="211143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5D6"/>
              </a:buClr>
              <a:buSzPts val="1800"/>
              <a:buFont typeface="Calibri"/>
              <a:buNone/>
            </a:pPr>
            <a:r>
              <a:rPr sz="1600" i="1">
                <a:solidFill>
                  <a:srgbClr val="B7C5D6"/>
                </a:solidFill>
                <a:latin typeface="Inter"/>
              </a:rPr>
              <a:t>Engineered well below international photobiological safety limits for continuous all-day wear.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6"/>
          <p:cNvSpPr/>
          <p:nvPr/>
        </p:nvSpPr>
        <p:spPr>
          <a:xfrm>
            <a:off x="472288" y="2926080"/>
            <a:ext cx="5440680" cy="3474720"/>
          </a:xfrm>
          <a:prstGeom prst="roundRect">
            <a:avLst>
              <a:gd fmla="val 2105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6"/>
          <p:cNvSpPr/>
          <p:nvPr/>
        </p:nvSpPr>
        <p:spPr>
          <a:xfrm>
            <a:off x="792328" y="3246120"/>
            <a:ext cx="685800" cy="685800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792328" y="3246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Arial"/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6"/>
          <p:cNvSpPr/>
          <p:nvPr/>
        </p:nvSpPr>
        <p:spPr>
          <a:xfrm>
            <a:off x="1661008" y="329184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100" b="1">
                <a:solidFill>
                  <a:srgbClr val="22D3EE"/>
                </a:solidFill>
                <a:latin typeface="Inter"/>
              </a:rPr>
              <a:t>20× BELOW IEC 62471 SAFETY THRESHOLD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6"/>
          <p:cNvSpPr/>
          <p:nvPr/>
        </p:nvSpPr>
        <p:spPr>
          <a:xfrm>
            <a:off x="1661008" y="35661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sz="1800" b="1">
                <a:solidFill>
                  <a:srgbClr val="FFFFFF"/>
                </a:solidFill>
                <a:latin typeface="Inter"/>
              </a:rPr>
              <a:t>Non-coherent 950nm LED — not a laser.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6"/>
          <p:cNvSpPr/>
          <p:nvPr/>
        </p:nvSpPr>
        <p:spPr>
          <a:xfrm>
            <a:off x="792328" y="4114800"/>
            <a:ext cx="4937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18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Uses a diffused, low-power 950nm LED (never a laser).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Surface irradiance stays under 0.5 mW/cm² at the eye.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Over 20× below the 10 mW/cm² IEC 62471 safety limit.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Classified in the international Exempt (Zero-Risk) group.</a:t>
            </a:r>
          </a:p>
        </p:txBody>
      </p:sp>
      <p:sp>
        <p:nvSpPr>
          <p:cNvPr id="497" name="Google Shape;497;p26"/>
          <p:cNvSpPr/>
          <p:nvPr/>
        </p:nvSpPr>
        <p:spPr>
          <a:xfrm>
            <a:off x="792328" y="5897880"/>
            <a:ext cx="3474720" cy="320040"/>
          </a:xfrm>
          <a:prstGeom prst="roundRect">
            <a:avLst>
              <a:gd fmla="val 142857" name="adj"/>
            </a:avLst>
          </a:prstGeom>
          <a:solidFill>
            <a:srgbClr val="0B25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6"/>
          <p:cNvSpPr/>
          <p:nvPr/>
        </p:nvSpPr>
        <p:spPr>
          <a:xfrm>
            <a:off x="792328" y="58978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sz="1050" b="1">
                <a:solidFill>
                  <a:srgbClr val="22D3EE"/>
                </a:solidFill>
                <a:latin typeface="Inter"/>
              </a:rPr>
              <a:t>IEC 62471 Exempt · &lt;0.5 mW/cm²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6"/>
          <p:cNvSpPr/>
          <p:nvPr/>
        </p:nvSpPr>
        <p:spPr>
          <a:xfrm>
            <a:off x="6278728" y="2926080"/>
            <a:ext cx="5440680" cy="3474720"/>
          </a:xfrm>
          <a:prstGeom prst="roundRect">
            <a:avLst>
              <a:gd fmla="val 2105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6"/>
          <p:cNvSpPr/>
          <p:nvPr/>
        </p:nvSpPr>
        <p:spPr>
          <a:xfrm>
            <a:off x="6598768" y="3246120"/>
            <a:ext cx="685800" cy="685800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6"/>
          <p:cNvSpPr/>
          <p:nvPr/>
        </p:nvSpPr>
        <p:spPr>
          <a:xfrm>
            <a:off x="6598768" y="3246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800"/>
              <a:buFont typeface="Arial"/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6"/>
          <p:cNvSpPr/>
          <p:nvPr/>
        </p:nvSpPr>
        <p:spPr>
          <a:xfrm>
            <a:off x="7467448" y="329184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100"/>
              <a:buFont typeface="Calibri"/>
              <a:buNone/>
            </a:pPr>
            <a:r>
              <a:rPr sz="1100" b="1">
                <a:solidFill>
                  <a:srgbClr val="FFB020"/>
                </a:solidFill>
                <a:latin typeface="Inter"/>
              </a:rPr>
              <a:t>SAFER THAN INDOOR SUNLIGHT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7467448" y="35661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sz="1800" b="1">
                <a:solidFill>
                  <a:srgbClr val="FFFFFF"/>
                </a:solidFill>
                <a:latin typeface="Inter"/>
              </a:rPr>
              <a:t>Zero heat, zero UV, zero retinal strain.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6"/>
          <p:cNvSpPr/>
          <p:nvPr/>
        </p:nvSpPr>
        <p:spPr>
          <a:xfrm>
            <a:off x="6598768" y="4114800"/>
            <a:ext cx="4937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20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Emits less IR than ordinary daylight through a window.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Lower IR power density than a standard TV remote LED.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Produces zero thermal buildup and zero corneal drying.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Completely safe for 12+ hours of continuous daily use.</a:t>
            </a:r>
          </a:p>
        </p:txBody>
      </p:sp>
      <p:sp>
        <p:nvSpPr>
          <p:cNvPr id="505" name="Google Shape;505;p26"/>
          <p:cNvSpPr/>
          <p:nvPr/>
        </p:nvSpPr>
        <p:spPr>
          <a:xfrm>
            <a:off x="6598768" y="5897880"/>
            <a:ext cx="3474720" cy="320040"/>
          </a:xfrm>
          <a:prstGeom prst="roundRect">
            <a:avLst>
              <a:gd fmla="val 142857" name="adj"/>
            </a:avLst>
          </a:prstGeom>
          <a:solidFill>
            <a:srgbClr val="2A1F0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6598768" y="58978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050"/>
              <a:buFont typeface="Calibri"/>
              <a:buNone/>
            </a:pPr>
            <a:r>
              <a:rPr sz="1050" b="1">
                <a:solidFill>
                  <a:srgbClr val="FFB020"/>
                </a:solidFill>
                <a:latin typeface="Inter"/>
              </a:rPr>
              <a:t>Zero Thermal Risk · 12h Continuous Safe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7" name="Picture 506" descr="icon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8" y="3246120"/>
            <a:ext cx="685800" cy="685800"/>
          </a:xfrm>
          <a:prstGeom prst="rect">
            <a:avLst/>
          </a:prstGeom>
        </p:spPr>
      </p:pic>
      <p:pic>
        <p:nvPicPr>
          <p:cNvPr id="508" name="Picture 507" descr="icon_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68" y="3246120"/>
            <a:ext cx="685800" cy="6858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86" name="Google Shape;486;p26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6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6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100" b="1">
                <a:solidFill>
                  <a:srgbClr val="22D3EE"/>
                </a:solidFill>
                <a:latin typeface="Inter"/>
              </a:rPr>
              <a:t>INTERNET OF THINGS  ·  SMART ROOM &amp; WI-FI FAILOVER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sz="3400" b="1">
                <a:solidFill>
                  <a:srgbClr val="FFFFFF"/>
                </a:solidFill>
                <a:latin typeface="Inter Display"/>
              </a:rPr>
              <a:t>Control room lights with a blink. Always connected.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502920" y="211143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5D6"/>
              </a:buClr>
              <a:buSzPts val="1800"/>
              <a:buFont typeface="Calibri"/>
              <a:buNone/>
            </a:pPr>
            <a:r>
              <a:rPr sz="1600" i="1">
                <a:solidFill>
                  <a:srgbClr val="B7C5D6"/>
                </a:solidFill>
                <a:latin typeface="Inter"/>
              </a:rPr>
              <a:t>IRIS operates as a full IoT device — connecting over both Bluetooth and Wi-Fi for smart-room agency.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6"/>
          <p:cNvSpPr/>
          <p:nvPr/>
        </p:nvSpPr>
        <p:spPr>
          <a:xfrm>
            <a:off x="472288" y="2926080"/>
            <a:ext cx="5440680" cy="3474720"/>
          </a:xfrm>
          <a:prstGeom prst="roundRect">
            <a:avLst>
              <a:gd fmla="val 2105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6"/>
          <p:cNvSpPr/>
          <p:nvPr/>
        </p:nvSpPr>
        <p:spPr>
          <a:xfrm>
            <a:off x="792328" y="3246120"/>
            <a:ext cx="685800" cy="685800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792328" y="3246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Arial"/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6"/>
          <p:cNvSpPr/>
          <p:nvPr/>
        </p:nvSpPr>
        <p:spPr>
          <a:xfrm>
            <a:off x="1661008" y="329184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100" b="1">
                <a:solidFill>
                  <a:srgbClr val="22D3EE"/>
                </a:solidFill>
                <a:latin typeface="Inter"/>
              </a:rPr>
              <a:t>IOT CLOUD &amp; SMART ROOM SIMULATION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6"/>
          <p:cNvSpPr/>
          <p:nvPr/>
        </p:nvSpPr>
        <p:spPr>
          <a:xfrm>
            <a:off x="1661008" y="35661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sz="1800" b="1">
                <a:solidFill>
                  <a:srgbClr val="FFFFFF"/>
                </a:solidFill>
                <a:latin typeface="Inter"/>
              </a:rPr>
              <a:t>Turn on lights and fans from bed.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6"/>
          <p:cNvSpPr/>
          <p:nvPr/>
        </p:nvSpPr>
        <p:spPr>
          <a:xfrm>
            <a:off x="792328" y="4114800"/>
            <a:ext cx="4937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18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Connects to IoT cloud relays over Wi-Fi for room control.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Patients toggle bedroom lights &amp; fans via blink tiles.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Includes a live Smart Room Simulator inside Settings.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Restores room independence without calling a caregiver.</a:t>
            </a:r>
          </a:p>
        </p:txBody>
      </p:sp>
      <p:sp>
        <p:nvSpPr>
          <p:cNvPr id="497" name="Google Shape;497;p26"/>
          <p:cNvSpPr/>
          <p:nvPr/>
        </p:nvSpPr>
        <p:spPr>
          <a:xfrm>
            <a:off x="792328" y="5897880"/>
            <a:ext cx="3474720" cy="320040"/>
          </a:xfrm>
          <a:prstGeom prst="roundRect">
            <a:avLst>
              <a:gd fmla="val 142857" name="adj"/>
            </a:avLst>
          </a:prstGeom>
          <a:solidFill>
            <a:srgbClr val="0B25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6"/>
          <p:cNvSpPr/>
          <p:nvPr/>
        </p:nvSpPr>
        <p:spPr>
          <a:xfrm>
            <a:off x="792328" y="58978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sz="1050" b="1">
                <a:solidFill>
                  <a:srgbClr val="22D3EE"/>
                </a:solidFill>
                <a:latin typeface="Inter"/>
              </a:rPr>
              <a:t>Wi-Fi IoT Cloud · Live Room Simulator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6"/>
          <p:cNvSpPr/>
          <p:nvPr/>
        </p:nvSpPr>
        <p:spPr>
          <a:xfrm>
            <a:off x="6278728" y="2926080"/>
            <a:ext cx="5440680" cy="3474720"/>
          </a:xfrm>
          <a:prstGeom prst="roundRect">
            <a:avLst>
              <a:gd fmla="val 2105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6"/>
          <p:cNvSpPr/>
          <p:nvPr/>
        </p:nvSpPr>
        <p:spPr>
          <a:xfrm>
            <a:off x="6598768" y="3246120"/>
            <a:ext cx="685800" cy="685800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6"/>
          <p:cNvSpPr/>
          <p:nvPr/>
        </p:nvSpPr>
        <p:spPr>
          <a:xfrm>
            <a:off x="6598768" y="3246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800"/>
              <a:buFont typeface="Arial"/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6"/>
          <p:cNvSpPr/>
          <p:nvPr/>
        </p:nvSpPr>
        <p:spPr>
          <a:xfrm>
            <a:off x="7467448" y="329184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100"/>
              <a:buFont typeface="Calibri"/>
              <a:buNone/>
            </a:pPr>
            <a:r>
              <a:rPr sz="1100" b="1">
                <a:solidFill>
                  <a:srgbClr val="FFB020"/>
                </a:solidFill>
                <a:latin typeface="Inter"/>
              </a:rPr>
              <a:t>AUTOMATIC WI-FI FAILOVER &amp; DEEP SLEEP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7467448" y="35661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sz="1800" b="1">
                <a:solidFill>
                  <a:srgbClr val="FFFFFF"/>
                </a:solidFill>
                <a:latin typeface="Inter"/>
              </a:rPr>
              <a:t>If Bluetooth drops, Wi-Fi takes over.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6"/>
          <p:cNvSpPr/>
          <p:nvPr/>
        </p:nvSpPr>
        <p:spPr>
          <a:xfrm>
            <a:off x="6598768" y="4114800"/>
            <a:ext cx="4937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20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Uses low-energy Bluetooth (BLE 5.0) as primary link.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Auto-switches to local Wi-Fi if Bluetooth disconnects.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Ensures cursor and SOS alerts never drop mid-use.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Ultra-low-power Deep Sleep extends battery to 12 hours.</a:t>
            </a:r>
          </a:p>
        </p:txBody>
      </p:sp>
      <p:sp>
        <p:nvSpPr>
          <p:cNvPr id="505" name="Google Shape;505;p26"/>
          <p:cNvSpPr/>
          <p:nvPr/>
        </p:nvSpPr>
        <p:spPr>
          <a:xfrm>
            <a:off x="6598768" y="5897880"/>
            <a:ext cx="3474720" cy="320040"/>
          </a:xfrm>
          <a:prstGeom prst="roundRect">
            <a:avLst>
              <a:gd fmla="val 142857" name="adj"/>
            </a:avLst>
          </a:prstGeom>
          <a:solidFill>
            <a:srgbClr val="2A1F0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6598768" y="58978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050"/>
              <a:buFont typeface="Calibri"/>
              <a:buNone/>
            </a:pPr>
            <a:r>
              <a:rPr sz="1050" b="1">
                <a:solidFill>
                  <a:srgbClr val="FFB020"/>
                </a:solidFill>
                <a:latin typeface="Inter"/>
              </a:rPr>
              <a:t>BLE + Wi-Fi Failover · 12h Deep Sleep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7" name="Picture 506" descr="icon_wif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8" y="3246120"/>
            <a:ext cx="685800" cy="685800"/>
          </a:xfrm>
          <a:prstGeom prst="rect">
            <a:avLst/>
          </a:prstGeom>
        </p:spPr>
      </p:pic>
      <p:pic>
        <p:nvPicPr>
          <p:cNvPr id="508" name="Picture 507" descr="icon_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68" y="3246120"/>
            <a:ext cx="685800" cy="6858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86" name="Google Shape;786;p35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5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5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100" b="1">
                <a:solidFill>
                  <a:srgbClr val="22D3EE"/>
                </a:solidFill>
                <a:latin typeface="Inter"/>
              </a:rPr>
              <a:t>THE PRICE GAP EXPLAINED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5"/>
          <p:cNvSpPr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sz="3300" b="1">
                <a:solidFill>
                  <a:srgbClr val="FFFFFF"/>
                </a:solidFill>
                <a:latin typeface="Inter Display"/>
              </a:rPr>
              <a:t>Why ₹25–30 Lakh vs. ₹800? Breaking the monopoly.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5"/>
          <p:cNvSpPr/>
          <p:nvPr/>
        </p:nvSpPr>
        <p:spPr>
          <a:xfrm>
            <a:off x="502920" y="21945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5D6"/>
              </a:buClr>
              <a:buSzPts val="1400"/>
              <a:buFont typeface="Calibri"/>
              <a:buNone/>
            </a:pPr>
            <a:r>
              <a:rPr sz="1600" i="1">
                <a:solidFill>
                  <a:srgbClr val="B7C5D6"/>
                </a:solidFill>
                <a:latin typeface="Inter"/>
              </a:rPr>
              <a:t>Commercial eye-trackers aren't expensive because of their sensors — they're expensive because of how they're sold.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5"/>
          <p:cNvSpPr/>
          <p:nvPr/>
        </p:nvSpPr>
        <p:spPr>
          <a:xfrm>
            <a:off x="472288" y="2880360"/>
            <a:ext cx="5440680" cy="1691640"/>
          </a:xfrm>
          <a:prstGeom prst="roundRect">
            <a:avLst>
              <a:gd fmla="val 4324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5"/>
          <p:cNvSpPr/>
          <p:nvPr/>
        </p:nvSpPr>
        <p:spPr>
          <a:xfrm>
            <a:off x="700888" y="3154680"/>
            <a:ext cx="777240" cy="777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5"/>
          <p:cNvSpPr/>
          <p:nvPr/>
        </p:nvSpPr>
        <p:spPr>
          <a:xfrm>
            <a:off x="700888" y="31546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2400"/>
              <a:buFont typeface="Arial"/>
              <a:buNone/>
            </a:pPr>
            <a:r>
              <a:rPr sz="2000" b="1">
                <a:solidFill>
                  <a:srgbClr val="0B1A2E"/>
                </a:solidFill>
                <a:latin typeface="Inter Display"/>
              </a:rPr>
              <a:t>01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5"/>
          <p:cNvSpPr/>
          <p:nvPr/>
        </p:nvSpPr>
        <p:spPr>
          <a:xfrm>
            <a:off x="1615288" y="315468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GLOBAL PATENT &amp; MARKET MONOPOLY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5"/>
          <p:cNvSpPr/>
          <p:nvPr/>
        </p:nvSpPr>
        <p:spPr>
          <a:xfrm>
            <a:off x="1615288" y="3438144"/>
            <a:ext cx="4160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50"/>
              </a:spcAft>
              <a:buClr>
                <a:srgbClr val="CDD5E2"/>
              </a:buClr>
              <a:buSzPts val="1600"/>
              <a:buFont typeface="Calibri"/>
              <a:buNone/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2–3 Western firms control the clinical eye-tracking market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Zero low-cost competition allows monopoly pricing</a:t>
            </a: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Priced for Western insurance payouts, not Indian homes</a:t>
            </a:r>
          </a:p>
        </p:txBody>
      </p:sp>
      <p:sp>
        <p:nvSpPr>
          <p:cNvPr id="796" name="Google Shape;796;p35"/>
          <p:cNvSpPr/>
          <p:nvPr/>
        </p:nvSpPr>
        <p:spPr>
          <a:xfrm>
            <a:off x="6278728" y="2880360"/>
            <a:ext cx="5440680" cy="1691640"/>
          </a:xfrm>
          <a:prstGeom prst="roundRect">
            <a:avLst>
              <a:gd fmla="val 4324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5"/>
          <p:cNvSpPr/>
          <p:nvPr/>
        </p:nvSpPr>
        <p:spPr>
          <a:xfrm>
            <a:off x="6507328" y="3154680"/>
            <a:ext cx="777240" cy="77724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5"/>
          <p:cNvSpPr/>
          <p:nvPr/>
        </p:nvSpPr>
        <p:spPr>
          <a:xfrm>
            <a:off x="6507328" y="31546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2400"/>
              <a:buFont typeface="Arial"/>
              <a:buNone/>
            </a:pPr>
            <a:r>
              <a:rPr sz="2000" b="1">
                <a:solidFill>
                  <a:srgbClr val="0B1A2E"/>
                </a:solidFill>
                <a:latin typeface="Inter Display"/>
              </a:rPr>
              <a:t>02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5"/>
          <p:cNvSpPr/>
          <p:nvPr/>
        </p:nvSpPr>
        <p:spPr>
          <a:xfrm>
            <a:off x="7421728" y="315468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100"/>
              <a:buFont typeface="Calibri"/>
              <a:buNone/>
            </a:pPr>
            <a:r>
              <a:rPr sz="1250" b="1">
                <a:solidFill>
                  <a:srgbClr val="FFB020"/>
                </a:solidFill>
                <a:latin typeface="Inter"/>
              </a:rPr>
              <a:t>40–60% IMPORT DUTIES &amp; MIDDLEMEN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5"/>
          <p:cNvSpPr/>
          <p:nvPr/>
        </p:nvSpPr>
        <p:spPr>
          <a:xfrm>
            <a:off x="7421728" y="3438144"/>
            <a:ext cx="4160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50"/>
              </a:spcAft>
              <a:buClr>
                <a:srgbClr val="CDD5E2"/>
              </a:buClr>
              <a:buSzPts val="1600"/>
              <a:buFont typeface="Calibri"/>
              <a:buNone/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Imported as specialized hardware with heavy tariffs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Exclusive national &amp; regional distributor markups</a:t>
            </a: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Proprietary replacement mounts carry steep surcharges</a:t>
            </a:r>
          </a:p>
        </p:txBody>
      </p:sp>
      <p:sp>
        <p:nvSpPr>
          <p:cNvPr id="801" name="Google Shape;801;p35"/>
          <p:cNvSpPr/>
          <p:nvPr/>
        </p:nvSpPr>
        <p:spPr>
          <a:xfrm>
            <a:off x="472288" y="4800600"/>
            <a:ext cx="5440680" cy="1691640"/>
          </a:xfrm>
          <a:prstGeom prst="roundRect">
            <a:avLst>
              <a:gd fmla="val 4324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5"/>
          <p:cNvSpPr/>
          <p:nvPr/>
        </p:nvSpPr>
        <p:spPr>
          <a:xfrm>
            <a:off x="700888" y="5074920"/>
            <a:ext cx="777240" cy="777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5"/>
          <p:cNvSpPr/>
          <p:nvPr/>
        </p:nvSpPr>
        <p:spPr>
          <a:xfrm>
            <a:off x="700888" y="50749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2400"/>
              <a:buFont typeface="Arial"/>
              <a:buNone/>
            </a:pPr>
            <a:r>
              <a:rPr sz="2000" b="1">
                <a:solidFill>
                  <a:srgbClr val="0B1A2E"/>
                </a:solidFill>
                <a:latin typeface="Inter Display"/>
              </a:rPr>
              <a:t>03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5"/>
          <p:cNvSpPr/>
          <p:nvPr/>
        </p:nvSpPr>
        <p:spPr>
          <a:xfrm>
            <a:off x="1615288" y="507492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FORCED BUNDLED TABLETS &amp; CAMERAS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5"/>
          <p:cNvSpPr/>
          <p:nvPr/>
        </p:nvSpPr>
        <p:spPr>
          <a:xfrm>
            <a:off x="1615288" y="5358384"/>
            <a:ext cx="4160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50"/>
              </a:spcAft>
              <a:buClr>
                <a:srgbClr val="CDD5E2"/>
              </a:buClr>
              <a:buSzPts val="1600"/>
              <a:buFont typeface="Calibri"/>
              <a:buNone/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Forces buyers to pay lakhs for a dedicated rugged tablet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Uses costly 120Hz camera bars needing specialist setup</a:t>
            </a: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IRIS runs on the laptop or phone the family already owns</a:t>
            </a:r>
          </a:p>
        </p:txBody>
      </p:sp>
      <p:sp>
        <p:nvSpPr>
          <p:cNvPr id="806" name="Google Shape;806;p35"/>
          <p:cNvSpPr/>
          <p:nvPr/>
        </p:nvSpPr>
        <p:spPr>
          <a:xfrm>
            <a:off x="6278728" y="4800600"/>
            <a:ext cx="5440680" cy="1691640"/>
          </a:xfrm>
          <a:prstGeom prst="roundRect">
            <a:avLst>
              <a:gd fmla="val 4324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5"/>
          <p:cNvSpPr/>
          <p:nvPr/>
        </p:nvSpPr>
        <p:spPr>
          <a:xfrm>
            <a:off x="6507328" y="5074920"/>
            <a:ext cx="777240" cy="77724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5"/>
          <p:cNvSpPr/>
          <p:nvPr/>
        </p:nvSpPr>
        <p:spPr>
          <a:xfrm>
            <a:off x="6507328" y="50749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2400"/>
              <a:buFont typeface="Arial"/>
              <a:buNone/>
            </a:pPr>
            <a:r>
              <a:rPr sz="2000" b="1">
                <a:solidFill>
                  <a:srgbClr val="0B1A2E"/>
                </a:solidFill>
                <a:latin typeface="Inter Display"/>
              </a:rPr>
              <a:t>04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5"/>
          <p:cNvSpPr/>
          <p:nvPr/>
        </p:nvSpPr>
        <p:spPr>
          <a:xfrm>
            <a:off x="7421728" y="507492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100"/>
              <a:buFont typeface="Calibri"/>
              <a:buNone/>
            </a:pPr>
            <a:r>
              <a:rPr sz="1250" b="1">
                <a:solidFill>
                  <a:srgbClr val="FFB020"/>
                </a:solidFill>
                <a:latin typeface="Inter"/>
              </a:rPr>
              <a:t>MULTI-CRORE VALIDATION OVERHEAD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5"/>
          <p:cNvSpPr/>
          <p:nvPr/>
        </p:nvSpPr>
        <p:spPr>
          <a:xfrm>
            <a:off x="7421728" y="5358384"/>
            <a:ext cx="4160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50"/>
              </a:spcAft>
              <a:buClr>
                <a:srgbClr val="CDD5E2"/>
              </a:buClr>
              <a:buSzPts val="1600"/>
              <a:buFont typeface="Calibri"/>
              <a:buNone/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Corporate overhead amortized into every unit sold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IRIS uses ₹800 of off-the-shelf open hardware parts</a:t>
            </a: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Will validate via Indian partner hospitals &amp; NGOs</a:t>
            </a:r>
          </a:p>
        </p:txBody>
      </p:sp>
    </p:spTree>
  </p:cSld>
  <p:clrMapOvr>
    <a:masterClrMapping/>
  </p:clrMapOvr>
  <p:transition spd="med" advClick="1">
    <p:fade thruBlk="0"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86" name="Google Shape;486;p26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6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6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100" b="1">
                <a:solidFill>
                  <a:srgbClr val="22D3EE"/>
                </a:solidFill>
                <a:latin typeface="Inter"/>
              </a:rPr>
              <a:t>PROJECT IRIS WEB PLATFORM  ·  PROJECTIRIS.DEV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sz="3400" b="1">
                <a:solidFill>
                  <a:srgbClr val="FFFFFF"/>
                </a:solidFill>
                <a:latin typeface="Inter Display"/>
              </a:rPr>
              <a:t>One website for patients, caregivers &amp; makers.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502920" y="211143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5D6"/>
              </a:buClr>
              <a:buSzPts val="1800"/>
              <a:buFont typeface="Calibri"/>
              <a:buNone/>
            </a:pPr>
            <a:r>
              <a:rPr sz="1600" i="1">
                <a:solidFill>
                  <a:srgbClr val="B7C5D6"/>
                </a:solidFill>
                <a:latin typeface="Inter"/>
              </a:rPr>
              <a:t>Our dedicated web platform hosts the browser Universal App, live caregiver portal, and open build guides.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6"/>
          <p:cNvSpPr/>
          <p:nvPr/>
        </p:nvSpPr>
        <p:spPr>
          <a:xfrm>
            <a:off x="472288" y="2926080"/>
            <a:ext cx="5440680" cy="3474720"/>
          </a:xfrm>
          <a:prstGeom prst="roundRect">
            <a:avLst>
              <a:gd fmla="val 2105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6"/>
          <p:cNvSpPr/>
          <p:nvPr/>
        </p:nvSpPr>
        <p:spPr>
          <a:xfrm>
            <a:off x="792328" y="3246120"/>
            <a:ext cx="685800" cy="685800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792328" y="3246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Arial"/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6"/>
          <p:cNvSpPr/>
          <p:nvPr/>
        </p:nvSpPr>
        <p:spPr>
          <a:xfrm>
            <a:off x="1661008" y="329184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100" b="1">
                <a:solidFill>
                  <a:srgbClr val="22D3EE"/>
                </a:solidFill>
                <a:latin typeface="Inter"/>
              </a:rPr>
              <a:t>BROWSER UNIVERSAL APP &amp; CAREGIVER PORTAL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6"/>
          <p:cNvSpPr/>
          <p:nvPr/>
        </p:nvSpPr>
        <p:spPr>
          <a:xfrm>
            <a:off x="1661008" y="35661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sz="1800" b="1">
                <a:solidFill>
                  <a:srgbClr val="FFFFFF"/>
                </a:solidFill>
                <a:latin typeface="Inter"/>
              </a:rPr>
              <a:t>Zero-install web app &amp; live dashboard.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6"/>
          <p:cNvSpPr/>
          <p:nvPr/>
        </p:nvSpPr>
        <p:spPr>
          <a:xfrm>
            <a:off x="792328" y="4114800"/>
            <a:ext cx="4937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18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Runs the IRIS Universal App directly in any web browser.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Hosts the Caregiver Live Portal linked from ntfy.sh alerts.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Includes 360° Flight Sim, gaze games &amp; IoT room simulator.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Works across Windows, macOS, Android &amp; iOS without drivers.</a:t>
            </a:r>
          </a:p>
        </p:txBody>
      </p:sp>
      <p:sp>
        <p:nvSpPr>
          <p:cNvPr id="497" name="Google Shape;497;p26"/>
          <p:cNvSpPr/>
          <p:nvPr/>
        </p:nvSpPr>
        <p:spPr>
          <a:xfrm>
            <a:off x="792328" y="5897880"/>
            <a:ext cx="3474720" cy="320040"/>
          </a:xfrm>
          <a:prstGeom prst="roundRect">
            <a:avLst>
              <a:gd fmla="val 142857" name="adj"/>
            </a:avLst>
          </a:prstGeom>
          <a:solidFill>
            <a:srgbClr val="0B25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6"/>
          <p:cNvSpPr/>
          <p:nvPr/>
        </p:nvSpPr>
        <p:spPr>
          <a:xfrm>
            <a:off x="792328" y="58978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sz="1050" b="1">
                <a:solidFill>
                  <a:srgbClr val="22D3EE"/>
                </a:solidFill>
                <a:latin typeface="Inter"/>
              </a:rPr>
              <a:t>projectiris.dev · Browser-Native Platform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6"/>
          <p:cNvSpPr/>
          <p:nvPr/>
        </p:nvSpPr>
        <p:spPr>
          <a:xfrm>
            <a:off x="6278728" y="2926080"/>
            <a:ext cx="5440680" cy="3474720"/>
          </a:xfrm>
          <a:prstGeom prst="roundRect">
            <a:avLst>
              <a:gd fmla="val 2105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6"/>
          <p:cNvSpPr/>
          <p:nvPr/>
        </p:nvSpPr>
        <p:spPr>
          <a:xfrm>
            <a:off x="6598768" y="3246120"/>
            <a:ext cx="685800" cy="685800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6"/>
          <p:cNvSpPr/>
          <p:nvPr/>
        </p:nvSpPr>
        <p:spPr>
          <a:xfrm>
            <a:off x="6598768" y="3246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800"/>
              <a:buFont typeface="Arial"/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6"/>
          <p:cNvSpPr/>
          <p:nvPr/>
        </p:nvSpPr>
        <p:spPr>
          <a:xfrm>
            <a:off x="7467448" y="329184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100"/>
              <a:buFont typeface="Calibri"/>
              <a:buNone/>
            </a:pPr>
            <a:r>
              <a:rPr sz="1100" b="1">
                <a:solidFill>
                  <a:srgbClr val="FFB020"/>
                </a:solidFill>
                <a:latin typeface="Inter"/>
              </a:rPr>
              <a:t>OPEN REPLICATION &amp; HOSPITAL PILOT HUB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7467448" y="35661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sz="1800" b="1">
                <a:solidFill>
                  <a:srgbClr val="FFFFFF"/>
                </a:solidFill>
                <a:latin typeface="Inter"/>
              </a:rPr>
              <a:t>Schematics, Python scripts &amp; NGO hub.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6"/>
          <p:cNvSpPr/>
          <p:nvPr/>
        </p:nvSpPr>
        <p:spPr>
          <a:xfrm>
            <a:off x="6598768" y="4114800"/>
            <a:ext cx="4937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20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Downloadable Python eye-twin scripts &amp; XIAO firmware.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Publishes circuit wiring diagrams, BOM &amp; 3D mount files.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Lets students &amp; rehab labs replicate IRIS for ₹800.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Onboarding portal for hospital wards &amp; NGO partners.</a:t>
            </a:r>
          </a:p>
        </p:txBody>
      </p:sp>
      <p:sp>
        <p:nvSpPr>
          <p:cNvPr id="505" name="Google Shape;505;p26"/>
          <p:cNvSpPr/>
          <p:nvPr/>
        </p:nvSpPr>
        <p:spPr>
          <a:xfrm>
            <a:off x="6598768" y="5897880"/>
            <a:ext cx="3474720" cy="320040"/>
          </a:xfrm>
          <a:prstGeom prst="roundRect">
            <a:avLst>
              <a:gd fmla="val 142857" name="adj"/>
            </a:avLst>
          </a:prstGeom>
          <a:solidFill>
            <a:srgbClr val="2A1F0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6598768" y="58978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050"/>
              <a:buFont typeface="Calibri"/>
              <a:buNone/>
            </a:pPr>
            <a:r>
              <a:rPr sz="1050" b="1">
                <a:solidFill>
                  <a:srgbClr val="FFB020"/>
                </a:solidFill>
                <a:latin typeface="Inter"/>
              </a:rPr>
              <a:t>Open Documentation · Hospital &amp; NGO Hub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7" name="Picture 506" descr="icon_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8" y="3246120"/>
            <a:ext cx="685800" cy="685800"/>
          </a:xfrm>
          <a:prstGeom prst="rect">
            <a:avLst/>
          </a:prstGeom>
        </p:spPr>
      </p:pic>
      <p:pic>
        <p:nvPicPr>
          <p:cNvPr id="508" name="Picture 507" descr="icon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68" y="3246120"/>
            <a:ext cx="685800" cy="6858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86" name="Google Shape;786;p35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5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5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100" b="1">
                <a:solidFill>
                  <a:srgbClr val="22D3EE"/>
                </a:solidFill>
                <a:latin typeface="Inter"/>
              </a:rPr>
              <a:t>FUTURE SYSTEM ECONOMICS  ·  PRICING JUSTIFICATION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5"/>
          <p:cNvSpPr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sz="3300" b="1">
                <a:solidFill>
                  <a:srgbClr val="FFFFFF"/>
                </a:solidFill>
                <a:latin typeface="Inter Display"/>
              </a:rPr>
              <a:t>How the ₹800 prototype will scale to a ₹3,000–₹3,500 kit.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5"/>
          <p:cNvSpPr/>
          <p:nvPr/>
        </p:nvSpPr>
        <p:spPr>
          <a:xfrm>
            <a:off x="502920" y="21945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5D6"/>
              </a:buClr>
              <a:buSzPts val="1400"/>
              <a:buFont typeface="Calibri"/>
              <a:buNone/>
            </a:pPr>
            <a:r>
              <a:rPr sz="1600" i="1">
                <a:solidFill>
                  <a:srgbClr val="B7C5D6"/>
                </a:solidFill>
                <a:latin typeface="Inter"/>
              </a:rPr>
              <a:t>IRIS is not on the market yet — here is how the future complete commercial kit will be priced and sustained.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5"/>
          <p:cNvSpPr/>
          <p:nvPr/>
        </p:nvSpPr>
        <p:spPr>
          <a:xfrm>
            <a:off x="472288" y="2880360"/>
            <a:ext cx="5440680" cy="1691640"/>
          </a:xfrm>
          <a:prstGeom prst="roundRect">
            <a:avLst>
              <a:gd fmla="val 4324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5"/>
          <p:cNvSpPr/>
          <p:nvPr/>
        </p:nvSpPr>
        <p:spPr>
          <a:xfrm>
            <a:off x="700888" y="3154680"/>
            <a:ext cx="777240" cy="777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5"/>
          <p:cNvSpPr/>
          <p:nvPr/>
        </p:nvSpPr>
        <p:spPr>
          <a:xfrm>
            <a:off x="700888" y="31546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2400"/>
              <a:buFont typeface="Arial"/>
              <a:buNone/>
            </a:pPr>
            <a:r>
              <a:rPr sz="2000" b="1">
                <a:solidFill>
                  <a:srgbClr val="0B1A2E"/>
                </a:solidFill>
                <a:latin typeface="Inter Display"/>
              </a:rPr>
              <a:t>01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5"/>
          <p:cNvSpPr/>
          <p:nvPr/>
        </p:nvSpPr>
        <p:spPr>
          <a:xfrm>
            <a:off x="1615288" y="315468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₹800 CORE PROTOTYPE BOM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5"/>
          <p:cNvSpPr/>
          <p:nvPr/>
        </p:nvSpPr>
        <p:spPr>
          <a:xfrm>
            <a:off x="1615288" y="3438144"/>
            <a:ext cx="4160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50"/>
              </a:spcAft>
              <a:buClr>
                <a:srgbClr val="CDD5E2"/>
              </a:buClr>
              <a:buSzPts val="1600"/>
              <a:buFont typeface="Calibri"/>
              <a:buNone/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XIAO C3 (₹250) + MPU6050 (₹120) + Multi-Beam IR (₹100)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Magnet Pivot + LED (₹75) + 3.7V 1000mAh Li-Po (₹100)</a:t>
            </a: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Velcro Belt + Glasses (₹130) + Passive parts (₹25)</a:t>
            </a:r>
          </a:p>
        </p:txBody>
      </p:sp>
      <p:sp>
        <p:nvSpPr>
          <p:cNvPr id="796" name="Google Shape;796;p35"/>
          <p:cNvSpPr/>
          <p:nvPr/>
        </p:nvSpPr>
        <p:spPr>
          <a:xfrm>
            <a:off x="6278728" y="2880360"/>
            <a:ext cx="5440680" cy="1691640"/>
          </a:xfrm>
          <a:prstGeom prst="roundRect">
            <a:avLst>
              <a:gd fmla="val 4324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5"/>
          <p:cNvSpPr/>
          <p:nvPr/>
        </p:nvSpPr>
        <p:spPr>
          <a:xfrm>
            <a:off x="6507328" y="3154680"/>
            <a:ext cx="777240" cy="77724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5"/>
          <p:cNvSpPr/>
          <p:nvPr/>
        </p:nvSpPr>
        <p:spPr>
          <a:xfrm>
            <a:off x="6507328" y="31546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2400"/>
              <a:buFont typeface="Arial"/>
              <a:buNone/>
            </a:pPr>
            <a:r>
              <a:rPr sz="2000" b="1">
                <a:solidFill>
                  <a:srgbClr val="0B1A2E"/>
                </a:solidFill>
                <a:latin typeface="Inter Display"/>
              </a:rPr>
              <a:t>02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5"/>
          <p:cNvSpPr/>
          <p:nvPr/>
        </p:nvSpPr>
        <p:spPr>
          <a:xfrm>
            <a:off x="7421728" y="315468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100"/>
              <a:buFont typeface="Calibri"/>
              <a:buNone/>
            </a:pPr>
            <a:r>
              <a:rPr sz="1250" b="1">
                <a:solidFill>
                  <a:srgbClr val="FFB020"/>
                </a:solidFill>
                <a:latin typeface="Inter"/>
              </a:rPr>
              <a:t>+₹1,300 PRODUCTION &amp; QUALITY BUILD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5"/>
          <p:cNvSpPr/>
          <p:nvPr/>
        </p:nvSpPr>
        <p:spPr>
          <a:xfrm>
            <a:off x="7421728" y="3438144"/>
            <a:ext cx="4160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50"/>
              </a:spcAft>
              <a:buClr>
                <a:srgbClr val="CDD5E2"/>
              </a:buClr>
              <a:buSzPts val="1600"/>
              <a:buFont typeface="Calibri"/>
              <a:buNone/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Custom flex-PCB &amp; 3D enclosure tooling (+₹450)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QA testing, 1-year warranty &amp; packaging (+₹350)</a:t>
            </a: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GST, shipping &amp; hospital/NGO onboarding (+₹500)</a:t>
            </a:r>
          </a:p>
        </p:txBody>
      </p:sp>
      <p:sp>
        <p:nvSpPr>
          <p:cNvPr id="801" name="Google Shape;801;p35"/>
          <p:cNvSpPr/>
          <p:nvPr/>
        </p:nvSpPr>
        <p:spPr>
          <a:xfrm>
            <a:off x="472288" y="4800600"/>
            <a:ext cx="5440680" cy="1691640"/>
          </a:xfrm>
          <a:prstGeom prst="roundRect">
            <a:avLst>
              <a:gd fmla="val 4324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5"/>
          <p:cNvSpPr/>
          <p:nvPr/>
        </p:nvSpPr>
        <p:spPr>
          <a:xfrm>
            <a:off x="700888" y="5074920"/>
            <a:ext cx="777240" cy="777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5"/>
          <p:cNvSpPr/>
          <p:nvPr/>
        </p:nvSpPr>
        <p:spPr>
          <a:xfrm>
            <a:off x="700888" y="50749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2400"/>
              <a:buFont typeface="Arial"/>
              <a:buNone/>
            </a:pPr>
            <a:r>
              <a:rPr sz="2000" b="1">
                <a:solidFill>
                  <a:srgbClr val="0B1A2E"/>
                </a:solidFill>
                <a:latin typeface="Inter Display"/>
              </a:rPr>
              <a:t>03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5"/>
          <p:cNvSpPr/>
          <p:nvPr/>
        </p:nvSpPr>
        <p:spPr>
          <a:xfrm>
            <a:off x="1615288" y="507492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₹3,000–₹3,500 PLANNED FUTURE PRICE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5"/>
          <p:cNvSpPr/>
          <p:nvPr/>
        </p:nvSpPr>
        <p:spPr>
          <a:xfrm>
            <a:off x="1615288" y="5358384"/>
            <a:ext cx="4160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50"/>
              </a:spcAft>
              <a:buClr>
                <a:srgbClr val="CDD5E2"/>
              </a:buClr>
              <a:buSzPts val="1600"/>
              <a:buFont typeface="Calibri"/>
              <a:buNone/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Landed production cost of complete kit will be ~₹2,100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Planned ₹3,000–₹3,500 price yields ~₹900–₹1,400 margin</a:t>
            </a: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Remains 99.8% cheaper than ₹25L–₹30L commercial systems</a:t>
            </a:r>
          </a:p>
        </p:txBody>
      </p:sp>
      <p:sp>
        <p:nvSpPr>
          <p:cNvPr id="806" name="Google Shape;806;p35"/>
          <p:cNvSpPr/>
          <p:nvPr/>
        </p:nvSpPr>
        <p:spPr>
          <a:xfrm>
            <a:off x="6278728" y="4800600"/>
            <a:ext cx="5440680" cy="1691640"/>
          </a:xfrm>
          <a:prstGeom prst="roundRect">
            <a:avLst>
              <a:gd fmla="val 4324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5"/>
          <p:cNvSpPr/>
          <p:nvPr/>
        </p:nvSpPr>
        <p:spPr>
          <a:xfrm>
            <a:off x="6507328" y="5074920"/>
            <a:ext cx="777240" cy="77724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5"/>
          <p:cNvSpPr/>
          <p:nvPr/>
        </p:nvSpPr>
        <p:spPr>
          <a:xfrm>
            <a:off x="6507328" y="50749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2400"/>
              <a:buFont typeface="Arial"/>
              <a:buNone/>
            </a:pPr>
            <a:r>
              <a:rPr sz="2000" b="1">
                <a:solidFill>
                  <a:srgbClr val="0B1A2E"/>
                </a:solidFill>
                <a:latin typeface="Inter Display"/>
              </a:rPr>
              <a:t>04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5"/>
          <p:cNvSpPr/>
          <p:nvPr/>
        </p:nvSpPr>
        <p:spPr>
          <a:xfrm>
            <a:off x="7421728" y="507492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100"/>
              <a:buFont typeface="Calibri"/>
              <a:buNone/>
            </a:pPr>
            <a:r>
              <a:rPr sz="1250" b="1">
                <a:solidFill>
                  <a:srgbClr val="FFB020"/>
                </a:solidFill>
                <a:latin typeface="Inter"/>
              </a:rPr>
              <a:t>NGO VALIDATION &amp; SUBSIDIZED ACCESS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5"/>
          <p:cNvSpPr/>
          <p:nvPr/>
        </p:nvSpPr>
        <p:spPr>
          <a:xfrm>
            <a:off x="7421728" y="5358384"/>
            <a:ext cx="4160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50"/>
              </a:spcAft>
              <a:buClr>
                <a:srgbClr val="CDD5E2"/>
              </a:buClr>
              <a:buSzPts val="1600"/>
              <a:buFont typeface="Calibri"/>
              <a:buNone/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Margins will fund R&amp;D and subsidized kits for poor homes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Will validate via APD India, Amar Seva &amp; Spinal Foundation</a:t>
            </a: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22D3EE"/>
                </a:solidFill>
                <a:latin typeface="Inter"/>
              </a:rPr>
              <a:t>•  </a:t>
            </a:r>
            <a:r>
              <a:rPr sz="1150" b="0">
                <a:solidFill>
                  <a:srgbClr val="CDD5E2"/>
                </a:solidFill>
                <a:latin typeface="Inter"/>
              </a:rPr>
              <a:t>Hospital neurology pilots at AIIMS Delhi &amp; NIMHANS</a:t>
            </a:r>
          </a:p>
        </p:txBody>
      </p:sp>
    </p:spTree>
  </p:cSld>
  <p:clrMapOvr>
    <a:masterClrMapping/>
  </p:clrMapOvr>
  <p:transition spd="med" advClick="1">
    <p:fade thruBlk="0"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86" name="Google Shape;486;p26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D3EE"/>
                </a:solidFill>
                <a:latin typeface="Inter"/>
                <a:ea typeface="Calibri"/>
                <a:cs typeface="Calibri"/>
                <a:sym typeface="Calibri"/>
              </a:rPr>
              <a:t>● </a:t>
            </a:r>
            <a:r>
              <a:rPr b="1" lang="en-US" sz="900">
                <a:solidFill>
                  <a:srgbClr val="94A3B8"/>
                </a:solidFill>
                <a:latin typeface="Inter"/>
                <a:ea typeface="Calibri"/>
                <a:cs typeface="Calibri"/>
                <a:sym typeface="Calibri"/>
              </a:rPr>
              <a:t>PROJECT IRIS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6"/>
          <p:cNvSpPr/>
          <p:nvPr/>
        </p:nvSpPr>
        <p:spPr>
          <a:xfrm>
            <a:off x="502920" y="640080"/>
            <a:ext cx="11185855" cy="10973"/>
          </a:xfrm>
          <a:prstGeom prst="rect">
            <a:avLst/>
          </a:prstGeom>
          <a:solidFill>
            <a:srgbClr val="22D3EE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6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100" b="1">
                <a:solidFill>
                  <a:srgbClr val="22D3EE"/>
                </a:solidFill>
                <a:latin typeface="Inter"/>
              </a:rPr>
              <a:t>FUTURE MARKET DIVERSIFICATION  ·  BEYOND HEALTHCARE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sz="3400" b="1">
                <a:solidFill>
                  <a:srgbClr val="FFFFFF"/>
                </a:solidFill>
                <a:latin typeface="Inter Display"/>
              </a:rPr>
              <a:t>Expanding into hands-free gaming &amp; consumer tech.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502920" y="211143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5D6"/>
              </a:buClr>
              <a:buSzPts val="1800"/>
              <a:buFont typeface="Calibri"/>
              <a:buNone/>
            </a:pPr>
            <a:r>
              <a:rPr sz="1600" i="1">
                <a:solidFill>
                  <a:srgbClr val="B7C5D6"/>
                </a:solidFill>
                <a:latin typeface="Inter"/>
              </a:rPr>
              <a:t>Diversifying into gaming will unlock high-volume adoption that cross-subsidizes medical units.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6"/>
          <p:cNvSpPr/>
          <p:nvPr/>
        </p:nvSpPr>
        <p:spPr>
          <a:xfrm>
            <a:off x="472288" y="2926080"/>
            <a:ext cx="5440680" cy="3474720"/>
          </a:xfrm>
          <a:prstGeom prst="roundRect">
            <a:avLst>
              <a:gd fmla="val 2105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6"/>
          <p:cNvSpPr/>
          <p:nvPr/>
        </p:nvSpPr>
        <p:spPr>
          <a:xfrm>
            <a:off x="792328" y="3246120"/>
            <a:ext cx="685800" cy="685800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792328" y="3246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Arial"/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6"/>
          <p:cNvSpPr/>
          <p:nvPr/>
        </p:nvSpPr>
        <p:spPr>
          <a:xfrm>
            <a:off x="1661008" y="329184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sz="1100" b="1">
                <a:solidFill>
                  <a:srgbClr val="22D3EE"/>
                </a:solidFill>
                <a:latin typeface="Inter"/>
              </a:rPr>
              <a:t>HANDS-FREE PC, WEB &amp; ARCADE GAMING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6"/>
          <p:cNvSpPr/>
          <p:nvPr/>
        </p:nvSpPr>
        <p:spPr>
          <a:xfrm>
            <a:off x="1661008" y="35661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sz="1800" b="1">
                <a:solidFill>
                  <a:srgbClr val="FFFFFF"/>
                </a:solidFill>
                <a:latin typeface="Inter"/>
              </a:rPr>
              <a:t>Head-tilt aiming. Blink-to-fire triggers.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6"/>
          <p:cNvSpPr/>
          <p:nvPr/>
        </p:nvSpPr>
        <p:spPr>
          <a:xfrm>
            <a:off x="792328" y="4114800"/>
            <a:ext cx="4937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18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MPU6050 head tilt maps to smooth 360° crosshair aiming.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Deliberate single &amp; double blinks act as fire triggers.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Lets injured &amp; amputee players compete hands-free.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Affordable ₹3,000–₹3,500 motion wearable for gamers.</a:t>
            </a:r>
          </a:p>
        </p:txBody>
      </p:sp>
      <p:sp>
        <p:nvSpPr>
          <p:cNvPr id="497" name="Google Shape;497;p26"/>
          <p:cNvSpPr/>
          <p:nvPr/>
        </p:nvSpPr>
        <p:spPr>
          <a:xfrm>
            <a:off x="792328" y="5897880"/>
            <a:ext cx="3474720" cy="320040"/>
          </a:xfrm>
          <a:prstGeom prst="roundRect">
            <a:avLst>
              <a:gd fmla="val 142857" name="adj"/>
            </a:avLst>
          </a:prstGeom>
          <a:solidFill>
            <a:srgbClr val="0B25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6"/>
          <p:cNvSpPr/>
          <p:nvPr/>
        </p:nvSpPr>
        <p:spPr>
          <a:xfrm>
            <a:off x="792328" y="58978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sz="1050" b="1">
                <a:solidFill>
                  <a:srgbClr val="22D3EE"/>
                </a:solidFill>
                <a:latin typeface="Inter"/>
              </a:rPr>
              <a:t>Zero-Lag Head Aim · Blink Triggers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6"/>
          <p:cNvSpPr/>
          <p:nvPr/>
        </p:nvSpPr>
        <p:spPr>
          <a:xfrm>
            <a:off x="6278728" y="2926080"/>
            <a:ext cx="5440680" cy="3474720"/>
          </a:xfrm>
          <a:prstGeom prst="roundRect">
            <a:avLst>
              <a:gd fmla="val 2105" name="adj"/>
            </a:avLst>
          </a:prstGeom>
          <a:solidFill>
            <a:srgbClr val="0F2440"/>
          </a:solidFill>
          <a:ln cap="flat" cmpd="sng" w="9525">
            <a:solidFill>
              <a:srgbClr val="0E74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6"/>
          <p:cNvSpPr/>
          <p:nvPr/>
        </p:nvSpPr>
        <p:spPr>
          <a:xfrm>
            <a:off x="6598768" y="3246120"/>
            <a:ext cx="685800" cy="685800"/>
          </a:xfrm>
          <a:prstGeom prst="ellipse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6"/>
          <p:cNvSpPr/>
          <p:nvPr/>
        </p:nvSpPr>
        <p:spPr>
          <a:xfrm>
            <a:off x="6598768" y="3246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800"/>
              <a:buFont typeface="Arial"/>
              <a:buNone/>
            </a:pPr>
            <a:r>
              <a:rPr>
                <a:latin typeface="Inter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6"/>
          <p:cNvSpPr/>
          <p:nvPr/>
        </p:nvSpPr>
        <p:spPr>
          <a:xfrm>
            <a:off x="7467448" y="329184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100"/>
              <a:buFont typeface="Calibri"/>
              <a:buNone/>
            </a:pPr>
            <a:r>
              <a:rPr sz="1100" b="1">
                <a:solidFill>
                  <a:srgbClr val="FFB020"/>
                </a:solidFill>
                <a:latin typeface="Inter"/>
              </a:rPr>
              <a:t>CROSS-SUBSIDY &amp; SMART HOME ECOSYSTEM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7467448" y="35661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sz="1800" b="1">
                <a:solidFill>
                  <a:srgbClr val="FFFFFF"/>
                </a:solidFill>
                <a:latin typeface="Inter"/>
              </a:rPr>
              <a:t>Gamer volume will fund patient access.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6"/>
          <p:cNvSpPr/>
          <p:nvPr/>
        </p:nvSpPr>
        <p:spPr>
          <a:xfrm>
            <a:off x="6598768" y="4114800"/>
            <a:ext cx="4937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CDD5E2"/>
              </a:buClr>
              <a:buSzPts val="2000"/>
              <a:buFont typeface="Calibri"/>
              <a:buNone/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Assistive devices often face low manufacturing volume.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Consumer gaming demand will drive bulk PCB production.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Gaming revenue will subsidize near-cost patient units.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•  </a:t>
            </a:r>
            <a:r>
              <a:rPr sz="1250" b="0">
                <a:solidFill>
                  <a:srgbClr val="CDD5E2"/>
                </a:solidFill>
                <a:latin typeface="Inter"/>
              </a:rPr>
              <a:t>Unifies assistive care, gaming &amp; Wi-Fi smart-room control.</a:t>
            </a:r>
          </a:p>
        </p:txBody>
      </p:sp>
      <p:sp>
        <p:nvSpPr>
          <p:cNvPr id="505" name="Google Shape;505;p26"/>
          <p:cNvSpPr/>
          <p:nvPr/>
        </p:nvSpPr>
        <p:spPr>
          <a:xfrm>
            <a:off x="6598768" y="5897880"/>
            <a:ext cx="3474720" cy="320040"/>
          </a:xfrm>
          <a:prstGeom prst="roundRect">
            <a:avLst>
              <a:gd fmla="val 142857" name="adj"/>
            </a:avLst>
          </a:prstGeom>
          <a:solidFill>
            <a:srgbClr val="2A1F0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Inter"/>
              </a:rP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6598768" y="58978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20"/>
              </a:buClr>
              <a:buSzPts val="1050"/>
              <a:buFont typeface="Calibri"/>
              <a:buNone/>
            </a:pPr>
            <a:r>
              <a:rPr sz="1050" b="1">
                <a:solidFill>
                  <a:srgbClr val="FFB020"/>
                </a:solidFill>
                <a:latin typeface="Inter"/>
              </a:rPr>
              <a:t>High-Volume Scale · Cross-Subsidy Impact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7" name="Picture 506" descr="icon_gamep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8" y="3246120"/>
            <a:ext cx="685800" cy="685800"/>
          </a:xfrm>
          <a:prstGeom prst="rect">
            <a:avLst/>
          </a:prstGeom>
        </p:spPr>
      </p:pic>
      <p:pic>
        <p:nvPicPr>
          <p:cNvPr id="508" name="Picture 507" descr="icon_wi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68" y="3246120"/>
            <a:ext cx="685800" cy="6858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2026-08-19T14:14:33Z</dcterms:created>
  <dc:creator>Ayushman Choudhary</dc:creator>
</cp:coreProperties>
</file>