
<file path=[Content_Types].xml><?xml version="1.0" encoding="utf-8"?>
<Types xmlns="http://schemas.openxmlformats.org/package/2006/content-types">
  <Default ContentType="image/jpeg" Extension="jpg"/>
  <Default ContentType="application/vnd.openxmlformats-officedocument.spreadsheetml.sheet" Extension="xlsx"/>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2.xml"/>
  <Override ContentType="application/vnd.openxmlformats-officedocument.drawingml.chart+xml" PartName="/ppt/charts/chart1.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Lst>
  <p:sldSz cy="6858000" cx="12192000"/>
  <p:notesSz cx="6858000" cy="12192000"/>
  <p:embeddedFontLst>
    <p:embeddedFont>
      <p:font typeface="Noto Sans Mono"/>
      <p:regular r:id="rId68"/>
      <p:bold r:id="rId69"/>
    </p:embeddedFont>
    <p:embeddedFont>
      <p:font typeface="Inter"/>
      <p:regular r:id="rId70"/>
      <p:bold r:id="rId71"/>
      <p:italic r:id="rId72"/>
      <p:boldItalic r:id="rId7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74" roundtripDataSignature="AMtx7miuaMU6cRvjhP1bZVdQS930Vz+1o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F6A089E-0E2F-413F-AAF4-4182F4D1E65C}">
  <a:tblStyle styleId="{FF6A089E-0E2F-413F-AAF4-4182F4D1E65C}"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Inter-boldItalic.fntdata"/><Relationship Id="rId72" Type="http://schemas.openxmlformats.org/officeDocument/2006/relationships/font" Target="fonts/Inter-italic.fntdata"/><Relationship Id="rId31" Type="http://schemas.openxmlformats.org/officeDocument/2006/relationships/slide" Target="slides/slide26.xml"/><Relationship Id="rId30" Type="http://schemas.openxmlformats.org/officeDocument/2006/relationships/slide" Target="slides/slide25.xml"/><Relationship Id="rId74" Type="http://customschemas.google.com/relationships/presentationmetadata" Target="metadata"/><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font" Target="fonts/Inter-bold.fntdata"/><Relationship Id="rId70" Type="http://schemas.openxmlformats.org/officeDocument/2006/relationships/font" Target="fonts/Inter-regular.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font" Target="fonts/NotoSansMono-regular.fntdata"/><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NotoSansMono-bold.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India</c:v>
                </c:pt>
              </c:strCache>
            </c:strRef>
          </c:tx>
          <c:spPr>
            <a:solidFill>
              <a:srgbClr val="22D3EE"/>
            </a:solidFill>
            <a:effectLst/>
          </c:spPr>
          <c:invertIfNegative val="0"/>
          <c:dLbls>
            <c:numFmt formatCode="#,##0" sourceLinked="0"/>
            <c:spPr>
              <a:noFill/>
              <a:ln>
                <a:noFill/>
              </a:ln>
              <a:effectLst/>
            </c:spPr>
            <c:txPr>
              <a:bodyPr/>
              <a:lstStyle/>
              <a:p>
                <a:pPr>
                  <a:defRPr sz="10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ALS patients</c:v>
                </c:pt>
                <c:pt idx="1">
                  <c:v>Locked-in syndrome</c:v>
                </c:pt>
                <c:pt idx="2">
                  <c:v>Spinal Paralysis </c:v>
                </c:pt>
              </c:strCache>
            </c:strRef>
          </c:cat>
          <c:val>
            <c:numRef>
              <c:f>Sheet1!$B$2:$B$4</c:f>
              <c:numCache>
                <c:formatCode>General</c:formatCode>
                <c:ptCount val="3"/>
                <c:pt idx="0">
                  <c:v>100000</c:v>
                </c:pt>
                <c:pt idx="1">
                  <c:v>4000</c:v>
                </c:pt>
                <c:pt idx="2">
                  <c:v>1400000</c:v>
                </c:pt>
              </c:numCache>
            </c:numRef>
          </c:val>
          <c:extLst>
            <c:ext xmlns:c16="http://schemas.microsoft.com/office/drawing/2014/chart" uri="{C3380CC4-5D6E-409C-BE32-E72D297353CC}">
              <c16:uniqueId val="{00000000-92D4-4547-BD93-3C4BDB07DC3D}"/>
            </c:ext>
          </c:extLst>
        </c:ser>
        <c:ser>
          <c:idx val="1"/>
          <c:order val="1"/>
          <c:tx>
            <c:strRef>
              <c:f>Sheet1!$C$1</c:f>
              <c:strCache>
                <c:ptCount val="1"/>
                <c:pt idx="0">
                  <c:v>World</c:v>
                </c:pt>
              </c:strCache>
            </c:strRef>
          </c:tx>
          <c:spPr>
            <a:solidFill>
              <a:srgbClr val="FFB020"/>
            </a:solidFill>
            <a:effectLst/>
          </c:spPr>
          <c:invertIfNegative val="0"/>
          <c:dLbls>
            <c:numFmt formatCode="#,##0" sourceLinked="0"/>
            <c:spPr>
              <a:noFill/>
              <a:ln>
                <a:noFill/>
              </a:ln>
              <a:effectLst/>
            </c:spPr>
            <c:txPr>
              <a:bodyPr/>
              <a:lstStyle/>
              <a:p>
                <a:pPr>
                  <a:defRPr sz="10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ALS patients</c:v>
                </c:pt>
                <c:pt idx="1">
                  <c:v>Locked-in syndrome</c:v>
                </c:pt>
                <c:pt idx="2">
                  <c:v>Spinal Paralysis </c:v>
                </c:pt>
              </c:strCache>
            </c:strRef>
          </c:cat>
          <c:val>
            <c:numRef>
              <c:f>Sheet1!$C$2:$C$4</c:f>
              <c:numCache>
                <c:formatCode>General</c:formatCode>
                <c:ptCount val="3"/>
                <c:pt idx="0">
                  <c:v>450000</c:v>
                </c:pt>
                <c:pt idx="1">
                  <c:v>24000</c:v>
                </c:pt>
                <c:pt idx="2">
                  <c:v>7420000</c:v>
                </c:pt>
              </c:numCache>
            </c:numRef>
          </c:val>
          <c:extLst>
            <c:ext xmlns:c16="http://schemas.microsoft.com/office/drawing/2014/chart" uri="{C3380CC4-5D6E-409C-BE32-E72D297353CC}">
              <c16:uniqueId val="{00000001-92D4-4547-BD93-3C4BDB07DC3D}"/>
            </c:ext>
          </c:extLst>
        </c:ser>
        <c:dLbls>
          <c:showLegendKey val="0"/>
          <c:showVal val="1"/>
          <c:showCatName val="0"/>
          <c:showSerName val="0"/>
          <c:showPercent val="0"/>
          <c:showBubbleSize val="0"/>
        </c:dLbls>
        <c:gapWidth val="150"/>
        <c:axId val="355127600"/>
        <c:axId val="355116232"/>
      </c:barChart>
      <c:catAx>
        <c:axId val="355127600"/>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CDD5E2"/>
                </a:solidFill>
                <a:latin typeface="Arial"/>
              </a:defRPr>
            </a:pPr>
            <a:endParaRPr lang="en-US"/>
          </a:p>
        </c:txPr>
        <c:crossAx val="355116232"/>
        <c:crosses val="autoZero"/>
        <c:auto val="1"/>
        <c:lblAlgn val="ctr"/>
        <c:lblOffset val="100"/>
        <c:noMultiLvlLbl val="1"/>
      </c:catAx>
      <c:valAx>
        <c:axId val="355116232"/>
        <c:scaling>
          <c:orientation val="minMax"/>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94A3B8"/>
                </a:solidFill>
                <a:latin typeface="Arial"/>
              </a:defRPr>
            </a:pPr>
            <a:endParaRPr lang="en-US"/>
          </a:p>
        </c:txPr>
        <c:crossAx val="355127600"/>
        <c:crosses val="autoZero"/>
        <c:crossBetween val="between"/>
      </c:valAx>
      <c:spPr>
        <a:solidFill>
          <a:srgbClr val="0B1A2E"/>
        </a:solidFill>
        <a:ln>
          <a:noFill/>
        </a:ln>
        <a:effectLst/>
      </c:spPr>
    </c:plotArea>
    <c:legend>
      <c:legendPos val="t"/>
      <c:overlay val="0"/>
      <c:txPr>
        <a:bodyPr/>
        <a:lstStyle/>
        <a:p>
          <a:pPr>
            <a:defRPr sz="1100">
              <a:solidFill>
                <a:srgbClr val="FFFFFF"/>
              </a:solidFill>
            </a:defRPr>
          </a:pPr>
          <a:endParaRPr lang="en-US"/>
        </a:p>
      </c:txPr>
    </c:legend>
    <c:plotVisOnly val="1"/>
    <c:dispBlanksAs val="span"/>
    <c:showDLblsOverMax val="1"/>
  </c:chart>
  <c:spPr>
    <a:solidFill>
      <a:srgbClr val="0B1A2E"/>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Market Size ($B)</c:v>
                </c:pt>
              </c:strCache>
            </c:strRef>
          </c:tx>
          <c:spPr>
            <a:solidFill>
              <a:srgbClr val="22D3EE"/>
            </a:solidFill>
          </c:spPr>
          <c:invertIfNegative val="1"/>
          <c:dLbls>
            <c:numFmt formatCode="&quot;$&quot;0.0&quot;B&quot;" sourceLinked="0"/>
            <c:spPr>
              <a:noFill/>
              <a:ln>
                <a:noFill/>
              </a:ln>
              <a:effectLst/>
            </c:spPr>
            <c:txPr>
              <a:bodyPr/>
              <a:lstStyle/>
              <a:p>
                <a:pPr>
                  <a:defRPr sz="1000">
                    <a:solidFill>
                      <a:srgbClr val="FFFFFF"/>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2025</c:v>
                </c:pt>
                <c:pt idx="1">
                  <c:v>2027</c:v>
                </c:pt>
                <c:pt idx="2">
                  <c:v>2029</c:v>
                </c:pt>
                <c:pt idx="3">
                  <c:v>2031</c:v>
                </c:pt>
                <c:pt idx="4">
                  <c:v>2033</c:v>
                </c:pt>
                <c:pt idx="5">
                  <c:v>2035</c:v>
                </c:pt>
              </c:strCache>
            </c:strRef>
          </c:cat>
          <c:val>
            <c:numRef>
              <c:f>Sheet1!$B$2:$B$7</c:f>
              <c:numCache>
                <c:formatCode>General</c:formatCode>
                <c:ptCount val="6"/>
                <c:pt idx="0">
                  <c:v>20</c:v>
                </c:pt>
                <c:pt idx="1">
                  <c:v>23.3</c:v>
                </c:pt>
                <c:pt idx="2">
                  <c:v>27.2</c:v>
                </c:pt>
                <c:pt idx="3">
                  <c:v>31.8</c:v>
                </c:pt>
                <c:pt idx="4">
                  <c:v>37.1</c:v>
                </c:pt>
                <c:pt idx="5">
                  <c:v>43.3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EECD-467E-B9DC-717E755C494F}"/>
            </c:ext>
          </c:extLst>
        </c:ser>
        <c:dLbls>
          <c:showLegendKey val="0"/>
          <c:showVal val="1"/>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1200">
                <a:solidFill>
                  <a:srgbClr val="CDD5E2"/>
                </a:solidFill>
              </a:defRPr>
            </a:pPr>
          </a:p>
        </c:txPr>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txPr>
          <a:bodyPr/>
          <a:lstStyle/>
          <a:p>
            <a:pPr>
              <a:defRPr sz="1100">
                <a:solidFill>
                  <a:srgbClr val="94A3B8"/>
                </a:solidFill>
              </a:defRPr>
            </a:pPr>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01/60 | Section 1: IRIS Section — Need, Stakeholders, Solution, App &amp; Live Demo (Slides 01–20)]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IRIS — Infrared Reflective Interface System</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Hold the headband and glasses calmly in your hand across the table from the judges. Smile, make eye contact, and wait 2 seconds before speaking.</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Good morning, respected judges. My name is Ayushman Choudhary, and I am a student of Class 10 from Bhavan's B.P. Vidya Mandir, Ashti, Nagpur.</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What I am holding in my hand is IRIS — the Infrared Reflective Interface System. In simple words, it is a hands-free cursor for people who cannot use their hands or speak.</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[Pause 2 seconds — Click to Slide 02]</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 name="Google Shape;9;p1: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 name="Shape 13"/>
        <p:cNvGrpSpPr/>
        <p:nvPr/>
      </p:nvGrpSpPr>
      <p:grpSpPr>
        <a:xfrm>
          <a:off x="0" y="0"/>
          <a:ext cx="0" cy="0"/>
          <a:chOff x="0" y="0"/>
          <a:chExt cx="0" cy="0"/>
        </a:xfrm>
      </p:grpSpPr>
      <p:sp>
        <p:nvSpPr>
          <p:cNvPr id="14" name="Google Shape;14;p35: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 name="Google Shape;15;p35: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02/60 | Section 1: IRIS Section — Need, Stakeholders, Solution, App &amp; Live Demo (Slides 01–20)]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SECTION 01 — IRIS SECTION (Designated Section Slide)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Pause briefly on the Section 01 roadmap slide so judges see the non-technical flow leading up to the Live Demo.</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 have divided my presentation into six clear sections. In Section 1 — the IRIS Section — I will cover the need, the stakeholders, how many people need this, the previous commercial solution versus our new IRIS solution, its main function, its applications, the IRIS Universal App, and then show you the live demo.</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03]</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 name="Google Shape;41;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03/60 | Section 1: IRIS Section — Need, Stakeholders, Solution, App &amp; Live Demo (Slides 01–20)]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How it All Started….</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Keep your voice warm and natural — just tell the true story.</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To tell you the truth, this did not start from a textbook. It started when I saw a real person on a wheelchair and realized how hard simple daily communication is when your body cannot move.</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[Pause 1 second — Click to Slide 04]</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2" name="Google Shape;42;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3: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04/60 | Section 1: IRIS Section — Need, Stakeholders, Solution, App &amp; Live Demo (Slides 01–20)]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Full Wheelchair Photo — The Real Inspiration</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Glance at the wheelchair photo on screen, then look back at the judges.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When someone suffers from severe paralysis, their body stops moving, so people around them often assume their mind has stopped too.</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But their brain is completely active. They want to ask for water, tell their family where it hurts, or use a computer like us — and the only things they can still move are their eyes and a gentle tilt of their head.</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[Pause 2 seconds — Click to Slide 05]</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9" name="Google Shape;49;p3: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 name="Google Shape;54;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05/60 | Section 1: IRIS Section — Need, Stakeholders, Solution, App &amp; Live Demo (Slides 01–20)]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THE PROBLEM — Trapped inside a body that won't move.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Point to each of the 3 numbers on the slide. Pause after each number so it lands.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Now look at what happens when an Indian family tries to buy an eye-tracker for that patient.</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 commercial system like Tobii costs 25 lakh rupees plus in India.</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We have over 2 lakh 40 thousand Indians living with severe motor disabilities.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And how many reliable options exist under 2,000 rupees today? Zero. Not a single one.</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[Pause 2 seconds on 'Zero' — Click to Slide 06]</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5" name="Google Shape;55;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 name="Google Shape;77;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06/60 | Section 1: IRIS Section — Need, Stakeholders, Solution, App &amp; Live Demo (Slides 01–20)]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THE NUMBERS — How many need this.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Point to the India numbers first, then the World numbers, then the conservative estimates box.</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You might think ALS and Locked-in Syndrome are rare, but they are just invisible because most rural cases never get counted.</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Even by conservative estimates, India has around 1 lakh ALS patients, 4,000 Locked-in Syndrome patients, and 14 lakh spinal paralysis patients — and over 74 lakh spinal paralysis patients worldwide. The people who need IRIS the most are the exact ones priced out of it.</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[Pause 1 second — Click to Slide 07]</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8" name="Google Shape;78;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07/60 | Section 1: IRIS Section — Need, Stakeholders, Solution, App &amp; Live Demo (Slides 01–20)]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Commercial ₹25L+ Setup Visual</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Gesture briefly at the bulky commercial monitor setup on screen.</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This is what that 25-lakh-rupee commercial setup looks like. It is a heavy, imported monitor with expensive infrared cameras made for Western insurance payouts — something a normal Indian family can never afford.</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08]</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6" name="Google Shape;96;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1" name="Google Shape;101;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08/60 | Section 1: IRIS Section — Need, Stakeholders, Solution, App &amp; Live Demo (Slides 01–20)]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IRIS. — A hands-free cursor for people who can't use their hands.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Hold up the headband and magnetic glasses clearly.</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That is why I built IRIS.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Before I show you the live demo and the technical engineering behind it, let me brief you in simple words on what you wear and what the IRIS Universal App does on screen.</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[Section Break — Take a breath, then click to Slide 09]</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02" name="Google Shape;102;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6" name="Google Shape;116;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09/60 | Section 1: IRIS Section — Need, Stakeholders, Solution, App &amp; Live Demo (Slides 01–20)]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INTRODUCING — A blink becomes a click. A tilt becomes a cursor.</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Hold up the headband in one hand and the glasses in the other. Don't rush the ₹885 number.</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The whole idea of IRIS fits in one simple line: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 tilt becomes a cursor. A blink becomes a click.</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You wear this breathable Velcro headband to steer the mouse with gentle head tilts, and these glasses with a magnetic sensor to click by blinking. Simultaneously, a live simulation mirrors your eye on screen. And the total build cost of this complete prototype is just 885 rupees — 99.96 percent cheaper than a 25-lakh system.</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[Pause 2 seconds on '885 rupees' — Click to Slide 10]</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17" name="Google Shape;117;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 name="Google Shape;136;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10/60 | Section 1: IRIS Section — Need, Stakeholders, Solution, App &amp; Live Demo (Slides 01–20)]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THE WEARABLE — The Wearable.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Point to the headband and glasses in your hand.</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Look at how light and comfortable the wearable is.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Everything sits on two pieces: a breathable Velcro belt on the forehead that houses the motion sensor, chip, and 12-hour battery, and a simple pair of glasses that carries only a tiny infrared blink sensor near the corner of the eye.</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11]</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37" name="Google Shape;137;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47: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5" name="Google Shape;175;p47: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11/60 | Section 1: IRIS Section — Need, Stakeholders, Solution, App &amp; Live Demo (Slides 01–20)]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WEARABLE UPGRADE — Wear glasses first. Snap the magnet second.</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Demonstrate detaching and snapping the magnet onto the glasses frame.</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In my earlier build, the headband and glasses were attached together, which made putting them on awkward.</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So I upgraded it with a removable neodymium magnet and a nut-bolt pivot. Now, a patient wears their own normal glasses first — even high-power prescription lenses up to plus or minus 7 diopters — straps the Velcro headband second, and simply snaps the magnet onto the frame.</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[Pause 1 second — Click to Slide 12]</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2" name="Google Shape;202;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12/60 | Section 1: IRIS Section — Need, Stakeholders, Solution, App &amp; Live Demo (Slides 01–20)]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FIRST-RUN SETUP — 2–3 seconds to calibrate, every time you need it.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Count the 5 quick steps on your fingers.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And starting it up takes just 2 to 3 seconds: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Step 1: Connect wirelessly.</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Step 2: Check if you are a new or returning user — returning users load their saved profile in under 5 seconds.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Step 3: One quick nod and tilt to learn your comfortable head range.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Step 4: A 2-to-3-second blink check.</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Step 5: Your cursor is live.</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13]</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03" name="Google Shape;203;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42: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13/60 | Section 1: IRIS Section — Need, Stakeholders, Solution, App &amp; Live Demo (Slides 01–20)]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SENSORY &amp; COGNITIVE REHAB — Beyond communication — joy, play, recovery.</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Gesture to the 360° Flight Sim on the left and games on the right.</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Because bedridden patients also suffer from boredom and depression, the Entertainment menu includes a 360-degree Cockpit Flight Simulator controlled by head tilt, gaze games that turn daily eye exercise into fun play, soothing music, and Hindi and English audiobooks.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14]</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35" name="Google Shape;235;p42: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4: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14/60 | Section 1: IRIS Section — Need, Stakeholders, Solution, App &amp; Live Demo (Slides 01–20)]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THE APP — One app. Everything they need.</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Point to the clean 4-hub home screen on the right.</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Now, moving a cursor is only half the job — a paralyzed patient also needs an easy interface to click on.</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So I built the IRIS Universal App, which you are about to see in my live demo. To keep the main screen completely clutter-free, it has just 4 large hubs: Communication, SOS Emergency, Health Tracker, and a Settings Hub that holds all advanced menus.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15]</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74" name="Google Shape;274;p14: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15: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15/60 | Section 1: IRIS Section — Need, Stakeholders, Solution, App &amp; Live Demo (Slides 01–20)]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COMMUNICATION UI Full-Screen Visual</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Point to the large numbered word tiles ('Hello', 'Water', 'Medicine', 'Pain').</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This is the Communication hub. Every tile is huge and high-contrast, so the user can easily blink on 'Water', 'Food', 'Medicine', or 'Pain' — or chain two or three short words together at the top and let AI speak the full sentence out loud.</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16]</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95" name="Google Shape;295;p15: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0" name="Google Shape;300;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16/60 | Section 1: IRIS Section — Need, Stakeholders, Solution, App &amp; Live Demo (Slides 01–20)]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THE APP — One click, one message to the caretaker.</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Point to the caretaker notification flow at the bottom.</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And when the patient clicks any tile — like 'Water', 'Rest', or 'Call' — it doesn't just speak in the room; it sends an instant notification to the caretaker's phone in under a second so they can get help even when no one is sitting beside the bed.</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17]</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01" name="Google Shape;301;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20: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17/60 | Section 1: IRIS Section — Need, Stakeholders, Solution, App &amp; Live Demo (Slides 01–20)]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THE APP · SETTINGS HUB &amp; IOT MENUS — Everything inside the Settings Hub.</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Point down the 6 menus inside the Settings Hub.</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To keep emergency tiles easy to reach, we organized all 6 advanced features inside the Settings Hub:</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the Entertainment Menu, Health Monitoring Menu, Live Eye &amp; Room Simulation Menu, Futuristic IoT Room Control, Bluetooth &amp; Wi-Fi settings, and Emergency SOS &amp; Family Calls.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18]</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25" name="Google Shape;325;p20: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17: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18/60 | Section 1: IRIS Section — Need, Stakeholders, Solution, App &amp; Live Demo (Slides 01–20)]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ENTERTAINMENT UI Full-Screen Visual</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Point briefly to the 4 giant cards.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Here is what that Entertainment menu looks like inside the app — four big, simple cards for Gaming, 3D Simulation, Music, and Audiobooks, with a large 'Back to Home' button at the bottom.</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19]</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46" name="Google Shape;346;p17: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18: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19/60 | Section 1: IRIS Section — Need, Stakeholders, Solution, App &amp; Live Demo (Slides 01–20)]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DINO GLIDE UI Full-Screen Visual</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Point to the Dino Glide screen.</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And here is Dino Glide, where every deliberate blink makes the dinosaur jump over obstacles.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Now that you know what the headband and the IRIS Universal App look like, let me put the rig on and show you everything working live.</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[Section Break — Click to Slide 20 and pick up the rig for the 3-Minute Live Demo]</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51" name="Google Shape;351;p18: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21: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20/60 | Section 1: IRIS Section — Need, Stakeholders, Solution, App &amp; Live Demo (Slides 01–20)]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DEMO — 3-Minute Live Demonstration to Judges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Put on the glasses first, strap the Velcro headband second, and snap the magnet on in front of the judges. Show the laptop screen.</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[Minute 1 — Wearing the Rig &amp; Live Eye Simulation (0:00 – 1:00)]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Watch how easy it is to wear. First, I put on my glasses. Second, I wrap the Velcro headband around my forehead. And third — snap — the magnet locks the IR sensor right onto the nut-bolt pivot on the frame.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Look at the status LED on the outside of the belt: it turned Green on boot, blinked Blue while pairing, and now it is solid Yellow — connected.</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Look at the window on my laptop: that is the live eye simulation. As I talk to you and blink naturally, the simulated eye blinks with me in real time, but notice the mouse cursor does NOT click — because natural reflex blinks are fast, under 200 milliseconds.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[Minute 2 — Head-Tilt Cursor + Universal App + Caretaker Phone Alert (1:00 – 2:00)]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Now watch the cursor as I gently tilt my head left... right... up... and down. My hands are completely off the laptop.</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Let's use the IRIS Universal App I just briefed you on. I tilt to 'Communication' and hold one deliberate blink — Click.</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Now I blink on 'Water'. Listen to my phone on the table — [Pause 1 second for phone notification sound] — within 280 milliseconds, the caretaker's phone rings with the alert. And if I select short tiles like 'Pain' and 'Left Shoulder' and blink on 'AI Speak', Gemini AI expands those keywords into a full spoken sentence out loud.</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[Minute 3 — Settings Hub, Smart Room Light IoT &amp; Gaming (2:00 – 3:00)]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Now I double-blink to go back, open the 'Settings Hub', and click the 'IoT &amp; Simulation Menu'. Watch the room light simulator: with one blink, I switch the bedroom light and fan on or off over Wi-Fi — so a patient never has to wake someone up at 2 a.m. just to turn off a light.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And inside the Entertainment menu, watch me jump obstacles in Dino Glide and bank the 360-degree flight simulator using just head tilt and blinks!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[Take off headband smoothly] All of that is running live on an 885-rupee hardware build.</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[Section Break — Pause 2 seconds, then click to Slide 21]</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56" name="Google Shape;356;p21: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44: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1" name="Google Shape;361;p44: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21/60 | Section 2: Technical Section — Circuit Diagram &amp; Component-by-Component Deep Dive (Slides 21–38)]</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SECTION 02 — TECHNICAL SECTION (Designated Section Slide)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Transition from the live demo into the component-by-component hardware and software deep-dive.</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Now we enter Section 2 — the Technical Section. We will start with the complete circuit diagram and system specifications, and then go component by component: first the Seeed Studio XIAO ESP32C3, second the MPU6050 motion sensor, third the Multi-Beam IR sensor and our Complete Paralysis Computer Vision alternative, and fourth the AI, IoT, and caregiver cloud stack.</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22 — Circuit Diagram]</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24: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22/60 | Section 2: Technical Section — Circuit Diagram &amp; Component-by-Component Deep Dive (Slides 21–38)]</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Circuit Diagram — Hardware Schematic</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Trace the wiring on the circuit schematic.</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Here is our complete hardware schematic.</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By upgrading from our old Arduino Nano / ESP32-WROOM circuit to the Seeed Studio XIAO ESP32C3, the 3.7V 1000mAh Li-Po battery connects straight to the XIAO's onboard BAT+ and BAT- charging pads through a 2-ampere fuse. The XIAO's internal 3.3V regulator powers the MPU6050 over SDA/SCL and the IR comparator over GPIO interrupt pins — eliminating the external buck converter completely.</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[Pause 1 second — Click to Slide 23]</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69" name="Google Shape;369;p24: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49: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5" name="Google Shape;375;p49: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23/60 | Section 2: Technical Section — Circuit Diagram &amp; Component-by-Component Deep Dive (Slides 21–38)]</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SYSTEM SPECIFICATIONS — Complete hardware &amp; software specifications.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Point across the 4 datasheet boxes.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Here is the technical datasheet for the hardware evaluators: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The XIAO ESP32C3 runs a 32-bit RISC-V core at 160 megahertz, polling the MPU6050 over a 400-kilohertz I2C bus at 50 Hertz.</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The 950nm Multi-Beam IR sensor pairs with an onboard LM393 comparator under 0.5 milliwatts per square centimeter.</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Power comes from a 3.7V 1000mAh Li-Po wired directly to the XIAO's BAT+ and BAT- pads with onboard 3.3V regulation, and the wireless stack runs BLE 5.0 with automatic Wi-Fi failover and USB-C fallback.</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24]</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4" name="Google Shape;404;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24/60 | Section 2: Technical Section — Circuit Diagram &amp; Component-by-Component Deep Dive (Slides 21–38)]</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SYSTEM FLOW — Headband → BLE / Wi-Fi → Cursor.</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Trace left to right across the 3 technical stages.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Technically, the signal travels through three stages: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Stage 1 (The Wearable): the magnetic-pivot IR sensor and the MPU6050 inside the Velcro belt, powered by a 3.7V Li-Po battery with 12-hour Deep Sleep.</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Stage 2 (The Brain): our Seeed Studio XIAO ESP32C3 microcontroller, which reads the sensors, runs them through our TensorFlow noise filter, and streams tokens over Bluetooth 5.0 or automatic Wi-Fi failover.</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Stage 3 (The Bridge): our Python engine on the laptop, which renders the live eye twin and drives the OS cursor via PyAutoGUI.</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25]</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05" name="Google Shape;405;p2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h1542c758c6719de2_0_91: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1" name="Google Shape;441;h1542c758c6719de2_0_91: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25/60 | Section 2: Technical Section — Circuit Diagram &amp; Component-by-Component Deep Dive (Slides 21–38)]</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EVOLUTION OF IRIS — Past prototypes, present rig &amp; future vision.</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Walk across the 4 cards showing how the circuit evolved.</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In my earlier video, my circuit was different — and this slide shows how the hardware evolved:</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In Stage 01, I started with a heavy wired breadboard using an Arduino Nano / ESP32-WROOM, an external LM2596 buck converter, a stiff buckle strap, and a glued IR sensor that lasted only 6 hours.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In Stage 02, I added wireless Bluetooth streaming and the LM393 hardware comparator, which revealed our next challenges: heat, weight, and prescription glasses fit.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In Stage 03 — the current IRIS rig in my hand — I switched to the thumb-sized Seeed Studio XIAO ESP32C3, direct 3.7V Li-Po charging with zero buck converter, the magnetic nut-bolt pivot, and the live Python eye twin — giving 12 hours of battery life for 885 rupees.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And in Stage 04, we are moving to a custom flex-PCB and AI Computer Vision iris tracking for completely paralyzed patients.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[Pause 2 seconds — Click to Slide 26]</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h1542c758c6719de2_0_249: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6" name="Google Shape;466;h1542c758c6719de2_0_249: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25/60 | Section 2: Technical Section — Circuit Diagram &amp; Component-by-Component Deep Dive (Slides 21–38)]</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EVOLUTION OF IRIS — Past prototypes, present rig &amp; future vision.</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Walk across the 4 cards showing how the circuit evolved.</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In my earlier video, my circuit was different — and this slide shows how the hardware evolved:</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In Stage 01, I started with a heavy wired breadboard using an Arduino Nano / ESP32-WROOM, an external LM2596 buck converter, a stiff buckle strap, and a glued IR sensor that lasted only 6 hours.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In Stage 02, I added wireless Bluetooth streaming and the LM393 hardware comparator, which revealed our next challenges: heat, weight, and prescription glasses fit.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In Stage 03 — the current IRIS rig in my hand — I switched to the thumb-sized Seeed Studio XIAO ESP32C3, direct 3.7V Li-Po charging with zero buck converter, the magnetic nut-bolt pivot, and the live Python eye twin — giving 12 hours of battery life for 885 rupees.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And in Stage 04, we are moving to a custom flex-PCB and AI Computer Vision iris tracking for completely paralyzed patients.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[Pause 2 seconds — Click to Slide 26]</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48: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6" name="Google Shape;476;p48: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25/60 | Section 2: Technical Section — Circuit Diagram &amp; Component-by-Component Deep Dive (Slides 21–38)]</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EVOLUTION OF IRIS — Past prototypes, present rig &amp; future vision.</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Walk across the 4 cards showing how the circuit evolved.</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In my earlier video, my circuit was different — and this slide shows how the hardware evolved:</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In Stage 01, I started with a heavy wired breadboard using an Arduino Nano / ESP32-WROOM, an external LM2596 buck converter, a stiff buckle strap, and a glued IR sensor that lasted only 6 hours.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In Stage 02, I added wireless Bluetooth streaming and the LM393 hardware comparator, which revealed our next challenges: heat, weight, and prescription glasses fit.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In Stage 03 — the current IRIS rig in my hand — I switched to the thumb-sized Seeed Studio XIAO ESP32C3, direct 3.7V Li-Po charging with zero buck converter, the magnetic nut-bolt pivot, and the live Python eye twin — giving 12 hours of battery life for 885 rupees.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And in Stage 04, we are moving to a custom flex-PCB and AI Computer Vision iris tracking for completely paralyzed patients.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[Pause 2 seconds — Click to Slide 26]</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h1542c758c6719de2_0_13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4" name="Google Shape;494;h1542c758c6719de2_0_13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26/60 | Section 2: Technical Section — Circuit Diagram &amp; Component-by-Component Deep Dive (Slides 21–38)]</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HOW THE CHIP THINKS — The Brain.</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Trace down the truth table (L, R, U, D, LC, RC, ignored).</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Look at the decision table inside the chip:</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Head tilt left or right beyond the dead-zone outputs 'L' or 'R'. Head nod up or down outputs 'U' or 'D'. A single held blink outputs 'LC', a double blink outputs 'RC', and a fast natural blink is ignored.</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Two important engineering choices here: first, we use digitalRead instead of analogRead because the onboard LM393 hardware comparator already thresholds the IR voltage in under 2 microseconds. Second, we use Pitch and Roll instead of Yaw because Pitch and Roll are anchored to Earth's 1g gravity vector on the accelerometer, preventing gyroscope drift.</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[Pause 1 second — Click to Slide 27]</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95" name="Google Shape;495;h1542c758c6719de2_0_13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7" name="Google Shape;537;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27/60 | Section 2: Technical Section — Circuit Diagram &amp; Component-by-Component Deep Dive (Slides 21–38)]</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THE PYTHON BRIDGE &amp; EYE SIMULATION — The Bridge.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Point to the Python loop on the right.</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Look at the Python bridge code on the right. Whether packets arrive over Bluetooth 5.0, Wi-Fi failover, or USB-C serial, the while True loop stays identical: it reads the denoised packet, syncs the live EyeDigitalTwin window, and calls pyautogui.moveRel() or pyautogui.click() — making it cross-platform across Windows, macOS, Linux, and Android.</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28]</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38" name="Google Shape;538;p2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p12: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28/60 | Section 2: Technical Section — Circuit Diagram &amp; Component-by-Component Deep Dive (Slides 21–38)]</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STATUS FEEDBACK — One LED tells you everything.</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Point to the outer RGB LED on the headband.</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Because a paralyzed user cannot check a laptop settings menu if wireless drops, and an OLED screen would drain battery, we wired a single outward-facing RGB LED on the belt: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Solid Green for 2 seconds on boot as the XIAO initializes sensors; blinking Blue at 2 Hertz while searching or switching to Wi-Fi; and solid Yellow once locked and active — visible to the caregiver from across the room.</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29]</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59" name="Google Shape;559;p12: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3" name="Google Shape;583;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29/60 | Section 2: Technical Section — Circuit Diagram &amp; Component-by-Component Deep Dive (Slides 21–38)]</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CONCEPT / THEORY — Two signals, one reliable cursor.</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Hold up two fingers for the two physical signals: Optical and Inertial.</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Now that you have seen the demo, let's go into the technical engineering behind how it works.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IRIS combines two physical signals so neither sensor ever has to guess: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First is Optical: a 950nm infrared sensor aimed at the eye. When your eye is open, the white sclera reflects infrared strongly; when your eyelid closes, it blocks that reflection.</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Second is Inertial: an MPU6050 6-DOF MEMS gyroscope and accelerometer on the forehead that reads head pitch and roll at 50 Hertz to move the cursor smoothly without eye strain.</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30]</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84" name="Google Shape;584;p2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p50: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0" name="Google Shape;610;p50: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30/60 | Section 2: Technical Section — Circuit Diagram &amp; Component-by-Component Deep Dive (Slides 21–38)]</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NEXT-GEN SENSING — Mapping the eye. Mirroring every blink live.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Point to the left card (Multi-Beam IR + TensorFlow) and right card (Live Python Eye Twin).</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To stop room lights or sunlight from confusing the optical sensor, we use dispersed 950nm IR beams and pass the reflections through a Python and TensorFlow denoising pipeline.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That filter strips out ambient light spikes and involuntary micro-tremors, and feeds the cleaned signal into our real-time Python Eye Simulation — so when you blink, the Python eye blinks with you.</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31]</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6" name="Google Shape;636;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31/60 | Section 2: Technical Section — Circuit Diagram &amp; Component-by-Component Deep Dive (Slides 21–38)]</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THE CLICK LOGIC — How a blink becomes a click.</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Hold up 3 fingers for the 3 timing windows (&lt;200ms, 200–500ms, 2x 200–500ms).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The hardest part of any blink interface is ignoring the 15 to 20 involuntary blinks we make every minute.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IRIS solves this with three strict timing windows: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First, any natural reflex blink lasts under 200 milliseconds — our gate ignores it completely.</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Second, holding a deliberate blink for 200 to 500 milliseconds fires a single Left Click.</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Third, two deliberate blinks within a 600-millisecond window fire a Right Click.</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[Pause 2 seconds — Click to Slide 32]</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37" name="Google Shape;637;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p51: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9" name="Google Shape;669;p51: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32/60 | Section 2: Technical Section — Circuit Diagram &amp; Component-by-Component Deep Dive (Slides 21–38)]</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OCULAR SAFETY — Does the IR sensor harm the eye? Straight no.</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Speak with firm scientific clarity — 'Straight no'.</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Does placing a 950nm IR sensor near the eye cause any harm over 12 hours? Straight no.</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We use a diffused, non-coherent 950nm LED — never a laser. Its corneal irradiance is under 0.5 milliwatts per square centimeter, which is more than 20 times below the 10 mW/cm² IEC 62471 safety limit (Exempt Group). That is less infrared than ordinary indoor daylight through a window or a TV remote — zero heat and zero corneal drying.</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[Pause 2 seconds — Click to Slide 33]</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p56: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5" name="Google Shape;695;p56: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33/60 | Section 2: Technical Section — Circuit Diagram &amp; Component-by-Component Deep Dive (Slides 21–38)]</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WHAT ABOUT COMPLETE PARALYSIS? — When only the eyes can move: AI + CV iris tracking.</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Lean in slightly — this answers the #1 clinical question judges ask.</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Now you might ask: 'Ayushman, what about a completely paralyzed patient who cannot even tilt their head?'</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Even in complete paralysis, the eyes and iris still move. So I am developing a new module using Artificial Intelligence and Computer Vision that tracks pure iris movement — looking left, right, up, and down — to drive every function on screen with zero head tilt.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Normally, smooth iris tracking requires a very expensive camera and a high-end PC, while a cheap webcam creates grain and false positives. So I am using custom AI denoising functions on the same low-cost PC to clean up noisy frames and cut false positives — making complete-paralysis eye tracking affordable for all.</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[Pause 2 seconds — Click to Slide 34]</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p16: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34/60 | Section 2: Technical Section — Circuit Diagram &amp; Component-by-Component Deep Dive (Slides 21–38)]</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AI-AUGMENTED COMMUNICATION — Telegraphic in. Full sentences out.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Trace the technical pipeline from telegraphic input to Gemini LLM to Web Speech API TTS.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Now let's look at the technical architecture behind the three app features you saw in the demo.</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First is AI-Augmented Communication: when the patient clicks three telegraphic tiles like 'pain / left shoulder / sharp', the app sends a structured prompt to the Google Gemini multimodal LLM, which expands it into a complete clinical sentence in English or Hindi, and synthesizes speech locally in the browser using the Web Speech API TTS with zero cloud audio latency.</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35]</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21" name="Google Shape;721;p16: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p53: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2" name="Google Shape;752;p53: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35/60 | Section 2: Technical Section — Circuit Diagram &amp; Component-by-Component Deep Dive (Slides 21–38)]</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INTERNET OF THINGS — Control room lights with a blink. Always connected.</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Point to the IoT Cloud relay card on the left and Automatic Wi-Fi Failover on the right.</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Second is our IoT and Wireless Failover architecture: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When a patient blinks on a room appliance tile, IRIS dispatches an HTTP/MQTT state toggle to Wi-Fi IoT cloud relays (and our live room simulator) to switch bedroom lights and fans.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Simultaneously, the XIAO ESP32C3 runs a watchdog on the primary BLE 5.0 link — if Bluetooth ever drops, it automatically fails over to local Wi-Fi so the patient's cursor and SOS button never go offline, while micro-amp Deep Sleep extends runtime to 12 hours.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36]</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p27: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36/60 | Section 2: Technical Section — Circuit Diagram &amp; Component-by-Component Deep Dive (Slides 21–38)]</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REMOTE CAREGIVER ALERTING — When the patient blinks, the caretaker's phone rings.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Point to Tier 1 (Internal Server Proxy) and Tier 2 (Direct Client Fallback).</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Third is our Two-Tier Caregiver Alert Pipeline via ntfy.sh:</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In Tier 1, clicking an alert tile sends a same-origin JSON POST to our Next.js /api/care/ntfy server proxy, which forwards it to ntfy.sh — bypassing browser ByteString emoji header limits and client adblockers.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If the local proxy is offline, Tier 2 fires a direct client fallback straight to ntfy.sh plus HTML5 audio alarms — achieving a mean latency of 145ms on Wi-Fi and 280ms on cellular across Android, iPhone, and Apple Watch.</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37]</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78" name="Google Shape;778;p27: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p52: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4" name="Google Shape;814;p52: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37/60 | Section 2: Technical Section — Circuit Diagram &amp; Component-by-Component Deep Dive (Slides 21–38)]</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ENGINEERING CHALLENGES — Challenges faced &amp; how we solved them.</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Walk through the 4 debugging cards (False Positives, False Negatives, Sunlight, Drift/Heat).</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Here are the four main engineering challenges I debugged while building IRIS: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01 — False Positives: squinting or reflex blinks firing accidental clicks. We fixed this with the LM393 comparator and our 200–500ms timing gate, cutting natural-blink misfires to zero.</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02 — False Negatives: missed clicks when eye fatigue set in or prescription frames slipped. We fixed this with multi-beam 950nm IR, 2–3s calibration, and the lockable magnetic nut-bolt pivot, reaching 98.4% accuracy.</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03 — Ambient Sunlight &amp; Bulb Noise: solved by our Python + TensorFlow rolling baseline denoiser.</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04 — Gyro Drift &amp; Buck-Converter Heat: solved by direct Li-Po charging on the XIAO C3, the breathable Velcro belt, and a long-blink re-zero clutch.</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38]</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p3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2" name="Google Shape;842;p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38/60 | Section 2: Technical Section — Circuit Diagram &amp; Component-by-Component Deep Dive (Slides 21–38)]</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OPEN &amp; AVAILABLE — Will be available in future &amp; open-sourced for the public.</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Point to the GitHub repository and projectiris.dev.</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And all of this technical work is built to be shared: our Python cursor engine, 2–3s calibration flow, XIAO ESP32C3 firmware, schematics, and 3D STL mounts will be open-sourced on GitHub alongside our browser-native app at projectiris.dev, so anyone with a laptop can build IRIS for 885 rupees.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[Section Break — Pause 2 seconds, then click to Slide 39]</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43" name="Google Shape;843;p3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p54: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8" name="Google Shape;868;p54: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39/60 | Section 3: Tech for Good Section — Benefits, UN SDGs, Monopoly &amp; Safety (Slides 39–45)]</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SECTION 03 — TECH FOR GOOD SECTION (Designated Section Slide)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Shift tone from hardware engineering to social impact, UN SDGs, and breaking the ₹25L monopoly.</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That brings us to Section 3 — Tech for Good. Here we look at how IRIS breaks the 25-lakh-rupee assistive technology monopoly, its benefits for patients and families, our alignment with the UN Sustainable Development Goals, future scope, and patient safety.</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40]</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p55: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6" name="Google Shape;876;p55: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40/60 | Section 3: Tech for Good Section — Benefits, UN SDGs, Monopoly &amp; Safety (Slides 39–45)]</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TECH FOR GOOD — Technology that serves people, not monopolies.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Speak warmly from the heart.</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Now let's look at the larger impact of IRIS: Tech for Good.</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Technology should serve people, not monopolies. By replacing a 25-to-30-lakh imported machine with an 885-rupee prototype architecture and a 2,500-to-3,500-rupee finished product, we ensure access is decided by need, never by wealth — while keeping 100% of the patient's eye data local in memory.</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41]</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p3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03" name="Google Shape;903;p3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41/60 | Section 3: Tech for Good Section — Benefits, UN SDGs, Monopoly &amp; Safety (Slides 39–45)]</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SOCIAL IMPACT — Dignity. Voice. Independence.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Pause on the bottom line: 'For someone who can't lift a finger, this is freedom.'</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Because for someone who cannot lift a finger, this is freedom — restoring independent communication, room control, and human dignity.</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[Pause 2 seconds — Click to Slide 42]</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04" name="Google Shape;904;p3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36: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42/60 | Section 3: Tech for Good Section — Benefits, UN SDGs, Monopoly &amp; Safety (Slides 39–45)]</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SDG ALIGNMENT + DISTRIBUTION — UN Sustainable Development Goals.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Point to SDGs 03, 09, 10, 17 and the AIIMS Delhi &amp; NIMHANS Bangalore distribution plan.</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IRIS directly advances four UN Sustainable Development Goals: Good Health (SDG 03), Open Hardware Innovation from 885 rupees of components (SDG 09), Reduced Inequalities (SDG 10), and Partnerships (SDG 17).</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For clinical validation and subsidized distribution, we plan to partner with neurology and rehab wards at AIIMS Delhi and NIMHANS Bangalore, alongside NGOs including APD India, Amar Seva Sangam, and The Spinal Foundation.</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[Section Break — Take a breath, then click to Slide 43]</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25" name="Google Shape;925;p36: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p58: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4" name="Google Shape;964;p58: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43/60 | Section 3: Tech for Good Section — Benefits, UN SDGs, Monopoly &amp; Safety (Slides 39–45)]</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THE PRICE GAP EXPLAINED — Why ₹25–30 Lakh vs. ₹885? Breaking the monopoly.</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Count the 4 monopoly factors on your fingers.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Why does Tobii cost 25 to 30 lakh rupees while IRIS costs 885 rupees? Four reasons: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01 — A global monopoly of just 2–3 Western firms pricing for Western insurance.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02 — 40 to 60 percent import duties and distributor markups in India.</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03 — Forced bundled tablets costing lakhs, whereas IRIS runs on the laptop or phone the family already owns.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04 — Massive corporate overhead, whereas IRIS uses 885 rupees of standard open hardware parts.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44]</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p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93" name="Google Shape;993;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44/60 | Section 3: Tech for Good Section — Benefits, UN SDGs, Monopoly &amp; Safety (Slides 39–45)]</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FUTURE SCOPE — What IRIS will become.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Point across the 4 future roadmap cards.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In our future roadmap, every current limitation has a concrete upgrade: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Multi-user household profiles that switch in under 5 seconds, AI predictive text autocomplete that cuts blink-typing effort by over 60%, regional Indian language voice synthesis, and structured hospital clinical pilots.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45]</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94" name="Google Shape;994;p2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p34: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45/60 | Section 3: Tech for Good Section — Benefits, UN SDGs, Monopoly &amp; Safety (Slides 39–45)]</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SAFETY &amp; RESPONSIBILITY — Safety is non-negotiable.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Point to Hardware Safety on the left and Data Safety &amp; Privacy on the right.</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Every layer is built for patient safety and privacy: a 2A fast-blow fuse, onboard XIAO overcharge and short-circuit protection, zero external buck heat, IEC 62471 Exempt eye-safe IR, and 100% local processing — zero video of the patient is ever recorded or uploaded.</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46]</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031" name="Google Shape;1031;p34: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6" name="Shape 1076"/>
        <p:cNvGrpSpPr/>
        <p:nvPr/>
      </p:nvGrpSpPr>
      <p:grpSpPr>
        <a:xfrm>
          <a:off x="0" y="0"/>
          <a:ext cx="0" cy="0"/>
          <a:chOff x="0" y="0"/>
          <a:chExt cx="0" cy="0"/>
        </a:xfrm>
      </p:grpSpPr>
      <p:sp>
        <p:nvSpPr>
          <p:cNvPr id="1077" name="Google Shape;1077;p60: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8" name="Google Shape;1078;p60: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46/60 | Section 4: Comparative Analysis — Tobii vs. IRIS, Positives &amp; Limitations (Slides 46–50)]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SECTION 04 — COMPARATIVE ANALYSIS: TOBII VS. IRIS (Designated Section Slide)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Introduce the head-to-head comparison and engineering honesty section.</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In Section 4 — Comparative Analysis of Tobii and IRIS — we compare every metric head-to-head, openly acknowledge where a 25-lakh Tobii system still wins, and present our positives and limitations.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47]</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p25: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47/60 | Section 4: Comparative Analysis — Tobii vs. IRIS, Positives &amp; Limitations (Slides 46–50)]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HEAD-TO-HEAD — Tobii vs IRIS.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Point across the comparison table rows.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Look at Tobii versus IRIS head-to-head:</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25 lakh rupees plus versus an 885-rupee prototype build cost.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Camera tracking that needs controlled lighting versus hybrid IR + IMU that works in any lighting.</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30 minutes of specialist setup versus 2 to 3 seconds on any laptop or phone.</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48]</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086" name="Google Shape;1086;p25: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7" name="Shape 1097"/>
        <p:cNvGrpSpPr/>
        <p:nvPr/>
      </p:nvGrpSpPr>
      <p:grpSpPr>
        <a:xfrm>
          <a:off x="0" y="0"/>
          <a:ext cx="0" cy="0"/>
          <a:chOff x="0" y="0"/>
          <a:chExt cx="0" cy="0"/>
        </a:xfrm>
      </p:grpSpPr>
      <p:sp>
        <p:nvSpPr>
          <p:cNvPr id="1098" name="Google Shape;1098;p41: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48/60 | Section 4: Comparative Analysis — Tobii vs. IRIS, Positives &amp; Limitations (Slides 46–50)]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WHERE TOBII WINS — Where Tobii still wins.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Acknowledge where ₹25L commercial trackers still hold an edge.</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We also openly state where a 25-lakh Tobii still wins today: they have FDA and CE medical clearances, 20+ years of clinical studies, ruggedized hospital tablets, field-support staff, and 120Hz binocular cameras.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IRIS is not trying to replace an ICU monitor for a billionaire — it is built for the 99% of families who have nothing.</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49]</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099" name="Google Shape;1099;p41: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1" name="Shape 1121"/>
        <p:cNvGrpSpPr/>
        <p:nvPr/>
      </p:nvGrpSpPr>
      <p:grpSpPr>
        <a:xfrm>
          <a:off x="0" y="0"/>
          <a:ext cx="0" cy="0"/>
          <a:chOff x="0" y="0"/>
          <a:chExt cx="0" cy="0"/>
        </a:xfrm>
      </p:grpSpPr>
      <p:sp>
        <p:nvSpPr>
          <p:cNvPr id="1122" name="Google Shape;1122;p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23" name="Google Shape;1123;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49/60 | Section 4: Comparative Analysis — Tobii vs. IRIS, Positives &amp; Limitations (Slides 46–50)]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RESULTS — Positives and Limitations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Read both columns candidly — 'Honest beats impressive'.</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In science, honesty matters more than hype.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On the positive side: dual wireless BLE 5.0 with automatic Wi-Fi failover, all-lighting hardware operation, multi-beam IR with live Python eye simulation, reliable natural-blink filtering, and independent communication.</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On the limitation side: each new user needs a quick 2-to-3-second calibration check, long continuous use can cause mild eye or neck strain, and the 2.4GHz band can face interference in crowded hospital wards.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50]</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124" name="Google Shape;1124;p3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0" name="Shape 1150"/>
        <p:cNvGrpSpPr/>
        <p:nvPr/>
      </p:nvGrpSpPr>
      <p:grpSpPr>
        <a:xfrm>
          <a:off x="0" y="0"/>
          <a:ext cx="0" cy="0"/>
          <a:chOff x="0" y="0"/>
          <a:chExt cx="0" cy="0"/>
        </a:xfrm>
      </p:grpSpPr>
      <p:sp>
        <p:nvSpPr>
          <p:cNvPr id="1151" name="Google Shape;1151;p31: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50/60 | Section 4: Comparative Analysis — Tobii vs. IRIS, Positives &amp; Limitations (Slides 46–50)]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DEEPER HONESTY — More positives. More limitations.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Highlight the deeper positives and limitations across both uniform columns.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Going one level deeper: while the XIAO ESP32C3 gives us 12-hour Deep Sleep, fits ±7D prescription glasses via the magnetic nut-bolt pivot, and keeps all data 100% local, our current headband requires voluntary eyelid control on at least one eye (which our upcoming AI+CV pure-iris mode solves), Gemini AI sentence expansion needs Wi-Fi (while core emergency tiles work offline), the magnetic pivot needs a one-time angle setup per frame, and formal clinical certification is our next milestone via NGO and hospital pilots.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51]</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152" name="Google Shape;1152;p31: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6" name="Shape 1186"/>
        <p:cNvGrpSpPr/>
        <p:nvPr/>
      </p:nvGrpSpPr>
      <p:grpSpPr>
        <a:xfrm>
          <a:off x="0" y="0"/>
          <a:ext cx="0" cy="0"/>
          <a:chOff x="0" y="0"/>
          <a:chExt cx="0" cy="0"/>
        </a:xfrm>
      </p:grpSpPr>
      <p:sp>
        <p:nvSpPr>
          <p:cNvPr id="1187" name="Google Shape;1187;p61: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8" name="Google Shape;1188;p61: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51/60 | Section 5: Economic Sphere — Market Size, ₹885 Costing, Pricing &amp; Distribution (Slides 51–56)]</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SECTION 05 — ECONOMIC SPHERE (Designated Section Slide)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Introduce market size, the ₹885 BOM, unit economics, and distribution.</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In Section 5 — the Economic Sphere — we cover the global and Indian market size, our exact 885-rupee Bill of Materials, how it scales to a 2,185-rupee landed cost and a 3,000-to-3,500-rupee finished kit, our hospital and NGO distribution channels, and our hands-free gaming cross-subsidy model.</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52]</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4" name="Shape 1194"/>
        <p:cNvGrpSpPr/>
        <p:nvPr/>
      </p:nvGrpSpPr>
      <p:grpSpPr>
        <a:xfrm>
          <a:off x="0" y="0"/>
          <a:ext cx="0" cy="0"/>
          <a:chOff x="0" y="0"/>
          <a:chExt cx="0" cy="0"/>
        </a:xfrm>
      </p:grpSpPr>
      <p:sp>
        <p:nvSpPr>
          <p:cNvPr id="1195" name="Google Shape;1195;p38: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52/60 | Section 5: Economic Sphere — Market Size, ₹885 Costing, Pricing &amp; Distribution (Slides 51–56)]</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MARKET OPPORTUNITY — A market that's growing fast.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Gesture to the $20B -&gt; $43.3B growth chart.</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Globally, the assistive technology market is growing from 20 billion dollars in 2025 to 43.3 billion dollars by 2035 at an 8% CAGR — and IRIS is built for the 90% of patients in developing nations currently priced out.</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[Section Break — Pause 2 seconds, then click to Slide 53]</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196" name="Google Shape;1196;p38: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4" name="Shape 1214"/>
        <p:cNvGrpSpPr/>
        <p:nvPr/>
      </p:nvGrpSpPr>
      <p:grpSpPr>
        <a:xfrm>
          <a:off x="0" y="0"/>
          <a:ext cx="0" cy="0"/>
          <a:chOff x="0" y="0"/>
          <a:chExt cx="0" cy="0"/>
        </a:xfrm>
      </p:grpSpPr>
      <p:sp>
        <p:nvSpPr>
          <p:cNvPr id="1215" name="Google Shape;1215;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16" name="Google Shape;1216;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53/60 | Section 5: Economic Sphere — Market Size, ₹885 Costing, Pricing &amp; Distribution (Slides 51–56)]</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BUILD COST &amp; ROADMAP — From prototype to public good.</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Point to the realistic ₹885 BOM table on the left and the 3-stage roadmap on the right.</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Here is the exact, realistic bill of materials for the prototype in my hand:</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Seeed Studio XIAO ESP32C3 at 500 rupees, MPU6050 sensor at 100 rupees, Multi-Beam IR sensor at 30 rupees, Magnet plus Nut-Bolt Pivot and RGB LED at 20 rupees, 3.7V 1000mAh Li-Po battery at 80 rupees, Breathable Velcro Belt and glasses at 130 rupees, and wires at 25 rupees — totaling exactly 885 rupees.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[Pause 1 second — Click to Slide 54]</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217" name="Google Shape;1217;p2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6" name="Shape 1276"/>
        <p:cNvGrpSpPr/>
        <p:nvPr/>
      </p:nvGrpSpPr>
      <p:grpSpPr>
        <a:xfrm>
          <a:off x="0" y="0"/>
          <a:ext cx="0" cy="0"/>
          <a:chOff x="0" y="0"/>
          <a:chExt cx="0" cy="0"/>
        </a:xfrm>
      </p:grpSpPr>
      <p:sp>
        <p:nvSpPr>
          <p:cNvPr id="1277" name="Google Shape;1277;p59: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8" name="Google Shape;1278;p59: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54/60 | Section 5: Economic Sphere — Market Size, ₹885 Costing, Pricing &amp; Distribution (Slides 51–56)]</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FUTURE SYSTEM ECONOMICS — How the ₹885 prototype will scale to a ₹3,000–₹3,500 kit.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Walk through the 4 cards (₹885 BOM -&gt; +₹1,300 build -&gt; ₹3,000–₹3,500 price -&gt; NGO subsidy).</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When we launch the finished commercial kit in the future, how does an 885-rupee prototype scale to a 3,000-to-3,500-rupee complete kit?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On top of the 885-rupee electronics (Card 01), adding custom flex-PCB and 3D enclosure tooling (+450 rupees), QA testing, a 1-year warranty, and packaging (+350 rupees), plus GST, shipping, and hospital onboarding (+500 rupees) brings landed production cost to roughly 2,185 rupees (Card 02).</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Pricing the complete kit between 3,000 and 3,500 rupees (Card 03) leaves a sustainable margin to fund R&amp;D and subsidize kits for poor families through NGOs (Card 04), while staying 99.8% cheaper than 25-lakh systems.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55]</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5" name="Shape 1305"/>
        <p:cNvGrpSpPr/>
        <p:nvPr/>
      </p:nvGrpSpPr>
      <p:grpSpPr>
        <a:xfrm>
          <a:off x="0" y="0"/>
          <a:ext cx="0" cy="0"/>
          <a:chOff x="0" y="0"/>
          <a:chExt cx="0" cy="0"/>
        </a:xfrm>
      </p:grpSpPr>
      <p:sp>
        <p:nvSpPr>
          <p:cNvPr id="1306" name="Google Shape;1306;p3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07" name="Google Shape;1307;p3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55/60 | Section 5: Economic Sphere — Market Size, ₹885 Costing, Pricing &amp; Distribution (Slides 51–56)]</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FUTURE VIABILITY &amp; SCALE — Engineered to scale into a complete system.</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Point to the ₹15 Cr+ India TAM and the distribution channels.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Across an Indian market of over 15 crore rupees, our model keeps the core patient app 100% free forever, with an optional 99-rupee monthly cloud telemetry pack for hospitals, scaling across AIIMS, NIMHANS, disability NGOs, and projectiris.dev.</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56]</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308" name="Google Shape;1308;p3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9" name="Shape 1339"/>
        <p:cNvGrpSpPr/>
        <p:nvPr/>
      </p:nvGrpSpPr>
      <p:grpSpPr>
        <a:xfrm>
          <a:off x="0" y="0"/>
          <a:ext cx="0" cy="0"/>
          <a:chOff x="0" y="0"/>
          <a:chExt cx="0" cy="0"/>
        </a:xfrm>
      </p:grpSpPr>
      <p:sp>
        <p:nvSpPr>
          <p:cNvPr id="1340" name="Google Shape;1340;p57: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1" name="Google Shape;1341;p57: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56/60 | Section 5: Economic Sphere — Market Size, ₹885 Costing, Pricing &amp; Distribution (Slides 51–56)]</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FUTURE MARKET DIVERSIFICATION — Expanding into hands-free gaming &amp; consumer tech.</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Explain how gaming volume subsidizes medical units.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We can also diversify IRIS into hands-free gaming and consumer tech — where head tilt controls 360-degree aiming and blinks act as fire triggers. High-volume gaming adoption will drive bulk PCB manufacturing and cross-subsidize near-cost units for paralyzed patients.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57]</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6" name="Shape 1366"/>
        <p:cNvGrpSpPr/>
        <p:nvPr/>
      </p:nvGrpSpPr>
      <p:grpSpPr>
        <a:xfrm>
          <a:off x="0" y="0"/>
          <a:ext cx="0" cy="0"/>
          <a:chOff x="0" y="0"/>
          <a:chExt cx="0" cy="0"/>
        </a:xfrm>
      </p:grpSpPr>
      <p:sp>
        <p:nvSpPr>
          <p:cNvPr id="1367" name="Google Shape;1367;p62: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8" name="Google Shape;1368;p62: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57/60 | Section 6: Testing, Accuracy &amp; Verified Numbers (Slides 57–60)]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SECTION 06 — TESTING &amp; VERIFIED NUMBERS (Designated Section Slide)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Introduce the final section covering real-world testing and verified accuracy/latency benchmarks.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Finally, in Section 6 — Testing and Verified Numbers — we show our hands-on prototype testing and the verified benchmark numbers for accuracy, latency, and usability.</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58]</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4" name="Shape 1374"/>
        <p:cNvGrpSpPr/>
        <p:nvPr/>
      </p:nvGrpSpPr>
      <p:grpSpPr>
        <a:xfrm>
          <a:off x="0" y="0"/>
          <a:ext cx="0" cy="0"/>
          <a:chOff x="0" y="0"/>
          <a:chExt cx="0" cy="0"/>
        </a:xfrm>
      </p:grpSpPr>
      <p:sp>
        <p:nvSpPr>
          <p:cNvPr id="1375" name="Google Shape;1375;p32: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58/60 | Section 6: Testing, Accuracy &amp; Verified Numbers (Slides 57–60)]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BUILDING &amp; TESTING — Built by hand. Tested with real patients.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Point to the 3 real photographs on screen.</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Finally, let's look at our real-world testing and honest evaluation.</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These are actual photographs of me assembling the hardware on my workbench and testing it with real users.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[Click to Slide 59]</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376" name="Google Shape;1376;p32: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6" name="Shape 1386"/>
        <p:cNvGrpSpPr/>
        <p:nvPr/>
      </p:nvGrpSpPr>
      <p:grpSpPr>
        <a:xfrm>
          <a:off x="0" y="0"/>
          <a:ext cx="0" cy="0"/>
          <a:chOff x="0" y="0"/>
          <a:chExt cx="0" cy="0"/>
        </a:xfrm>
      </p:grpSpPr>
      <p:sp>
        <p:nvSpPr>
          <p:cNvPr id="1387" name="Google Shape;1387;p43: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59/60 | Section 6: Testing, Accuracy &amp; Verified Numbers (Slides 57–60)]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EXPERIMENTAL EVALUATION — The numbers. Verified.</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Point to the verified metrics: 98.4% accuracy, 280ms alert, 18.2s vs 4.2m (87.2% faster), and 91.5 SUS.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Here are our verified benchmark numbers: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Target acquisition accuracy reached 98.4%.</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Cellular alert dispatch took 280 milliseconds (and 145ms on Wi-Fi).</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Mean caregiver response time dropped from 4.2 minutes with a manual call bell down to 18.2 seconds — an 87.2% reduction that can save a life in an emergency.</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And our System Usability Scale score reached 91.5 out of 100 (Grade A+).</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[Pause 2 seconds — Click to Slide 60]</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388" name="Google Shape;1388;p43: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8" name="Shape 1398"/>
        <p:cNvGrpSpPr/>
        <p:nvPr/>
      </p:nvGrpSpPr>
      <p:grpSpPr>
        <a:xfrm>
          <a:off x="0" y="0"/>
          <a:ext cx="0" cy="0"/>
          <a:chOff x="0" y="0"/>
          <a:chExt cx="0" cy="0"/>
        </a:xfrm>
      </p:grpSpPr>
      <p:sp>
        <p:nvSpPr>
          <p:cNvPr id="1399" name="Google Shape;1399;p4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00" name="Google Shape;1400;p4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60/60 | Section 6: Testing, Accuracy &amp; Verified Numbers (Slides 57–60)]</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THANK YOU — Technology should be a bridge, not a wall.</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ACTION CUE: Hold up the headband and magnetic glasses one last time, make warm eye contact with the judges, and pause after your final line.</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SPOKEN SCRIPT: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Technology should be a bridge, not a wall.</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With a breathable headband, magnetic-pivot glasses, and 885 rupees of honest engineering, IRIS turns a blink and a head tilt into a voice.</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Thank you so much, respected judges. I would love to answer your questions.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[End of Presentation — Hold silence for 2 seconds and smile]</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401" name="Google Shape;1401;p4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4325C"/>
            </a:gs>
            <a:gs pos="28000">
              <a:srgbClr val="04142E"/>
            </a:gs>
            <a:gs pos="72000">
              <a:srgbClr val="020814"/>
            </a:gs>
            <a:gs pos="100000">
              <a:srgbClr val="051D3B"/>
            </a:gs>
          </a:gsLst>
          <a:lin ang="16200000" scaled="0"/>
        </a:gra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jpg"/><Relationship Id="rId4" Type="http://schemas.openxmlformats.org/officeDocument/2006/relationships/image" Target="../media/image7.png"/><Relationship Id="rId5" Type="http://schemas.openxmlformats.org/officeDocument/2006/relationships/image" Target="../media/image6.png"/><Relationship Id="rId6" Type="http://schemas.openxmlformats.org/officeDocument/2006/relationships/image" Target="../media/image4.png"/><Relationship Id="rId7"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8.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7.png"/><Relationship Id="rId4" Type="http://schemas.openxmlformats.org/officeDocument/2006/relationships/image" Target="../media/image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7.png"/><Relationship Id="rId4" Type="http://schemas.openxmlformats.org/officeDocument/2006/relationships/image" Target="../media/image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9.png"/><Relationship Id="rId4" Type="http://schemas.openxmlformats.org/officeDocument/2006/relationships/image" Target="../media/image2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7.png"/><Relationship Id="rId4" Type="http://schemas.openxmlformats.org/officeDocument/2006/relationships/image" Target="../media/image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1.png"/><Relationship Id="rId4" Type="http://schemas.openxmlformats.org/officeDocument/2006/relationships/image" Target="../media/image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22.png"/><Relationship Id="rId4" Type="http://schemas.openxmlformats.org/officeDocument/2006/relationships/image" Target="../media/image2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28.png"/><Relationship Id="rId4" Type="http://schemas.openxmlformats.org/officeDocument/2006/relationships/image" Target="../media/image2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7.png"/><Relationship Id="rId4" Type="http://schemas.openxmlformats.org/officeDocument/2006/relationships/image" Target="../media/image1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25.jpg"/><Relationship Id="rId4" Type="http://schemas.openxmlformats.org/officeDocument/2006/relationships/image" Target="../media/image29.jpg"/><Relationship Id="rId5" Type="http://schemas.openxmlformats.org/officeDocument/2006/relationships/image" Target="../media/image30.png"/><Relationship Id="rId6" Type="http://schemas.openxmlformats.org/officeDocument/2006/relationships/image" Target="../media/image32.png"/><Relationship Id="rId7" Type="http://schemas.openxmlformats.org/officeDocument/2006/relationships/image" Target="../media/image27.png"/><Relationship Id="rId8" Type="http://schemas.openxmlformats.org/officeDocument/2006/relationships/image" Target="../media/image2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28.png"/><Relationship Id="rId4" Type="http://schemas.openxmlformats.org/officeDocument/2006/relationships/image" Target="../media/image33.png"/><Relationship Id="rId5" Type="http://schemas.openxmlformats.org/officeDocument/2006/relationships/image" Target="../media/image24.png"/><Relationship Id="rId6" Type="http://schemas.openxmlformats.org/officeDocument/2006/relationships/image" Target="../media/image3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chart" Target="../charts/char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34.png"/><Relationship Id="rId4" Type="http://schemas.openxmlformats.org/officeDocument/2006/relationships/image" Target="../media/image2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35.jpg"/><Relationship Id="rId4" Type="http://schemas.openxmlformats.org/officeDocument/2006/relationships/image" Target="../media/image37.jpg"/><Relationship Id="rId5" Type="http://schemas.openxmlformats.org/officeDocument/2006/relationships/image" Target="../media/image3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 name="Shape 10"/>
        <p:cNvGrpSpPr/>
        <p:nvPr/>
      </p:nvGrpSpPr>
      <p:grpSpPr>
        <a:xfrm>
          <a:off x="0" y="0"/>
          <a:ext cx="0" cy="0"/>
          <a:chOff x="0" y="0"/>
          <a:chExt cx="0" cy="0"/>
        </a:xfrm>
      </p:grpSpPr>
      <p:sp>
        <p:nvSpPr>
          <p:cNvPr id="11" name="Google Shape;11;p1"/>
          <p:cNvSpPr/>
          <p:nvPr/>
        </p:nvSpPr>
        <p:spPr>
          <a:xfrm>
            <a:off x="2013850" y="1011381"/>
            <a:ext cx="8091600" cy="321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2D3EE"/>
              </a:buClr>
              <a:buSzPts val="23900"/>
              <a:buFont typeface="Arial"/>
              <a:buNone/>
            </a:pPr>
            <a:r>
              <a:rPr b="1" i="0" lang="en-US" sz="23900" u="none" cap="none" strike="noStrike">
                <a:solidFill>
                  <a:srgbClr val="22D3EE"/>
                </a:solidFill>
                <a:latin typeface="Inter"/>
                <a:ea typeface="Inter"/>
                <a:cs typeface="Inter"/>
                <a:sym typeface="Inter"/>
              </a:rPr>
              <a:t>IRIS</a:t>
            </a:r>
            <a:endParaRPr b="0" i="0" sz="23900" u="none" cap="none" strike="noStrike">
              <a:solidFill>
                <a:schemeClr val="dk1"/>
              </a:solidFill>
              <a:latin typeface="Calibri"/>
              <a:ea typeface="Calibri"/>
              <a:cs typeface="Calibri"/>
              <a:sym typeface="Calibri"/>
            </a:endParaRPr>
          </a:p>
        </p:txBody>
      </p:sp>
      <p:sp>
        <p:nvSpPr>
          <p:cNvPr id="12" name="Google Shape;12;p1"/>
          <p:cNvSpPr/>
          <p:nvPr/>
        </p:nvSpPr>
        <p:spPr>
          <a:xfrm>
            <a:off x="2013857" y="4626025"/>
            <a:ext cx="78813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DD5E2"/>
              </a:buClr>
              <a:buSzPts val="3600"/>
              <a:buFont typeface="Arial"/>
              <a:buNone/>
            </a:pPr>
            <a:r>
              <a:rPr b="0" i="1" lang="en-US" sz="3600" u="none" cap="none" strike="noStrike">
                <a:solidFill>
                  <a:srgbClr val="CDD5E2"/>
                </a:solidFill>
                <a:latin typeface="Inter"/>
                <a:ea typeface="Inter"/>
                <a:cs typeface="Inter"/>
                <a:sym typeface="Inter"/>
              </a:rPr>
              <a:t>Infrared Reflective Interface System</a:t>
            </a:r>
            <a:endParaRPr b="0" i="0" sz="3600" u="none" cap="none" strike="noStrike">
              <a:solidFill>
                <a:schemeClr val="dk1"/>
              </a:solidFill>
              <a:latin typeface="Calibri"/>
              <a:ea typeface="Calibri"/>
              <a:cs typeface="Calibri"/>
              <a:sym typeface="Calibri"/>
            </a:endParaRP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 name="Shape 16"/>
        <p:cNvGrpSpPr/>
        <p:nvPr/>
      </p:nvGrpSpPr>
      <p:grpSpPr>
        <a:xfrm>
          <a:off x="0" y="0"/>
          <a:ext cx="0" cy="0"/>
          <a:chOff x="0" y="0"/>
          <a:chExt cx="0" cy="0"/>
        </a:xfrm>
      </p:grpSpPr>
      <p:sp>
        <p:nvSpPr>
          <p:cNvPr id="17" name="Google Shape;17;p35"/>
          <p:cNvSpPr/>
          <p:nvPr/>
        </p:nvSpPr>
        <p:spPr>
          <a:xfrm>
            <a:off x="0" y="0"/>
            <a:ext cx="12191695" cy="6858000"/>
          </a:xfrm>
          <a:prstGeom prst="rect">
            <a:avLst/>
          </a:prstGeom>
          <a:solidFill>
            <a:srgbClr val="070B1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 name="Google Shape;18;p35"/>
          <p:cNvSpPr txBox="1"/>
          <p:nvPr/>
        </p:nvSpPr>
        <p:spPr>
          <a:xfrm>
            <a:off x="502920" y="274320"/>
            <a:ext cx="4572000"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00E5FF"/>
                </a:solidFill>
                <a:latin typeface="Inter"/>
                <a:ea typeface="Inter"/>
                <a:cs typeface="Inter"/>
                <a:sym typeface="Inter"/>
              </a:rPr>
              <a:t>●  IRIS   ·   SECTION 01 OF 06</a:t>
            </a:r>
            <a:endParaRPr/>
          </a:p>
        </p:txBody>
      </p:sp>
      <p:sp>
        <p:nvSpPr>
          <p:cNvPr id="19" name="Google Shape;19;p35"/>
          <p:cNvSpPr/>
          <p:nvPr/>
        </p:nvSpPr>
        <p:spPr>
          <a:xfrm>
            <a:off x="502920" y="658368"/>
            <a:ext cx="11183112" cy="18288"/>
          </a:xfrm>
          <a:prstGeom prst="rect">
            <a:avLst/>
          </a:prstGeom>
          <a:solidFill>
            <a:srgbClr val="1E305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 name="Google Shape;20;p35"/>
          <p:cNvSpPr/>
          <p:nvPr/>
        </p:nvSpPr>
        <p:spPr>
          <a:xfrm>
            <a:off x="502920" y="932688"/>
            <a:ext cx="8046720" cy="438912"/>
          </a:xfrm>
          <a:prstGeom prst="roundRect">
            <a:avLst>
              <a:gd fmla="val 16667" name="adj"/>
            </a:avLst>
          </a:prstGeom>
          <a:solidFill>
            <a:srgbClr val="0A2638"/>
          </a:solidFill>
          <a:ln cap="flat" cmpd="sng" w="19050">
            <a:solidFill>
              <a:srgbClr val="00E5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500" u="none" cap="none" strike="noStrike">
                <a:solidFill>
                  <a:srgbClr val="00E5FF"/>
                </a:solidFill>
                <a:latin typeface="Inter"/>
                <a:ea typeface="Inter"/>
                <a:cs typeface="Inter"/>
                <a:sym typeface="Inter"/>
              </a:rPr>
              <a:t>SECTION 01  ·  OVERVIEW, APPLICATIONS &amp; LIVE DEMO</a:t>
            </a:r>
            <a:endParaRPr/>
          </a:p>
        </p:txBody>
      </p:sp>
      <p:sp>
        <p:nvSpPr>
          <p:cNvPr id="21" name="Google Shape;21;p35"/>
          <p:cNvSpPr txBox="1"/>
          <p:nvPr/>
        </p:nvSpPr>
        <p:spPr>
          <a:xfrm>
            <a:off x="502920" y="1536192"/>
            <a:ext cx="11183112" cy="914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5200" u="none" cap="none" strike="noStrike">
                <a:solidFill>
                  <a:srgbClr val="F5F8FF"/>
                </a:solidFill>
                <a:latin typeface="Inter"/>
                <a:ea typeface="Inter"/>
                <a:cs typeface="Inter"/>
                <a:sym typeface="Inter"/>
              </a:rPr>
              <a:t>IRIS SECTION</a:t>
            </a:r>
            <a:endParaRPr/>
          </a:p>
        </p:txBody>
      </p:sp>
      <p:sp>
        <p:nvSpPr>
          <p:cNvPr id="22" name="Google Shape;22;p35"/>
          <p:cNvSpPr txBox="1"/>
          <p:nvPr/>
        </p:nvSpPr>
        <p:spPr>
          <a:xfrm>
            <a:off x="502920" y="2487168"/>
            <a:ext cx="11183112" cy="7315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950" u="none" cap="none" strike="noStrike">
                <a:solidFill>
                  <a:srgbClr val="FFB300"/>
                </a:solidFill>
                <a:latin typeface="Inter"/>
                <a:ea typeface="Inter"/>
                <a:cs typeface="Inter"/>
                <a:sym typeface="Inter"/>
              </a:rPr>
              <a:t>The Need  →  Stakeholders  →  Scale  →  Previous vs. New Solution  →  Main Function  →  Applications &amp; App  →  Demo</a:t>
            </a:r>
            <a:endParaRPr/>
          </a:p>
        </p:txBody>
      </p:sp>
      <p:sp>
        <p:nvSpPr>
          <p:cNvPr id="23" name="Google Shape;23;p35"/>
          <p:cNvSpPr/>
          <p:nvPr/>
        </p:nvSpPr>
        <p:spPr>
          <a:xfrm>
            <a:off x="502920" y="3401568"/>
            <a:ext cx="2651760" cy="2971800"/>
          </a:xfrm>
          <a:prstGeom prst="roundRect">
            <a:avLst>
              <a:gd fmla="val 16667" name="adj"/>
            </a:avLst>
          </a:prstGeom>
          <a:solidFill>
            <a:srgbClr val="0E1626"/>
          </a:solidFill>
          <a:ln cap="flat" cmpd="sng" w="19050">
            <a:solidFill>
              <a:srgbClr val="1E305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 name="Google Shape;24;p35"/>
          <p:cNvSpPr txBox="1"/>
          <p:nvPr/>
        </p:nvSpPr>
        <p:spPr>
          <a:xfrm>
            <a:off x="685800" y="3566160"/>
            <a:ext cx="2286000" cy="38404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50" u="none" cap="none" strike="noStrike">
                <a:solidFill>
                  <a:srgbClr val="00E5FF"/>
                </a:solidFill>
                <a:latin typeface="Inter"/>
                <a:ea typeface="Inter"/>
                <a:cs typeface="Inter"/>
                <a:sym typeface="Inter"/>
              </a:rPr>
              <a:t>PART 01</a:t>
            </a:r>
            <a:endParaRPr/>
          </a:p>
        </p:txBody>
      </p:sp>
      <p:sp>
        <p:nvSpPr>
          <p:cNvPr id="25" name="Google Shape;25;p35"/>
          <p:cNvSpPr txBox="1"/>
          <p:nvPr/>
        </p:nvSpPr>
        <p:spPr>
          <a:xfrm>
            <a:off x="685800" y="3950208"/>
            <a:ext cx="2286000" cy="5943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F5F8FF"/>
                </a:solidFill>
                <a:latin typeface="Inter"/>
                <a:ea typeface="Inter"/>
                <a:cs typeface="Inter"/>
                <a:sym typeface="Inter"/>
              </a:rPr>
              <a:t>Need &amp; Stakeholders</a:t>
            </a:r>
            <a:endParaRPr/>
          </a:p>
        </p:txBody>
      </p:sp>
      <p:sp>
        <p:nvSpPr>
          <p:cNvPr id="26" name="Google Shape;26;p35"/>
          <p:cNvSpPr txBox="1"/>
          <p:nvPr/>
        </p:nvSpPr>
        <p:spPr>
          <a:xfrm>
            <a:off x="685800" y="4608576"/>
            <a:ext cx="2286000" cy="16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50" u="none" cap="none" strike="noStrike">
                <a:solidFill>
                  <a:srgbClr val="B4C3DC"/>
                </a:solidFill>
                <a:latin typeface="Inter"/>
                <a:ea typeface="Inter"/>
                <a:cs typeface="Inter"/>
                <a:sym typeface="Inter"/>
              </a:rPr>
              <a:t>•  Personal origin story</a:t>
            </a:r>
            <a:endParaRPr/>
          </a:p>
          <a:p>
            <a:pPr indent="0" lvl="0" marL="0" marR="0" rtl="0" algn="l">
              <a:lnSpc>
                <a:spcPct val="100000"/>
              </a:lnSpc>
              <a:spcBef>
                <a:spcPts val="600"/>
              </a:spcBef>
              <a:spcAft>
                <a:spcPts val="0"/>
              </a:spcAft>
              <a:buNone/>
            </a:pPr>
            <a:r>
              <a:rPr b="0" i="0" lang="en-US" sz="1450" u="none" cap="none" strike="noStrike">
                <a:solidFill>
                  <a:srgbClr val="B4C3DC"/>
                </a:solidFill>
                <a:latin typeface="Inter"/>
                <a:ea typeface="Inter"/>
                <a:cs typeface="Inter"/>
                <a:sym typeface="Inter"/>
              </a:rPr>
              <a:t>•  ALS &amp; locked-in users</a:t>
            </a:r>
            <a:endParaRPr/>
          </a:p>
          <a:p>
            <a:pPr indent="0" lvl="0" marL="0" marR="0" rtl="0" algn="l">
              <a:lnSpc>
                <a:spcPct val="100000"/>
              </a:lnSpc>
              <a:spcBef>
                <a:spcPts val="600"/>
              </a:spcBef>
              <a:spcAft>
                <a:spcPts val="0"/>
              </a:spcAft>
              <a:buNone/>
            </a:pPr>
            <a:r>
              <a:rPr b="0" i="0" lang="en-US" sz="1450" u="none" cap="none" strike="noStrike">
                <a:solidFill>
                  <a:srgbClr val="B4C3DC"/>
                </a:solidFill>
                <a:latin typeface="Inter"/>
                <a:ea typeface="Inter"/>
                <a:cs typeface="Inter"/>
                <a:sym typeface="Inter"/>
              </a:rPr>
              <a:t>•  1.5M+ in India, 50M+ global</a:t>
            </a:r>
            <a:endParaRPr/>
          </a:p>
        </p:txBody>
      </p:sp>
      <p:sp>
        <p:nvSpPr>
          <p:cNvPr id="27" name="Google Shape;27;p35"/>
          <p:cNvSpPr/>
          <p:nvPr/>
        </p:nvSpPr>
        <p:spPr>
          <a:xfrm>
            <a:off x="3346704" y="3401568"/>
            <a:ext cx="2651760" cy="2971800"/>
          </a:xfrm>
          <a:prstGeom prst="roundRect">
            <a:avLst>
              <a:gd fmla="val 16667" name="adj"/>
            </a:avLst>
          </a:prstGeom>
          <a:solidFill>
            <a:srgbClr val="0E1626"/>
          </a:solidFill>
          <a:ln cap="flat" cmpd="sng" w="19050">
            <a:solidFill>
              <a:srgbClr val="1E305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 name="Google Shape;28;p35"/>
          <p:cNvSpPr txBox="1"/>
          <p:nvPr/>
        </p:nvSpPr>
        <p:spPr>
          <a:xfrm>
            <a:off x="3529584" y="3566160"/>
            <a:ext cx="2286000" cy="38404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50" u="none" cap="none" strike="noStrike">
                <a:solidFill>
                  <a:srgbClr val="00E5FF"/>
                </a:solidFill>
                <a:latin typeface="Inter"/>
                <a:ea typeface="Inter"/>
                <a:cs typeface="Inter"/>
                <a:sym typeface="Inter"/>
              </a:rPr>
              <a:t>PART 02</a:t>
            </a:r>
            <a:endParaRPr/>
          </a:p>
        </p:txBody>
      </p:sp>
      <p:sp>
        <p:nvSpPr>
          <p:cNvPr id="29" name="Google Shape;29;p35"/>
          <p:cNvSpPr txBox="1"/>
          <p:nvPr/>
        </p:nvSpPr>
        <p:spPr>
          <a:xfrm>
            <a:off x="3529584" y="3950208"/>
            <a:ext cx="2286000" cy="5943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F5F8FF"/>
                </a:solidFill>
                <a:latin typeface="Inter"/>
                <a:ea typeface="Inter"/>
                <a:cs typeface="Inter"/>
                <a:sym typeface="Inter"/>
              </a:rPr>
              <a:t>Previous vs. New</a:t>
            </a:r>
            <a:endParaRPr/>
          </a:p>
        </p:txBody>
      </p:sp>
      <p:sp>
        <p:nvSpPr>
          <p:cNvPr id="30" name="Google Shape;30;p35"/>
          <p:cNvSpPr txBox="1"/>
          <p:nvPr/>
        </p:nvSpPr>
        <p:spPr>
          <a:xfrm>
            <a:off x="3529584" y="4608576"/>
            <a:ext cx="2286000" cy="16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50" u="none" cap="none" strike="noStrike">
                <a:solidFill>
                  <a:srgbClr val="B4C3DC"/>
                </a:solidFill>
                <a:latin typeface="Inter"/>
                <a:ea typeface="Inter"/>
                <a:cs typeface="Inter"/>
                <a:sym typeface="Inter"/>
              </a:rPr>
              <a:t>•  Why ₹25L+ Tobii fails India</a:t>
            </a:r>
            <a:endParaRPr/>
          </a:p>
          <a:p>
            <a:pPr indent="0" lvl="0" marL="0" marR="0" rtl="0" algn="l">
              <a:lnSpc>
                <a:spcPct val="100000"/>
              </a:lnSpc>
              <a:spcBef>
                <a:spcPts val="600"/>
              </a:spcBef>
              <a:spcAft>
                <a:spcPts val="0"/>
              </a:spcAft>
              <a:buNone/>
            </a:pPr>
            <a:r>
              <a:rPr b="0" i="0" lang="en-US" sz="1450" u="none" cap="none" strike="noStrike">
                <a:solidFill>
                  <a:srgbClr val="B4C3DC"/>
                </a:solidFill>
                <a:latin typeface="Inter"/>
                <a:ea typeface="Inter"/>
                <a:cs typeface="Inter"/>
                <a:sym typeface="Inter"/>
              </a:rPr>
              <a:t>•  Introducing IRIS at ₹885</a:t>
            </a:r>
            <a:endParaRPr/>
          </a:p>
          <a:p>
            <a:pPr indent="0" lvl="0" marL="0" marR="0" rtl="0" algn="l">
              <a:lnSpc>
                <a:spcPct val="100000"/>
              </a:lnSpc>
              <a:spcBef>
                <a:spcPts val="600"/>
              </a:spcBef>
              <a:spcAft>
                <a:spcPts val="0"/>
              </a:spcAft>
              <a:buNone/>
            </a:pPr>
            <a:r>
              <a:rPr b="0" i="0" lang="en-US" sz="1450" u="none" cap="none" strike="noStrike">
                <a:solidFill>
                  <a:srgbClr val="B4C3DC"/>
                </a:solidFill>
                <a:latin typeface="Inter"/>
                <a:ea typeface="Inter"/>
                <a:cs typeface="Inter"/>
                <a:sym typeface="Inter"/>
              </a:rPr>
              <a:t>•  99.96% cost reduction</a:t>
            </a:r>
            <a:endParaRPr/>
          </a:p>
        </p:txBody>
      </p:sp>
      <p:sp>
        <p:nvSpPr>
          <p:cNvPr id="31" name="Google Shape;31;p35"/>
          <p:cNvSpPr/>
          <p:nvPr/>
        </p:nvSpPr>
        <p:spPr>
          <a:xfrm>
            <a:off x="6190488" y="3401568"/>
            <a:ext cx="2651760" cy="2971800"/>
          </a:xfrm>
          <a:prstGeom prst="roundRect">
            <a:avLst>
              <a:gd fmla="val 16667" name="adj"/>
            </a:avLst>
          </a:prstGeom>
          <a:solidFill>
            <a:srgbClr val="0E1626"/>
          </a:solidFill>
          <a:ln cap="flat" cmpd="sng" w="19050">
            <a:solidFill>
              <a:srgbClr val="1E305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 name="Google Shape;32;p35"/>
          <p:cNvSpPr txBox="1"/>
          <p:nvPr/>
        </p:nvSpPr>
        <p:spPr>
          <a:xfrm>
            <a:off x="6373368" y="3566160"/>
            <a:ext cx="2286000" cy="38404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50" u="none" cap="none" strike="noStrike">
                <a:solidFill>
                  <a:srgbClr val="00E5FF"/>
                </a:solidFill>
                <a:latin typeface="Inter"/>
                <a:ea typeface="Inter"/>
                <a:cs typeface="Inter"/>
                <a:sym typeface="Inter"/>
              </a:rPr>
              <a:t>PART 03</a:t>
            </a:r>
            <a:endParaRPr/>
          </a:p>
        </p:txBody>
      </p:sp>
      <p:sp>
        <p:nvSpPr>
          <p:cNvPr id="33" name="Google Shape;33;p35"/>
          <p:cNvSpPr txBox="1"/>
          <p:nvPr/>
        </p:nvSpPr>
        <p:spPr>
          <a:xfrm>
            <a:off x="6373368" y="3950208"/>
            <a:ext cx="2286000" cy="5943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F5F8FF"/>
                </a:solidFill>
                <a:latin typeface="Inter"/>
                <a:ea typeface="Inter"/>
                <a:cs typeface="Inter"/>
                <a:sym typeface="Inter"/>
              </a:rPr>
              <a:t>Main Function &amp; Fit</a:t>
            </a:r>
            <a:endParaRPr/>
          </a:p>
        </p:txBody>
      </p:sp>
      <p:sp>
        <p:nvSpPr>
          <p:cNvPr id="34" name="Google Shape;34;p35"/>
          <p:cNvSpPr txBox="1"/>
          <p:nvPr/>
        </p:nvSpPr>
        <p:spPr>
          <a:xfrm>
            <a:off x="6373368" y="4608576"/>
            <a:ext cx="2286000" cy="16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50" u="none" cap="none" strike="noStrike">
                <a:solidFill>
                  <a:srgbClr val="B4C3DC"/>
                </a:solidFill>
                <a:latin typeface="Inter"/>
                <a:ea typeface="Inter"/>
                <a:cs typeface="Inter"/>
                <a:sym typeface="Inter"/>
              </a:rPr>
              <a:t>•  Head tilt steers cursor</a:t>
            </a:r>
            <a:endParaRPr/>
          </a:p>
          <a:p>
            <a:pPr indent="0" lvl="0" marL="0" marR="0" rtl="0" algn="l">
              <a:lnSpc>
                <a:spcPct val="100000"/>
              </a:lnSpc>
              <a:spcBef>
                <a:spcPts val="600"/>
              </a:spcBef>
              <a:spcAft>
                <a:spcPts val="0"/>
              </a:spcAft>
              <a:buNone/>
            </a:pPr>
            <a:r>
              <a:rPr b="0" i="0" lang="en-US" sz="1450" u="none" cap="none" strike="noStrike">
                <a:solidFill>
                  <a:srgbClr val="B4C3DC"/>
                </a:solidFill>
                <a:latin typeface="Inter"/>
                <a:ea typeface="Inter"/>
                <a:cs typeface="Inter"/>
                <a:sym typeface="Inter"/>
              </a:rPr>
              <a:t>•  200–500ms blink clicks</a:t>
            </a:r>
            <a:endParaRPr/>
          </a:p>
          <a:p>
            <a:pPr indent="0" lvl="0" marL="0" marR="0" rtl="0" algn="l">
              <a:lnSpc>
                <a:spcPct val="100000"/>
              </a:lnSpc>
              <a:spcBef>
                <a:spcPts val="600"/>
              </a:spcBef>
              <a:spcAft>
                <a:spcPts val="0"/>
              </a:spcAft>
              <a:buNone/>
            </a:pPr>
            <a:r>
              <a:rPr b="0" i="0" lang="en-US" sz="1450" u="none" cap="none" strike="noStrike">
                <a:solidFill>
                  <a:srgbClr val="B4C3DC"/>
                </a:solidFill>
                <a:latin typeface="Inter"/>
                <a:ea typeface="Inter"/>
                <a:cs typeface="Inter"/>
                <a:sym typeface="Inter"/>
              </a:rPr>
              <a:t>•  Magnet pivot &amp; 2–3s setup</a:t>
            </a:r>
            <a:endParaRPr/>
          </a:p>
        </p:txBody>
      </p:sp>
      <p:sp>
        <p:nvSpPr>
          <p:cNvPr id="35" name="Google Shape;35;p35"/>
          <p:cNvSpPr/>
          <p:nvPr/>
        </p:nvSpPr>
        <p:spPr>
          <a:xfrm>
            <a:off x="9034272" y="3401568"/>
            <a:ext cx="2651760" cy="2971800"/>
          </a:xfrm>
          <a:prstGeom prst="roundRect">
            <a:avLst>
              <a:gd fmla="val 16667" name="adj"/>
            </a:avLst>
          </a:prstGeom>
          <a:solidFill>
            <a:srgbClr val="0E1626"/>
          </a:solidFill>
          <a:ln cap="flat" cmpd="sng" w="19050">
            <a:solidFill>
              <a:srgbClr val="1E305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 name="Google Shape;36;p35"/>
          <p:cNvSpPr txBox="1"/>
          <p:nvPr/>
        </p:nvSpPr>
        <p:spPr>
          <a:xfrm>
            <a:off x="9217152" y="3566160"/>
            <a:ext cx="2286000" cy="38404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50" u="none" cap="none" strike="noStrike">
                <a:solidFill>
                  <a:srgbClr val="00E5FF"/>
                </a:solidFill>
                <a:latin typeface="Inter"/>
                <a:ea typeface="Inter"/>
                <a:cs typeface="Inter"/>
                <a:sym typeface="Inter"/>
              </a:rPr>
              <a:t>PART 04</a:t>
            </a:r>
            <a:endParaRPr/>
          </a:p>
        </p:txBody>
      </p:sp>
      <p:sp>
        <p:nvSpPr>
          <p:cNvPr id="37" name="Google Shape;37;p35"/>
          <p:cNvSpPr txBox="1"/>
          <p:nvPr/>
        </p:nvSpPr>
        <p:spPr>
          <a:xfrm>
            <a:off x="9217152" y="3950208"/>
            <a:ext cx="2286000" cy="5943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F5F8FF"/>
                </a:solidFill>
                <a:latin typeface="Inter"/>
                <a:ea typeface="Inter"/>
                <a:cs typeface="Inter"/>
                <a:sym typeface="Inter"/>
              </a:rPr>
              <a:t>Universal App &amp; Demo</a:t>
            </a:r>
            <a:endParaRPr/>
          </a:p>
        </p:txBody>
      </p:sp>
      <p:sp>
        <p:nvSpPr>
          <p:cNvPr id="38" name="Google Shape;38;p35"/>
          <p:cNvSpPr txBox="1"/>
          <p:nvPr/>
        </p:nvSpPr>
        <p:spPr>
          <a:xfrm>
            <a:off x="9217152" y="4608576"/>
            <a:ext cx="2286000" cy="16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50" u="none" cap="none" strike="noStrike">
                <a:solidFill>
                  <a:srgbClr val="B4C3DC"/>
                </a:solidFill>
                <a:latin typeface="Inter"/>
                <a:ea typeface="Inter"/>
                <a:cs typeface="Inter"/>
                <a:sym typeface="Inter"/>
              </a:rPr>
              <a:t>•  4 core tiles + Settings Hub</a:t>
            </a:r>
            <a:endParaRPr/>
          </a:p>
          <a:p>
            <a:pPr indent="0" lvl="0" marL="0" marR="0" rtl="0" algn="l">
              <a:lnSpc>
                <a:spcPct val="100000"/>
              </a:lnSpc>
              <a:spcBef>
                <a:spcPts val="600"/>
              </a:spcBef>
              <a:spcAft>
                <a:spcPts val="0"/>
              </a:spcAft>
              <a:buNone/>
            </a:pPr>
            <a:r>
              <a:rPr b="0" i="0" lang="en-US" sz="1450" u="none" cap="none" strike="noStrike">
                <a:solidFill>
                  <a:srgbClr val="B4C3DC"/>
                </a:solidFill>
                <a:latin typeface="Inter"/>
                <a:ea typeface="Inter"/>
                <a:cs typeface="Inter"/>
                <a:sym typeface="Inter"/>
              </a:rPr>
              <a:t>•  360° Rehab &amp; Gaze Arcade</a:t>
            </a:r>
            <a:endParaRPr/>
          </a:p>
          <a:p>
            <a:pPr indent="0" lvl="0" marL="0" marR="0" rtl="0" algn="l">
              <a:lnSpc>
                <a:spcPct val="100000"/>
              </a:lnSpc>
              <a:spcBef>
                <a:spcPts val="600"/>
              </a:spcBef>
              <a:spcAft>
                <a:spcPts val="0"/>
              </a:spcAft>
              <a:buNone/>
            </a:pPr>
            <a:r>
              <a:rPr b="0" i="0" lang="en-US" sz="1450" u="none" cap="none" strike="noStrike">
                <a:solidFill>
                  <a:srgbClr val="B4C3DC"/>
                </a:solidFill>
                <a:latin typeface="Inter"/>
                <a:ea typeface="Inter"/>
                <a:cs typeface="Inter"/>
                <a:sym typeface="Inter"/>
              </a:rPr>
              <a:t>•  3-minute live stage demo</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p2"/>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45" name="Google Shape;45;p2"/>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 name="Google Shape;46;p2"/>
          <p:cNvSpPr/>
          <p:nvPr/>
        </p:nvSpPr>
        <p:spPr>
          <a:xfrm>
            <a:off x="2497974" y="3081251"/>
            <a:ext cx="8128462" cy="12801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6000"/>
              <a:buFont typeface="Arial"/>
              <a:buNone/>
            </a:pPr>
            <a:r>
              <a:rPr b="1" i="0" lang="en-US" sz="6000" u="none" cap="none" strike="noStrike">
                <a:solidFill>
                  <a:srgbClr val="FFFFFF"/>
                </a:solidFill>
                <a:latin typeface="Inter"/>
                <a:ea typeface="Inter"/>
                <a:cs typeface="Inter"/>
                <a:sym typeface="Inter"/>
              </a:rPr>
              <a:t>How it All Started….</a:t>
            </a:r>
            <a:endParaRPr b="0" i="0" sz="6000" u="none" cap="none" strike="noStrike">
              <a:solidFill>
                <a:schemeClr val="dk1"/>
              </a:solidFill>
              <a:latin typeface="Calibri"/>
              <a:ea typeface="Calibri"/>
              <a:cs typeface="Calibri"/>
              <a:sym typeface="Calibri"/>
            </a:endParaRP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pic>
        <p:nvPicPr>
          <p:cNvPr id="51" name="Google Shape;51;p3"/>
          <p:cNvPicPr preferRelativeResize="0"/>
          <p:nvPr/>
        </p:nvPicPr>
        <p:blipFill rotWithShape="1">
          <a:blip r:embed="rId3">
            <a:alphaModFix/>
          </a:blip>
          <a:srcRect b="0" l="0" r="0" t="0"/>
          <a:stretch/>
        </p:blipFill>
        <p:spPr>
          <a:xfrm>
            <a:off x="3993572" y="725879"/>
            <a:ext cx="4204855" cy="5406242"/>
          </a:xfrm>
          <a:prstGeom prst="rect">
            <a:avLst/>
          </a:prstGeom>
          <a:noFill/>
          <a:ln>
            <a:noFill/>
          </a:ln>
        </p:spPr>
      </p:pic>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5"/>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58" name="Google Shape;58;p5"/>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 name="Google Shape;59;p5"/>
          <p:cNvSpPr/>
          <p:nvPr/>
        </p:nvSpPr>
        <p:spPr>
          <a:xfrm>
            <a:off x="502920" y="868680"/>
            <a:ext cx="1051560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400" u="none" cap="none" strike="noStrike">
                <a:solidFill>
                  <a:srgbClr val="22D3EE"/>
                </a:solidFill>
                <a:latin typeface="Inter"/>
                <a:ea typeface="Inter"/>
                <a:cs typeface="Inter"/>
                <a:sym typeface="Inter"/>
              </a:rPr>
              <a:t>STAKEHOLDERS &amp; THE NEED  ·  WHO NEEDS IRIS</a:t>
            </a:r>
            <a:endParaRPr b="0" i="0" sz="1100" u="none" cap="none" strike="noStrike">
              <a:solidFill>
                <a:schemeClr val="dk1"/>
              </a:solidFill>
              <a:latin typeface="Calibri"/>
              <a:ea typeface="Calibri"/>
              <a:cs typeface="Calibri"/>
              <a:sym typeface="Calibri"/>
            </a:endParaRPr>
          </a:p>
        </p:txBody>
      </p:sp>
      <p:sp>
        <p:nvSpPr>
          <p:cNvPr id="60" name="Google Shape;60;p5"/>
          <p:cNvSpPr/>
          <p:nvPr/>
        </p:nvSpPr>
        <p:spPr>
          <a:xfrm>
            <a:off x="502920" y="1280160"/>
            <a:ext cx="11155680" cy="12801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4400"/>
              <a:buFont typeface="Arial"/>
              <a:buNone/>
            </a:pPr>
            <a:r>
              <a:rPr b="1" i="0" lang="en-US" sz="4400" u="none" cap="none" strike="noStrike">
                <a:solidFill>
                  <a:srgbClr val="FFFFFF"/>
                </a:solidFill>
                <a:latin typeface="Inter"/>
                <a:ea typeface="Inter"/>
                <a:cs typeface="Inter"/>
                <a:sym typeface="Inter"/>
              </a:rPr>
              <a:t>Trapped inside a body that won't move.</a:t>
            </a:r>
            <a:endParaRPr b="0" i="0" sz="4400" u="none" cap="none" strike="noStrike">
              <a:solidFill>
                <a:schemeClr val="dk1"/>
              </a:solidFill>
              <a:latin typeface="Calibri"/>
              <a:ea typeface="Calibri"/>
              <a:cs typeface="Calibri"/>
              <a:sym typeface="Calibri"/>
            </a:endParaRPr>
          </a:p>
        </p:txBody>
      </p:sp>
      <p:sp>
        <p:nvSpPr>
          <p:cNvPr id="61" name="Google Shape;61;p5"/>
          <p:cNvSpPr/>
          <p:nvPr/>
        </p:nvSpPr>
        <p:spPr>
          <a:xfrm>
            <a:off x="502920" y="2337253"/>
            <a:ext cx="10515600" cy="114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C5D6"/>
              </a:buClr>
              <a:buSzPts val="2400"/>
              <a:buFont typeface="Calibri"/>
              <a:buNone/>
            </a:pPr>
            <a:r>
              <a:rPr b="0" i="0" lang="en-US" sz="1700" u="none" cap="none" strike="noStrike">
                <a:solidFill>
                  <a:srgbClr val="B4C3DC"/>
                </a:solidFill>
                <a:latin typeface="Inter"/>
                <a:ea typeface="Inter"/>
                <a:cs typeface="Inter"/>
                <a:sym typeface="Inter"/>
              </a:rPr>
              <a:t>•  Locked-in syndrome, ALS, stroke &amp; spinal injury trap a conscious mind in a paralyzed body.</a:t>
            </a:r>
            <a:endParaRPr b="0" i="0" sz="24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700" u="none" cap="none" strike="noStrike">
                <a:solidFill>
                  <a:srgbClr val="B4C3DC"/>
                </a:solidFill>
                <a:latin typeface="Inter"/>
                <a:ea typeface="Inter"/>
                <a:cs typeface="Inter"/>
                <a:sym typeface="Inter"/>
              </a:rPr>
              <a:t>•  Stakeholders: Non-verbal patients, family caregivers, neurology wards &amp; rural rehab clinics.</a:t>
            </a:r>
            <a:endParaRPr/>
          </a:p>
          <a:p>
            <a:pPr indent="0" lvl="0" marL="0" marR="0" rtl="0" algn="l">
              <a:lnSpc>
                <a:spcPct val="100000"/>
              </a:lnSpc>
              <a:spcBef>
                <a:spcPts val="500"/>
              </a:spcBef>
              <a:spcAft>
                <a:spcPts val="0"/>
              </a:spcAft>
              <a:buNone/>
            </a:pPr>
            <a:r>
              <a:rPr b="0" i="0" lang="en-US" sz="1700" u="none" cap="none" strike="noStrike">
                <a:solidFill>
                  <a:srgbClr val="B4C3DC"/>
                </a:solidFill>
                <a:latin typeface="Inter"/>
                <a:ea typeface="Inter"/>
                <a:cs typeface="Inter"/>
                <a:sym typeface="Inter"/>
              </a:rPr>
              <a:t>•  Only two voluntary signals reliably remain intact: head movement and eye blinks.</a:t>
            </a:r>
            <a:endParaRPr/>
          </a:p>
        </p:txBody>
      </p:sp>
      <p:sp>
        <p:nvSpPr>
          <p:cNvPr id="62" name="Google Shape;62;p5"/>
          <p:cNvSpPr/>
          <p:nvPr/>
        </p:nvSpPr>
        <p:spPr>
          <a:xfrm>
            <a:off x="449428" y="3611880"/>
            <a:ext cx="3520440" cy="2468880"/>
          </a:xfrm>
          <a:prstGeom prst="roundRect">
            <a:avLst>
              <a:gd fmla="val 2963"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 name="Google Shape;63;p5"/>
          <p:cNvSpPr/>
          <p:nvPr/>
        </p:nvSpPr>
        <p:spPr>
          <a:xfrm>
            <a:off x="723748" y="4069080"/>
            <a:ext cx="128016" cy="128016"/>
          </a:xfrm>
          <a:prstGeom prst="ellipse">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 name="Google Shape;64;p5"/>
          <p:cNvSpPr/>
          <p:nvPr/>
        </p:nvSpPr>
        <p:spPr>
          <a:xfrm>
            <a:off x="723748" y="4114800"/>
            <a:ext cx="2971800" cy="10058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5200"/>
              <a:buFont typeface="Arial"/>
              <a:buNone/>
            </a:pPr>
            <a:r>
              <a:rPr b="1" i="0" lang="en-US" sz="5200" u="none" cap="none" strike="noStrike">
                <a:solidFill>
                  <a:srgbClr val="22D3EE"/>
                </a:solidFill>
                <a:latin typeface="Inter"/>
                <a:ea typeface="Inter"/>
                <a:cs typeface="Inter"/>
                <a:sym typeface="Inter"/>
              </a:rPr>
              <a:t>₹25L+</a:t>
            </a:r>
            <a:endParaRPr b="0" i="0" sz="5200" u="none" cap="none" strike="noStrike">
              <a:solidFill>
                <a:schemeClr val="dk1"/>
              </a:solidFill>
              <a:latin typeface="Calibri"/>
              <a:ea typeface="Calibri"/>
              <a:cs typeface="Calibri"/>
              <a:sym typeface="Calibri"/>
            </a:endParaRPr>
          </a:p>
        </p:txBody>
      </p:sp>
      <p:sp>
        <p:nvSpPr>
          <p:cNvPr id="65" name="Google Shape;65;p5"/>
          <p:cNvSpPr/>
          <p:nvPr/>
        </p:nvSpPr>
        <p:spPr>
          <a:xfrm>
            <a:off x="723748" y="5193792"/>
            <a:ext cx="2971800" cy="7772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100"/>
              <a:buFont typeface="Calibri"/>
              <a:buNone/>
            </a:pPr>
            <a:r>
              <a:rPr b="1" i="0" lang="en-US" sz="1550" u="none" cap="none" strike="noStrike">
                <a:solidFill>
                  <a:srgbClr val="CDD5E2"/>
                </a:solidFill>
                <a:latin typeface="Inter"/>
                <a:ea typeface="Inter"/>
                <a:cs typeface="Inter"/>
                <a:sym typeface="Inter"/>
              </a:rPr>
              <a:t>Cost of a commercial eye-tracker like Tobii</a:t>
            </a:r>
            <a:endParaRPr b="0" i="0" sz="1100" u="none" cap="none" strike="noStrike">
              <a:solidFill>
                <a:schemeClr val="dk1"/>
              </a:solidFill>
              <a:latin typeface="Calibri"/>
              <a:ea typeface="Calibri"/>
              <a:cs typeface="Calibri"/>
              <a:sym typeface="Calibri"/>
            </a:endParaRPr>
          </a:p>
        </p:txBody>
      </p:sp>
      <p:sp>
        <p:nvSpPr>
          <p:cNvPr id="66" name="Google Shape;66;p5"/>
          <p:cNvSpPr/>
          <p:nvPr/>
        </p:nvSpPr>
        <p:spPr>
          <a:xfrm>
            <a:off x="4335628" y="3611880"/>
            <a:ext cx="3520440" cy="2468880"/>
          </a:xfrm>
          <a:prstGeom prst="roundRect">
            <a:avLst>
              <a:gd fmla="val 2963"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 name="Google Shape;67;p5"/>
          <p:cNvSpPr/>
          <p:nvPr/>
        </p:nvSpPr>
        <p:spPr>
          <a:xfrm>
            <a:off x="4609948" y="4069080"/>
            <a:ext cx="128016" cy="128016"/>
          </a:xfrm>
          <a:prstGeom prst="ellipse">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 name="Google Shape;68;p5"/>
          <p:cNvSpPr/>
          <p:nvPr/>
        </p:nvSpPr>
        <p:spPr>
          <a:xfrm>
            <a:off x="4609948" y="4114800"/>
            <a:ext cx="2971800" cy="10058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5200"/>
              <a:buFont typeface="Arial"/>
              <a:buNone/>
            </a:pPr>
            <a:r>
              <a:rPr b="1" i="0" lang="en-US" sz="5200" u="none" cap="none" strike="noStrike">
                <a:solidFill>
                  <a:srgbClr val="22D3EE"/>
                </a:solidFill>
                <a:latin typeface="Inter"/>
                <a:ea typeface="Inter"/>
                <a:cs typeface="Inter"/>
                <a:sym typeface="Inter"/>
              </a:rPr>
              <a:t>240K+</a:t>
            </a:r>
            <a:endParaRPr b="0" i="0" sz="5200" u="none" cap="none" strike="noStrike">
              <a:solidFill>
                <a:schemeClr val="dk1"/>
              </a:solidFill>
              <a:latin typeface="Calibri"/>
              <a:ea typeface="Calibri"/>
              <a:cs typeface="Calibri"/>
              <a:sym typeface="Calibri"/>
            </a:endParaRPr>
          </a:p>
        </p:txBody>
      </p:sp>
      <p:sp>
        <p:nvSpPr>
          <p:cNvPr id="69" name="Google Shape;69;p5"/>
          <p:cNvSpPr/>
          <p:nvPr/>
        </p:nvSpPr>
        <p:spPr>
          <a:xfrm>
            <a:off x="4609948" y="5193792"/>
            <a:ext cx="2971800" cy="7772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100"/>
              <a:buFont typeface="Calibri"/>
              <a:buNone/>
            </a:pPr>
            <a:r>
              <a:rPr b="1" i="0" lang="en-US" sz="1550" u="none" cap="none" strike="noStrike">
                <a:solidFill>
                  <a:srgbClr val="CDD5E2"/>
                </a:solidFill>
                <a:latin typeface="Inter"/>
                <a:ea typeface="Inter"/>
                <a:cs typeface="Inter"/>
                <a:sym typeface="Inter"/>
              </a:rPr>
              <a:t>Indians living with severe motor disabilities</a:t>
            </a:r>
            <a:endParaRPr b="0" i="0" sz="1100" u="none" cap="none" strike="noStrike">
              <a:solidFill>
                <a:schemeClr val="dk1"/>
              </a:solidFill>
              <a:latin typeface="Calibri"/>
              <a:ea typeface="Calibri"/>
              <a:cs typeface="Calibri"/>
              <a:sym typeface="Calibri"/>
            </a:endParaRPr>
          </a:p>
        </p:txBody>
      </p:sp>
      <p:sp>
        <p:nvSpPr>
          <p:cNvPr id="70" name="Google Shape;70;p5"/>
          <p:cNvSpPr/>
          <p:nvPr/>
        </p:nvSpPr>
        <p:spPr>
          <a:xfrm>
            <a:off x="8221828" y="3611880"/>
            <a:ext cx="3520440" cy="2468880"/>
          </a:xfrm>
          <a:prstGeom prst="roundRect">
            <a:avLst>
              <a:gd fmla="val 2963"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 name="Google Shape;71;p5"/>
          <p:cNvSpPr/>
          <p:nvPr/>
        </p:nvSpPr>
        <p:spPr>
          <a:xfrm>
            <a:off x="8496148" y="4069080"/>
            <a:ext cx="128016" cy="128016"/>
          </a:xfrm>
          <a:prstGeom prst="ellipse">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 name="Google Shape;72;p5"/>
          <p:cNvSpPr/>
          <p:nvPr/>
        </p:nvSpPr>
        <p:spPr>
          <a:xfrm>
            <a:off x="8496148" y="4114800"/>
            <a:ext cx="2971800" cy="10058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5200"/>
              <a:buFont typeface="Arial"/>
              <a:buNone/>
            </a:pPr>
            <a:r>
              <a:rPr b="1" i="0" lang="en-US" sz="5200" u="none" cap="none" strike="noStrike">
                <a:solidFill>
                  <a:srgbClr val="22D3EE"/>
                </a:solidFill>
                <a:latin typeface="Inter"/>
                <a:ea typeface="Inter"/>
                <a:cs typeface="Inter"/>
                <a:sym typeface="Inter"/>
              </a:rPr>
              <a:t>0</a:t>
            </a:r>
            <a:endParaRPr b="0" i="0" sz="5200" u="none" cap="none" strike="noStrike">
              <a:solidFill>
                <a:schemeClr val="dk1"/>
              </a:solidFill>
              <a:latin typeface="Calibri"/>
              <a:ea typeface="Calibri"/>
              <a:cs typeface="Calibri"/>
              <a:sym typeface="Calibri"/>
            </a:endParaRPr>
          </a:p>
        </p:txBody>
      </p:sp>
      <p:sp>
        <p:nvSpPr>
          <p:cNvPr id="73" name="Google Shape;73;p5"/>
          <p:cNvSpPr/>
          <p:nvPr/>
        </p:nvSpPr>
        <p:spPr>
          <a:xfrm>
            <a:off x="8496148" y="5193792"/>
            <a:ext cx="2971800" cy="7772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100"/>
              <a:buFont typeface="Calibri"/>
              <a:buNone/>
            </a:pPr>
            <a:r>
              <a:rPr b="1" i="0" lang="en-US" sz="1550" u="none" cap="none" strike="noStrike">
                <a:solidFill>
                  <a:srgbClr val="CDD5E2"/>
                </a:solidFill>
                <a:latin typeface="Inter"/>
                <a:ea typeface="Inter"/>
                <a:cs typeface="Inter"/>
                <a:sym typeface="Inter"/>
              </a:rPr>
              <a:t>Reliable sub-₹2,000 options available today</a:t>
            </a:r>
            <a:endParaRPr b="0" i="0" sz="1100" u="none" cap="none" strike="noStrike">
              <a:solidFill>
                <a:schemeClr val="dk1"/>
              </a:solidFill>
              <a:latin typeface="Calibri"/>
              <a:ea typeface="Calibri"/>
              <a:cs typeface="Calibri"/>
              <a:sym typeface="Calibri"/>
            </a:endParaRPr>
          </a:p>
        </p:txBody>
      </p:sp>
      <p:sp>
        <p:nvSpPr>
          <p:cNvPr id="74" name="Google Shape;74;p5"/>
          <p:cNvSpPr txBox="1"/>
          <p:nvPr/>
        </p:nvSpPr>
        <p:spPr>
          <a:xfrm>
            <a:off x="502920" y="6363391"/>
            <a:ext cx="11155680"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1" lang="en-US" sz="1250" u="none" cap="none" strike="noStrike">
                <a:solidFill>
                  <a:srgbClr val="94A3B8"/>
                </a:solidFill>
                <a:latin typeface="Inter"/>
                <a:ea typeface="Inter"/>
                <a:cs typeface="Inter"/>
                <a:sym typeface="Inter"/>
              </a:rPr>
              <a:t>Sources: Tobii Dynavox I-Series retail India 2024 (incl. import duties); Census of India 2011 (Disability Data); WHO 2024 (Neurological Conditions)</a:t>
            </a:r>
            <a:endParaRPr b="0" i="0" sz="1400" u="none" cap="none" strike="noStrike">
              <a:solidFill>
                <a:srgbClr val="000000"/>
              </a:solidFill>
              <a:latin typeface="Arial"/>
              <a:ea typeface="Arial"/>
              <a:cs typeface="Arial"/>
              <a:sym typeface="Arial"/>
            </a:endParaRPr>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6"/>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81" name="Google Shape;81;p6"/>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 name="Google Shape;82;p6"/>
          <p:cNvSpPr/>
          <p:nvPr/>
        </p:nvSpPr>
        <p:spPr>
          <a:xfrm>
            <a:off x="502920" y="868680"/>
            <a:ext cx="1051560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400" u="none" cap="none" strike="noStrike">
                <a:solidFill>
                  <a:srgbClr val="22D3EE"/>
                </a:solidFill>
                <a:latin typeface="Inter"/>
                <a:ea typeface="Inter"/>
                <a:cs typeface="Inter"/>
                <a:sym typeface="Inter"/>
              </a:rPr>
              <a:t>THE NUMBERS</a:t>
            </a:r>
            <a:endParaRPr b="0" i="0" sz="1100" u="none" cap="none" strike="noStrike">
              <a:solidFill>
                <a:schemeClr val="dk1"/>
              </a:solidFill>
              <a:latin typeface="Calibri"/>
              <a:ea typeface="Calibri"/>
              <a:cs typeface="Calibri"/>
              <a:sym typeface="Calibri"/>
            </a:endParaRPr>
          </a:p>
        </p:txBody>
      </p:sp>
      <p:sp>
        <p:nvSpPr>
          <p:cNvPr id="83" name="Google Shape;83;p6"/>
          <p:cNvSpPr/>
          <p:nvPr/>
        </p:nvSpPr>
        <p:spPr>
          <a:xfrm>
            <a:off x="457200" y="1371600"/>
            <a:ext cx="109728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4000"/>
              <a:buFont typeface="Arial"/>
              <a:buNone/>
            </a:pPr>
            <a:r>
              <a:rPr b="1" i="0" lang="en-US" sz="4000" u="none" cap="none" strike="noStrike">
                <a:solidFill>
                  <a:srgbClr val="FFFFFF"/>
                </a:solidFill>
                <a:latin typeface="Inter"/>
                <a:ea typeface="Inter"/>
                <a:cs typeface="Inter"/>
                <a:sym typeface="Inter"/>
              </a:rPr>
              <a:t>How many need this.</a:t>
            </a:r>
            <a:endParaRPr b="0" i="0" sz="4000" u="none" cap="none" strike="noStrike">
              <a:solidFill>
                <a:schemeClr val="dk1"/>
              </a:solidFill>
              <a:latin typeface="Calibri"/>
              <a:ea typeface="Calibri"/>
              <a:cs typeface="Calibri"/>
              <a:sym typeface="Calibri"/>
            </a:endParaRPr>
          </a:p>
        </p:txBody>
      </p:sp>
      <p:sp>
        <p:nvSpPr>
          <p:cNvPr id="84" name="Google Shape;84;p6"/>
          <p:cNvSpPr/>
          <p:nvPr/>
        </p:nvSpPr>
        <p:spPr>
          <a:xfrm>
            <a:off x="502920" y="2194560"/>
            <a:ext cx="1051560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C5D6"/>
              </a:buClr>
              <a:buSzPts val="2400"/>
              <a:buFont typeface="Calibri"/>
              <a:buNone/>
            </a:pPr>
            <a:r>
              <a:rPr b="0" i="1" lang="en-US" sz="2400" u="none" cap="none" strike="noStrike">
                <a:solidFill>
                  <a:srgbClr val="B7C5D6"/>
                </a:solidFill>
                <a:latin typeface="Inter"/>
                <a:ea typeface="Inter"/>
                <a:cs typeface="Inter"/>
                <a:sym typeface="Inter"/>
              </a:rPr>
              <a:t>ALS and locked-in syndrome aren't rare. They're just invisible.</a:t>
            </a:r>
            <a:endParaRPr b="0" i="0" sz="2400" u="none" cap="none" strike="noStrike">
              <a:solidFill>
                <a:schemeClr val="dk1"/>
              </a:solidFill>
              <a:latin typeface="Calibri"/>
              <a:ea typeface="Calibri"/>
              <a:cs typeface="Calibri"/>
              <a:sym typeface="Calibri"/>
            </a:endParaRPr>
          </a:p>
        </p:txBody>
      </p:sp>
      <p:graphicFrame>
        <p:nvGraphicFramePr>
          <p:cNvPr id="85" name="Google Shape;85;p6"/>
          <p:cNvGraphicFramePr/>
          <p:nvPr/>
        </p:nvGraphicFramePr>
        <p:xfrm>
          <a:off x="502920" y="2926080"/>
          <a:ext cx="7772400" cy="3200400"/>
        </p:xfrm>
        <a:graphic>
          <a:graphicData uri="http://schemas.openxmlformats.org/drawingml/2006/chart">
            <c:chart r:id="rId3"/>
          </a:graphicData>
        </a:graphic>
      </p:graphicFrame>
      <p:sp>
        <p:nvSpPr>
          <p:cNvPr id="86" name="Google Shape;86;p6"/>
          <p:cNvSpPr/>
          <p:nvPr/>
        </p:nvSpPr>
        <p:spPr>
          <a:xfrm>
            <a:off x="8595360" y="2926080"/>
            <a:ext cx="3108960" cy="3200400"/>
          </a:xfrm>
          <a:prstGeom prst="roundRect">
            <a:avLst>
              <a:gd fmla="val 2353"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 name="Google Shape;87;p6"/>
          <p:cNvSpPr/>
          <p:nvPr/>
        </p:nvSpPr>
        <p:spPr>
          <a:xfrm>
            <a:off x="8869680" y="3200400"/>
            <a:ext cx="365760" cy="365760"/>
          </a:xfrm>
          <a:prstGeom prst="ellipse">
            <a:avLst/>
          </a:prstGeom>
          <a:solidFill>
            <a:srgbClr val="FFB02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 name="Google Shape;88;p6"/>
          <p:cNvSpPr/>
          <p:nvPr/>
        </p:nvSpPr>
        <p:spPr>
          <a:xfrm>
            <a:off x="8869680" y="3200400"/>
            <a:ext cx="36576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A2E"/>
              </a:buClr>
              <a:buSzPts val="1600"/>
              <a:buFont typeface="Arial"/>
              <a:buNone/>
            </a:pPr>
            <a:r>
              <a:rPr b="1" i="0" lang="en-US" sz="1600" u="none" cap="none" strike="noStrike">
                <a:solidFill>
                  <a:srgbClr val="0B1A2E"/>
                </a:solidFill>
                <a:latin typeface="Inter"/>
                <a:ea typeface="Inter"/>
                <a:cs typeface="Inter"/>
                <a:sym typeface="Inter"/>
              </a:rPr>
              <a:t>!</a:t>
            </a:r>
            <a:endParaRPr b="0" i="0" sz="1600" u="none" cap="none" strike="noStrike">
              <a:solidFill>
                <a:schemeClr val="dk1"/>
              </a:solidFill>
              <a:latin typeface="Calibri"/>
              <a:ea typeface="Calibri"/>
              <a:cs typeface="Calibri"/>
              <a:sym typeface="Calibri"/>
            </a:endParaRPr>
          </a:p>
        </p:txBody>
      </p:sp>
      <p:sp>
        <p:nvSpPr>
          <p:cNvPr id="89" name="Google Shape;89;p6"/>
          <p:cNvSpPr/>
          <p:nvPr/>
        </p:nvSpPr>
        <p:spPr>
          <a:xfrm>
            <a:off x="9372600" y="3200400"/>
            <a:ext cx="21031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B020"/>
              </a:buClr>
              <a:buSzPts val="900"/>
              <a:buFont typeface="Calibri"/>
              <a:buNone/>
            </a:pPr>
            <a:r>
              <a:rPr b="1" i="0" lang="en-US" sz="1300" u="none" cap="none" strike="noStrike">
                <a:solidFill>
                  <a:srgbClr val="FFB020"/>
                </a:solidFill>
                <a:latin typeface="Inter"/>
                <a:ea typeface="Inter"/>
                <a:cs typeface="Inter"/>
                <a:sym typeface="Inter"/>
              </a:rPr>
              <a:t>CONSERVATIVE ESTIMATES</a:t>
            </a:r>
            <a:endParaRPr b="0" i="0" sz="900" u="none" cap="none" strike="noStrike">
              <a:solidFill>
                <a:schemeClr val="dk1"/>
              </a:solidFill>
              <a:latin typeface="Calibri"/>
              <a:ea typeface="Calibri"/>
              <a:cs typeface="Calibri"/>
              <a:sym typeface="Calibri"/>
            </a:endParaRPr>
          </a:p>
        </p:txBody>
      </p:sp>
      <p:sp>
        <p:nvSpPr>
          <p:cNvPr id="90" name="Google Shape;90;p6"/>
          <p:cNvSpPr/>
          <p:nvPr/>
        </p:nvSpPr>
        <p:spPr>
          <a:xfrm>
            <a:off x="8869680" y="3749040"/>
            <a:ext cx="25603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Arial"/>
              <a:buNone/>
            </a:pPr>
            <a:r>
              <a:rPr b="1" i="0" lang="en-US" sz="1800" u="none" cap="none" strike="noStrike">
                <a:solidFill>
                  <a:srgbClr val="FFFFFF"/>
                </a:solidFill>
                <a:latin typeface="Inter"/>
                <a:ea typeface="Inter"/>
                <a:cs typeface="Inter"/>
                <a:sym typeface="Inter"/>
              </a:rPr>
              <a:t>Real numbers are higher.</a:t>
            </a:r>
            <a:endParaRPr b="0" i="0" sz="1400" u="none" cap="none" strike="noStrike">
              <a:solidFill>
                <a:schemeClr val="dk1"/>
              </a:solidFill>
              <a:latin typeface="Calibri"/>
              <a:ea typeface="Calibri"/>
              <a:cs typeface="Calibri"/>
              <a:sym typeface="Calibri"/>
            </a:endParaRPr>
          </a:p>
        </p:txBody>
      </p:sp>
      <p:sp>
        <p:nvSpPr>
          <p:cNvPr id="91" name="Google Shape;91;p6"/>
          <p:cNvSpPr/>
          <p:nvPr/>
        </p:nvSpPr>
        <p:spPr>
          <a:xfrm>
            <a:off x="8869680" y="4160520"/>
            <a:ext cx="2651760" cy="2057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400"/>
              <a:buFont typeface="Calibri"/>
              <a:buNone/>
            </a:pPr>
            <a:r>
              <a:rPr b="0" i="0" lang="en-US" sz="1500" u="none" cap="none" strike="noStrike">
                <a:solidFill>
                  <a:srgbClr val="B4C3DC"/>
                </a:solidFill>
                <a:latin typeface="Inter"/>
                <a:ea typeface="Inter"/>
                <a:cs typeface="Inter"/>
                <a:sym typeface="Inter"/>
              </a:rPr>
              <a:t>•  Most rural cases go undiagnosed</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700"/>
              </a:spcBef>
              <a:spcAft>
                <a:spcPts val="0"/>
              </a:spcAft>
              <a:buNone/>
            </a:pPr>
            <a:r>
              <a:rPr b="0" i="0" lang="en-US" sz="1500" u="none" cap="none" strike="noStrike">
                <a:solidFill>
                  <a:srgbClr val="B4C3DC"/>
                </a:solidFill>
                <a:latin typeface="Inter"/>
                <a:ea typeface="Inter"/>
                <a:cs typeface="Inter"/>
                <a:sym typeface="Inter"/>
              </a:rPr>
              <a:t>•  ALS: ~4 per 100,000 population</a:t>
            </a:r>
            <a:endParaRPr/>
          </a:p>
          <a:p>
            <a:pPr indent="0" lvl="0" marL="0" marR="0" rtl="0" algn="l">
              <a:lnSpc>
                <a:spcPct val="100000"/>
              </a:lnSpc>
              <a:spcBef>
                <a:spcPts val="700"/>
              </a:spcBef>
              <a:spcAft>
                <a:spcPts val="0"/>
              </a:spcAft>
              <a:buNone/>
            </a:pPr>
            <a:r>
              <a:rPr b="0" i="0" lang="en-US" sz="1500" u="none" cap="none" strike="noStrike">
                <a:solidFill>
                  <a:srgbClr val="B4C3DC"/>
                </a:solidFill>
                <a:latin typeface="Inter"/>
                <a:ea typeface="Inter"/>
                <a:cs typeface="Inter"/>
                <a:sym typeface="Inter"/>
              </a:rPr>
              <a:t>•  1.5M+ severe paralysis cases in India</a:t>
            </a:r>
            <a:endParaRPr/>
          </a:p>
          <a:p>
            <a:pPr indent="0" lvl="0" marL="0" marR="0" rtl="0" algn="l">
              <a:lnSpc>
                <a:spcPct val="100000"/>
              </a:lnSpc>
              <a:spcBef>
                <a:spcPts val="700"/>
              </a:spcBef>
              <a:spcAft>
                <a:spcPts val="0"/>
              </a:spcAft>
              <a:buNone/>
            </a:pPr>
            <a:r>
              <a:rPr b="0" i="0" lang="en-US" sz="1500" u="none" cap="none" strike="noStrike">
                <a:solidFill>
                  <a:srgbClr val="B4C3DC"/>
                </a:solidFill>
                <a:latin typeface="Inter"/>
                <a:ea typeface="Inter"/>
                <a:cs typeface="Inter"/>
                <a:sym typeface="Inter"/>
              </a:rPr>
              <a:t>•  Zero affordable trackers exist today</a:t>
            </a:r>
            <a:endParaRPr/>
          </a:p>
        </p:txBody>
      </p:sp>
      <p:sp>
        <p:nvSpPr>
          <p:cNvPr id="92" name="Google Shape;92;p6"/>
          <p:cNvSpPr txBox="1"/>
          <p:nvPr/>
        </p:nvSpPr>
        <p:spPr>
          <a:xfrm>
            <a:off x="502920" y="6321825"/>
            <a:ext cx="11155680" cy="25391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1" lang="en-US" sz="1250" u="none" cap="none" strike="noStrike">
                <a:solidFill>
                  <a:srgbClr val="94A3B8"/>
                </a:solidFill>
                <a:latin typeface="Inter"/>
                <a:ea typeface="Inter"/>
                <a:cs typeface="Inter"/>
                <a:sym typeface="Inter"/>
              </a:rPr>
              <a:t>Sources: Wolfson et al. 2023, Global Prevalence and Incidence of ALS (NIH/PMC); Nalini 2008 (ScienceDirect); Orphanet 2023; WHO 2024 (Spinal Cord Injury); Frontiers in Neurology 2023 (Liu et al.)</a:t>
            </a:r>
            <a:endParaRPr b="0" i="0" sz="1400" u="none" cap="none" strike="noStrike">
              <a:solidFill>
                <a:srgbClr val="000000"/>
              </a:solidFill>
              <a:latin typeface="Arial"/>
              <a:ea typeface="Arial"/>
              <a:cs typeface="Arial"/>
              <a:sym typeface="Arial"/>
            </a:endParaRPr>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pic>
        <p:nvPicPr>
          <p:cNvPr id="98" name="Google Shape;98;p7"/>
          <p:cNvPicPr preferRelativeResize="0"/>
          <p:nvPr/>
        </p:nvPicPr>
        <p:blipFill rotWithShape="1">
          <a:blip r:embed="rId3">
            <a:alphaModFix/>
          </a:blip>
          <a:srcRect b="0" l="0" r="0" t="0"/>
          <a:stretch/>
        </p:blipFill>
        <p:spPr>
          <a:xfrm>
            <a:off x="830840" y="526904"/>
            <a:ext cx="10599160" cy="5879986"/>
          </a:xfrm>
          <a:prstGeom prst="rect">
            <a:avLst/>
          </a:prstGeom>
          <a:noFill/>
          <a:ln cap="flat" cmpd="sng" w="9525">
            <a:solidFill>
              <a:schemeClr val="lt1"/>
            </a:solidFill>
            <a:prstDash val="solid"/>
            <a:round/>
            <a:headEnd len="sm" w="sm" type="none"/>
            <a:tailEnd len="sm" w="sm" type="none"/>
          </a:ln>
        </p:spPr>
      </p:pic>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4"/>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105" name="Google Shape;105;p4"/>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6" name="Google Shape;106;p4"/>
          <p:cNvSpPr/>
          <p:nvPr/>
        </p:nvSpPr>
        <p:spPr>
          <a:xfrm>
            <a:off x="448056" y="1773936"/>
            <a:ext cx="3310128" cy="4379976"/>
          </a:xfrm>
          <a:prstGeom prst="roundRect">
            <a:avLst>
              <a:gd fmla="val 829" name="adj"/>
            </a:avLst>
          </a:prstGeom>
          <a:solidFill>
            <a:srgbClr val="FFFFFF"/>
          </a:solidFill>
          <a:ln>
            <a:noFill/>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7" name="Google Shape;107;p4"/>
          <p:cNvSpPr/>
          <p:nvPr/>
        </p:nvSpPr>
        <p:spPr>
          <a:xfrm>
            <a:off x="4023360" y="1371600"/>
            <a:ext cx="7315200" cy="1463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2D3EE"/>
              </a:buClr>
              <a:buSzPts val="9600"/>
              <a:buFont typeface="Arial"/>
              <a:buNone/>
            </a:pPr>
            <a:r>
              <a:rPr b="1" i="0" lang="en-US" sz="9600" u="none" cap="none" strike="noStrike">
                <a:solidFill>
                  <a:srgbClr val="22D3EE"/>
                </a:solidFill>
                <a:latin typeface="Inter"/>
                <a:ea typeface="Inter"/>
                <a:cs typeface="Inter"/>
                <a:sym typeface="Inter"/>
              </a:rPr>
              <a:t>IRIS</a:t>
            </a:r>
            <a:r>
              <a:rPr b="1" i="0" lang="en-US" sz="9600" u="none" cap="none" strike="noStrike">
                <a:solidFill>
                  <a:srgbClr val="FFFFFF"/>
                </a:solidFill>
                <a:latin typeface="Inter"/>
                <a:ea typeface="Inter"/>
                <a:cs typeface="Inter"/>
                <a:sym typeface="Inter"/>
              </a:rPr>
              <a:t>.</a:t>
            </a:r>
            <a:endParaRPr b="0" i="0" sz="9600" u="none" cap="none" strike="noStrike">
              <a:solidFill>
                <a:schemeClr val="dk1"/>
              </a:solidFill>
              <a:latin typeface="Calibri"/>
              <a:ea typeface="Calibri"/>
              <a:cs typeface="Calibri"/>
              <a:sym typeface="Calibri"/>
            </a:endParaRPr>
          </a:p>
        </p:txBody>
      </p:sp>
      <p:sp>
        <p:nvSpPr>
          <p:cNvPr id="108" name="Google Shape;108;p4"/>
          <p:cNvSpPr/>
          <p:nvPr/>
        </p:nvSpPr>
        <p:spPr>
          <a:xfrm>
            <a:off x="4023360" y="2880360"/>
            <a:ext cx="73152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DD5E2"/>
              </a:buClr>
              <a:buSzPts val="1800"/>
              <a:buFont typeface="Arial"/>
              <a:buNone/>
            </a:pPr>
            <a:r>
              <a:rPr b="0" i="1" lang="en-US" sz="1800" u="none" cap="none" strike="noStrike">
                <a:solidFill>
                  <a:srgbClr val="CDD5E2"/>
                </a:solidFill>
                <a:latin typeface="Inter"/>
                <a:ea typeface="Inter"/>
                <a:cs typeface="Inter"/>
                <a:sym typeface="Inter"/>
              </a:rPr>
              <a:t>Infrared Reflective Interface System</a:t>
            </a:r>
            <a:endParaRPr b="0" i="0" sz="1800" u="none" cap="none" strike="noStrike">
              <a:solidFill>
                <a:schemeClr val="dk1"/>
              </a:solidFill>
              <a:latin typeface="Calibri"/>
              <a:ea typeface="Calibri"/>
              <a:cs typeface="Calibri"/>
              <a:sym typeface="Calibri"/>
            </a:endParaRPr>
          </a:p>
        </p:txBody>
      </p:sp>
      <p:sp>
        <p:nvSpPr>
          <p:cNvPr id="109" name="Google Shape;109;p4"/>
          <p:cNvSpPr/>
          <p:nvPr/>
        </p:nvSpPr>
        <p:spPr>
          <a:xfrm>
            <a:off x="4023360" y="3383280"/>
            <a:ext cx="73152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DB1C7"/>
              </a:buClr>
              <a:buSzPts val="1800"/>
              <a:buFont typeface="Calibri"/>
              <a:buNone/>
            </a:pPr>
            <a:r>
              <a:rPr b="0" i="0" lang="en-US" sz="1800" u="none" cap="none" strike="noStrike">
                <a:solidFill>
                  <a:srgbClr val="9DB1C7"/>
                </a:solidFill>
                <a:latin typeface="Inter"/>
                <a:ea typeface="Inter"/>
                <a:cs typeface="Inter"/>
                <a:sym typeface="Inter"/>
              </a:rPr>
              <a:t>A hands-free cursor for people who can't use their hands.</a:t>
            </a:r>
            <a:endParaRPr b="0" i="0" sz="1800" u="none" cap="none" strike="noStrike">
              <a:solidFill>
                <a:schemeClr val="dk1"/>
              </a:solidFill>
              <a:latin typeface="Calibri"/>
              <a:ea typeface="Calibri"/>
              <a:cs typeface="Calibri"/>
              <a:sym typeface="Calibri"/>
            </a:endParaRPr>
          </a:p>
        </p:txBody>
      </p:sp>
      <p:sp>
        <p:nvSpPr>
          <p:cNvPr id="110" name="Google Shape;110;p4"/>
          <p:cNvSpPr/>
          <p:nvPr/>
        </p:nvSpPr>
        <p:spPr>
          <a:xfrm>
            <a:off x="4023360" y="5989320"/>
            <a:ext cx="4114800" cy="365760"/>
          </a:xfrm>
          <a:prstGeom prst="roundRect">
            <a:avLst>
              <a:gd fmla="val 125000" name="adj"/>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1" name="Google Shape;111;p4"/>
          <p:cNvSpPr/>
          <p:nvPr/>
        </p:nvSpPr>
        <p:spPr>
          <a:xfrm>
            <a:off x="1755648" y="5989320"/>
            <a:ext cx="868680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A2E"/>
              </a:buClr>
              <a:buSzPts val="900"/>
              <a:buFont typeface="Calibri"/>
              <a:buNone/>
            </a:pPr>
            <a:r>
              <a:rPr b="1" i="0" lang="en-US" sz="1400" u="none" cap="none" strike="noStrike">
                <a:solidFill>
                  <a:srgbClr val="0B1A2E"/>
                </a:solidFill>
                <a:latin typeface="Inter"/>
                <a:ea typeface="Inter"/>
                <a:cs typeface="Inter"/>
                <a:sym typeface="Inter"/>
              </a:rPr>
              <a:t>IR + IMU  ·  BLUETOOTH + WI-FI  ·  OFFLINE-CAPABLE</a:t>
            </a:r>
            <a:endParaRPr b="0" i="0" sz="900" u="none" cap="none" strike="noStrike">
              <a:solidFill>
                <a:schemeClr val="dk1"/>
              </a:solidFill>
              <a:latin typeface="Calibri"/>
              <a:ea typeface="Calibri"/>
              <a:cs typeface="Calibri"/>
              <a:sym typeface="Calibri"/>
            </a:endParaRPr>
          </a:p>
        </p:txBody>
      </p:sp>
      <p:pic>
        <p:nvPicPr>
          <p:cNvPr id="112" name="Google Shape;112;p4"/>
          <p:cNvPicPr preferRelativeResize="0"/>
          <p:nvPr/>
        </p:nvPicPr>
        <p:blipFill rotWithShape="1">
          <a:blip r:embed="rId3">
            <a:alphaModFix/>
          </a:blip>
          <a:srcRect b="14239" l="0" r="0" t="9120"/>
          <a:stretch/>
        </p:blipFill>
        <p:spPr>
          <a:xfrm>
            <a:off x="586606" y="1773937"/>
            <a:ext cx="2974851" cy="4379976"/>
          </a:xfrm>
          <a:prstGeom prst="rect">
            <a:avLst/>
          </a:prstGeom>
          <a:noFill/>
          <a:ln>
            <a:noFill/>
          </a:ln>
        </p:spPr>
      </p:pic>
      <p:sp>
        <p:nvSpPr>
          <p:cNvPr id="113" name="Google Shape;113;p4"/>
          <p:cNvSpPr/>
          <p:nvPr/>
        </p:nvSpPr>
        <p:spPr>
          <a:xfrm>
            <a:off x="7970099" y="4227700"/>
            <a:ext cx="3861600" cy="14664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CDD5E2"/>
              </a:buClr>
              <a:buSzPts val="1800"/>
              <a:buFont typeface="Arial"/>
              <a:buNone/>
            </a:pPr>
            <a:r>
              <a:rPr b="0" i="1" lang="en-US" sz="1800" u="none" cap="none" strike="noStrike">
                <a:solidFill>
                  <a:srgbClr val="CDD5E2"/>
                </a:solidFill>
                <a:latin typeface="Inter"/>
                <a:ea typeface="Inter"/>
                <a:cs typeface="Inter"/>
                <a:sym typeface="Inter"/>
              </a:rPr>
              <a:t>Ayushman Choudhary</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CDD5E2"/>
              </a:buClr>
              <a:buSzPts val="1800"/>
              <a:buFont typeface="Arial"/>
              <a:buNone/>
            </a:pPr>
            <a:r>
              <a:rPr b="0" i="1" lang="en-US" sz="1800" u="none" cap="none" strike="noStrike">
                <a:solidFill>
                  <a:srgbClr val="CDD5E2"/>
                </a:solidFill>
                <a:latin typeface="Inter"/>
                <a:ea typeface="Inter"/>
                <a:cs typeface="Inter"/>
                <a:sym typeface="Inter"/>
              </a:rPr>
              <a:t>Class :- 10th</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CDD5E2"/>
              </a:buClr>
              <a:buSzPts val="1800"/>
              <a:buFont typeface="Arial"/>
              <a:buNone/>
            </a:pPr>
            <a:r>
              <a:rPr b="0" i="1" lang="en-US" sz="1800" u="none" cap="none" strike="noStrike">
                <a:solidFill>
                  <a:srgbClr val="CDD5E2"/>
                </a:solidFill>
                <a:latin typeface="Inter"/>
                <a:ea typeface="Inter"/>
                <a:cs typeface="Inter"/>
                <a:sym typeface="Inter"/>
              </a:rPr>
              <a:t>Bhavan’s B.P. Vidya Mandir Ashti</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CDD5E2"/>
              </a:buClr>
              <a:buSzPts val="1800"/>
              <a:buFont typeface="Arial"/>
              <a:buNone/>
            </a:pPr>
            <a:r>
              <a:rPr b="0" i="1" lang="en-US" sz="1800" u="none" cap="none" strike="noStrike">
                <a:solidFill>
                  <a:srgbClr val="CDD5E2"/>
                </a:solidFill>
                <a:latin typeface="Inter"/>
                <a:ea typeface="Inter"/>
                <a:cs typeface="Inter"/>
                <a:sym typeface="Inter"/>
              </a:rPr>
              <a:t>Nagpur Maharashtra</a:t>
            </a:r>
            <a:endParaRPr b="0" i="0" sz="1800" u="none" cap="none" strike="noStrike">
              <a:solidFill>
                <a:schemeClr val="dk1"/>
              </a:solidFill>
              <a:latin typeface="Calibri"/>
              <a:ea typeface="Calibri"/>
              <a:cs typeface="Calibri"/>
              <a:sym typeface="Calibri"/>
            </a:endParaRPr>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9"/>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120" name="Google Shape;120;p9"/>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1" name="Google Shape;121;p9"/>
          <p:cNvSpPr/>
          <p:nvPr/>
        </p:nvSpPr>
        <p:spPr>
          <a:xfrm>
            <a:off x="502920" y="868680"/>
            <a:ext cx="1051560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400" u="none" cap="none" strike="noStrike">
                <a:solidFill>
                  <a:srgbClr val="22D3EE"/>
                </a:solidFill>
                <a:latin typeface="Inter"/>
                <a:ea typeface="Inter"/>
                <a:cs typeface="Inter"/>
                <a:sym typeface="Inter"/>
              </a:rPr>
              <a:t>NEW SOLUTION  ·  INTRODUCING IRIS</a:t>
            </a:r>
            <a:endParaRPr b="0" i="0" sz="1100" u="none" cap="none" strike="noStrike">
              <a:solidFill>
                <a:schemeClr val="dk1"/>
              </a:solidFill>
              <a:latin typeface="Calibri"/>
              <a:ea typeface="Calibri"/>
              <a:cs typeface="Calibri"/>
              <a:sym typeface="Calibri"/>
            </a:endParaRPr>
          </a:p>
        </p:txBody>
      </p:sp>
      <p:sp>
        <p:nvSpPr>
          <p:cNvPr id="122" name="Google Shape;122;p9"/>
          <p:cNvSpPr/>
          <p:nvPr/>
        </p:nvSpPr>
        <p:spPr>
          <a:xfrm>
            <a:off x="502920" y="1280160"/>
            <a:ext cx="6583680" cy="1645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3600"/>
              <a:buFont typeface="Arial"/>
              <a:buNone/>
            </a:pPr>
            <a:r>
              <a:rPr b="1" i="0" lang="en-US" sz="3600" u="none" cap="none" strike="noStrike">
                <a:solidFill>
                  <a:srgbClr val="FFFFFF"/>
                </a:solidFill>
                <a:latin typeface="Inter"/>
                <a:ea typeface="Inter"/>
                <a:cs typeface="Inter"/>
                <a:sym typeface="Inter"/>
              </a:rPr>
              <a:t>A blink becomes a click. A tilt becomes a cursor.</a:t>
            </a:r>
            <a:endParaRPr b="0" i="0" sz="3600" u="none" cap="none" strike="noStrike">
              <a:solidFill>
                <a:schemeClr val="dk1"/>
              </a:solidFill>
              <a:latin typeface="Calibri"/>
              <a:ea typeface="Calibri"/>
              <a:cs typeface="Calibri"/>
              <a:sym typeface="Calibri"/>
            </a:endParaRPr>
          </a:p>
        </p:txBody>
      </p:sp>
      <p:sp>
        <p:nvSpPr>
          <p:cNvPr id="123" name="Google Shape;123;p9"/>
          <p:cNvSpPr/>
          <p:nvPr/>
        </p:nvSpPr>
        <p:spPr>
          <a:xfrm>
            <a:off x="502920" y="2799999"/>
            <a:ext cx="6720840" cy="1691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2000"/>
              <a:buFont typeface="Calibri"/>
              <a:buNone/>
            </a:pPr>
            <a:r>
              <a:rPr b="0" i="0" lang="en-US" sz="1650" u="none" cap="none" strike="noStrike">
                <a:solidFill>
                  <a:srgbClr val="B4C3DC"/>
                </a:solidFill>
                <a:latin typeface="Inter"/>
                <a:ea typeface="Inter"/>
                <a:cs typeface="Inter"/>
                <a:sym typeface="Inter"/>
              </a:rPr>
              <a:t>•  Breathable Velcro headband reads head tilt to steer the cursor.</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700"/>
              </a:spcBef>
              <a:spcAft>
                <a:spcPts val="0"/>
              </a:spcAft>
              <a:buNone/>
            </a:pPr>
            <a:r>
              <a:rPr b="0" i="0" lang="en-US" sz="1650" u="none" cap="none" strike="noStrike">
                <a:solidFill>
                  <a:srgbClr val="B4C3DC"/>
                </a:solidFill>
                <a:latin typeface="Inter"/>
                <a:ea typeface="Inter"/>
                <a:cs typeface="Inter"/>
                <a:sym typeface="Inter"/>
              </a:rPr>
              <a:t>•  Magnetic-pivot IR sensor on glasses reads intentional blinks to click.</a:t>
            </a:r>
            <a:endParaRPr/>
          </a:p>
          <a:p>
            <a:pPr indent="0" lvl="0" marL="0" marR="0" rtl="0" algn="l">
              <a:lnSpc>
                <a:spcPct val="100000"/>
              </a:lnSpc>
              <a:spcBef>
                <a:spcPts val="700"/>
              </a:spcBef>
              <a:spcAft>
                <a:spcPts val="0"/>
              </a:spcAft>
              <a:buNone/>
            </a:pPr>
            <a:r>
              <a:rPr b="0" i="0" lang="en-US" sz="1650" u="none" cap="none" strike="noStrike">
                <a:solidFill>
                  <a:srgbClr val="B4C3DC"/>
                </a:solidFill>
                <a:latin typeface="Inter"/>
                <a:ea typeface="Inter"/>
                <a:cs typeface="Inter"/>
                <a:sym typeface="Inter"/>
              </a:rPr>
              <a:t>•  Streams wirelessly via XIAO ESP32C3 (BLE 5.0 + Wi-Fi failover).</a:t>
            </a:r>
            <a:endParaRPr/>
          </a:p>
          <a:p>
            <a:pPr indent="0" lvl="0" marL="0" marR="0" rtl="0" algn="l">
              <a:lnSpc>
                <a:spcPct val="100000"/>
              </a:lnSpc>
              <a:spcBef>
                <a:spcPts val="700"/>
              </a:spcBef>
              <a:spcAft>
                <a:spcPts val="0"/>
              </a:spcAft>
              <a:buNone/>
            </a:pPr>
            <a:r>
              <a:rPr b="0" i="0" lang="en-US" sz="1650" u="none" cap="none" strike="noStrike">
                <a:solidFill>
                  <a:srgbClr val="B4C3DC"/>
                </a:solidFill>
                <a:latin typeface="Inter"/>
                <a:ea typeface="Inter"/>
                <a:cs typeface="Inter"/>
                <a:sym typeface="Inter"/>
              </a:rPr>
              <a:t>•  Calibrates in 2–3 seconds with a live Python digital eye twin.</a:t>
            </a:r>
            <a:endParaRPr/>
          </a:p>
        </p:txBody>
      </p:sp>
      <p:sp>
        <p:nvSpPr>
          <p:cNvPr id="124" name="Google Shape;124;p9"/>
          <p:cNvSpPr/>
          <p:nvPr/>
        </p:nvSpPr>
        <p:spPr>
          <a:xfrm>
            <a:off x="502920" y="4617720"/>
            <a:ext cx="4114800" cy="1783080"/>
          </a:xfrm>
          <a:prstGeom prst="roundRect">
            <a:avLst>
              <a:gd fmla="val 4103" name="adj"/>
            </a:avLst>
          </a:prstGeom>
          <a:solidFill>
            <a:srgbClr val="0F2440"/>
          </a:solidFill>
          <a:ln cap="flat" cmpd="sng" w="9525">
            <a:solidFill>
              <a:srgbClr val="22D3EE">
                <a:alpha val="6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5" name="Google Shape;125;p9"/>
          <p:cNvSpPr/>
          <p:nvPr/>
        </p:nvSpPr>
        <p:spPr>
          <a:xfrm>
            <a:off x="777240" y="4754880"/>
            <a:ext cx="35661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900"/>
              <a:buFont typeface="Calibri"/>
              <a:buNone/>
            </a:pPr>
            <a:r>
              <a:rPr b="1" i="0" lang="en-US" sz="1350" u="none" cap="none" strike="noStrike">
                <a:solidFill>
                  <a:srgbClr val="22D3EE"/>
                </a:solidFill>
                <a:latin typeface="Inter"/>
                <a:ea typeface="Inter"/>
                <a:cs typeface="Inter"/>
                <a:sym typeface="Inter"/>
              </a:rPr>
              <a:t>TOTAL BUILD COST</a:t>
            </a:r>
            <a:endParaRPr b="0" i="0" sz="900" u="none" cap="none" strike="noStrike">
              <a:solidFill>
                <a:schemeClr val="dk1"/>
              </a:solidFill>
              <a:latin typeface="Calibri"/>
              <a:ea typeface="Calibri"/>
              <a:cs typeface="Calibri"/>
              <a:sym typeface="Calibri"/>
            </a:endParaRPr>
          </a:p>
        </p:txBody>
      </p:sp>
      <p:sp>
        <p:nvSpPr>
          <p:cNvPr id="126" name="Google Shape;126;p9"/>
          <p:cNvSpPr/>
          <p:nvPr/>
        </p:nvSpPr>
        <p:spPr>
          <a:xfrm>
            <a:off x="777240" y="5029200"/>
            <a:ext cx="237744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5600"/>
              <a:buFont typeface="Arial"/>
              <a:buNone/>
            </a:pPr>
            <a:r>
              <a:rPr b="1" i="0" lang="en-US" sz="5600" u="none" cap="none" strike="noStrike">
                <a:solidFill>
                  <a:srgbClr val="FFFFFF"/>
                </a:solidFill>
                <a:latin typeface="Inter"/>
                <a:ea typeface="Inter"/>
                <a:cs typeface="Inter"/>
                <a:sym typeface="Inter"/>
              </a:rPr>
              <a:t>₹885</a:t>
            </a:r>
            <a:endParaRPr b="0" i="0" sz="5600" u="none" cap="none" strike="noStrike">
              <a:solidFill>
                <a:schemeClr val="dk1"/>
              </a:solidFill>
              <a:latin typeface="Calibri"/>
              <a:ea typeface="Calibri"/>
              <a:cs typeface="Calibri"/>
              <a:sym typeface="Calibri"/>
            </a:endParaRPr>
          </a:p>
        </p:txBody>
      </p:sp>
      <p:sp>
        <p:nvSpPr>
          <p:cNvPr id="127" name="Google Shape;127;p9"/>
          <p:cNvSpPr/>
          <p:nvPr/>
        </p:nvSpPr>
        <p:spPr>
          <a:xfrm>
            <a:off x="2809384" y="5349240"/>
            <a:ext cx="1783080" cy="384048"/>
          </a:xfrm>
          <a:prstGeom prst="roundRect">
            <a:avLst>
              <a:gd fmla="val 119048" name="adj"/>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8" name="Google Shape;128;p9"/>
          <p:cNvSpPr/>
          <p:nvPr/>
        </p:nvSpPr>
        <p:spPr>
          <a:xfrm>
            <a:off x="2809384" y="5362888"/>
            <a:ext cx="1783080" cy="38404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A2E"/>
              </a:buClr>
              <a:buSzPts val="900"/>
              <a:buFont typeface="Calibri"/>
              <a:buNone/>
            </a:pPr>
            <a:r>
              <a:rPr b="1" i="0" lang="en-US" sz="1250" u="none" cap="none" strike="noStrike">
                <a:solidFill>
                  <a:srgbClr val="0B1A2E"/>
                </a:solidFill>
                <a:latin typeface="Inter"/>
                <a:ea typeface="Inter"/>
                <a:cs typeface="Inter"/>
                <a:sym typeface="Inter"/>
              </a:rPr>
              <a:t>99.96% CHEAPER</a:t>
            </a:r>
            <a:endParaRPr b="0" i="0" sz="900" u="none" cap="none" strike="noStrike">
              <a:solidFill>
                <a:schemeClr val="dk1"/>
              </a:solidFill>
              <a:latin typeface="Calibri"/>
              <a:ea typeface="Calibri"/>
              <a:cs typeface="Calibri"/>
              <a:sym typeface="Calibri"/>
            </a:endParaRPr>
          </a:p>
        </p:txBody>
      </p:sp>
      <p:sp>
        <p:nvSpPr>
          <p:cNvPr id="129" name="Google Shape;129;p9"/>
          <p:cNvSpPr/>
          <p:nvPr/>
        </p:nvSpPr>
        <p:spPr>
          <a:xfrm>
            <a:off x="7653806" y="2167128"/>
            <a:ext cx="4133088" cy="3127248"/>
          </a:xfrm>
          <a:prstGeom prst="roundRect">
            <a:avLst>
              <a:gd fmla="val 877" name="adj"/>
            </a:avLst>
          </a:prstGeom>
          <a:solidFill>
            <a:srgbClr val="FFFFFF"/>
          </a:solidFill>
          <a:ln>
            <a:noFill/>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30" name="Google Shape;130;p9"/>
          <p:cNvPicPr preferRelativeResize="0"/>
          <p:nvPr/>
        </p:nvPicPr>
        <p:blipFill rotWithShape="1">
          <a:blip r:embed="rId3">
            <a:alphaModFix/>
          </a:blip>
          <a:srcRect b="0" l="16047" r="7162" t="0"/>
          <a:stretch/>
        </p:blipFill>
        <p:spPr>
          <a:xfrm>
            <a:off x="7680960" y="2336709"/>
            <a:ext cx="4105934" cy="2734056"/>
          </a:xfrm>
          <a:prstGeom prst="rect">
            <a:avLst/>
          </a:prstGeom>
          <a:noFill/>
          <a:ln>
            <a:noFill/>
          </a:ln>
        </p:spPr>
      </p:pic>
      <p:sp>
        <p:nvSpPr>
          <p:cNvPr id="131" name="Google Shape;131;p9"/>
          <p:cNvSpPr/>
          <p:nvPr/>
        </p:nvSpPr>
        <p:spPr>
          <a:xfrm>
            <a:off x="7863840" y="1463040"/>
            <a:ext cx="822960" cy="31089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A2E"/>
              </a:buClr>
              <a:buSzPts val="900"/>
              <a:buFont typeface="Calibri"/>
              <a:buNone/>
            </a:pPr>
            <a:r>
              <a:rPr b="1" i="0" lang="en-US" sz="1200" u="none" cap="none" strike="noStrike">
                <a:solidFill>
                  <a:srgbClr val="0B1A2E"/>
                </a:solidFill>
                <a:latin typeface="Inter"/>
                <a:ea typeface="Inter"/>
                <a:cs typeface="Inter"/>
                <a:sym typeface="Inter"/>
              </a:rPr>
              <a:t>● LIVE</a:t>
            </a:r>
            <a:endParaRPr b="0" i="0" sz="900" u="none" cap="none" strike="noStrike">
              <a:solidFill>
                <a:schemeClr val="dk1"/>
              </a:solidFill>
              <a:latin typeface="Calibri"/>
              <a:ea typeface="Calibri"/>
              <a:cs typeface="Calibri"/>
              <a:sym typeface="Calibri"/>
            </a:endParaRPr>
          </a:p>
        </p:txBody>
      </p:sp>
      <p:sp>
        <p:nvSpPr>
          <p:cNvPr id="132" name="Google Shape;132;p9"/>
          <p:cNvSpPr/>
          <p:nvPr/>
        </p:nvSpPr>
        <p:spPr>
          <a:xfrm>
            <a:off x="7680960" y="5367528"/>
            <a:ext cx="3977640" cy="5029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9DB1C7"/>
              </a:buClr>
              <a:buSzPts val="1000"/>
              <a:buFont typeface="Calibri"/>
              <a:buNone/>
            </a:pPr>
            <a:r>
              <a:rPr b="0" i="1" lang="en-US" sz="1350" u="none" cap="none" strike="noStrike">
                <a:solidFill>
                  <a:srgbClr val="9DB1C7"/>
                </a:solidFill>
                <a:latin typeface="Inter"/>
                <a:ea typeface="Inter"/>
                <a:cs typeface="Inter"/>
                <a:sym typeface="Inter"/>
              </a:rPr>
              <a:t>Prototype — Velcro headband houses XIAO electronics; magnetic pivot attaches IR sensor to glasses.</a:t>
            </a:r>
            <a:endParaRPr b="0" i="0" sz="1000" u="none" cap="none" strike="noStrike">
              <a:solidFill>
                <a:schemeClr val="dk1"/>
              </a:solidFill>
              <a:latin typeface="Calibri"/>
              <a:ea typeface="Calibri"/>
              <a:cs typeface="Calibri"/>
              <a:sym typeface="Calibri"/>
            </a:endParaRPr>
          </a:p>
        </p:txBody>
      </p:sp>
      <p:sp>
        <p:nvSpPr>
          <p:cNvPr id="133" name="Google Shape;133;p9"/>
          <p:cNvSpPr txBox="1"/>
          <p:nvPr/>
        </p:nvSpPr>
        <p:spPr>
          <a:xfrm>
            <a:off x="502920" y="6446520"/>
            <a:ext cx="11155680" cy="25391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1" lang="en-US" sz="1250" u="none" cap="none" strike="noStrike">
                <a:solidFill>
                  <a:srgbClr val="94A3B8"/>
                </a:solidFill>
                <a:latin typeface="Inter"/>
                <a:ea typeface="Inter"/>
                <a:cs typeface="Inter"/>
                <a:sym typeface="Inter"/>
              </a:rPr>
              <a:t>Calculated: ₹885 build cost vs ₹25,00,000 Tobii retail India = 99.96% cheaper (conservative claim: 99.96%)</a:t>
            </a:r>
            <a:endParaRPr b="0" i="0" sz="1400" u="none" cap="none" strike="noStrike">
              <a:solidFill>
                <a:srgbClr val="000000"/>
              </a:solidFill>
              <a:latin typeface="Arial"/>
              <a:ea typeface="Arial"/>
              <a:cs typeface="Arial"/>
              <a:sym typeface="Arial"/>
            </a:endParaRPr>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8"/>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140" name="Google Shape;140;p8"/>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1" name="Google Shape;141;p8"/>
          <p:cNvSpPr/>
          <p:nvPr/>
        </p:nvSpPr>
        <p:spPr>
          <a:xfrm>
            <a:off x="502920" y="868680"/>
            <a:ext cx="1051560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400" u="none" cap="none" strike="noStrike">
                <a:solidFill>
                  <a:srgbClr val="22D3EE"/>
                </a:solidFill>
                <a:latin typeface="Inter"/>
                <a:ea typeface="Inter"/>
                <a:cs typeface="Inter"/>
                <a:sym typeface="Inter"/>
              </a:rPr>
              <a:t>MAIN FUNCTION  ·  THE WEARABLE HARDWARE</a:t>
            </a:r>
            <a:endParaRPr b="0" i="0" sz="1100" u="none" cap="none" strike="noStrike">
              <a:solidFill>
                <a:schemeClr val="dk1"/>
              </a:solidFill>
              <a:latin typeface="Calibri"/>
              <a:ea typeface="Calibri"/>
              <a:cs typeface="Calibri"/>
              <a:sym typeface="Calibri"/>
            </a:endParaRPr>
          </a:p>
        </p:txBody>
      </p:sp>
      <p:sp>
        <p:nvSpPr>
          <p:cNvPr id="142" name="Google Shape;142;p8"/>
          <p:cNvSpPr/>
          <p:nvPr/>
        </p:nvSpPr>
        <p:spPr>
          <a:xfrm>
            <a:off x="502920" y="1280160"/>
            <a:ext cx="68580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4000"/>
              <a:buFont typeface="Arial"/>
              <a:buNone/>
            </a:pPr>
            <a:r>
              <a:rPr b="1" i="0" lang="en-US" sz="4000" u="none" cap="none" strike="noStrike">
                <a:solidFill>
                  <a:srgbClr val="FFFFFF"/>
                </a:solidFill>
                <a:latin typeface="Inter"/>
                <a:ea typeface="Inter"/>
                <a:cs typeface="Inter"/>
                <a:sym typeface="Inter"/>
              </a:rPr>
              <a:t>The Wearable.</a:t>
            </a:r>
            <a:endParaRPr b="0" i="0" sz="4000" u="none" cap="none" strike="noStrike">
              <a:solidFill>
                <a:schemeClr val="dk1"/>
              </a:solidFill>
              <a:latin typeface="Calibri"/>
              <a:ea typeface="Calibri"/>
              <a:cs typeface="Calibri"/>
              <a:sym typeface="Calibri"/>
            </a:endParaRPr>
          </a:p>
        </p:txBody>
      </p:sp>
      <p:sp>
        <p:nvSpPr>
          <p:cNvPr id="143" name="Google Shape;143;p8"/>
          <p:cNvSpPr/>
          <p:nvPr/>
        </p:nvSpPr>
        <p:spPr>
          <a:xfrm>
            <a:off x="502920" y="1938528"/>
            <a:ext cx="7406640"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600"/>
              <a:buFont typeface="Calibri"/>
              <a:buNone/>
            </a:pPr>
            <a:r>
              <a:rPr b="0" i="0" lang="en-US" sz="1500" u="none" cap="none" strike="noStrike">
                <a:solidFill>
                  <a:srgbClr val="B4C3DC"/>
                </a:solidFill>
                <a:latin typeface="Inter"/>
                <a:ea typeface="Inter"/>
                <a:cs typeface="Inter"/>
                <a:sym typeface="Inter"/>
              </a:rPr>
              <a:t>•  Breathable Velcro headband with continuous airflow houses the XIAO electronics.</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400"/>
              </a:spcBef>
              <a:spcAft>
                <a:spcPts val="0"/>
              </a:spcAft>
              <a:buNone/>
            </a:pPr>
            <a:r>
              <a:rPr b="0" i="0" lang="en-US" sz="1500" u="none" cap="none" strike="noStrike">
                <a:solidFill>
                  <a:srgbClr val="B4C3DC"/>
                </a:solidFill>
                <a:latin typeface="Inter"/>
                <a:ea typeface="Inter"/>
                <a:cs typeface="Inter"/>
                <a:sym typeface="Inter"/>
              </a:rPr>
              <a:t>•  Glasses carry only the lightweight IR sensor on a removable magnetic nut-bolt pivot.</a:t>
            </a:r>
            <a:endParaRPr/>
          </a:p>
        </p:txBody>
      </p:sp>
      <p:sp>
        <p:nvSpPr>
          <p:cNvPr id="144" name="Google Shape;144;p8"/>
          <p:cNvSpPr/>
          <p:nvPr/>
        </p:nvSpPr>
        <p:spPr>
          <a:xfrm>
            <a:off x="502920" y="2920805"/>
            <a:ext cx="7132200" cy="676800"/>
          </a:xfrm>
          <a:prstGeom prst="roundRect">
            <a:avLst>
              <a:gd fmla="val 12903" name="adj"/>
            </a:avLst>
          </a:prstGeom>
          <a:solidFill>
            <a:srgbClr val="0F2440"/>
          </a:solidFill>
          <a:ln cap="flat" cmpd="sng" w="9525">
            <a:solidFill>
              <a:srgbClr val="0E7490">
                <a:alpha val="4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5" name="Google Shape;145;p8"/>
          <p:cNvSpPr/>
          <p:nvPr/>
        </p:nvSpPr>
        <p:spPr>
          <a:xfrm>
            <a:off x="649224" y="3048821"/>
            <a:ext cx="420600" cy="420600"/>
          </a:xfrm>
          <a:prstGeom prst="ellipse">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6" name="Google Shape;146;p8"/>
          <p:cNvSpPr/>
          <p:nvPr/>
        </p:nvSpPr>
        <p:spPr>
          <a:xfrm>
            <a:off x="649778" y="2961904"/>
            <a:ext cx="365700" cy="575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3200"/>
              <a:buFont typeface="Arial"/>
              <a:buNone/>
            </a:pPr>
            <a:r>
              <a:t/>
            </a:r>
            <a:endParaRPr b="0" i="0" sz="3200" u="none" cap="none" strike="noStrike">
              <a:solidFill>
                <a:schemeClr val="dk1"/>
              </a:solidFill>
              <a:latin typeface="Calibri"/>
              <a:ea typeface="Calibri"/>
              <a:cs typeface="Calibri"/>
              <a:sym typeface="Calibri"/>
            </a:endParaRPr>
          </a:p>
        </p:txBody>
      </p:sp>
      <p:sp>
        <p:nvSpPr>
          <p:cNvPr id="147" name="Google Shape;147;p8"/>
          <p:cNvSpPr/>
          <p:nvPr/>
        </p:nvSpPr>
        <p:spPr>
          <a:xfrm>
            <a:off x="1170432" y="2993957"/>
            <a:ext cx="64923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Inter"/>
                <a:ea typeface="Inter"/>
                <a:cs typeface="Inter"/>
                <a:sym typeface="Inter"/>
              </a:rPr>
              <a:t>IR Sensor (Magnetic Pivot on Glasses)</a:t>
            </a:r>
            <a:endParaRPr b="0" i="0" sz="1600" u="none" cap="none" strike="noStrike">
              <a:solidFill>
                <a:schemeClr val="dk1"/>
              </a:solidFill>
              <a:latin typeface="Calibri"/>
              <a:ea typeface="Calibri"/>
              <a:cs typeface="Calibri"/>
              <a:sym typeface="Calibri"/>
            </a:endParaRPr>
          </a:p>
        </p:txBody>
      </p:sp>
      <p:sp>
        <p:nvSpPr>
          <p:cNvPr id="148" name="Google Shape;148;p8"/>
          <p:cNvSpPr/>
          <p:nvPr/>
        </p:nvSpPr>
        <p:spPr>
          <a:xfrm>
            <a:off x="1170432" y="3236526"/>
            <a:ext cx="64923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1400"/>
              <a:buFont typeface="Calibri"/>
              <a:buNone/>
            </a:pPr>
            <a:r>
              <a:rPr b="0" i="0" lang="en-US" sz="1300" u="none" cap="none" strike="noStrike">
                <a:solidFill>
                  <a:srgbClr val="94A3B8"/>
                </a:solidFill>
                <a:latin typeface="Inter"/>
                <a:ea typeface="Inter"/>
                <a:cs typeface="Inter"/>
                <a:sym typeface="Inter"/>
              </a:rPr>
              <a:t>• Detachable nut-bolt + neodymium magnet mount fits any frame or ±7D lens.</a:t>
            </a:r>
            <a:endParaRPr b="0" i="0" sz="1300" u="none" cap="none" strike="noStrike">
              <a:solidFill>
                <a:schemeClr val="dk1"/>
              </a:solidFill>
              <a:latin typeface="Calibri"/>
              <a:ea typeface="Calibri"/>
              <a:cs typeface="Calibri"/>
              <a:sym typeface="Calibri"/>
            </a:endParaRPr>
          </a:p>
        </p:txBody>
      </p:sp>
      <p:sp>
        <p:nvSpPr>
          <p:cNvPr id="149" name="Google Shape;149;p8"/>
          <p:cNvSpPr/>
          <p:nvPr/>
        </p:nvSpPr>
        <p:spPr>
          <a:xfrm>
            <a:off x="502920" y="3679757"/>
            <a:ext cx="7132200" cy="676800"/>
          </a:xfrm>
          <a:prstGeom prst="roundRect">
            <a:avLst>
              <a:gd fmla="val 12903" name="adj"/>
            </a:avLst>
          </a:prstGeom>
          <a:solidFill>
            <a:srgbClr val="0F2440"/>
          </a:solidFill>
          <a:ln cap="flat" cmpd="sng" w="9525">
            <a:solidFill>
              <a:srgbClr val="0E7490">
                <a:alpha val="4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sp>
        <p:nvSpPr>
          <p:cNvPr id="150" name="Google Shape;150;p8"/>
          <p:cNvSpPr/>
          <p:nvPr/>
        </p:nvSpPr>
        <p:spPr>
          <a:xfrm>
            <a:off x="649224" y="3807772"/>
            <a:ext cx="420600" cy="420600"/>
          </a:xfrm>
          <a:prstGeom prst="ellipse">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1" name="Google Shape;151;p8"/>
          <p:cNvSpPr/>
          <p:nvPr/>
        </p:nvSpPr>
        <p:spPr>
          <a:xfrm>
            <a:off x="667512" y="3662345"/>
            <a:ext cx="365700" cy="725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3200"/>
              <a:buFont typeface="Arial"/>
              <a:buNone/>
            </a:pPr>
            <a:r>
              <a:t/>
            </a:r>
            <a:endParaRPr b="0" i="0" sz="3200" u="none" cap="none" strike="noStrike">
              <a:solidFill>
                <a:schemeClr val="dk1"/>
              </a:solidFill>
              <a:latin typeface="Calibri"/>
              <a:ea typeface="Calibri"/>
              <a:cs typeface="Calibri"/>
              <a:sym typeface="Calibri"/>
            </a:endParaRPr>
          </a:p>
        </p:txBody>
      </p:sp>
      <p:sp>
        <p:nvSpPr>
          <p:cNvPr id="152" name="Google Shape;152;p8"/>
          <p:cNvSpPr/>
          <p:nvPr/>
        </p:nvSpPr>
        <p:spPr>
          <a:xfrm>
            <a:off x="1170432" y="3752909"/>
            <a:ext cx="64923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Inter"/>
                <a:ea typeface="Inter"/>
                <a:cs typeface="Inter"/>
                <a:sym typeface="Inter"/>
              </a:rPr>
              <a:t>MPU6050 (Inside Breathable Velcro Belt)</a:t>
            </a:r>
            <a:endParaRPr b="0" i="0" sz="1600" u="none" cap="none" strike="noStrike">
              <a:solidFill>
                <a:schemeClr val="dk1"/>
              </a:solidFill>
              <a:latin typeface="Calibri"/>
              <a:ea typeface="Calibri"/>
              <a:cs typeface="Calibri"/>
              <a:sym typeface="Calibri"/>
            </a:endParaRPr>
          </a:p>
        </p:txBody>
      </p:sp>
      <p:sp>
        <p:nvSpPr>
          <p:cNvPr id="153" name="Google Shape;153;p8"/>
          <p:cNvSpPr/>
          <p:nvPr/>
        </p:nvSpPr>
        <p:spPr>
          <a:xfrm>
            <a:off x="1170432" y="3995479"/>
            <a:ext cx="64923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1400"/>
              <a:buFont typeface="Calibri"/>
              <a:buNone/>
            </a:pPr>
            <a:r>
              <a:rPr b="0" i="0" lang="en-US" sz="1300" u="none" cap="none" strike="noStrike">
                <a:solidFill>
                  <a:srgbClr val="94A3B8"/>
                </a:solidFill>
                <a:latin typeface="Inter"/>
                <a:ea typeface="Inter"/>
                <a:cs typeface="Inter"/>
                <a:sym typeface="Inter"/>
              </a:rPr>
              <a:t>• Reads head tilt &amp; nod for cursor direction while mesh belt keeps airflow cool.</a:t>
            </a:r>
            <a:endParaRPr b="0" i="0" sz="1300" u="none" cap="none" strike="noStrike">
              <a:solidFill>
                <a:schemeClr val="dk1"/>
              </a:solidFill>
              <a:latin typeface="Calibri"/>
              <a:ea typeface="Calibri"/>
              <a:cs typeface="Calibri"/>
              <a:sym typeface="Calibri"/>
            </a:endParaRPr>
          </a:p>
        </p:txBody>
      </p:sp>
      <p:sp>
        <p:nvSpPr>
          <p:cNvPr id="154" name="Google Shape;154;p8"/>
          <p:cNvSpPr/>
          <p:nvPr/>
        </p:nvSpPr>
        <p:spPr>
          <a:xfrm>
            <a:off x="502920" y="4438709"/>
            <a:ext cx="7132200" cy="676800"/>
          </a:xfrm>
          <a:prstGeom prst="roundRect">
            <a:avLst>
              <a:gd fmla="val 12903" name="adj"/>
            </a:avLst>
          </a:prstGeom>
          <a:solidFill>
            <a:srgbClr val="0F2440"/>
          </a:solidFill>
          <a:ln cap="flat" cmpd="sng" w="9525">
            <a:solidFill>
              <a:srgbClr val="0E7490">
                <a:alpha val="4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5" name="Google Shape;155;p8"/>
          <p:cNvSpPr/>
          <p:nvPr/>
        </p:nvSpPr>
        <p:spPr>
          <a:xfrm>
            <a:off x="649224" y="4566725"/>
            <a:ext cx="420600" cy="420600"/>
          </a:xfrm>
          <a:prstGeom prst="ellipse">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6" name="Google Shape;156;p8"/>
          <p:cNvSpPr/>
          <p:nvPr/>
        </p:nvSpPr>
        <p:spPr>
          <a:xfrm>
            <a:off x="667512" y="4486694"/>
            <a:ext cx="365700" cy="725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3200"/>
              <a:buFont typeface="Arial"/>
              <a:buNone/>
            </a:pPr>
            <a:r>
              <a:t/>
            </a:r>
            <a:endParaRPr b="0" i="0" sz="3200" u="none" cap="none" strike="noStrike">
              <a:solidFill>
                <a:schemeClr val="dk1"/>
              </a:solidFill>
              <a:latin typeface="Calibri"/>
              <a:ea typeface="Calibri"/>
              <a:cs typeface="Calibri"/>
              <a:sym typeface="Calibri"/>
            </a:endParaRPr>
          </a:p>
        </p:txBody>
      </p:sp>
      <p:sp>
        <p:nvSpPr>
          <p:cNvPr id="157" name="Google Shape;157;p8"/>
          <p:cNvSpPr/>
          <p:nvPr/>
        </p:nvSpPr>
        <p:spPr>
          <a:xfrm>
            <a:off x="1170432" y="4511861"/>
            <a:ext cx="64923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Inter"/>
                <a:ea typeface="Inter"/>
                <a:cs typeface="Inter"/>
                <a:sym typeface="Inter"/>
              </a:rPr>
              <a:t>Seeed Studio XIAO ESP32C3 (BLE + Wi-Fi)</a:t>
            </a:r>
            <a:endParaRPr b="0" i="0" sz="1600" u="none" cap="none" strike="noStrike">
              <a:solidFill>
                <a:schemeClr val="dk1"/>
              </a:solidFill>
              <a:latin typeface="Calibri"/>
              <a:ea typeface="Calibri"/>
              <a:cs typeface="Calibri"/>
              <a:sym typeface="Calibri"/>
            </a:endParaRPr>
          </a:p>
        </p:txBody>
      </p:sp>
      <p:sp>
        <p:nvSpPr>
          <p:cNvPr id="158" name="Google Shape;158;p8"/>
          <p:cNvSpPr/>
          <p:nvPr/>
        </p:nvSpPr>
        <p:spPr>
          <a:xfrm>
            <a:off x="1170432" y="4754431"/>
            <a:ext cx="64923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1400"/>
              <a:buFont typeface="Calibri"/>
              <a:buNone/>
            </a:pPr>
            <a:r>
              <a:rPr b="0" i="0" lang="en-US" sz="1300" u="none" cap="none" strike="noStrike">
                <a:solidFill>
                  <a:srgbClr val="94A3B8"/>
                </a:solidFill>
                <a:latin typeface="Inter"/>
                <a:ea typeface="Inter"/>
                <a:cs typeface="Inter"/>
                <a:sym typeface="Inter"/>
              </a:rPr>
              <a:t>• Thumb-sized chip with built-in Bluetooth 5.0, Wi-Fi failover &amp; Deep Sleep.</a:t>
            </a:r>
            <a:endParaRPr b="0" i="0" sz="1300" u="none" cap="none" strike="noStrike">
              <a:solidFill>
                <a:schemeClr val="dk1"/>
              </a:solidFill>
              <a:latin typeface="Calibri"/>
              <a:ea typeface="Calibri"/>
              <a:cs typeface="Calibri"/>
              <a:sym typeface="Calibri"/>
            </a:endParaRPr>
          </a:p>
        </p:txBody>
      </p:sp>
      <p:sp>
        <p:nvSpPr>
          <p:cNvPr id="159" name="Google Shape;159;p8"/>
          <p:cNvSpPr/>
          <p:nvPr/>
        </p:nvSpPr>
        <p:spPr>
          <a:xfrm>
            <a:off x="502920" y="5197661"/>
            <a:ext cx="7132200" cy="676800"/>
          </a:xfrm>
          <a:prstGeom prst="roundRect">
            <a:avLst>
              <a:gd fmla="val 12903" name="adj"/>
            </a:avLst>
          </a:prstGeom>
          <a:solidFill>
            <a:srgbClr val="0F2440"/>
          </a:solidFill>
          <a:ln cap="flat" cmpd="sng" w="9525">
            <a:solidFill>
              <a:srgbClr val="0E7490">
                <a:alpha val="4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0" name="Google Shape;160;p8"/>
          <p:cNvSpPr/>
          <p:nvPr/>
        </p:nvSpPr>
        <p:spPr>
          <a:xfrm>
            <a:off x="649224" y="5325677"/>
            <a:ext cx="420600" cy="420600"/>
          </a:xfrm>
          <a:prstGeom prst="ellipse">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1" name="Google Shape;161;p8"/>
          <p:cNvSpPr/>
          <p:nvPr/>
        </p:nvSpPr>
        <p:spPr>
          <a:xfrm>
            <a:off x="627973" y="5591923"/>
            <a:ext cx="348000" cy="206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3200"/>
              <a:buFont typeface="Arial"/>
              <a:buNone/>
            </a:pPr>
            <a:r>
              <a:t/>
            </a:r>
            <a:endParaRPr b="0" i="0" sz="3200" u="none" cap="none" strike="noStrike">
              <a:solidFill>
                <a:schemeClr val="dk1"/>
              </a:solidFill>
              <a:latin typeface="Calibri"/>
              <a:ea typeface="Calibri"/>
              <a:cs typeface="Calibri"/>
              <a:sym typeface="Calibri"/>
            </a:endParaRPr>
          </a:p>
        </p:txBody>
      </p:sp>
      <p:sp>
        <p:nvSpPr>
          <p:cNvPr id="162" name="Google Shape;162;p8"/>
          <p:cNvSpPr/>
          <p:nvPr/>
        </p:nvSpPr>
        <p:spPr>
          <a:xfrm>
            <a:off x="1170432" y="5270813"/>
            <a:ext cx="64923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Inter"/>
                <a:ea typeface="Inter"/>
                <a:cs typeface="Inter"/>
                <a:sym typeface="Inter"/>
              </a:rPr>
              <a:t>3.7V 1000mAh Li-Po Battery (12h Runtime)</a:t>
            </a:r>
            <a:endParaRPr b="0" i="0" sz="1600" u="none" cap="none" strike="noStrike">
              <a:solidFill>
                <a:schemeClr val="dk1"/>
              </a:solidFill>
              <a:latin typeface="Calibri"/>
              <a:ea typeface="Calibri"/>
              <a:cs typeface="Calibri"/>
              <a:sym typeface="Calibri"/>
            </a:endParaRPr>
          </a:p>
        </p:txBody>
      </p:sp>
      <p:sp>
        <p:nvSpPr>
          <p:cNvPr id="163" name="Google Shape;163;p8"/>
          <p:cNvSpPr/>
          <p:nvPr/>
        </p:nvSpPr>
        <p:spPr>
          <a:xfrm>
            <a:off x="1170432" y="5513383"/>
            <a:ext cx="64923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1400"/>
              <a:buFont typeface="Calibri"/>
              <a:buNone/>
            </a:pPr>
            <a:r>
              <a:rPr b="0" i="0" lang="en-US" sz="1300" u="none" cap="none" strike="noStrike">
                <a:solidFill>
                  <a:srgbClr val="94A3B8"/>
                </a:solidFill>
                <a:latin typeface="Inter"/>
                <a:ea typeface="Inter"/>
                <a:cs typeface="Inter"/>
                <a:sym typeface="Inter"/>
              </a:rPr>
              <a:t>• Direct charging via XIAO BAT+/BAT- pads &amp; internal regulator — no buck module.</a:t>
            </a:r>
            <a:endParaRPr b="0" i="0" sz="1300" u="none" cap="none" strike="noStrike">
              <a:solidFill>
                <a:schemeClr val="dk1"/>
              </a:solidFill>
              <a:latin typeface="Calibri"/>
              <a:ea typeface="Calibri"/>
              <a:cs typeface="Calibri"/>
              <a:sym typeface="Calibri"/>
            </a:endParaRPr>
          </a:p>
        </p:txBody>
      </p:sp>
      <p:sp>
        <p:nvSpPr>
          <p:cNvPr id="164" name="Google Shape;164;p8"/>
          <p:cNvSpPr/>
          <p:nvPr/>
        </p:nvSpPr>
        <p:spPr>
          <a:xfrm>
            <a:off x="8540496" y="1225296"/>
            <a:ext cx="2983992" cy="4251960"/>
          </a:xfrm>
          <a:prstGeom prst="roundRect">
            <a:avLst>
              <a:gd fmla="val 852" name="adj"/>
            </a:avLst>
          </a:prstGeom>
          <a:solidFill>
            <a:srgbClr val="FFFFFF"/>
          </a:solidFill>
          <a:ln>
            <a:noFill/>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65" name="Google Shape;165;p8"/>
          <p:cNvPicPr preferRelativeResize="0"/>
          <p:nvPr/>
        </p:nvPicPr>
        <p:blipFill rotWithShape="1">
          <a:blip r:embed="rId3">
            <a:alphaModFix/>
          </a:blip>
          <a:srcRect b="10573" l="0" r="0" t="6556"/>
          <a:stretch/>
        </p:blipFill>
        <p:spPr>
          <a:xfrm>
            <a:off x="8739447" y="1271509"/>
            <a:ext cx="2626822" cy="4117236"/>
          </a:xfrm>
          <a:prstGeom prst="rect">
            <a:avLst/>
          </a:prstGeom>
          <a:noFill/>
          <a:ln>
            <a:noFill/>
          </a:ln>
        </p:spPr>
      </p:pic>
      <p:sp>
        <p:nvSpPr>
          <p:cNvPr id="166" name="Google Shape;166;p8"/>
          <p:cNvSpPr/>
          <p:nvPr/>
        </p:nvSpPr>
        <p:spPr>
          <a:xfrm>
            <a:off x="8595360" y="5559552"/>
            <a:ext cx="3108960" cy="36576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9DB1C7"/>
              </a:buClr>
              <a:buSzPts val="1000"/>
              <a:buFont typeface="Calibri"/>
              <a:buNone/>
            </a:pPr>
            <a:r>
              <a:rPr b="1" i="1" lang="en-US" sz="1300" u="none" cap="none" strike="noStrike">
                <a:solidFill>
                  <a:srgbClr val="9DB1C7"/>
                </a:solidFill>
                <a:latin typeface="Inter"/>
                <a:ea typeface="Inter"/>
                <a:cs typeface="Inter"/>
                <a:sym typeface="Inter"/>
              </a:rPr>
              <a:t>IR sensor positioned at the eye corner.</a:t>
            </a:r>
            <a:endParaRPr b="0" i="0" sz="1000" u="none" cap="none" strike="noStrike">
              <a:solidFill>
                <a:schemeClr val="dk1"/>
              </a:solidFill>
              <a:latin typeface="Calibri"/>
              <a:ea typeface="Calibri"/>
              <a:cs typeface="Calibri"/>
              <a:sym typeface="Calibri"/>
            </a:endParaRPr>
          </a:p>
        </p:txBody>
      </p:sp>
      <p:sp>
        <p:nvSpPr>
          <p:cNvPr id="167" name="Google Shape;167;p8"/>
          <p:cNvSpPr/>
          <p:nvPr/>
        </p:nvSpPr>
        <p:spPr>
          <a:xfrm>
            <a:off x="502920" y="5989320"/>
            <a:ext cx="7132320" cy="548640"/>
          </a:xfrm>
          <a:prstGeom prst="roundRect">
            <a:avLst>
              <a:gd fmla="val 13333" name="adj"/>
            </a:avLst>
          </a:prstGeom>
          <a:solidFill>
            <a:srgbClr val="0F2440"/>
          </a:solidFill>
          <a:ln cap="flat" cmpd="sng" w="9525">
            <a:solidFill>
              <a:srgbClr val="0E7490">
                <a:alpha val="4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8" name="Google Shape;168;p8"/>
          <p:cNvSpPr/>
          <p:nvPr/>
        </p:nvSpPr>
        <p:spPr>
          <a:xfrm>
            <a:off x="685800" y="6035040"/>
            <a:ext cx="68580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050"/>
              <a:buFont typeface="Calibri"/>
              <a:buNone/>
            </a:pPr>
            <a:r>
              <a:rPr b="1" i="0" lang="en-US" sz="1300" u="none" cap="none" strike="noStrike">
                <a:solidFill>
                  <a:srgbClr val="22D3EE"/>
                </a:solidFill>
                <a:latin typeface="Inter"/>
                <a:ea typeface="Inter"/>
                <a:cs typeface="Inter"/>
                <a:sym typeface="Inter"/>
              </a:rPr>
              <a:t>WEAR-ALL-DAY  ·  Breathable Velcro belt + magnetic pivot glasses · XIAO ESP32C3 gives 12h battery with Deep Sleep.</a:t>
            </a:r>
            <a:endParaRPr b="0" i="0" sz="1050" u="none" cap="none" strike="noStrike">
              <a:solidFill>
                <a:schemeClr val="dk1"/>
              </a:solidFill>
              <a:latin typeface="Calibri"/>
              <a:ea typeface="Calibri"/>
              <a:cs typeface="Calibri"/>
              <a:sym typeface="Calibri"/>
            </a:endParaRPr>
          </a:p>
        </p:txBody>
      </p:sp>
      <p:pic>
        <p:nvPicPr>
          <p:cNvPr descr="icon_eye.png" id="169" name="Google Shape;169;p8"/>
          <p:cNvPicPr preferRelativeResize="0"/>
          <p:nvPr/>
        </p:nvPicPr>
        <p:blipFill rotWithShape="1">
          <a:blip r:embed="rId4">
            <a:alphaModFix/>
          </a:blip>
          <a:srcRect b="0" l="0" r="0" t="0"/>
          <a:stretch/>
        </p:blipFill>
        <p:spPr>
          <a:xfrm>
            <a:off x="649224" y="3048821"/>
            <a:ext cx="420624" cy="420624"/>
          </a:xfrm>
          <a:prstGeom prst="rect">
            <a:avLst/>
          </a:prstGeom>
          <a:noFill/>
          <a:ln>
            <a:noFill/>
          </a:ln>
        </p:spPr>
      </p:pic>
      <p:pic>
        <p:nvPicPr>
          <p:cNvPr descr="icon_imu.png" id="170" name="Google Shape;170;p8"/>
          <p:cNvPicPr preferRelativeResize="0"/>
          <p:nvPr/>
        </p:nvPicPr>
        <p:blipFill rotWithShape="1">
          <a:blip r:embed="rId5">
            <a:alphaModFix/>
          </a:blip>
          <a:srcRect b="0" l="0" r="0" t="0"/>
          <a:stretch/>
        </p:blipFill>
        <p:spPr>
          <a:xfrm>
            <a:off x="649224" y="3807772"/>
            <a:ext cx="420624" cy="420624"/>
          </a:xfrm>
          <a:prstGeom prst="rect">
            <a:avLst/>
          </a:prstGeom>
          <a:noFill/>
          <a:ln>
            <a:noFill/>
          </a:ln>
        </p:spPr>
      </p:pic>
      <p:pic>
        <p:nvPicPr>
          <p:cNvPr descr="icon_chip.png" id="171" name="Google Shape;171;p8"/>
          <p:cNvPicPr preferRelativeResize="0"/>
          <p:nvPr/>
        </p:nvPicPr>
        <p:blipFill rotWithShape="1">
          <a:blip r:embed="rId6">
            <a:alphaModFix/>
          </a:blip>
          <a:srcRect b="0" l="0" r="0" t="0"/>
          <a:stretch/>
        </p:blipFill>
        <p:spPr>
          <a:xfrm>
            <a:off x="649224" y="4566725"/>
            <a:ext cx="420624" cy="420624"/>
          </a:xfrm>
          <a:prstGeom prst="rect">
            <a:avLst/>
          </a:prstGeom>
          <a:noFill/>
          <a:ln>
            <a:noFill/>
          </a:ln>
        </p:spPr>
      </p:pic>
      <p:pic>
        <p:nvPicPr>
          <p:cNvPr descr="icon_battery.png" id="172" name="Google Shape;172;p8"/>
          <p:cNvPicPr preferRelativeResize="0"/>
          <p:nvPr/>
        </p:nvPicPr>
        <p:blipFill rotWithShape="1">
          <a:blip r:embed="rId7">
            <a:alphaModFix/>
          </a:blip>
          <a:srcRect b="0" l="0" r="0" t="0"/>
          <a:stretch/>
        </p:blipFill>
        <p:spPr>
          <a:xfrm>
            <a:off x="649224" y="5325677"/>
            <a:ext cx="420624" cy="420624"/>
          </a:xfrm>
          <a:prstGeom prst="rect">
            <a:avLst/>
          </a:prstGeom>
          <a:noFill/>
          <a:ln>
            <a:noFill/>
          </a:ln>
        </p:spPr>
      </p:pic>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47"/>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178" name="Google Shape;178;p47"/>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9" name="Google Shape;179;p47"/>
          <p:cNvSpPr/>
          <p:nvPr/>
        </p:nvSpPr>
        <p:spPr>
          <a:xfrm>
            <a:off x="502920" y="868680"/>
            <a:ext cx="1051560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400" u="none" cap="none" strike="noStrike">
                <a:solidFill>
                  <a:srgbClr val="22D3EE"/>
                </a:solidFill>
                <a:latin typeface="Inter"/>
                <a:ea typeface="Inter"/>
                <a:cs typeface="Inter"/>
                <a:sym typeface="Inter"/>
              </a:rPr>
              <a:t>WEARABLE UPGRADE  ·  MODULAR MAGNETIC DESIGN</a:t>
            </a:r>
            <a:endParaRPr b="0" i="0" sz="1100" u="none" cap="none" strike="noStrike">
              <a:solidFill>
                <a:schemeClr val="dk1"/>
              </a:solidFill>
              <a:latin typeface="Calibri"/>
              <a:ea typeface="Calibri"/>
              <a:cs typeface="Calibri"/>
              <a:sym typeface="Calibri"/>
            </a:endParaRPr>
          </a:p>
        </p:txBody>
      </p:sp>
      <p:sp>
        <p:nvSpPr>
          <p:cNvPr id="180" name="Google Shape;180;p47"/>
          <p:cNvSpPr/>
          <p:nvPr/>
        </p:nvSpPr>
        <p:spPr>
          <a:xfrm>
            <a:off x="502920" y="1280160"/>
            <a:ext cx="109728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3600"/>
              <a:buFont typeface="Arial"/>
              <a:buNone/>
            </a:pPr>
            <a:r>
              <a:rPr b="1" i="0" lang="en-US" sz="3400" u="none" cap="none" strike="noStrike">
                <a:solidFill>
                  <a:srgbClr val="FFFFFF"/>
                </a:solidFill>
                <a:latin typeface="Inter"/>
                <a:ea typeface="Inter"/>
                <a:cs typeface="Inter"/>
                <a:sym typeface="Inter"/>
              </a:rPr>
              <a:t>Wear glasses first. Snap the magnet second.</a:t>
            </a:r>
            <a:endParaRPr b="0" i="0" sz="3600" u="none" cap="none" strike="noStrike">
              <a:solidFill>
                <a:schemeClr val="dk1"/>
              </a:solidFill>
              <a:latin typeface="Calibri"/>
              <a:ea typeface="Calibri"/>
              <a:cs typeface="Calibri"/>
              <a:sym typeface="Calibri"/>
            </a:endParaRPr>
          </a:p>
        </p:txBody>
      </p:sp>
      <p:sp>
        <p:nvSpPr>
          <p:cNvPr id="181" name="Google Shape;181;p47"/>
          <p:cNvSpPr/>
          <p:nvPr/>
        </p:nvSpPr>
        <p:spPr>
          <a:xfrm>
            <a:off x="502920" y="2111430"/>
            <a:ext cx="1051560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C5D6"/>
              </a:buClr>
              <a:buSzPts val="1800"/>
              <a:buFont typeface="Calibri"/>
              <a:buNone/>
            </a:pPr>
            <a:r>
              <a:rPr b="0" i="1" lang="en-US" sz="1750" u="none" cap="none" strike="noStrike">
                <a:solidFill>
                  <a:srgbClr val="B7C5D6"/>
                </a:solidFill>
                <a:latin typeface="Inter"/>
                <a:ea typeface="Inter"/>
                <a:cs typeface="Inter"/>
                <a:sym typeface="Inter"/>
              </a:rPr>
              <a:t>Separating the glasses and headband via a magnetic nut-bolt pivot makes wearing IRIS effortless.</a:t>
            </a:r>
            <a:endParaRPr b="0" i="0" sz="1800" u="none" cap="none" strike="noStrike">
              <a:solidFill>
                <a:schemeClr val="dk1"/>
              </a:solidFill>
              <a:latin typeface="Calibri"/>
              <a:ea typeface="Calibri"/>
              <a:cs typeface="Calibri"/>
              <a:sym typeface="Calibri"/>
            </a:endParaRPr>
          </a:p>
        </p:txBody>
      </p:sp>
      <p:sp>
        <p:nvSpPr>
          <p:cNvPr id="182" name="Google Shape;182;p47"/>
          <p:cNvSpPr/>
          <p:nvPr/>
        </p:nvSpPr>
        <p:spPr>
          <a:xfrm>
            <a:off x="472288" y="2926080"/>
            <a:ext cx="5440680" cy="3474720"/>
          </a:xfrm>
          <a:prstGeom prst="roundRect">
            <a:avLst>
              <a:gd fmla="val 2105"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3" name="Google Shape;183;p47"/>
          <p:cNvSpPr/>
          <p:nvPr/>
        </p:nvSpPr>
        <p:spPr>
          <a:xfrm>
            <a:off x="792328" y="3246120"/>
            <a:ext cx="685800" cy="685800"/>
          </a:xfrm>
          <a:prstGeom prst="ellipse">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4" name="Google Shape;184;p47"/>
          <p:cNvSpPr/>
          <p:nvPr/>
        </p:nvSpPr>
        <p:spPr>
          <a:xfrm>
            <a:off x="792328" y="3246120"/>
            <a:ext cx="6858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5" name="Google Shape;185;p47"/>
          <p:cNvSpPr/>
          <p:nvPr/>
        </p:nvSpPr>
        <p:spPr>
          <a:xfrm>
            <a:off x="1661008" y="3164840"/>
            <a:ext cx="40692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300" u="none" cap="none" strike="noStrike">
                <a:solidFill>
                  <a:srgbClr val="22D3EE"/>
                </a:solidFill>
                <a:latin typeface="Inter"/>
                <a:ea typeface="Inter"/>
                <a:cs typeface="Inter"/>
                <a:sym typeface="Inter"/>
              </a:rPr>
              <a:t>MAGNETIC + NUT-BOLT PIVOT MOUNT</a:t>
            </a:r>
            <a:endParaRPr b="0" i="0" sz="1100" u="none" cap="none" strike="noStrike">
              <a:solidFill>
                <a:schemeClr val="dk1"/>
              </a:solidFill>
              <a:latin typeface="Calibri"/>
              <a:ea typeface="Calibri"/>
              <a:cs typeface="Calibri"/>
              <a:sym typeface="Calibri"/>
            </a:endParaRPr>
          </a:p>
        </p:txBody>
      </p:sp>
      <p:sp>
        <p:nvSpPr>
          <p:cNvPr id="186" name="Google Shape;186;p47"/>
          <p:cNvSpPr/>
          <p:nvPr/>
        </p:nvSpPr>
        <p:spPr>
          <a:xfrm>
            <a:off x="1661008" y="3566160"/>
            <a:ext cx="4114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1900" u="none" cap="none" strike="noStrike">
                <a:solidFill>
                  <a:srgbClr val="FFFFFF"/>
                </a:solidFill>
                <a:latin typeface="Inter"/>
                <a:ea typeface="Inter"/>
                <a:cs typeface="Inter"/>
                <a:sym typeface="Inter"/>
              </a:rPr>
              <a:t>Fits any frame — even ±7 power lenses.</a:t>
            </a:r>
            <a:endParaRPr b="0" i="0" sz="2000" u="none" cap="none" strike="noStrike">
              <a:solidFill>
                <a:schemeClr val="dk1"/>
              </a:solidFill>
              <a:latin typeface="Calibri"/>
              <a:ea typeface="Calibri"/>
              <a:cs typeface="Calibri"/>
              <a:sym typeface="Calibri"/>
            </a:endParaRPr>
          </a:p>
        </p:txBody>
      </p:sp>
      <p:sp>
        <p:nvSpPr>
          <p:cNvPr id="187" name="Google Shape;187;p47"/>
          <p:cNvSpPr/>
          <p:nvPr/>
        </p:nvSpPr>
        <p:spPr>
          <a:xfrm>
            <a:off x="792328" y="4212462"/>
            <a:ext cx="5010900" cy="160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800"/>
              <a:buFont typeface="Calibri"/>
              <a:buNone/>
            </a:pPr>
            <a:r>
              <a:rPr b="0" i="0" lang="en-US" sz="1450" u="none" cap="none" strike="noStrike">
                <a:solidFill>
                  <a:srgbClr val="B4C3DC"/>
                </a:solidFill>
                <a:latin typeface="Inter"/>
                <a:ea typeface="Inter"/>
                <a:cs typeface="Inter"/>
                <a:sym typeface="Inter"/>
              </a:rPr>
              <a:t>•  Removable magnet + nut-bolt pivot on frame.</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Wear glasses first, strap belt, snap magnet on.</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Supports any frame &amp; high-power ±7D lenses.</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Pivot joint adjusts IR angle without bending wires.</a:t>
            </a:r>
            <a:endParaRPr/>
          </a:p>
        </p:txBody>
      </p:sp>
      <p:sp>
        <p:nvSpPr>
          <p:cNvPr id="188" name="Google Shape;188;p47"/>
          <p:cNvSpPr/>
          <p:nvPr/>
        </p:nvSpPr>
        <p:spPr>
          <a:xfrm>
            <a:off x="792328" y="5897880"/>
            <a:ext cx="4663440" cy="347472"/>
          </a:xfrm>
          <a:prstGeom prst="roundRect">
            <a:avLst>
              <a:gd fmla="val 142857" name="adj"/>
            </a:avLst>
          </a:prstGeom>
          <a:solidFill>
            <a:srgbClr val="0B25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189" name="Google Shape;189;p47"/>
          <p:cNvSpPr/>
          <p:nvPr/>
        </p:nvSpPr>
        <p:spPr>
          <a:xfrm>
            <a:off x="792328" y="5897880"/>
            <a:ext cx="466344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200"/>
              <a:buFont typeface="Calibri"/>
              <a:buNone/>
            </a:pPr>
            <a:r>
              <a:rPr b="1" i="0" lang="en-US" sz="1300" u="none" cap="none" strike="noStrike">
                <a:solidFill>
                  <a:srgbClr val="22D3EE"/>
                </a:solidFill>
                <a:latin typeface="Inter"/>
                <a:ea typeface="Inter"/>
                <a:cs typeface="Inter"/>
                <a:sym typeface="Inter"/>
              </a:rPr>
              <a:t>Removable Magnet · Custom ±7D Lenses</a:t>
            </a:r>
            <a:endParaRPr b="0" i="0" sz="1100" u="none" cap="none" strike="noStrike">
              <a:solidFill>
                <a:schemeClr val="dk1"/>
              </a:solidFill>
              <a:latin typeface="Calibri"/>
              <a:ea typeface="Calibri"/>
              <a:cs typeface="Calibri"/>
              <a:sym typeface="Calibri"/>
            </a:endParaRPr>
          </a:p>
        </p:txBody>
      </p:sp>
      <p:sp>
        <p:nvSpPr>
          <p:cNvPr id="190" name="Google Shape;190;p47"/>
          <p:cNvSpPr/>
          <p:nvPr/>
        </p:nvSpPr>
        <p:spPr>
          <a:xfrm>
            <a:off x="6278728" y="2926080"/>
            <a:ext cx="5440680" cy="3474720"/>
          </a:xfrm>
          <a:prstGeom prst="roundRect">
            <a:avLst>
              <a:gd fmla="val 2105"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1" name="Google Shape;191;p47"/>
          <p:cNvSpPr/>
          <p:nvPr/>
        </p:nvSpPr>
        <p:spPr>
          <a:xfrm>
            <a:off x="6598768" y="3246120"/>
            <a:ext cx="685800" cy="685800"/>
          </a:xfrm>
          <a:prstGeom prst="ellipse">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2" name="Google Shape;192;p47"/>
          <p:cNvSpPr/>
          <p:nvPr/>
        </p:nvSpPr>
        <p:spPr>
          <a:xfrm>
            <a:off x="6598768" y="3246120"/>
            <a:ext cx="6858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B02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3" name="Google Shape;193;p47"/>
          <p:cNvSpPr/>
          <p:nvPr/>
        </p:nvSpPr>
        <p:spPr>
          <a:xfrm>
            <a:off x="7467448" y="3164840"/>
            <a:ext cx="40692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B020"/>
              </a:buClr>
              <a:buSzPts val="1100"/>
              <a:buFont typeface="Calibri"/>
              <a:buNone/>
            </a:pPr>
            <a:r>
              <a:rPr b="1" i="0" lang="en-US" sz="1300" u="none" cap="none" strike="noStrike">
                <a:solidFill>
                  <a:srgbClr val="FFB020"/>
                </a:solidFill>
                <a:latin typeface="Inter"/>
                <a:ea typeface="Inter"/>
                <a:cs typeface="Inter"/>
                <a:sym typeface="Inter"/>
              </a:rPr>
              <a:t>BREATHABLE VELCRO BELT + XIAO ESP32C3</a:t>
            </a:r>
            <a:endParaRPr b="0" i="0" sz="1100" u="none" cap="none" strike="noStrike">
              <a:solidFill>
                <a:schemeClr val="dk1"/>
              </a:solidFill>
              <a:latin typeface="Calibri"/>
              <a:ea typeface="Calibri"/>
              <a:cs typeface="Calibri"/>
              <a:sym typeface="Calibri"/>
            </a:endParaRPr>
          </a:p>
        </p:txBody>
      </p:sp>
      <p:sp>
        <p:nvSpPr>
          <p:cNvPr id="194" name="Google Shape;194;p47"/>
          <p:cNvSpPr/>
          <p:nvPr/>
        </p:nvSpPr>
        <p:spPr>
          <a:xfrm>
            <a:off x="7467448" y="3566160"/>
            <a:ext cx="4114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1900" u="none" cap="none" strike="noStrike">
                <a:solidFill>
                  <a:srgbClr val="FFFFFF"/>
                </a:solidFill>
                <a:latin typeface="Inter"/>
                <a:ea typeface="Inter"/>
                <a:cs typeface="Inter"/>
                <a:sym typeface="Inter"/>
              </a:rPr>
              <a:t>Airflow mesh, Velcro fit &amp; 12h battery.</a:t>
            </a:r>
            <a:endParaRPr b="0" i="0" sz="2000" u="none" cap="none" strike="noStrike">
              <a:solidFill>
                <a:schemeClr val="dk1"/>
              </a:solidFill>
              <a:latin typeface="Calibri"/>
              <a:ea typeface="Calibri"/>
              <a:cs typeface="Calibri"/>
              <a:sym typeface="Calibri"/>
            </a:endParaRPr>
          </a:p>
        </p:txBody>
      </p:sp>
      <p:sp>
        <p:nvSpPr>
          <p:cNvPr id="195" name="Google Shape;195;p47"/>
          <p:cNvSpPr/>
          <p:nvPr/>
        </p:nvSpPr>
        <p:spPr>
          <a:xfrm>
            <a:off x="6598768" y="4212462"/>
            <a:ext cx="5010900" cy="160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2000"/>
              <a:buFont typeface="Calibri"/>
              <a:buNone/>
            </a:pPr>
            <a:r>
              <a:rPr b="0" i="0" lang="en-US" sz="1450" u="none" cap="none" strike="noStrike">
                <a:solidFill>
                  <a:srgbClr val="B4C3DC"/>
                </a:solidFill>
                <a:latin typeface="Inter"/>
                <a:ea typeface="Inter"/>
                <a:cs typeface="Inter"/>
                <a:sym typeface="Inter"/>
              </a:rPr>
              <a:t>•  Perforated airflow belt keeps scalp cool all day.</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Soft Velcro straps replace rigid heavy buckles.</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XIAO C3 charges 3.7V Li-Po via BAT+/BAT- pads.</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Onboard regulator removes buck; 12h Deep Sleep.</a:t>
            </a:r>
            <a:endParaRPr/>
          </a:p>
        </p:txBody>
      </p:sp>
      <p:sp>
        <p:nvSpPr>
          <p:cNvPr id="196" name="Google Shape;196;p47"/>
          <p:cNvSpPr/>
          <p:nvPr/>
        </p:nvSpPr>
        <p:spPr>
          <a:xfrm>
            <a:off x="6598768" y="5897880"/>
            <a:ext cx="4663440" cy="347472"/>
          </a:xfrm>
          <a:prstGeom prst="roundRect">
            <a:avLst>
              <a:gd fmla="val 142857" name="adj"/>
            </a:avLst>
          </a:prstGeom>
          <a:solidFill>
            <a:srgbClr val="2A1F0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197" name="Google Shape;197;p47"/>
          <p:cNvSpPr/>
          <p:nvPr/>
        </p:nvSpPr>
        <p:spPr>
          <a:xfrm>
            <a:off x="6598768" y="5897880"/>
            <a:ext cx="466344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B020"/>
              </a:buClr>
              <a:buSzPts val="1050"/>
              <a:buFont typeface="Calibri"/>
              <a:buNone/>
            </a:pPr>
            <a:r>
              <a:rPr b="1" i="0" lang="en-US" sz="1300" u="none" cap="none" strike="noStrike">
                <a:solidFill>
                  <a:srgbClr val="FFB020"/>
                </a:solidFill>
                <a:latin typeface="Inter"/>
                <a:ea typeface="Inter"/>
                <a:cs typeface="Inter"/>
                <a:sym typeface="Inter"/>
              </a:rPr>
              <a:t>XIAO ESP32C3 · 3.7V LiPo · 12h Deep Sleep</a:t>
            </a:r>
            <a:endParaRPr b="0" i="0" sz="1050" u="none" cap="none" strike="noStrike">
              <a:solidFill>
                <a:schemeClr val="dk1"/>
              </a:solidFill>
              <a:latin typeface="Calibri"/>
              <a:ea typeface="Calibri"/>
              <a:cs typeface="Calibri"/>
              <a:sym typeface="Calibri"/>
            </a:endParaRPr>
          </a:p>
        </p:txBody>
      </p:sp>
      <p:pic>
        <p:nvPicPr>
          <p:cNvPr descr="icon_magnet.png" id="198" name="Google Shape;198;p47"/>
          <p:cNvPicPr preferRelativeResize="0"/>
          <p:nvPr/>
        </p:nvPicPr>
        <p:blipFill rotWithShape="1">
          <a:blip r:embed="rId3">
            <a:alphaModFix/>
          </a:blip>
          <a:srcRect b="0" l="0" r="0" t="0"/>
          <a:stretch/>
        </p:blipFill>
        <p:spPr>
          <a:xfrm>
            <a:off x="792328" y="3246120"/>
            <a:ext cx="685800" cy="685800"/>
          </a:xfrm>
          <a:prstGeom prst="rect">
            <a:avLst/>
          </a:prstGeom>
          <a:noFill/>
          <a:ln>
            <a:noFill/>
          </a:ln>
        </p:spPr>
      </p:pic>
      <p:pic>
        <p:nvPicPr>
          <p:cNvPr descr="icon_airflow.png" id="199" name="Google Shape;199;p47"/>
          <p:cNvPicPr preferRelativeResize="0"/>
          <p:nvPr/>
        </p:nvPicPr>
        <p:blipFill rotWithShape="1">
          <a:blip r:embed="rId4">
            <a:alphaModFix/>
          </a:blip>
          <a:srcRect b="0" l="0" r="0" t="0"/>
          <a:stretch/>
        </p:blipFill>
        <p:spPr>
          <a:xfrm>
            <a:off x="6598768" y="3246120"/>
            <a:ext cx="685800" cy="685800"/>
          </a:xfrm>
          <a:prstGeom prst="rect">
            <a:avLst/>
          </a:prstGeom>
          <a:noFill/>
          <a:ln>
            <a:noFill/>
          </a:ln>
        </p:spPr>
      </p:pic>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3"/>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206" name="Google Shape;206;p13"/>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7" name="Google Shape;207;p13"/>
          <p:cNvSpPr/>
          <p:nvPr/>
        </p:nvSpPr>
        <p:spPr>
          <a:xfrm>
            <a:off x="502920" y="868680"/>
            <a:ext cx="1051560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400" u="none" cap="none" strike="noStrike">
                <a:solidFill>
                  <a:srgbClr val="22D3EE"/>
                </a:solidFill>
                <a:latin typeface="Inter"/>
                <a:ea typeface="Inter"/>
                <a:cs typeface="Inter"/>
                <a:sym typeface="Inter"/>
              </a:rPr>
              <a:t>FIRST-RUN SETUP</a:t>
            </a:r>
            <a:endParaRPr b="0" i="0" sz="1100" u="none" cap="none" strike="noStrike">
              <a:solidFill>
                <a:schemeClr val="dk1"/>
              </a:solidFill>
              <a:latin typeface="Calibri"/>
              <a:ea typeface="Calibri"/>
              <a:cs typeface="Calibri"/>
              <a:sym typeface="Calibri"/>
            </a:endParaRPr>
          </a:p>
        </p:txBody>
      </p:sp>
      <p:sp>
        <p:nvSpPr>
          <p:cNvPr id="208" name="Google Shape;208;p13"/>
          <p:cNvSpPr/>
          <p:nvPr/>
        </p:nvSpPr>
        <p:spPr>
          <a:xfrm>
            <a:off x="502920" y="1280160"/>
            <a:ext cx="109728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3200"/>
              <a:buFont typeface="Arial"/>
              <a:buNone/>
            </a:pPr>
            <a:r>
              <a:rPr b="1" i="0" lang="en-US" sz="3600" u="none" cap="none" strike="noStrike">
                <a:solidFill>
                  <a:srgbClr val="FFFFFF"/>
                </a:solidFill>
                <a:latin typeface="Inter"/>
                <a:ea typeface="Inter"/>
                <a:cs typeface="Inter"/>
                <a:sym typeface="Inter"/>
              </a:rPr>
              <a:t>2–3 seconds to calibrate, every time you need it.</a:t>
            </a:r>
            <a:endParaRPr b="0" i="0" sz="3200" u="none" cap="none" strike="noStrike">
              <a:solidFill>
                <a:schemeClr val="dk1"/>
              </a:solidFill>
              <a:latin typeface="Calibri"/>
              <a:ea typeface="Calibri"/>
              <a:cs typeface="Calibri"/>
              <a:sym typeface="Calibri"/>
            </a:endParaRPr>
          </a:p>
        </p:txBody>
      </p:sp>
      <p:sp>
        <p:nvSpPr>
          <p:cNvPr id="209" name="Google Shape;209;p13"/>
          <p:cNvSpPr/>
          <p:nvPr/>
        </p:nvSpPr>
        <p:spPr>
          <a:xfrm>
            <a:off x="502920" y="2194560"/>
            <a:ext cx="1051560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C5D6"/>
              </a:buClr>
              <a:buSzPts val="1400"/>
              <a:buFont typeface="Calibri"/>
              <a:buNone/>
            </a:pPr>
            <a:r>
              <a:rPr b="0" i="1" lang="en-US" sz="1750" u="none" cap="none" strike="noStrike">
                <a:solidFill>
                  <a:srgbClr val="B7C5D6"/>
                </a:solidFill>
                <a:latin typeface="Inter"/>
                <a:ea typeface="Inter"/>
                <a:cs typeface="Inter"/>
                <a:sym typeface="Inter"/>
              </a:rPr>
              <a:t>Every face and every posture is different, so IRIS asks a few quick questions before it hands over the cursor.</a:t>
            </a:r>
            <a:endParaRPr b="0" i="0" sz="1400" u="none" cap="none" strike="noStrike">
              <a:solidFill>
                <a:schemeClr val="dk1"/>
              </a:solidFill>
              <a:latin typeface="Calibri"/>
              <a:ea typeface="Calibri"/>
              <a:cs typeface="Calibri"/>
              <a:sym typeface="Calibri"/>
            </a:endParaRPr>
          </a:p>
        </p:txBody>
      </p:sp>
      <p:sp>
        <p:nvSpPr>
          <p:cNvPr id="210" name="Google Shape;210;p13"/>
          <p:cNvSpPr/>
          <p:nvPr/>
        </p:nvSpPr>
        <p:spPr>
          <a:xfrm>
            <a:off x="1621506" y="3570732"/>
            <a:ext cx="8948684" cy="36576"/>
          </a:xfrm>
          <a:prstGeom prst="rect">
            <a:avLst/>
          </a:prstGeom>
          <a:solidFill>
            <a:srgbClr val="0E749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1" name="Google Shape;211;p13"/>
          <p:cNvSpPr/>
          <p:nvPr/>
        </p:nvSpPr>
        <p:spPr>
          <a:xfrm>
            <a:off x="1278606" y="3246120"/>
            <a:ext cx="685800" cy="685800"/>
          </a:xfrm>
          <a:prstGeom prst="ellipse">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2" name="Google Shape;212;p13"/>
          <p:cNvSpPr/>
          <p:nvPr/>
        </p:nvSpPr>
        <p:spPr>
          <a:xfrm>
            <a:off x="1278606" y="3246120"/>
            <a:ext cx="6858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A2E"/>
              </a:buClr>
              <a:buSzPts val="1600"/>
              <a:buFont typeface="Arial"/>
              <a:buNone/>
            </a:pPr>
            <a:r>
              <a:rPr b="1" i="0" lang="en-US" sz="2200" u="none" cap="none" strike="noStrike">
                <a:solidFill>
                  <a:srgbClr val="0B1A2E"/>
                </a:solidFill>
                <a:latin typeface="Inter"/>
                <a:ea typeface="Inter"/>
                <a:cs typeface="Inter"/>
                <a:sym typeface="Inter"/>
              </a:rPr>
              <a:t>1</a:t>
            </a:r>
            <a:endParaRPr b="0" i="0" sz="1600" u="none" cap="none" strike="noStrike">
              <a:solidFill>
                <a:schemeClr val="dk1"/>
              </a:solidFill>
              <a:latin typeface="Calibri"/>
              <a:ea typeface="Calibri"/>
              <a:cs typeface="Calibri"/>
              <a:sym typeface="Calibri"/>
            </a:endParaRPr>
          </a:p>
        </p:txBody>
      </p:sp>
      <p:sp>
        <p:nvSpPr>
          <p:cNvPr id="213" name="Google Shape;213;p13"/>
          <p:cNvSpPr/>
          <p:nvPr/>
        </p:nvSpPr>
        <p:spPr>
          <a:xfrm>
            <a:off x="502920" y="4096512"/>
            <a:ext cx="2237171"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Arial"/>
              <a:buNone/>
            </a:pPr>
            <a:r>
              <a:rPr b="1" i="0" lang="en-US" sz="1750" u="none" cap="none" strike="noStrike">
                <a:solidFill>
                  <a:srgbClr val="FFFFFF"/>
                </a:solidFill>
                <a:latin typeface="Inter"/>
                <a:ea typeface="Inter"/>
                <a:cs typeface="Inter"/>
                <a:sym typeface="Inter"/>
              </a:rPr>
              <a:t>Connect</a:t>
            </a:r>
            <a:endParaRPr b="0" i="0" sz="1400" u="none" cap="none" strike="noStrike">
              <a:solidFill>
                <a:schemeClr val="dk1"/>
              </a:solidFill>
              <a:latin typeface="Calibri"/>
              <a:ea typeface="Calibri"/>
              <a:cs typeface="Calibri"/>
              <a:sym typeface="Calibri"/>
            </a:endParaRPr>
          </a:p>
        </p:txBody>
      </p:sp>
      <p:sp>
        <p:nvSpPr>
          <p:cNvPr id="214" name="Google Shape;214;p13"/>
          <p:cNvSpPr/>
          <p:nvPr/>
        </p:nvSpPr>
        <p:spPr>
          <a:xfrm>
            <a:off x="675640" y="4498848"/>
            <a:ext cx="2145600" cy="141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C5D6"/>
              </a:buClr>
              <a:buSzPts val="1600"/>
              <a:buFont typeface="Calibri"/>
              <a:buNone/>
            </a:pPr>
            <a:r>
              <a:rPr b="1" i="0" lang="en-US" sz="1400" u="none" cap="none" strike="noStrike">
                <a:solidFill>
                  <a:srgbClr val="22D3EE"/>
                </a:solidFill>
                <a:latin typeface="Inter"/>
                <a:ea typeface="Inter"/>
                <a:cs typeface="Inter"/>
                <a:sym typeface="Inter"/>
              </a:rPr>
              <a:t>•  </a:t>
            </a:r>
            <a:r>
              <a:rPr b="0" i="0" lang="en-US" sz="1400" u="none" cap="none" strike="noStrike">
                <a:solidFill>
                  <a:srgbClr val="CDD5E2"/>
                </a:solidFill>
                <a:latin typeface="Inter"/>
                <a:ea typeface="Inter"/>
                <a:cs typeface="Inter"/>
                <a:sym typeface="Inter"/>
              </a:rPr>
              <a:t>Launch Python script</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rgbClr val="000000"/>
              </a:buClr>
              <a:buSzPts val="1400"/>
              <a:buFont typeface="Arial"/>
              <a:buNone/>
            </a:pPr>
            <a:r>
              <a:rPr b="1" i="0" lang="en-US" sz="1400" u="none" cap="none" strike="noStrike">
                <a:solidFill>
                  <a:srgbClr val="22D3EE"/>
                </a:solidFill>
                <a:latin typeface="Inter"/>
                <a:ea typeface="Inter"/>
                <a:cs typeface="Inter"/>
                <a:sym typeface="Inter"/>
              </a:rPr>
              <a:t>•  </a:t>
            </a:r>
            <a:r>
              <a:rPr b="0" i="0" lang="en-US" sz="1400" u="none" cap="none" strike="noStrike">
                <a:solidFill>
                  <a:srgbClr val="CDD5E2"/>
                </a:solidFill>
                <a:latin typeface="Inter"/>
                <a:ea typeface="Inter"/>
                <a:cs typeface="Inter"/>
                <a:sym typeface="Inter"/>
              </a:rPr>
              <a:t>Pairs via BLE or Wi-Fi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300"/>
              </a:spcAft>
              <a:buClr>
                <a:srgbClr val="000000"/>
              </a:buClr>
              <a:buSzPts val="1400"/>
              <a:buFont typeface="Arial"/>
              <a:buNone/>
            </a:pPr>
            <a:r>
              <a:rPr b="1" i="0" lang="en-US" sz="1400" u="none" cap="none" strike="noStrike">
                <a:solidFill>
                  <a:srgbClr val="22D3EE"/>
                </a:solidFill>
                <a:latin typeface="Inter"/>
                <a:ea typeface="Inter"/>
                <a:cs typeface="Inter"/>
                <a:sym typeface="Inter"/>
              </a:rPr>
              <a:t>•  </a:t>
            </a:r>
            <a:r>
              <a:rPr b="0" i="0" lang="en-US" sz="1400" u="none" cap="none" strike="noStrike">
                <a:solidFill>
                  <a:srgbClr val="CDD5E2"/>
                </a:solidFill>
                <a:latin typeface="Inter"/>
                <a:ea typeface="Inter"/>
                <a:cs typeface="Inter"/>
                <a:sym typeface="Inter"/>
              </a:rPr>
              <a:t>Sit still for baseline lock</a:t>
            </a:r>
            <a:endParaRPr b="0" i="0" sz="1400" u="none" cap="none" strike="noStrike">
              <a:solidFill>
                <a:srgbClr val="000000"/>
              </a:solidFill>
              <a:latin typeface="Arial"/>
              <a:ea typeface="Arial"/>
              <a:cs typeface="Arial"/>
              <a:sym typeface="Arial"/>
            </a:endParaRPr>
          </a:p>
        </p:txBody>
      </p:sp>
      <p:sp>
        <p:nvSpPr>
          <p:cNvPr id="215" name="Google Shape;215;p13"/>
          <p:cNvSpPr/>
          <p:nvPr/>
        </p:nvSpPr>
        <p:spPr>
          <a:xfrm>
            <a:off x="3515777" y="3246120"/>
            <a:ext cx="685800" cy="685800"/>
          </a:xfrm>
          <a:prstGeom prst="ellipse">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6" name="Google Shape;216;p13"/>
          <p:cNvSpPr/>
          <p:nvPr/>
        </p:nvSpPr>
        <p:spPr>
          <a:xfrm>
            <a:off x="3515777" y="3246120"/>
            <a:ext cx="6858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A2E"/>
              </a:buClr>
              <a:buSzPts val="1600"/>
              <a:buFont typeface="Arial"/>
              <a:buNone/>
            </a:pPr>
            <a:r>
              <a:rPr b="1" i="0" lang="en-US" sz="2200" u="none" cap="none" strike="noStrike">
                <a:solidFill>
                  <a:srgbClr val="0B1A2E"/>
                </a:solidFill>
                <a:latin typeface="Inter"/>
                <a:ea typeface="Inter"/>
                <a:cs typeface="Inter"/>
                <a:sym typeface="Inter"/>
              </a:rPr>
              <a:t>2</a:t>
            </a:r>
            <a:endParaRPr b="0" i="0" sz="1600" u="none" cap="none" strike="noStrike">
              <a:solidFill>
                <a:schemeClr val="dk1"/>
              </a:solidFill>
              <a:latin typeface="Calibri"/>
              <a:ea typeface="Calibri"/>
              <a:cs typeface="Calibri"/>
              <a:sym typeface="Calibri"/>
            </a:endParaRPr>
          </a:p>
        </p:txBody>
      </p:sp>
      <p:sp>
        <p:nvSpPr>
          <p:cNvPr id="217" name="Google Shape;217;p13"/>
          <p:cNvSpPr/>
          <p:nvPr/>
        </p:nvSpPr>
        <p:spPr>
          <a:xfrm>
            <a:off x="2740091" y="4096512"/>
            <a:ext cx="2237171"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Arial"/>
              <a:buNone/>
            </a:pPr>
            <a:r>
              <a:rPr b="1" i="0" lang="en-US" sz="1750" u="none" cap="none" strike="noStrike">
                <a:solidFill>
                  <a:srgbClr val="FFFFFF"/>
                </a:solidFill>
                <a:latin typeface="Inter"/>
                <a:ea typeface="Inter"/>
                <a:cs typeface="Inter"/>
                <a:sym typeface="Inter"/>
              </a:rPr>
              <a:t>User check</a:t>
            </a:r>
            <a:endParaRPr b="0" i="0" sz="1400" u="none" cap="none" strike="noStrike">
              <a:solidFill>
                <a:schemeClr val="dk1"/>
              </a:solidFill>
              <a:latin typeface="Calibri"/>
              <a:ea typeface="Calibri"/>
              <a:cs typeface="Calibri"/>
              <a:sym typeface="Calibri"/>
            </a:endParaRPr>
          </a:p>
        </p:txBody>
      </p:sp>
      <p:sp>
        <p:nvSpPr>
          <p:cNvPr id="218" name="Google Shape;218;p13"/>
          <p:cNvSpPr/>
          <p:nvPr/>
        </p:nvSpPr>
        <p:spPr>
          <a:xfrm>
            <a:off x="2912811" y="4498848"/>
            <a:ext cx="2145600" cy="141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C5D6"/>
              </a:buClr>
              <a:buSzPts val="1600"/>
              <a:buFont typeface="Calibri"/>
              <a:buNone/>
            </a:pPr>
            <a:r>
              <a:rPr b="1" i="0" lang="en-US" sz="1400" u="none" cap="none" strike="noStrike">
                <a:solidFill>
                  <a:srgbClr val="22D3EE"/>
                </a:solidFill>
                <a:latin typeface="Inter"/>
                <a:ea typeface="Inter"/>
                <a:cs typeface="Inter"/>
                <a:sym typeface="Inter"/>
              </a:rPr>
              <a:t>•  </a:t>
            </a:r>
            <a:r>
              <a:rPr b="0" i="0" lang="en-US" sz="1400" u="none" cap="none" strike="noStrike">
                <a:solidFill>
                  <a:srgbClr val="CDD5E2"/>
                </a:solidFill>
                <a:latin typeface="Inter"/>
                <a:ea typeface="Inter"/>
                <a:cs typeface="Inter"/>
                <a:sym typeface="Inter"/>
              </a:rPr>
              <a:t>Detects new vs. saved user</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rgbClr val="000000"/>
              </a:buClr>
              <a:buSzPts val="1400"/>
              <a:buFont typeface="Arial"/>
              <a:buNone/>
            </a:pPr>
            <a:r>
              <a:rPr b="1" i="0" lang="en-US" sz="1400" u="none" cap="none" strike="noStrike">
                <a:solidFill>
                  <a:srgbClr val="22D3EE"/>
                </a:solidFill>
                <a:latin typeface="Inter"/>
                <a:ea typeface="Inter"/>
                <a:cs typeface="Inter"/>
                <a:sym typeface="Inter"/>
              </a:rPr>
              <a:t>•  </a:t>
            </a:r>
            <a:r>
              <a:rPr b="0" i="0" lang="en-US" sz="1400" u="none" cap="none" strike="noStrike">
                <a:solidFill>
                  <a:srgbClr val="CDD5E2"/>
                </a:solidFill>
                <a:latin typeface="Inter"/>
                <a:ea typeface="Inter"/>
                <a:cs typeface="Inter"/>
                <a:sym typeface="Inter"/>
              </a:rPr>
              <a:t>Returning users load profile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300"/>
              </a:spcAft>
              <a:buClr>
                <a:srgbClr val="000000"/>
              </a:buClr>
              <a:buSzPts val="1400"/>
              <a:buFont typeface="Arial"/>
              <a:buNone/>
            </a:pPr>
            <a:r>
              <a:rPr b="1" i="0" lang="en-US" sz="1400" u="none" cap="none" strike="noStrike">
                <a:solidFill>
                  <a:srgbClr val="22D3EE"/>
                </a:solidFill>
                <a:latin typeface="Inter"/>
                <a:ea typeface="Inter"/>
                <a:cs typeface="Inter"/>
                <a:sym typeface="Inter"/>
              </a:rPr>
              <a:t>•  </a:t>
            </a:r>
            <a:r>
              <a:rPr b="0" i="0" lang="en-US" sz="1400" u="none" cap="none" strike="noStrike">
                <a:solidFill>
                  <a:srgbClr val="CDD5E2"/>
                </a:solidFill>
                <a:latin typeface="Inter"/>
                <a:ea typeface="Inter"/>
                <a:cs typeface="Inter"/>
                <a:sym typeface="Inter"/>
              </a:rPr>
              <a:t>Skips ahead in &lt;5 seconds</a:t>
            </a:r>
            <a:endParaRPr b="0" i="0" sz="1400" u="none" cap="none" strike="noStrike">
              <a:solidFill>
                <a:srgbClr val="000000"/>
              </a:solidFill>
              <a:latin typeface="Arial"/>
              <a:ea typeface="Arial"/>
              <a:cs typeface="Arial"/>
              <a:sym typeface="Arial"/>
            </a:endParaRPr>
          </a:p>
        </p:txBody>
      </p:sp>
      <p:sp>
        <p:nvSpPr>
          <p:cNvPr id="219" name="Google Shape;219;p13"/>
          <p:cNvSpPr/>
          <p:nvPr/>
        </p:nvSpPr>
        <p:spPr>
          <a:xfrm>
            <a:off x="5752948" y="3246120"/>
            <a:ext cx="685800" cy="685800"/>
          </a:xfrm>
          <a:prstGeom prst="ellipse">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0" name="Google Shape;220;p13"/>
          <p:cNvSpPr/>
          <p:nvPr/>
        </p:nvSpPr>
        <p:spPr>
          <a:xfrm>
            <a:off x="5752948" y="3246120"/>
            <a:ext cx="6858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A2E"/>
              </a:buClr>
              <a:buSzPts val="1600"/>
              <a:buFont typeface="Arial"/>
              <a:buNone/>
            </a:pPr>
            <a:r>
              <a:rPr b="1" i="0" lang="en-US" sz="2200" u="none" cap="none" strike="noStrike">
                <a:solidFill>
                  <a:srgbClr val="0B1A2E"/>
                </a:solidFill>
                <a:latin typeface="Inter"/>
                <a:ea typeface="Inter"/>
                <a:cs typeface="Inter"/>
                <a:sym typeface="Inter"/>
              </a:rPr>
              <a:t>3</a:t>
            </a:r>
            <a:endParaRPr b="0" i="0" sz="1600" u="none" cap="none" strike="noStrike">
              <a:solidFill>
                <a:schemeClr val="dk1"/>
              </a:solidFill>
              <a:latin typeface="Calibri"/>
              <a:ea typeface="Calibri"/>
              <a:cs typeface="Calibri"/>
              <a:sym typeface="Calibri"/>
            </a:endParaRPr>
          </a:p>
        </p:txBody>
      </p:sp>
      <p:sp>
        <p:nvSpPr>
          <p:cNvPr id="221" name="Google Shape;221;p13"/>
          <p:cNvSpPr/>
          <p:nvPr/>
        </p:nvSpPr>
        <p:spPr>
          <a:xfrm>
            <a:off x="4977262" y="4096512"/>
            <a:ext cx="2237171"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Arial"/>
              <a:buNone/>
            </a:pPr>
            <a:r>
              <a:rPr b="1" i="0" lang="en-US" sz="1750" u="none" cap="none" strike="noStrike">
                <a:solidFill>
                  <a:srgbClr val="FFFFFF"/>
                </a:solidFill>
                <a:latin typeface="Inter"/>
                <a:ea typeface="Inter"/>
                <a:cs typeface="Inter"/>
                <a:sym typeface="Inter"/>
              </a:rPr>
              <a:t>Gesture calibrate</a:t>
            </a:r>
            <a:endParaRPr b="0" i="0" sz="1400" u="none" cap="none" strike="noStrike">
              <a:solidFill>
                <a:schemeClr val="dk1"/>
              </a:solidFill>
              <a:latin typeface="Calibri"/>
              <a:ea typeface="Calibri"/>
              <a:cs typeface="Calibri"/>
              <a:sym typeface="Calibri"/>
            </a:endParaRPr>
          </a:p>
        </p:txBody>
      </p:sp>
      <p:sp>
        <p:nvSpPr>
          <p:cNvPr id="222" name="Google Shape;222;p13"/>
          <p:cNvSpPr/>
          <p:nvPr/>
        </p:nvSpPr>
        <p:spPr>
          <a:xfrm>
            <a:off x="5149982" y="4498848"/>
            <a:ext cx="2145600" cy="141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C5D6"/>
              </a:buClr>
              <a:buSzPts val="1600"/>
              <a:buFont typeface="Calibri"/>
              <a:buNone/>
            </a:pPr>
            <a:r>
              <a:rPr b="1" i="0" lang="en-US" sz="1400" u="none" cap="none" strike="noStrike">
                <a:solidFill>
                  <a:srgbClr val="22D3EE"/>
                </a:solidFill>
                <a:latin typeface="Inter"/>
                <a:ea typeface="Inter"/>
                <a:cs typeface="Inter"/>
                <a:sym typeface="Inter"/>
              </a:rPr>
              <a:t>•  </a:t>
            </a:r>
            <a:r>
              <a:rPr b="0" i="0" lang="en-US" sz="1400" u="none" cap="none" strike="noStrike">
                <a:solidFill>
                  <a:srgbClr val="CDD5E2"/>
                </a:solidFill>
                <a:latin typeface="Inter"/>
                <a:ea typeface="Inter"/>
                <a:cs typeface="Inter"/>
                <a:sym typeface="Inter"/>
              </a:rPr>
              <a:t>Nod up/down &amp; tilt left/right</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rgbClr val="000000"/>
              </a:buClr>
              <a:buSzPts val="1400"/>
              <a:buFont typeface="Arial"/>
              <a:buNone/>
            </a:pPr>
            <a:r>
              <a:rPr b="1" i="0" lang="en-US" sz="1400" u="none" cap="none" strike="noStrike">
                <a:solidFill>
                  <a:srgbClr val="22D3EE"/>
                </a:solidFill>
                <a:latin typeface="Inter"/>
                <a:ea typeface="Inter"/>
                <a:cs typeface="Inter"/>
                <a:sym typeface="Inter"/>
              </a:rPr>
              <a:t>•  </a:t>
            </a:r>
            <a:r>
              <a:rPr b="0" i="0" lang="en-US" sz="1400" u="none" cap="none" strike="noStrike">
                <a:solidFill>
                  <a:srgbClr val="CDD5E2"/>
                </a:solidFill>
                <a:latin typeface="Inter"/>
                <a:ea typeface="Inter"/>
                <a:cs typeface="Inter"/>
                <a:sym typeface="Inter"/>
              </a:rPr>
              <a:t>Learns comfortable head range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300"/>
              </a:spcAft>
              <a:buClr>
                <a:srgbClr val="000000"/>
              </a:buClr>
              <a:buSzPts val="1400"/>
              <a:buFont typeface="Arial"/>
              <a:buNone/>
            </a:pPr>
            <a:r>
              <a:rPr b="1" i="0" lang="en-US" sz="1400" u="none" cap="none" strike="noStrike">
                <a:solidFill>
                  <a:srgbClr val="22D3EE"/>
                </a:solidFill>
                <a:latin typeface="Inter"/>
                <a:ea typeface="Inter"/>
                <a:cs typeface="Inter"/>
                <a:sym typeface="Inter"/>
              </a:rPr>
              <a:t>•  </a:t>
            </a:r>
            <a:r>
              <a:rPr b="0" i="0" lang="en-US" sz="1400" u="none" cap="none" strike="noStrike">
                <a:solidFill>
                  <a:srgbClr val="CDD5E2"/>
                </a:solidFill>
                <a:latin typeface="Inter"/>
                <a:ea typeface="Inter"/>
                <a:cs typeface="Inter"/>
                <a:sym typeface="Inter"/>
              </a:rPr>
              <a:t>Sets dead-zone filter</a:t>
            </a:r>
            <a:endParaRPr b="0" i="0" sz="1400" u="none" cap="none" strike="noStrike">
              <a:solidFill>
                <a:srgbClr val="000000"/>
              </a:solidFill>
              <a:latin typeface="Arial"/>
              <a:ea typeface="Arial"/>
              <a:cs typeface="Arial"/>
              <a:sym typeface="Arial"/>
            </a:endParaRPr>
          </a:p>
        </p:txBody>
      </p:sp>
      <p:sp>
        <p:nvSpPr>
          <p:cNvPr id="223" name="Google Shape;223;p13"/>
          <p:cNvSpPr/>
          <p:nvPr/>
        </p:nvSpPr>
        <p:spPr>
          <a:xfrm>
            <a:off x="7990119" y="3246120"/>
            <a:ext cx="685800" cy="685800"/>
          </a:xfrm>
          <a:prstGeom prst="ellipse">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4" name="Google Shape;224;p13"/>
          <p:cNvSpPr/>
          <p:nvPr/>
        </p:nvSpPr>
        <p:spPr>
          <a:xfrm>
            <a:off x="7990119" y="3246120"/>
            <a:ext cx="6858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A2E"/>
              </a:buClr>
              <a:buSzPts val="1600"/>
              <a:buFont typeface="Arial"/>
              <a:buNone/>
            </a:pPr>
            <a:r>
              <a:rPr b="1" i="0" lang="en-US" sz="2200" u="none" cap="none" strike="noStrike">
                <a:solidFill>
                  <a:srgbClr val="0B1A2E"/>
                </a:solidFill>
                <a:latin typeface="Inter"/>
                <a:ea typeface="Inter"/>
                <a:cs typeface="Inter"/>
                <a:sym typeface="Inter"/>
              </a:rPr>
              <a:t>4</a:t>
            </a:r>
            <a:endParaRPr b="0" i="0" sz="1600" u="none" cap="none" strike="noStrike">
              <a:solidFill>
                <a:schemeClr val="dk1"/>
              </a:solidFill>
              <a:latin typeface="Calibri"/>
              <a:ea typeface="Calibri"/>
              <a:cs typeface="Calibri"/>
              <a:sym typeface="Calibri"/>
            </a:endParaRPr>
          </a:p>
        </p:txBody>
      </p:sp>
      <p:sp>
        <p:nvSpPr>
          <p:cNvPr id="225" name="Google Shape;225;p13"/>
          <p:cNvSpPr/>
          <p:nvPr/>
        </p:nvSpPr>
        <p:spPr>
          <a:xfrm>
            <a:off x="7214433" y="4096512"/>
            <a:ext cx="2237171"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Arial"/>
              <a:buNone/>
            </a:pPr>
            <a:r>
              <a:rPr b="1" i="0" lang="en-US" sz="1750" u="none" cap="none" strike="noStrike">
                <a:solidFill>
                  <a:srgbClr val="FFFFFF"/>
                </a:solidFill>
                <a:latin typeface="Inter"/>
                <a:ea typeface="Inter"/>
                <a:cs typeface="Inter"/>
                <a:sym typeface="Inter"/>
              </a:rPr>
              <a:t>Blink calibrate</a:t>
            </a:r>
            <a:endParaRPr b="0" i="0" sz="1400" u="none" cap="none" strike="noStrike">
              <a:solidFill>
                <a:schemeClr val="dk1"/>
              </a:solidFill>
              <a:latin typeface="Calibri"/>
              <a:ea typeface="Calibri"/>
              <a:cs typeface="Calibri"/>
              <a:sym typeface="Calibri"/>
            </a:endParaRPr>
          </a:p>
        </p:txBody>
      </p:sp>
      <p:sp>
        <p:nvSpPr>
          <p:cNvPr id="226" name="Google Shape;226;p13"/>
          <p:cNvSpPr/>
          <p:nvPr/>
        </p:nvSpPr>
        <p:spPr>
          <a:xfrm>
            <a:off x="7387153" y="4498848"/>
            <a:ext cx="2145600" cy="141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C5D6"/>
              </a:buClr>
              <a:buSzPts val="1600"/>
              <a:buFont typeface="Calibri"/>
              <a:buNone/>
            </a:pPr>
            <a:r>
              <a:rPr b="1" i="0" lang="en-US" sz="1400" u="none" cap="none" strike="noStrike">
                <a:solidFill>
                  <a:srgbClr val="22D3EE"/>
                </a:solidFill>
                <a:latin typeface="Inter"/>
                <a:ea typeface="Inter"/>
                <a:cs typeface="Inter"/>
                <a:sym typeface="Inter"/>
              </a:rPr>
              <a:t>•  </a:t>
            </a:r>
            <a:r>
              <a:rPr b="0" i="0" lang="en-US" sz="1400" u="none" cap="none" strike="noStrike">
                <a:solidFill>
                  <a:srgbClr val="CDD5E2"/>
                </a:solidFill>
                <a:latin typeface="Inter"/>
                <a:ea typeface="Inter"/>
                <a:cs typeface="Inter"/>
                <a:sym typeface="Inter"/>
              </a:rPr>
              <a:t>Takes just 2–3 seconds</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rgbClr val="000000"/>
              </a:buClr>
              <a:buSzPts val="1400"/>
              <a:buFont typeface="Arial"/>
              <a:buNone/>
            </a:pPr>
            <a:r>
              <a:rPr b="1" i="0" lang="en-US" sz="1400" u="none" cap="none" strike="noStrike">
                <a:solidFill>
                  <a:srgbClr val="22D3EE"/>
                </a:solidFill>
                <a:latin typeface="Inter"/>
                <a:ea typeface="Inter"/>
                <a:cs typeface="Inter"/>
                <a:sym typeface="Inter"/>
              </a:rPr>
              <a:t>•  </a:t>
            </a:r>
            <a:r>
              <a:rPr b="0" i="0" lang="en-US" sz="1400" u="none" cap="none" strike="noStrike">
                <a:solidFill>
                  <a:srgbClr val="CDD5E2"/>
                </a:solidFill>
                <a:latin typeface="Inter"/>
                <a:ea typeface="Inter"/>
                <a:cs typeface="Inter"/>
                <a:sym typeface="Inter"/>
              </a:rPr>
              <a:t>Locks deliberate blink timing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300"/>
              </a:spcAft>
              <a:buClr>
                <a:srgbClr val="000000"/>
              </a:buClr>
              <a:buSzPts val="1400"/>
              <a:buFont typeface="Arial"/>
              <a:buNone/>
            </a:pPr>
            <a:r>
              <a:rPr b="1" i="0" lang="en-US" sz="1400" u="none" cap="none" strike="noStrike">
                <a:solidFill>
                  <a:srgbClr val="22D3EE"/>
                </a:solidFill>
                <a:latin typeface="Inter"/>
                <a:ea typeface="Inter"/>
                <a:cs typeface="Inter"/>
                <a:sym typeface="Inter"/>
              </a:rPr>
              <a:t>•  </a:t>
            </a:r>
            <a:r>
              <a:rPr b="0" i="0" lang="en-US" sz="1400" u="none" cap="none" strike="noStrike">
                <a:solidFill>
                  <a:srgbClr val="CDD5E2"/>
                </a:solidFill>
                <a:latin typeface="Inter"/>
                <a:ea typeface="Inter"/>
                <a:cs typeface="Inter"/>
                <a:sym typeface="Inter"/>
              </a:rPr>
              <a:t>Syncs live Python eye twin</a:t>
            </a:r>
            <a:endParaRPr b="0" i="0" sz="1400" u="none" cap="none" strike="noStrike">
              <a:solidFill>
                <a:srgbClr val="000000"/>
              </a:solidFill>
              <a:latin typeface="Arial"/>
              <a:ea typeface="Arial"/>
              <a:cs typeface="Arial"/>
              <a:sym typeface="Arial"/>
            </a:endParaRPr>
          </a:p>
        </p:txBody>
      </p:sp>
      <p:sp>
        <p:nvSpPr>
          <p:cNvPr id="227" name="Google Shape;227;p13"/>
          <p:cNvSpPr/>
          <p:nvPr/>
        </p:nvSpPr>
        <p:spPr>
          <a:xfrm>
            <a:off x="10227290" y="3246120"/>
            <a:ext cx="685800" cy="685800"/>
          </a:xfrm>
          <a:prstGeom prst="ellipse">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8" name="Google Shape;228;p13"/>
          <p:cNvSpPr/>
          <p:nvPr/>
        </p:nvSpPr>
        <p:spPr>
          <a:xfrm>
            <a:off x="10227290" y="3246120"/>
            <a:ext cx="6858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A2E"/>
              </a:buClr>
              <a:buSzPts val="1600"/>
              <a:buFont typeface="Arial"/>
              <a:buNone/>
            </a:pPr>
            <a:r>
              <a:rPr b="1" i="0" lang="en-US" sz="2200" u="none" cap="none" strike="noStrike">
                <a:solidFill>
                  <a:srgbClr val="0B1A2E"/>
                </a:solidFill>
                <a:latin typeface="Inter"/>
                <a:ea typeface="Inter"/>
                <a:cs typeface="Inter"/>
                <a:sym typeface="Inter"/>
              </a:rPr>
              <a:t>5</a:t>
            </a:r>
            <a:endParaRPr b="0" i="0" sz="1600" u="none" cap="none" strike="noStrike">
              <a:solidFill>
                <a:schemeClr val="dk1"/>
              </a:solidFill>
              <a:latin typeface="Calibri"/>
              <a:ea typeface="Calibri"/>
              <a:cs typeface="Calibri"/>
              <a:sym typeface="Calibri"/>
            </a:endParaRPr>
          </a:p>
        </p:txBody>
      </p:sp>
      <p:sp>
        <p:nvSpPr>
          <p:cNvPr id="229" name="Google Shape;229;p13"/>
          <p:cNvSpPr/>
          <p:nvPr/>
        </p:nvSpPr>
        <p:spPr>
          <a:xfrm>
            <a:off x="9451604" y="4096512"/>
            <a:ext cx="2237171"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Arial"/>
              <a:buNone/>
            </a:pPr>
            <a:r>
              <a:rPr b="1" i="0" lang="en-US" sz="1750" u="none" cap="none" strike="noStrike">
                <a:solidFill>
                  <a:srgbClr val="FFFFFF"/>
                </a:solidFill>
                <a:latin typeface="Inter"/>
                <a:ea typeface="Inter"/>
                <a:cs typeface="Inter"/>
                <a:sym typeface="Inter"/>
              </a:rPr>
              <a:t>Ready</a:t>
            </a:r>
            <a:endParaRPr b="0" i="0" sz="1400" u="none" cap="none" strike="noStrike">
              <a:solidFill>
                <a:schemeClr val="dk1"/>
              </a:solidFill>
              <a:latin typeface="Calibri"/>
              <a:ea typeface="Calibri"/>
              <a:cs typeface="Calibri"/>
              <a:sym typeface="Calibri"/>
            </a:endParaRPr>
          </a:p>
        </p:txBody>
      </p:sp>
      <p:sp>
        <p:nvSpPr>
          <p:cNvPr id="230" name="Google Shape;230;p13"/>
          <p:cNvSpPr/>
          <p:nvPr/>
        </p:nvSpPr>
        <p:spPr>
          <a:xfrm>
            <a:off x="9624324" y="4498848"/>
            <a:ext cx="2145600" cy="141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C5D6"/>
              </a:buClr>
              <a:buSzPts val="1600"/>
              <a:buFont typeface="Calibri"/>
              <a:buNone/>
            </a:pPr>
            <a:r>
              <a:rPr b="1" i="0" lang="en-US" sz="1400" u="none" cap="none" strike="noStrike">
                <a:solidFill>
                  <a:srgbClr val="22D3EE"/>
                </a:solidFill>
                <a:latin typeface="Inter"/>
                <a:ea typeface="Inter"/>
                <a:cs typeface="Inter"/>
                <a:sym typeface="Inter"/>
              </a:rPr>
              <a:t>•  </a:t>
            </a:r>
            <a:r>
              <a:rPr b="0" i="0" lang="en-US" sz="1400" u="none" cap="none" strike="noStrike">
                <a:solidFill>
                  <a:srgbClr val="CDD5E2"/>
                </a:solidFill>
                <a:latin typeface="Inter"/>
                <a:ea typeface="Inter"/>
                <a:cs typeface="Inter"/>
                <a:sym typeface="Inter"/>
              </a:rPr>
              <a:t>Cursor goes live immediately</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rgbClr val="000000"/>
              </a:buClr>
              <a:buSzPts val="1400"/>
              <a:buFont typeface="Arial"/>
              <a:buNone/>
            </a:pPr>
            <a:r>
              <a:rPr b="1" i="0" lang="en-US" sz="1400" u="none" cap="none" strike="noStrike">
                <a:solidFill>
                  <a:srgbClr val="22D3EE"/>
                </a:solidFill>
                <a:latin typeface="Inter"/>
                <a:ea typeface="Inter"/>
                <a:cs typeface="Inter"/>
                <a:sym typeface="Inter"/>
              </a:rPr>
              <a:t>•  </a:t>
            </a:r>
            <a:r>
              <a:rPr b="0" i="0" lang="en-US" sz="1400" u="none" cap="none" strike="noStrike">
                <a:solidFill>
                  <a:srgbClr val="CDD5E2"/>
                </a:solidFill>
                <a:latin typeface="Inter"/>
                <a:ea typeface="Inter"/>
                <a:cs typeface="Inter"/>
                <a:sym typeface="Inter"/>
              </a:rPr>
              <a:t>Drives any OS or web app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300"/>
              </a:spcAft>
              <a:buClr>
                <a:srgbClr val="000000"/>
              </a:buClr>
              <a:buSzPts val="1400"/>
              <a:buFont typeface="Arial"/>
              <a:buNone/>
            </a:pPr>
            <a:r>
              <a:rPr b="1" i="0" lang="en-US" sz="1400" u="none" cap="none" strike="noStrike">
                <a:solidFill>
                  <a:srgbClr val="22D3EE"/>
                </a:solidFill>
                <a:latin typeface="Inter"/>
                <a:ea typeface="Inter"/>
                <a:cs typeface="Inter"/>
                <a:sym typeface="Inter"/>
              </a:rPr>
              <a:t>•  </a:t>
            </a:r>
            <a:r>
              <a:rPr b="0" i="0" lang="en-US" sz="1400" u="none" cap="none" strike="noStrike">
                <a:solidFill>
                  <a:srgbClr val="CDD5E2"/>
                </a:solidFill>
                <a:latin typeface="Inter"/>
                <a:ea typeface="Inter"/>
                <a:cs typeface="Inter"/>
                <a:sym typeface="Inter"/>
              </a:rPr>
              <a:t>Zero further setup needed</a:t>
            </a:r>
            <a:endParaRPr b="0" i="0" sz="1400" u="none" cap="none" strike="noStrike">
              <a:solidFill>
                <a:srgbClr val="000000"/>
              </a:solidFill>
              <a:latin typeface="Arial"/>
              <a:ea typeface="Arial"/>
              <a:cs typeface="Arial"/>
              <a:sym typeface="Arial"/>
            </a:endParaRPr>
          </a:p>
        </p:txBody>
      </p:sp>
      <p:sp>
        <p:nvSpPr>
          <p:cNvPr id="231" name="Google Shape;231;p13"/>
          <p:cNvSpPr/>
          <p:nvPr/>
        </p:nvSpPr>
        <p:spPr>
          <a:xfrm>
            <a:off x="502920" y="5897880"/>
            <a:ext cx="11185855" cy="685800"/>
          </a:xfrm>
          <a:prstGeom prst="roundRect">
            <a:avLst>
              <a:gd fmla="val 10667" name="adj"/>
            </a:avLst>
          </a:prstGeom>
          <a:solidFill>
            <a:srgbClr val="0F2440"/>
          </a:solidFill>
          <a:ln cap="flat" cmpd="sng" w="9525">
            <a:solidFill>
              <a:srgbClr val="0E7490">
                <a:alpha val="4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sp>
        <p:nvSpPr>
          <p:cNvPr id="232" name="Google Shape;232;p13"/>
          <p:cNvSpPr/>
          <p:nvPr/>
        </p:nvSpPr>
        <p:spPr>
          <a:xfrm>
            <a:off x="777240" y="5943600"/>
            <a:ext cx="10637215"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600"/>
              <a:buFont typeface="Calibri"/>
              <a:buNone/>
            </a:pPr>
            <a:r>
              <a:rPr b="1" i="0" lang="en-US" sz="1600" u="none" cap="none" strike="noStrike">
                <a:solidFill>
                  <a:srgbClr val="22D3EE"/>
                </a:solidFill>
                <a:latin typeface="Inter"/>
                <a:ea typeface="Inter"/>
                <a:cs typeface="Inter"/>
                <a:sym typeface="Inter"/>
              </a:rPr>
              <a:t>SAVED PROFILE  ·  First-run blink calibration takes just 2–3 seconds. Returning users load their saved profile instantly.</a:t>
            </a:r>
            <a:endParaRPr b="0" i="0" sz="1200" u="none" cap="none" strike="noStrike">
              <a:solidFill>
                <a:schemeClr val="dk1"/>
              </a:solidFill>
              <a:latin typeface="Calibri"/>
              <a:ea typeface="Calibri"/>
              <a:cs typeface="Calibri"/>
              <a:sym typeface="Calibri"/>
            </a:endParaRPr>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A2E"/>
        </a:solidFill>
      </p:bgPr>
    </p:bg>
    <p:spTree>
      <p:nvGrpSpPr>
        <p:cNvPr id="236" name="Shape 236"/>
        <p:cNvGrpSpPr/>
        <p:nvPr/>
      </p:nvGrpSpPr>
      <p:grpSpPr>
        <a:xfrm>
          <a:off x="0" y="0"/>
          <a:ext cx="0" cy="0"/>
          <a:chOff x="0" y="0"/>
          <a:chExt cx="0" cy="0"/>
        </a:xfrm>
      </p:grpSpPr>
      <p:sp>
        <p:nvSpPr>
          <p:cNvPr id="237" name="Google Shape;237;p42"/>
          <p:cNvSpPr txBox="1"/>
          <p:nvPr/>
        </p:nvSpPr>
        <p:spPr>
          <a:xfrm>
            <a:off x="502920" y="274320"/>
            <a:ext cx="18288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5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238" name="Google Shape;238;p42"/>
          <p:cNvSpPr txBox="1"/>
          <p:nvPr/>
        </p:nvSpPr>
        <p:spPr>
          <a:xfrm>
            <a:off x="685800" y="274320"/>
            <a:ext cx="36576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1150" u="none" cap="none" strike="noStrike">
                <a:solidFill>
                  <a:srgbClr val="CDD5E2"/>
                </a:solidFill>
                <a:latin typeface="Inter"/>
                <a:ea typeface="Inter"/>
                <a:cs typeface="Inter"/>
                <a:sym typeface="Inter"/>
              </a:rPr>
              <a:t>IRIS</a:t>
            </a:r>
            <a:endParaRPr b="0" i="0" sz="1400" u="none" cap="none" strike="noStrike">
              <a:solidFill>
                <a:srgbClr val="000000"/>
              </a:solidFill>
              <a:latin typeface="Arial"/>
              <a:ea typeface="Arial"/>
              <a:cs typeface="Arial"/>
              <a:sym typeface="Arial"/>
            </a:endParaRPr>
          </a:p>
        </p:txBody>
      </p:sp>
      <p:sp>
        <p:nvSpPr>
          <p:cNvPr id="239" name="Google Shape;239;p42"/>
          <p:cNvSpPr txBox="1"/>
          <p:nvPr/>
        </p:nvSpPr>
        <p:spPr>
          <a:xfrm>
            <a:off x="502920" y="777240"/>
            <a:ext cx="10515600"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400" u="none" cap="none" strike="noStrike">
                <a:solidFill>
                  <a:srgbClr val="22D3EE"/>
                </a:solidFill>
                <a:latin typeface="Inter"/>
                <a:ea typeface="Inter"/>
                <a:cs typeface="Inter"/>
                <a:sym typeface="Inter"/>
              </a:rPr>
              <a:t>APPLICATIONS OF IRIS  ·  COMMUNICATION, REHAB &amp; PLAY</a:t>
            </a:r>
            <a:endParaRPr b="0" i="0" sz="1400" u="none" cap="none" strike="noStrike">
              <a:solidFill>
                <a:srgbClr val="000000"/>
              </a:solidFill>
              <a:latin typeface="Arial"/>
              <a:ea typeface="Arial"/>
              <a:cs typeface="Arial"/>
              <a:sym typeface="Arial"/>
            </a:endParaRPr>
          </a:p>
        </p:txBody>
      </p:sp>
      <p:sp>
        <p:nvSpPr>
          <p:cNvPr id="240" name="Google Shape;240;p42"/>
          <p:cNvSpPr txBox="1"/>
          <p:nvPr/>
        </p:nvSpPr>
        <p:spPr>
          <a:xfrm>
            <a:off x="502920" y="1188720"/>
            <a:ext cx="10972800" cy="914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3400" u="none" cap="none" strike="noStrike">
                <a:solidFill>
                  <a:srgbClr val="FFFFFF"/>
                </a:solidFill>
                <a:latin typeface="Inter"/>
                <a:ea typeface="Inter"/>
                <a:cs typeface="Inter"/>
                <a:sym typeface="Inter"/>
              </a:rPr>
              <a:t>Beyond communication — joy, play, recovery.</a:t>
            </a:r>
            <a:endParaRPr b="0" i="0" sz="1400" u="none" cap="none" strike="noStrike">
              <a:solidFill>
                <a:srgbClr val="000000"/>
              </a:solidFill>
              <a:latin typeface="Arial"/>
              <a:ea typeface="Arial"/>
              <a:cs typeface="Arial"/>
              <a:sym typeface="Arial"/>
            </a:endParaRPr>
          </a:p>
        </p:txBody>
      </p:sp>
      <p:sp>
        <p:nvSpPr>
          <p:cNvPr id="241" name="Google Shape;241;p42"/>
          <p:cNvSpPr txBox="1"/>
          <p:nvPr/>
        </p:nvSpPr>
        <p:spPr>
          <a:xfrm>
            <a:off x="502920" y="2103120"/>
            <a:ext cx="105156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1" lang="en-US" sz="1700" u="none" cap="none" strike="noStrike">
                <a:solidFill>
                  <a:srgbClr val="CDD5E2"/>
                </a:solidFill>
                <a:latin typeface="Inter"/>
                <a:ea typeface="Inter"/>
                <a:cs typeface="Inter"/>
                <a:sym typeface="Inter"/>
              </a:rPr>
              <a:t>Bedridden patients suffer sensory deprivation and clinical depression. IRIS restores joy, play, and cognitive engagement.</a:t>
            </a:r>
            <a:endParaRPr b="0" i="0" sz="1400" u="none" cap="none" strike="noStrike">
              <a:solidFill>
                <a:srgbClr val="000000"/>
              </a:solidFill>
              <a:latin typeface="Arial"/>
              <a:ea typeface="Arial"/>
              <a:cs typeface="Arial"/>
              <a:sym typeface="Arial"/>
            </a:endParaRPr>
          </a:p>
        </p:txBody>
      </p:sp>
      <p:sp>
        <p:nvSpPr>
          <p:cNvPr id="242" name="Google Shape;242;p42"/>
          <p:cNvSpPr/>
          <p:nvPr/>
        </p:nvSpPr>
        <p:spPr>
          <a:xfrm>
            <a:off x="502920" y="2834640"/>
            <a:ext cx="5394960" cy="3474720"/>
          </a:xfrm>
          <a:prstGeom prst="roundRect">
            <a:avLst>
              <a:gd fmla="val 16667" name="adj"/>
            </a:avLst>
          </a:prstGeom>
          <a:solidFill>
            <a:srgbClr val="0F2440"/>
          </a:solidFill>
          <a:ln cap="flat" cmpd="sng" w="9525">
            <a:solidFill>
              <a:srgbClr val="0E7490"/>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900" u="none" cap="none" strike="noStrike">
              <a:solidFill>
                <a:schemeClr val="lt1"/>
              </a:solidFill>
              <a:latin typeface="Calibri"/>
              <a:ea typeface="Calibri"/>
              <a:cs typeface="Calibri"/>
              <a:sym typeface="Calibri"/>
            </a:endParaRPr>
          </a:p>
        </p:txBody>
      </p:sp>
      <p:sp>
        <p:nvSpPr>
          <p:cNvPr id="243" name="Google Shape;243;p42"/>
          <p:cNvSpPr txBox="1"/>
          <p:nvPr/>
        </p:nvSpPr>
        <p:spPr>
          <a:xfrm>
            <a:off x="731520" y="2971800"/>
            <a:ext cx="493776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0" lang="en-US" sz="1500" u="none" cap="none" strike="noStrike">
                <a:solidFill>
                  <a:srgbClr val="22D3EE"/>
                </a:solidFill>
                <a:latin typeface="Inter"/>
                <a:ea typeface="Inter"/>
                <a:cs typeface="Inter"/>
                <a:sym typeface="Inter"/>
              </a:rPr>
              <a:t>360° COCKPIT FLIGHT SIMULATOR</a:t>
            </a:r>
            <a:endParaRPr b="0" i="0" sz="1400" u="none" cap="none" strike="noStrike">
              <a:solidFill>
                <a:srgbClr val="000000"/>
              </a:solidFill>
              <a:latin typeface="Arial"/>
              <a:ea typeface="Arial"/>
              <a:cs typeface="Arial"/>
              <a:sym typeface="Arial"/>
            </a:endParaRPr>
          </a:p>
        </p:txBody>
      </p:sp>
      <p:sp>
        <p:nvSpPr>
          <p:cNvPr id="244" name="Google Shape;244;p42"/>
          <p:cNvSpPr txBox="1"/>
          <p:nvPr/>
        </p:nvSpPr>
        <p:spPr>
          <a:xfrm>
            <a:off x="731520" y="3337560"/>
            <a:ext cx="49377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900" u="none" cap="none" strike="noStrike">
                <a:solidFill>
                  <a:srgbClr val="FFFFFF"/>
                </a:solidFill>
                <a:latin typeface="Inter"/>
                <a:ea typeface="Inter"/>
                <a:cs typeface="Inter"/>
                <a:sym typeface="Inter"/>
              </a:rPr>
              <a:t>Photosphere</a:t>
            </a:r>
            <a:endParaRPr b="0" i="0" sz="1400" u="none" cap="none" strike="noStrike">
              <a:solidFill>
                <a:srgbClr val="000000"/>
              </a:solidFill>
              <a:latin typeface="Arial"/>
              <a:ea typeface="Arial"/>
              <a:cs typeface="Arial"/>
              <a:sym typeface="Arial"/>
            </a:endParaRPr>
          </a:p>
        </p:txBody>
      </p:sp>
      <p:sp>
        <p:nvSpPr>
          <p:cNvPr id="245" name="Google Shape;245;p42"/>
          <p:cNvSpPr txBox="1"/>
          <p:nvPr/>
        </p:nvSpPr>
        <p:spPr>
          <a:xfrm>
            <a:off x="777240" y="3840480"/>
            <a:ext cx="1830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450" u="none" cap="none" strike="noStrike">
                <a:solidFill>
                  <a:srgbClr val="22D3EE"/>
                </a:solidFill>
                <a:latin typeface="Inter"/>
                <a:ea typeface="Inter"/>
                <a:cs typeface="Inter"/>
                <a:sym typeface="Inter"/>
              </a:rPr>
              <a:t>●</a:t>
            </a:r>
            <a:endParaRPr b="0" i="0" sz="1500" u="none" cap="none" strike="noStrike">
              <a:solidFill>
                <a:srgbClr val="000000"/>
              </a:solidFill>
              <a:latin typeface="Arial"/>
              <a:ea typeface="Arial"/>
              <a:cs typeface="Arial"/>
              <a:sym typeface="Arial"/>
            </a:endParaRPr>
          </a:p>
        </p:txBody>
      </p:sp>
      <p:sp>
        <p:nvSpPr>
          <p:cNvPr id="246" name="Google Shape;246;p42"/>
          <p:cNvSpPr txBox="1"/>
          <p:nvPr/>
        </p:nvSpPr>
        <p:spPr>
          <a:xfrm>
            <a:off x="1005840" y="3840480"/>
            <a:ext cx="484632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500" u="none" cap="none" strike="noStrike">
                <a:solidFill>
                  <a:srgbClr val="FFFFFF"/>
                </a:solidFill>
                <a:latin typeface="Inter"/>
                <a:ea typeface="Inter"/>
                <a:cs typeface="Inter"/>
                <a:sym typeface="Inter"/>
              </a:rPr>
              <a:t>Equirectangular 360° cockpit panorama</a:t>
            </a:r>
            <a:endParaRPr b="0" i="0" sz="1500" u="none" cap="none" strike="noStrike">
              <a:solidFill>
                <a:srgbClr val="000000"/>
              </a:solidFill>
              <a:latin typeface="Arial"/>
              <a:ea typeface="Arial"/>
              <a:cs typeface="Arial"/>
              <a:sym typeface="Arial"/>
            </a:endParaRPr>
          </a:p>
        </p:txBody>
      </p:sp>
      <p:sp>
        <p:nvSpPr>
          <p:cNvPr id="247" name="Google Shape;247;p42"/>
          <p:cNvSpPr txBox="1"/>
          <p:nvPr/>
        </p:nvSpPr>
        <p:spPr>
          <a:xfrm>
            <a:off x="777240" y="4178808"/>
            <a:ext cx="1830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450" u="none" cap="none" strike="noStrike">
                <a:solidFill>
                  <a:srgbClr val="22D3EE"/>
                </a:solidFill>
                <a:latin typeface="Inter"/>
                <a:ea typeface="Inter"/>
                <a:cs typeface="Inter"/>
                <a:sym typeface="Inter"/>
              </a:rPr>
              <a:t>●</a:t>
            </a:r>
            <a:endParaRPr b="0" i="0" sz="1500" u="none" cap="none" strike="noStrike">
              <a:solidFill>
                <a:srgbClr val="000000"/>
              </a:solidFill>
              <a:latin typeface="Arial"/>
              <a:ea typeface="Arial"/>
              <a:cs typeface="Arial"/>
              <a:sym typeface="Arial"/>
            </a:endParaRPr>
          </a:p>
        </p:txBody>
      </p:sp>
      <p:sp>
        <p:nvSpPr>
          <p:cNvPr id="248" name="Google Shape;248;p42"/>
          <p:cNvSpPr txBox="1"/>
          <p:nvPr/>
        </p:nvSpPr>
        <p:spPr>
          <a:xfrm>
            <a:off x="1005840" y="4178808"/>
            <a:ext cx="484632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500" u="none" cap="none" strike="noStrike">
                <a:solidFill>
                  <a:srgbClr val="FFFFFF"/>
                </a:solidFill>
                <a:latin typeface="Inter"/>
                <a:ea typeface="Inter"/>
                <a:cs typeface="Inter"/>
                <a:sym typeface="Inter"/>
              </a:rPr>
              <a:t>Gaze-driven yaw + pitch navigation</a:t>
            </a:r>
            <a:endParaRPr b="0" i="0" sz="1500" u="none" cap="none" strike="noStrike">
              <a:solidFill>
                <a:srgbClr val="000000"/>
              </a:solidFill>
              <a:latin typeface="Arial"/>
              <a:ea typeface="Arial"/>
              <a:cs typeface="Arial"/>
              <a:sym typeface="Arial"/>
            </a:endParaRPr>
          </a:p>
        </p:txBody>
      </p:sp>
      <p:sp>
        <p:nvSpPr>
          <p:cNvPr id="249" name="Google Shape;249;p42"/>
          <p:cNvSpPr txBox="1"/>
          <p:nvPr/>
        </p:nvSpPr>
        <p:spPr>
          <a:xfrm>
            <a:off x="777240" y="4517136"/>
            <a:ext cx="1830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450" u="none" cap="none" strike="noStrike">
                <a:solidFill>
                  <a:srgbClr val="22D3EE"/>
                </a:solidFill>
                <a:latin typeface="Inter"/>
                <a:ea typeface="Inter"/>
                <a:cs typeface="Inter"/>
                <a:sym typeface="Inter"/>
              </a:rPr>
              <a:t>●</a:t>
            </a:r>
            <a:endParaRPr b="0" i="0" sz="1500" u="none" cap="none" strike="noStrike">
              <a:solidFill>
                <a:srgbClr val="000000"/>
              </a:solidFill>
              <a:latin typeface="Arial"/>
              <a:ea typeface="Arial"/>
              <a:cs typeface="Arial"/>
              <a:sym typeface="Arial"/>
            </a:endParaRPr>
          </a:p>
        </p:txBody>
      </p:sp>
      <p:sp>
        <p:nvSpPr>
          <p:cNvPr id="250" name="Google Shape;250;p42"/>
          <p:cNvSpPr txBox="1"/>
          <p:nvPr/>
        </p:nvSpPr>
        <p:spPr>
          <a:xfrm>
            <a:off x="1005840" y="4517136"/>
            <a:ext cx="484632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500" u="none" cap="none" strike="noStrike">
                <a:solidFill>
                  <a:srgbClr val="FFFFFF"/>
                </a:solidFill>
                <a:latin typeface="Inter"/>
                <a:ea typeface="Inter"/>
                <a:cs typeface="Inter"/>
                <a:sym typeface="Inter"/>
              </a:rPr>
              <a:t>Real-time HUD: airspeed, altitude, heading</a:t>
            </a:r>
            <a:endParaRPr b="0" i="0" sz="1500" u="none" cap="none" strike="noStrike">
              <a:solidFill>
                <a:srgbClr val="000000"/>
              </a:solidFill>
              <a:latin typeface="Arial"/>
              <a:ea typeface="Arial"/>
              <a:cs typeface="Arial"/>
              <a:sym typeface="Arial"/>
            </a:endParaRPr>
          </a:p>
        </p:txBody>
      </p:sp>
      <p:sp>
        <p:nvSpPr>
          <p:cNvPr id="251" name="Google Shape;251;p42"/>
          <p:cNvSpPr txBox="1"/>
          <p:nvPr/>
        </p:nvSpPr>
        <p:spPr>
          <a:xfrm>
            <a:off x="777240" y="4855464"/>
            <a:ext cx="1830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450" u="none" cap="none" strike="noStrike">
                <a:solidFill>
                  <a:srgbClr val="22D3EE"/>
                </a:solidFill>
                <a:latin typeface="Inter"/>
                <a:ea typeface="Inter"/>
                <a:cs typeface="Inter"/>
                <a:sym typeface="Inter"/>
              </a:rPr>
              <a:t>●</a:t>
            </a:r>
            <a:endParaRPr b="0" i="0" sz="1500" u="none" cap="none" strike="noStrike">
              <a:solidFill>
                <a:srgbClr val="000000"/>
              </a:solidFill>
              <a:latin typeface="Arial"/>
              <a:ea typeface="Arial"/>
              <a:cs typeface="Arial"/>
              <a:sym typeface="Arial"/>
            </a:endParaRPr>
          </a:p>
        </p:txBody>
      </p:sp>
      <p:sp>
        <p:nvSpPr>
          <p:cNvPr id="252" name="Google Shape;252;p42"/>
          <p:cNvSpPr txBox="1"/>
          <p:nvPr/>
        </p:nvSpPr>
        <p:spPr>
          <a:xfrm>
            <a:off x="1005840" y="4855464"/>
            <a:ext cx="484632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500" u="none" cap="none" strike="noStrike">
                <a:solidFill>
                  <a:srgbClr val="FFFFFF"/>
                </a:solidFill>
                <a:latin typeface="Inter"/>
                <a:ea typeface="Inter"/>
                <a:cs typeface="Inter"/>
                <a:sym typeface="Inter"/>
              </a:rPr>
              <a:t>60 FPS hardware-accelerated canvas rendering</a:t>
            </a:r>
            <a:endParaRPr b="0" i="0" sz="1500" u="none" cap="none" strike="noStrike">
              <a:solidFill>
                <a:srgbClr val="000000"/>
              </a:solidFill>
              <a:latin typeface="Arial"/>
              <a:ea typeface="Arial"/>
              <a:cs typeface="Arial"/>
              <a:sym typeface="Arial"/>
            </a:endParaRPr>
          </a:p>
        </p:txBody>
      </p:sp>
      <p:sp>
        <p:nvSpPr>
          <p:cNvPr id="253" name="Google Shape;253;p42"/>
          <p:cNvSpPr txBox="1"/>
          <p:nvPr/>
        </p:nvSpPr>
        <p:spPr>
          <a:xfrm>
            <a:off x="777240" y="5193792"/>
            <a:ext cx="1830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450" u="none" cap="none" strike="noStrike">
                <a:solidFill>
                  <a:srgbClr val="22D3EE"/>
                </a:solidFill>
                <a:latin typeface="Inter"/>
                <a:ea typeface="Inter"/>
                <a:cs typeface="Inter"/>
                <a:sym typeface="Inter"/>
              </a:rPr>
              <a:t>●</a:t>
            </a:r>
            <a:endParaRPr b="0" i="0" sz="1500" u="none" cap="none" strike="noStrike">
              <a:solidFill>
                <a:srgbClr val="000000"/>
              </a:solidFill>
              <a:latin typeface="Arial"/>
              <a:ea typeface="Arial"/>
              <a:cs typeface="Arial"/>
              <a:sym typeface="Arial"/>
            </a:endParaRPr>
          </a:p>
        </p:txBody>
      </p:sp>
      <p:sp>
        <p:nvSpPr>
          <p:cNvPr id="254" name="Google Shape;254;p42"/>
          <p:cNvSpPr txBox="1"/>
          <p:nvPr/>
        </p:nvSpPr>
        <p:spPr>
          <a:xfrm>
            <a:off x="1005840" y="5193792"/>
            <a:ext cx="484632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500" u="none" cap="none" strike="noStrike">
                <a:solidFill>
                  <a:srgbClr val="FFFFFF"/>
                </a:solidFill>
                <a:latin typeface="Inter"/>
                <a:ea typeface="Inter"/>
                <a:cs typeface="Inter"/>
                <a:sym typeface="Inter"/>
              </a:rPr>
              <a:t>Artificial horizon + vertical speed indicator</a:t>
            </a:r>
            <a:endParaRPr b="0" i="0" sz="1500" u="none" cap="none" strike="noStrike">
              <a:solidFill>
                <a:srgbClr val="000000"/>
              </a:solidFill>
              <a:latin typeface="Arial"/>
              <a:ea typeface="Arial"/>
              <a:cs typeface="Arial"/>
              <a:sym typeface="Arial"/>
            </a:endParaRPr>
          </a:p>
        </p:txBody>
      </p:sp>
      <p:sp>
        <p:nvSpPr>
          <p:cNvPr id="255" name="Google Shape;255;p42"/>
          <p:cNvSpPr txBox="1"/>
          <p:nvPr/>
        </p:nvSpPr>
        <p:spPr>
          <a:xfrm>
            <a:off x="777240" y="5532120"/>
            <a:ext cx="1830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450" u="none" cap="none" strike="noStrike">
                <a:solidFill>
                  <a:srgbClr val="22D3EE"/>
                </a:solidFill>
                <a:latin typeface="Inter"/>
                <a:ea typeface="Inter"/>
                <a:cs typeface="Inter"/>
                <a:sym typeface="Inter"/>
              </a:rPr>
              <a:t>●</a:t>
            </a:r>
            <a:endParaRPr b="0" i="0" sz="1500" u="none" cap="none" strike="noStrike">
              <a:solidFill>
                <a:srgbClr val="000000"/>
              </a:solidFill>
              <a:latin typeface="Arial"/>
              <a:ea typeface="Arial"/>
              <a:cs typeface="Arial"/>
              <a:sym typeface="Arial"/>
            </a:endParaRPr>
          </a:p>
        </p:txBody>
      </p:sp>
      <p:sp>
        <p:nvSpPr>
          <p:cNvPr id="256" name="Google Shape;256;p42"/>
          <p:cNvSpPr txBox="1"/>
          <p:nvPr/>
        </p:nvSpPr>
        <p:spPr>
          <a:xfrm>
            <a:off x="1005840" y="5532120"/>
            <a:ext cx="484632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500" u="none" cap="none" strike="noStrike">
                <a:solidFill>
                  <a:srgbClr val="FFFFFF"/>
                </a:solidFill>
                <a:latin typeface="Inter"/>
                <a:ea typeface="Inter"/>
                <a:cs typeface="Inter"/>
                <a:sym typeface="Inter"/>
              </a:rPr>
              <a:t>Exit tile returns to simulation hub safely</a:t>
            </a:r>
            <a:endParaRPr b="0" i="0" sz="1500" u="none" cap="none" strike="noStrike">
              <a:solidFill>
                <a:srgbClr val="000000"/>
              </a:solidFill>
              <a:latin typeface="Arial"/>
              <a:ea typeface="Arial"/>
              <a:cs typeface="Arial"/>
              <a:sym typeface="Arial"/>
            </a:endParaRPr>
          </a:p>
        </p:txBody>
      </p:sp>
      <p:sp>
        <p:nvSpPr>
          <p:cNvPr id="257" name="Google Shape;257;p42"/>
          <p:cNvSpPr/>
          <p:nvPr/>
        </p:nvSpPr>
        <p:spPr>
          <a:xfrm>
            <a:off x="6309360" y="2834640"/>
            <a:ext cx="5394960" cy="3474720"/>
          </a:xfrm>
          <a:prstGeom prst="roundRect">
            <a:avLst>
              <a:gd fmla="val 16667" name="adj"/>
            </a:avLst>
          </a:prstGeom>
          <a:solidFill>
            <a:srgbClr val="0F2440"/>
          </a:solidFill>
          <a:ln cap="flat" cmpd="sng" w="9525">
            <a:solidFill>
              <a:srgbClr val="92400E"/>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900" u="none" cap="none" strike="noStrike">
              <a:solidFill>
                <a:schemeClr val="lt1"/>
              </a:solidFill>
              <a:latin typeface="Calibri"/>
              <a:ea typeface="Calibri"/>
              <a:cs typeface="Calibri"/>
              <a:sym typeface="Calibri"/>
            </a:endParaRPr>
          </a:p>
        </p:txBody>
      </p:sp>
      <p:sp>
        <p:nvSpPr>
          <p:cNvPr id="258" name="Google Shape;258;p42"/>
          <p:cNvSpPr txBox="1"/>
          <p:nvPr/>
        </p:nvSpPr>
        <p:spPr>
          <a:xfrm>
            <a:off x="6537960" y="2971800"/>
            <a:ext cx="493776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0" lang="en-US" sz="1500" u="none" cap="none" strike="noStrike">
                <a:solidFill>
                  <a:srgbClr val="FFB020"/>
                </a:solidFill>
                <a:latin typeface="Inter"/>
                <a:ea typeface="Inter"/>
                <a:cs typeface="Inter"/>
                <a:sym typeface="Inter"/>
              </a:rPr>
              <a:t>GAZE-DRIVEN DIGITAL THERAPEUTICS</a:t>
            </a:r>
            <a:endParaRPr b="0" i="0" sz="1400" u="none" cap="none" strike="noStrike">
              <a:solidFill>
                <a:srgbClr val="000000"/>
              </a:solidFill>
              <a:latin typeface="Arial"/>
              <a:ea typeface="Arial"/>
              <a:cs typeface="Arial"/>
              <a:sym typeface="Arial"/>
            </a:endParaRPr>
          </a:p>
        </p:txBody>
      </p:sp>
      <p:sp>
        <p:nvSpPr>
          <p:cNvPr id="259" name="Google Shape;259;p42"/>
          <p:cNvSpPr txBox="1"/>
          <p:nvPr/>
        </p:nvSpPr>
        <p:spPr>
          <a:xfrm>
            <a:off x="6537960" y="3337560"/>
            <a:ext cx="493776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900" u="none" cap="none" strike="noStrike">
                <a:solidFill>
                  <a:srgbClr val="FFFFFF"/>
                </a:solidFill>
                <a:latin typeface="Inter"/>
                <a:ea typeface="Inter"/>
                <a:cs typeface="Inter"/>
                <a:sym typeface="Inter"/>
              </a:rPr>
              <a:t>Games + music + audiobooks</a:t>
            </a:r>
            <a:endParaRPr b="0" i="0" sz="1400" u="none" cap="none" strike="noStrike">
              <a:solidFill>
                <a:srgbClr val="000000"/>
              </a:solidFill>
              <a:latin typeface="Arial"/>
              <a:ea typeface="Arial"/>
              <a:cs typeface="Arial"/>
              <a:sym typeface="Arial"/>
            </a:endParaRPr>
          </a:p>
        </p:txBody>
      </p:sp>
      <p:sp>
        <p:nvSpPr>
          <p:cNvPr id="260" name="Google Shape;260;p42"/>
          <p:cNvSpPr txBox="1"/>
          <p:nvPr/>
        </p:nvSpPr>
        <p:spPr>
          <a:xfrm>
            <a:off x="6583680" y="3840480"/>
            <a:ext cx="1830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450" u="none" cap="none" strike="noStrike">
                <a:solidFill>
                  <a:srgbClr val="FFB020"/>
                </a:solidFill>
                <a:latin typeface="Inter"/>
                <a:ea typeface="Inter"/>
                <a:cs typeface="Inter"/>
                <a:sym typeface="Inter"/>
              </a:rPr>
              <a:t>●</a:t>
            </a:r>
            <a:endParaRPr b="0" i="0" sz="1500" u="none" cap="none" strike="noStrike">
              <a:solidFill>
                <a:srgbClr val="000000"/>
              </a:solidFill>
              <a:latin typeface="Arial"/>
              <a:ea typeface="Arial"/>
              <a:cs typeface="Arial"/>
              <a:sym typeface="Arial"/>
            </a:endParaRPr>
          </a:p>
        </p:txBody>
      </p:sp>
      <p:sp>
        <p:nvSpPr>
          <p:cNvPr id="261" name="Google Shape;261;p42"/>
          <p:cNvSpPr txBox="1"/>
          <p:nvPr/>
        </p:nvSpPr>
        <p:spPr>
          <a:xfrm>
            <a:off x="6812280" y="3840480"/>
            <a:ext cx="484632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500" u="none" cap="none" strike="noStrike">
                <a:solidFill>
                  <a:srgbClr val="FFFFFF"/>
                </a:solidFill>
                <a:latin typeface="Inter"/>
                <a:ea typeface="Inter"/>
                <a:cs typeface="Inter"/>
                <a:sym typeface="Inter"/>
              </a:rPr>
              <a:t>Flappy Gaze — ocular elevation trainer</a:t>
            </a:r>
            <a:endParaRPr b="0" i="0" sz="1500" u="none" cap="none" strike="noStrike">
              <a:solidFill>
                <a:srgbClr val="000000"/>
              </a:solidFill>
              <a:latin typeface="Arial"/>
              <a:ea typeface="Arial"/>
              <a:cs typeface="Arial"/>
              <a:sym typeface="Arial"/>
            </a:endParaRPr>
          </a:p>
        </p:txBody>
      </p:sp>
      <p:sp>
        <p:nvSpPr>
          <p:cNvPr id="262" name="Google Shape;262;p42"/>
          <p:cNvSpPr txBox="1"/>
          <p:nvPr/>
        </p:nvSpPr>
        <p:spPr>
          <a:xfrm>
            <a:off x="6583680" y="4178808"/>
            <a:ext cx="1830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450" u="none" cap="none" strike="noStrike">
                <a:solidFill>
                  <a:srgbClr val="FFB020"/>
                </a:solidFill>
                <a:latin typeface="Inter"/>
                <a:ea typeface="Inter"/>
                <a:cs typeface="Inter"/>
                <a:sym typeface="Inter"/>
              </a:rPr>
              <a:t>●</a:t>
            </a:r>
            <a:endParaRPr b="0" i="0" sz="1500" u="none" cap="none" strike="noStrike">
              <a:solidFill>
                <a:srgbClr val="000000"/>
              </a:solidFill>
              <a:latin typeface="Arial"/>
              <a:ea typeface="Arial"/>
              <a:cs typeface="Arial"/>
              <a:sym typeface="Arial"/>
            </a:endParaRPr>
          </a:p>
        </p:txBody>
      </p:sp>
      <p:sp>
        <p:nvSpPr>
          <p:cNvPr id="263" name="Google Shape;263;p42"/>
          <p:cNvSpPr txBox="1"/>
          <p:nvPr/>
        </p:nvSpPr>
        <p:spPr>
          <a:xfrm>
            <a:off x="6812280" y="4178808"/>
            <a:ext cx="484632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500" u="none" cap="none" strike="noStrike">
                <a:solidFill>
                  <a:srgbClr val="FFFFFF"/>
                </a:solidFill>
                <a:latin typeface="Inter"/>
                <a:ea typeface="Inter"/>
                <a:cs typeface="Inter"/>
                <a:sym typeface="Inter"/>
              </a:rPr>
              <a:t>Dino Jump — saccadic reaction time</a:t>
            </a:r>
            <a:endParaRPr b="0" i="0" sz="1500" u="none" cap="none" strike="noStrike">
              <a:solidFill>
                <a:srgbClr val="000000"/>
              </a:solidFill>
              <a:latin typeface="Arial"/>
              <a:ea typeface="Arial"/>
              <a:cs typeface="Arial"/>
              <a:sym typeface="Arial"/>
            </a:endParaRPr>
          </a:p>
        </p:txBody>
      </p:sp>
      <p:sp>
        <p:nvSpPr>
          <p:cNvPr id="264" name="Google Shape;264;p42"/>
          <p:cNvSpPr txBox="1"/>
          <p:nvPr/>
        </p:nvSpPr>
        <p:spPr>
          <a:xfrm>
            <a:off x="6583680" y="4517136"/>
            <a:ext cx="1830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450" u="none" cap="none" strike="noStrike">
                <a:solidFill>
                  <a:srgbClr val="FFB020"/>
                </a:solidFill>
                <a:latin typeface="Inter"/>
                <a:ea typeface="Inter"/>
                <a:cs typeface="Inter"/>
                <a:sym typeface="Inter"/>
              </a:rPr>
              <a:t>●</a:t>
            </a:r>
            <a:endParaRPr b="0" i="0" sz="1500" u="none" cap="none" strike="noStrike">
              <a:solidFill>
                <a:srgbClr val="000000"/>
              </a:solidFill>
              <a:latin typeface="Arial"/>
              <a:ea typeface="Arial"/>
              <a:cs typeface="Arial"/>
              <a:sym typeface="Arial"/>
            </a:endParaRPr>
          </a:p>
        </p:txBody>
      </p:sp>
      <p:sp>
        <p:nvSpPr>
          <p:cNvPr id="265" name="Google Shape;265;p42"/>
          <p:cNvSpPr txBox="1"/>
          <p:nvPr/>
        </p:nvSpPr>
        <p:spPr>
          <a:xfrm>
            <a:off x="6812280" y="4517136"/>
            <a:ext cx="484632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500" u="none" cap="none" strike="noStrike">
                <a:solidFill>
                  <a:srgbClr val="FFFFFF"/>
                </a:solidFill>
                <a:latin typeface="Inter"/>
                <a:ea typeface="Inter"/>
                <a:cs typeface="Inter"/>
                <a:sym typeface="Inter"/>
              </a:rPr>
              <a:t>Cyber Runner — lateral gaze coordination</a:t>
            </a:r>
            <a:endParaRPr b="0" i="0" sz="1500" u="none" cap="none" strike="noStrike">
              <a:solidFill>
                <a:srgbClr val="000000"/>
              </a:solidFill>
              <a:latin typeface="Arial"/>
              <a:ea typeface="Arial"/>
              <a:cs typeface="Arial"/>
              <a:sym typeface="Arial"/>
            </a:endParaRPr>
          </a:p>
        </p:txBody>
      </p:sp>
      <p:sp>
        <p:nvSpPr>
          <p:cNvPr id="266" name="Google Shape;266;p42"/>
          <p:cNvSpPr txBox="1"/>
          <p:nvPr/>
        </p:nvSpPr>
        <p:spPr>
          <a:xfrm>
            <a:off x="6583680" y="4855464"/>
            <a:ext cx="1830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450" u="none" cap="none" strike="noStrike">
                <a:solidFill>
                  <a:srgbClr val="FFB020"/>
                </a:solidFill>
                <a:latin typeface="Inter"/>
                <a:ea typeface="Inter"/>
                <a:cs typeface="Inter"/>
                <a:sym typeface="Inter"/>
              </a:rPr>
              <a:t>●</a:t>
            </a:r>
            <a:endParaRPr b="0" i="0" sz="1500" u="none" cap="none" strike="noStrike">
              <a:solidFill>
                <a:srgbClr val="000000"/>
              </a:solidFill>
              <a:latin typeface="Arial"/>
              <a:ea typeface="Arial"/>
              <a:cs typeface="Arial"/>
              <a:sym typeface="Arial"/>
            </a:endParaRPr>
          </a:p>
        </p:txBody>
      </p:sp>
      <p:sp>
        <p:nvSpPr>
          <p:cNvPr id="267" name="Google Shape;267;p42"/>
          <p:cNvSpPr txBox="1"/>
          <p:nvPr/>
        </p:nvSpPr>
        <p:spPr>
          <a:xfrm>
            <a:off x="6812280" y="4855464"/>
            <a:ext cx="484632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500" u="none" cap="none" strike="noStrike">
                <a:solidFill>
                  <a:srgbClr val="FFFFFF"/>
                </a:solidFill>
                <a:latin typeface="Inter"/>
                <a:ea typeface="Inter"/>
                <a:cs typeface="Inter"/>
                <a:sym typeface="Inter"/>
              </a:rPr>
              <a:t>Binaural + lo-fi music therapy</a:t>
            </a:r>
            <a:endParaRPr b="0" i="0" sz="1500" u="none" cap="none" strike="noStrike">
              <a:solidFill>
                <a:srgbClr val="000000"/>
              </a:solidFill>
              <a:latin typeface="Arial"/>
              <a:ea typeface="Arial"/>
              <a:cs typeface="Arial"/>
              <a:sym typeface="Arial"/>
            </a:endParaRPr>
          </a:p>
        </p:txBody>
      </p:sp>
      <p:sp>
        <p:nvSpPr>
          <p:cNvPr id="268" name="Google Shape;268;p42"/>
          <p:cNvSpPr txBox="1"/>
          <p:nvPr/>
        </p:nvSpPr>
        <p:spPr>
          <a:xfrm>
            <a:off x="6583680" y="5193792"/>
            <a:ext cx="1830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450" u="none" cap="none" strike="noStrike">
                <a:solidFill>
                  <a:srgbClr val="FFB020"/>
                </a:solidFill>
                <a:latin typeface="Inter"/>
                <a:ea typeface="Inter"/>
                <a:cs typeface="Inter"/>
                <a:sym typeface="Inter"/>
              </a:rPr>
              <a:t>●</a:t>
            </a:r>
            <a:endParaRPr b="0" i="0" sz="1500" u="none" cap="none" strike="noStrike">
              <a:solidFill>
                <a:srgbClr val="000000"/>
              </a:solidFill>
              <a:latin typeface="Arial"/>
              <a:ea typeface="Arial"/>
              <a:cs typeface="Arial"/>
              <a:sym typeface="Arial"/>
            </a:endParaRPr>
          </a:p>
        </p:txBody>
      </p:sp>
      <p:sp>
        <p:nvSpPr>
          <p:cNvPr id="269" name="Google Shape;269;p42"/>
          <p:cNvSpPr txBox="1"/>
          <p:nvPr/>
        </p:nvSpPr>
        <p:spPr>
          <a:xfrm>
            <a:off x="6812280" y="5193792"/>
            <a:ext cx="484632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500" u="none" cap="none" strike="noStrike">
                <a:solidFill>
                  <a:srgbClr val="FFFFFF"/>
                </a:solidFill>
                <a:latin typeface="Inter"/>
                <a:ea typeface="Inter"/>
                <a:cs typeface="Inter"/>
                <a:sym typeface="Inter"/>
              </a:rPr>
              <a:t>Hindi + English audiobook player</a:t>
            </a:r>
            <a:endParaRPr b="0" i="0" sz="1500" u="none" cap="none" strike="noStrike">
              <a:solidFill>
                <a:srgbClr val="000000"/>
              </a:solidFill>
              <a:latin typeface="Arial"/>
              <a:ea typeface="Arial"/>
              <a:cs typeface="Arial"/>
              <a:sym typeface="Arial"/>
            </a:endParaRPr>
          </a:p>
        </p:txBody>
      </p:sp>
      <p:sp>
        <p:nvSpPr>
          <p:cNvPr id="270" name="Google Shape;270;p42"/>
          <p:cNvSpPr txBox="1"/>
          <p:nvPr/>
        </p:nvSpPr>
        <p:spPr>
          <a:xfrm>
            <a:off x="6583680" y="5532120"/>
            <a:ext cx="1830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450" u="none" cap="none" strike="noStrike">
                <a:solidFill>
                  <a:srgbClr val="FFB020"/>
                </a:solidFill>
                <a:latin typeface="Inter"/>
                <a:ea typeface="Inter"/>
                <a:cs typeface="Inter"/>
                <a:sym typeface="Inter"/>
              </a:rPr>
              <a:t>●</a:t>
            </a:r>
            <a:endParaRPr b="0" i="0" sz="1500" u="none" cap="none" strike="noStrike">
              <a:solidFill>
                <a:srgbClr val="000000"/>
              </a:solidFill>
              <a:latin typeface="Arial"/>
              <a:ea typeface="Arial"/>
              <a:cs typeface="Arial"/>
              <a:sym typeface="Arial"/>
            </a:endParaRPr>
          </a:p>
        </p:txBody>
      </p:sp>
      <p:sp>
        <p:nvSpPr>
          <p:cNvPr id="271" name="Google Shape;271;p42"/>
          <p:cNvSpPr txBox="1"/>
          <p:nvPr/>
        </p:nvSpPr>
        <p:spPr>
          <a:xfrm>
            <a:off x="6812280" y="5532120"/>
            <a:ext cx="484632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500" u="none" cap="none" strike="noStrike">
                <a:solidFill>
                  <a:srgbClr val="FFFFFF"/>
                </a:solidFill>
                <a:latin typeface="Inter"/>
                <a:ea typeface="Inter"/>
                <a:cs typeface="Inter"/>
                <a:sym typeface="Inter"/>
              </a:rPr>
              <a:t>Web Audio gain curves for smooth volume</a:t>
            </a:r>
            <a:endParaRPr b="0" i="0" sz="1500" u="none" cap="none" strike="noStrike">
              <a:solidFill>
                <a:srgbClr val="000000"/>
              </a:solidFill>
              <a:latin typeface="Arial"/>
              <a:ea typeface="Arial"/>
              <a:cs typeface="Arial"/>
              <a:sym typeface="Arial"/>
            </a:endParaRPr>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14"/>
          <p:cNvSpPr txBox="1"/>
          <p:nvPr/>
        </p:nvSpPr>
        <p:spPr>
          <a:xfrm>
            <a:off x="502920" y="274320"/>
            <a:ext cx="36576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1150" u="none" cap="none" strike="noStrike">
                <a:solidFill>
                  <a:srgbClr val="CDD5E2"/>
                </a:solidFill>
                <a:latin typeface="Inter"/>
                <a:ea typeface="Inter"/>
                <a:cs typeface="Inter"/>
                <a:sym typeface="Inter"/>
              </a:rPr>
              <a:t>● IRIS</a:t>
            </a:r>
            <a:endParaRPr b="0" i="0" sz="1400" u="none" cap="none" strike="noStrike">
              <a:solidFill>
                <a:srgbClr val="000000"/>
              </a:solidFill>
              <a:latin typeface="Arial"/>
              <a:ea typeface="Arial"/>
              <a:cs typeface="Arial"/>
              <a:sym typeface="Arial"/>
            </a:endParaRPr>
          </a:p>
        </p:txBody>
      </p:sp>
      <p:sp>
        <p:nvSpPr>
          <p:cNvPr id="277" name="Google Shape;277;p14"/>
          <p:cNvSpPr txBox="1"/>
          <p:nvPr/>
        </p:nvSpPr>
        <p:spPr>
          <a:xfrm>
            <a:off x="502920" y="274320"/>
            <a:ext cx="18288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14"/>
          <p:cNvSpPr txBox="1"/>
          <p:nvPr/>
        </p:nvSpPr>
        <p:spPr>
          <a:xfrm>
            <a:off x="502920" y="868680"/>
            <a:ext cx="10515600"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400" u="none" cap="none" strike="noStrike">
                <a:solidFill>
                  <a:srgbClr val="22D3EE"/>
                </a:solidFill>
                <a:latin typeface="Inter"/>
                <a:ea typeface="Inter"/>
                <a:cs typeface="Inter"/>
                <a:sym typeface="Inter"/>
              </a:rPr>
              <a:t>IRIS UNIVERSAL APP  ·  4 CORE SCREEN TILES</a:t>
            </a:r>
            <a:endParaRPr b="0" i="0" sz="1400" u="none" cap="none" strike="noStrike">
              <a:solidFill>
                <a:srgbClr val="000000"/>
              </a:solidFill>
              <a:latin typeface="Arial"/>
              <a:ea typeface="Arial"/>
              <a:cs typeface="Arial"/>
              <a:sym typeface="Arial"/>
            </a:endParaRPr>
          </a:p>
        </p:txBody>
      </p:sp>
      <p:sp>
        <p:nvSpPr>
          <p:cNvPr id="279" name="Google Shape;279;p14"/>
          <p:cNvSpPr txBox="1"/>
          <p:nvPr/>
        </p:nvSpPr>
        <p:spPr>
          <a:xfrm>
            <a:off x="502920" y="1280160"/>
            <a:ext cx="10972800" cy="914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FFFFFF"/>
                </a:solidFill>
                <a:latin typeface="Inter"/>
                <a:ea typeface="Inter"/>
                <a:cs typeface="Inter"/>
                <a:sym typeface="Inter"/>
              </a:rPr>
              <a:t>One app. Everything they need.</a:t>
            </a:r>
            <a:endParaRPr b="0" i="0" sz="1400" u="none" cap="none" strike="noStrike">
              <a:solidFill>
                <a:srgbClr val="000000"/>
              </a:solidFill>
              <a:latin typeface="Arial"/>
              <a:ea typeface="Arial"/>
              <a:cs typeface="Arial"/>
              <a:sym typeface="Arial"/>
            </a:endParaRPr>
          </a:p>
        </p:txBody>
      </p:sp>
      <p:sp>
        <p:nvSpPr>
          <p:cNvPr id="280" name="Google Shape;280;p14"/>
          <p:cNvSpPr txBox="1"/>
          <p:nvPr/>
        </p:nvSpPr>
        <p:spPr>
          <a:xfrm>
            <a:off x="502920" y="2194560"/>
            <a:ext cx="10515600"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50"/>
              <a:buFont typeface="Arial"/>
              <a:buNone/>
            </a:pPr>
            <a:r>
              <a:rPr b="0" i="1" lang="en-US" sz="1750" u="none" cap="none" strike="noStrike">
                <a:solidFill>
                  <a:srgbClr val="CDD5E2"/>
                </a:solidFill>
                <a:latin typeface="Inter"/>
                <a:ea typeface="Inter"/>
                <a:cs typeface="Inter"/>
                <a:sym typeface="Inter"/>
              </a:rPr>
              <a:t>Streamlined around 4 main screen tiles — Communication, SOS Emergency, Health Tracker, and a master Settings Hub housing every advanced menu.</a:t>
            </a:r>
            <a:endParaRPr b="0" i="0" sz="1400" u="none" cap="none" strike="noStrike">
              <a:solidFill>
                <a:srgbClr val="000000"/>
              </a:solidFill>
              <a:latin typeface="Arial"/>
              <a:ea typeface="Arial"/>
              <a:cs typeface="Arial"/>
              <a:sym typeface="Arial"/>
            </a:endParaRPr>
          </a:p>
        </p:txBody>
      </p:sp>
      <p:sp>
        <p:nvSpPr>
          <p:cNvPr id="281" name="Google Shape;281;p14"/>
          <p:cNvSpPr txBox="1"/>
          <p:nvPr/>
        </p:nvSpPr>
        <p:spPr>
          <a:xfrm>
            <a:off x="487680" y="3648456"/>
            <a:ext cx="18288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80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282" name="Google Shape;282;p14"/>
          <p:cNvSpPr txBox="1"/>
          <p:nvPr/>
        </p:nvSpPr>
        <p:spPr>
          <a:xfrm>
            <a:off x="716280" y="3648456"/>
            <a:ext cx="5806440" cy="38404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50"/>
              <a:buFont typeface="Arial"/>
              <a:buNone/>
            </a:pPr>
            <a:r>
              <a:rPr b="0" i="0" lang="en-US" sz="1650" u="none" cap="none" strike="noStrike">
                <a:solidFill>
                  <a:srgbClr val="FFFFFF"/>
                </a:solidFill>
                <a:latin typeface="Inter"/>
                <a:ea typeface="Inter"/>
                <a:cs typeface="Inter"/>
                <a:sym typeface="Inter"/>
              </a:rPr>
              <a:t>Communication — Water, Rest, Call &amp; AI speech tiles</a:t>
            </a:r>
            <a:endParaRPr b="0" i="0" sz="1400" u="none" cap="none" strike="noStrike">
              <a:solidFill>
                <a:srgbClr val="000000"/>
              </a:solidFill>
              <a:latin typeface="Arial"/>
              <a:ea typeface="Arial"/>
              <a:cs typeface="Arial"/>
              <a:sym typeface="Arial"/>
            </a:endParaRPr>
          </a:p>
        </p:txBody>
      </p:sp>
      <p:sp>
        <p:nvSpPr>
          <p:cNvPr id="283" name="Google Shape;283;p14"/>
          <p:cNvSpPr txBox="1"/>
          <p:nvPr/>
        </p:nvSpPr>
        <p:spPr>
          <a:xfrm>
            <a:off x="487680" y="4065299"/>
            <a:ext cx="18288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80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284" name="Google Shape;284;p14"/>
          <p:cNvSpPr txBox="1"/>
          <p:nvPr/>
        </p:nvSpPr>
        <p:spPr>
          <a:xfrm>
            <a:off x="716280" y="4065299"/>
            <a:ext cx="5806440" cy="38404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50"/>
              <a:buFont typeface="Arial"/>
              <a:buNone/>
            </a:pPr>
            <a:r>
              <a:rPr b="0" i="0" lang="en-US" sz="1650" u="none" cap="none" strike="noStrike">
                <a:solidFill>
                  <a:srgbClr val="FFFFFF"/>
                </a:solidFill>
                <a:latin typeface="Inter"/>
                <a:ea typeface="Inter"/>
                <a:cs typeface="Inter"/>
                <a:sym typeface="Inter"/>
              </a:rPr>
              <a:t>SOS Emergency — Instant one-blink caregiver siren</a:t>
            </a:r>
            <a:endParaRPr b="0" i="0" sz="1400" u="none" cap="none" strike="noStrike">
              <a:solidFill>
                <a:srgbClr val="000000"/>
              </a:solidFill>
              <a:latin typeface="Arial"/>
              <a:ea typeface="Arial"/>
              <a:cs typeface="Arial"/>
              <a:sym typeface="Arial"/>
            </a:endParaRPr>
          </a:p>
        </p:txBody>
      </p:sp>
      <p:sp>
        <p:nvSpPr>
          <p:cNvPr id="285" name="Google Shape;285;p14"/>
          <p:cNvSpPr txBox="1"/>
          <p:nvPr/>
        </p:nvSpPr>
        <p:spPr>
          <a:xfrm>
            <a:off x="502920" y="4503759"/>
            <a:ext cx="18288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80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286" name="Google Shape;286;p14"/>
          <p:cNvSpPr txBox="1"/>
          <p:nvPr/>
        </p:nvSpPr>
        <p:spPr>
          <a:xfrm>
            <a:off x="731520" y="4503759"/>
            <a:ext cx="5806440" cy="38404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50"/>
              <a:buFont typeface="Arial"/>
              <a:buNone/>
            </a:pPr>
            <a:r>
              <a:rPr b="0" i="0" lang="en-US" sz="1650" u="none" cap="none" strike="noStrike">
                <a:solidFill>
                  <a:srgbClr val="FFFFFF"/>
                </a:solidFill>
                <a:latin typeface="Inter"/>
                <a:ea typeface="Inter"/>
                <a:cs typeface="Inter"/>
                <a:sym typeface="Inter"/>
              </a:rPr>
              <a:t>Health Tracker — Daily comfort, pain &amp; vitals log</a:t>
            </a:r>
            <a:endParaRPr b="0" i="0" sz="1400" u="none" cap="none" strike="noStrike">
              <a:solidFill>
                <a:srgbClr val="000000"/>
              </a:solidFill>
              <a:latin typeface="Arial"/>
              <a:ea typeface="Arial"/>
              <a:cs typeface="Arial"/>
              <a:sym typeface="Arial"/>
            </a:endParaRPr>
          </a:p>
        </p:txBody>
      </p:sp>
      <p:sp>
        <p:nvSpPr>
          <p:cNvPr id="287" name="Google Shape;287;p14"/>
          <p:cNvSpPr txBox="1"/>
          <p:nvPr/>
        </p:nvSpPr>
        <p:spPr>
          <a:xfrm>
            <a:off x="502920" y="4892266"/>
            <a:ext cx="18288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80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288" name="Google Shape;288;p14"/>
          <p:cNvSpPr txBox="1"/>
          <p:nvPr/>
        </p:nvSpPr>
        <p:spPr>
          <a:xfrm>
            <a:off x="731520" y="4892266"/>
            <a:ext cx="5806440" cy="38404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50"/>
              <a:buFont typeface="Arial"/>
              <a:buNone/>
            </a:pPr>
            <a:r>
              <a:rPr b="0" i="0" lang="en-US" sz="1650" u="none" cap="none" strike="noStrike">
                <a:solidFill>
                  <a:srgbClr val="FFFFFF"/>
                </a:solidFill>
                <a:latin typeface="Inter"/>
                <a:ea typeface="Inter"/>
                <a:cs typeface="Inter"/>
                <a:sym typeface="Inter"/>
              </a:rPr>
              <a:t>Settings Hub — Entertainment, Health, Sim &amp; IoT menus</a:t>
            </a:r>
            <a:endParaRPr b="0" i="0" sz="1400" u="none" cap="none" strike="noStrike">
              <a:solidFill>
                <a:srgbClr val="000000"/>
              </a:solidFill>
              <a:latin typeface="Arial"/>
              <a:ea typeface="Arial"/>
              <a:cs typeface="Arial"/>
              <a:sym typeface="Arial"/>
            </a:endParaRPr>
          </a:p>
        </p:txBody>
      </p:sp>
      <p:sp>
        <p:nvSpPr>
          <p:cNvPr id="289" name="Google Shape;289;p14"/>
          <p:cNvSpPr txBox="1"/>
          <p:nvPr/>
        </p:nvSpPr>
        <p:spPr>
          <a:xfrm>
            <a:off x="502920" y="5330726"/>
            <a:ext cx="18288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80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290" name="Google Shape;290;p14"/>
          <p:cNvSpPr txBox="1"/>
          <p:nvPr/>
        </p:nvSpPr>
        <p:spPr>
          <a:xfrm>
            <a:off x="731520" y="5330726"/>
            <a:ext cx="5806440" cy="38404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50"/>
              <a:buFont typeface="Arial"/>
              <a:buNone/>
            </a:pPr>
            <a:r>
              <a:rPr b="0" i="0" lang="en-US" sz="1650" u="none" cap="none" strike="noStrike">
                <a:solidFill>
                  <a:srgbClr val="FFFFFF"/>
                </a:solidFill>
                <a:latin typeface="Inter"/>
                <a:ea typeface="Inter"/>
                <a:cs typeface="Inter"/>
                <a:sym typeface="Inter"/>
              </a:rPr>
              <a:t>Smart Room IoT — Control lights &amp; fans over Wi-Fi</a:t>
            </a:r>
            <a:endParaRPr b="0" i="0" sz="1400" u="none" cap="none" strike="noStrike">
              <a:solidFill>
                <a:srgbClr val="000000"/>
              </a:solidFill>
              <a:latin typeface="Arial"/>
              <a:ea typeface="Arial"/>
              <a:cs typeface="Arial"/>
              <a:sym typeface="Arial"/>
            </a:endParaRPr>
          </a:p>
        </p:txBody>
      </p:sp>
      <p:sp>
        <p:nvSpPr>
          <p:cNvPr id="291" name="Google Shape;291;p14"/>
          <p:cNvSpPr/>
          <p:nvPr/>
        </p:nvSpPr>
        <p:spPr>
          <a:xfrm>
            <a:off x="6400800" y="3097221"/>
            <a:ext cx="5303520" cy="2411343"/>
          </a:xfrm>
          <a:prstGeom prst="roundRect">
            <a:avLst>
              <a:gd fmla="val 16667" name="adj"/>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292" name="Google Shape;292;p14"/>
          <p:cNvPicPr preferRelativeResize="0"/>
          <p:nvPr/>
        </p:nvPicPr>
        <p:blipFill rotWithShape="1">
          <a:blip r:embed="rId3">
            <a:alphaModFix/>
          </a:blip>
          <a:srcRect b="22278" l="0" r="0" t="0"/>
          <a:stretch/>
        </p:blipFill>
        <p:spPr>
          <a:xfrm>
            <a:off x="6463884" y="3166497"/>
            <a:ext cx="5177351" cy="2262366"/>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pic>
        <p:nvPicPr>
          <p:cNvPr id="297" name="Google Shape;297;p15"/>
          <p:cNvPicPr preferRelativeResize="0"/>
          <p:nvPr/>
        </p:nvPicPr>
        <p:blipFill rotWithShape="1">
          <a:blip r:embed="rId3">
            <a:alphaModFix/>
          </a:blip>
          <a:srcRect b="0" l="0" r="0" t="0"/>
          <a:stretch/>
        </p:blipFill>
        <p:spPr>
          <a:xfrm>
            <a:off x="0" y="-12182"/>
            <a:ext cx="12192000" cy="6854653"/>
          </a:xfrm>
          <a:prstGeom prst="rect">
            <a:avLst/>
          </a:prstGeom>
          <a:noFill/>
          <a:ln>
            <a:noFill/>
          </a:ln>
        </p:spPr>
      </p:pic>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19"/>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304" name="Google Shape;304;p19"/>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5" name="Google Shape;305;p19"/>
          <p:cNvSpPr/>
          <p:nvPr/>
        </p:nvSpPr>
        <p:spPr>
          <a:xfrm>
            <a:off x="502920" y="868680"/>
            <a:ext cx="1051560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400" u="none" cap="none" strike="noStrike">
                <a:solidFill>
                  <a:srgbClr val="22D3EE"/>
                </a:solidFill>
                <a:latin typeface="Inter"/>
                <a:ea typeface="Inter"/>
                <a:cs typeface="Inter"/>
                <a:sym typeface="Inter"/>
              </a:rPr>
              <a:t>THE APP</a:t>
            </a:r>
            <a:endParaRPr b="0" i="0" sz="1100" u="none" cap="none" strike="noStrike">
              <a:solidFill>
                <a:schemeClr val="dk1"/>
              </a:solidFill>
              <a:latin typeface="Calibri"/>
              <a:ea typeface="Calibri"/>
              <a:cs typeface="Calibri"/>
              <a:sym typeface="Calibri"/>
            </a:endParaRPr>
          </a:p>
        </p:txBody>
      </p:sp>
      <p:sp>
        <p:nvSpPr>
          <p:cNvPr id="306" name="Google Shape;306;p19"/>
          <p:cNvSpPr/>
          <p:nvPr/>
        </p:nvSpPr>
        <p:spPr>
          <a:xfrm>
            <a:off x="502920" y="1280160"/>
            <a:ext cx="109728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3200"/>
              <a:buFont typeface="Arial"/>
              <a:buNone/>
            </a:pPr>
            <a:r>
              <a:rPr b="1" i="0" lang="en-US" sz="3200" u="none" cap="none" strike="noStrike">
                <a:solidFill>
                  <a:srgbClr val="FFFFFF"/>
                </a:solidFill>
                <a:latin typeface="Inter"/>
                <a:ea typeface="Inter"/>
                <a:cs typeface="Inter"/>
                <a:sym typeface="Inter"/>
              </a:rPr>
              <a:t>One click, one message to the caretaker.</a:t>
            </a:r>
            <a:endParaRPr b="0" i="0" sz="3200" u="none" cap="none" strike="noStrike">
              <a:solidFill>
                <a:schemeClr val="dk1"/>
              </a:solidFill>
              <a:latin typeface="Calibri"/>
              <a:ea typeface="Calibri"/>
              <a:cs typeface="Calibri"/>
              <a:sym typeface="Calibri"/>
            </a:endParaRPr>
          </a:p>
        </p:txBody>
      </p:sp>
      <p:sp>
        <p:nvSpPr>
          <p:cNvPr id="307" name="Google Shape;307;p19"/>
          <p:cNvSpPr/>
          <p:nvPr/>
        </p:nvSpPr>
        <p:spPr>
          <a:xfrm>
            <a:off x="502920" y="2194560"/>
            <a:ext cx="5989320" cy="1691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800"/>
              <a:buFont typeface="Calibri"/>
              <a:buNone/>
            </a:pPr>
            <a:r>
              <a:rPr b="1" i="0" lang="en-US" sz="1600" u="none" cap="none" strike="noStrike">
                <a:solidFill>
                  <a:srgbClr val="22D3EE"/>
                </a:solidFill>
                <a:latin typeface="Inter"/>
                <a:ea typeface="Inter"/>
                <a:cs typeface="Inter"/>
                <a:sym typeface="Inter"/>
              </a:rPr>
              <a:t>•  </a:t>
            </a:r>
            <a:r>
              <a:rPr b="0" i="0" lang="en-US" sz="1600" u="none" cap="none" strike="noStrike">
                <a:solidFill>
                  <a:srgbClr val="CDD5E2"/>
                </a:solidFill>
                <a:latin typeface="Inter"/>
                <a:ea typeface="Inter"/>
                <a:cs typeface="Inter"/>
                <a:sym typeface="Inter"/>
              </a:rPr>
              <a:t>Desktop &amp; mobile companion app built around large, high-contrast tiles.</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400"/>
              </a:spcBef>
              <a:spcAft>
                <a:spcPts val="0"/>
              </a:spcAft>
              <a:buClr>
                <a:srgbClr val="000000"/>
              </a:buClr>
              <a:buSzPts val="1600"/>
              <a:buFont typeface="Arial"/>
              <a:buNone/>
            </a:pPr>
            <a:r>
              <a:rPr b="1" i="0" lang="en-US" sz="1600" u="none" cap="none" strike="noStrike">
                <a:solidFill>
                  <a:srgbClr val="22D3EE"/>
                </a:solidFill>
                <a:latin typeface="Inter"/>
                <a:ea typeface="Inter"/>
                <a:cs typeface="Inter"/>
                <a:sym typeface="Inter"/>
              </a:rPr>
              <a:t>•  </a:t>
            </a:r>
            <a:r>
              <a:rPr b="0" i="0" lang="en-US" sz="1600" u="none" cap="none" strike="noStrike">
                <a:solidFill>
                  <a:srgbClr val="CDD5E2"/>
                </a:solidFill>
                <a:latin typeface="Inter"/>
                <a:ea typeface="Inter"/>
                <a:cs typeface="Inter"/>
                <a:sym typeface="Inter"/>
              </a:rPr>
              <a:t>Clicking Water, Rest, or Call sends an instant push alert to the caregiver's phone.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400"/>
              </a:spcAft>
              <a:buClr>
                <a:srgbClr val="000000"/>
              </a:buClr>
              <a:buSzPts val="1600"/>
              <a:buFont typeface="Arial"/>
              <a:buNone/>
            </a:pPr>
            <a:r>
              <a:rPr b="1" i="0" lang="en-US" sz="1600" u="none" cap="none" strike="noStrike">
                <a:solidFill>
                  <a:srgbClr val="22D3EE"/>
                </a:solidFill>
                <a:latin typeface="Inter"/>
                <a:ea typeface="Inter"/>
                <a:cs typeface="Inter"/>
                <a:sym typeface="Inter"/>
              </a:rPr>
              <a:t>•  </a:t>
            </a:r>
            <a:r>
              <a:rPr b="0" i="0" lang="en-US" sz="1600" u="none" cap="none" strike="noStrike">
                <a:solidFill>
                  <a:srgbClr val="CDD5E2"/>
                </a:solidFill>
                <a:latin typeface="Inter"/>
                <a:ea typeface="Inter"/>
                <a:cs typeface="Inter"/>
                <a:sym typeface="Inter"/>
              </a:rPr>
              <a:t>Lets paralyzed patients ask for daily essentials without speaking a word.</a:t>
            </a:r>
            <a:endParaRPr b="0" i="0" sz="1400" u="none" cap="none" strike="noStrike">
              <a:solidFill>
                <a:srgbClr val="000000"/>
              </a:solidFill>
              <a:latin typeface="Arial"/>
              <a:ea typeface="Arial"/>
              <a:cs typeface="Arial"/>
              <a:sym typeface="Arial"/>
            </a:endParaRPr>
          </a:p>
        </p:txBody>
      </p:sp>
      <p:sp>
        <p:nvSpPr>
          <p:cNvPr id="308" name="Google Shape;308;p19"/>
          <p:cNvSpPr/>
          <p:nvPr/>
        </p:nvSpPr>
        <p:spPr>
          <a:xfrm>
            <a:off x="585216" y="4361688"/>
            <a:ext cx="164592" cy="164592"/>
          </a:xfrm>
          <a:prstGeom prst="ellipse">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309" name="Google Shape;309;p19"/>
          <p:cNvSpPr/>
          <p:nvPr/>
        </p:nvSpPr>
        <p:spPr>
          <a:xfrm>
            <a:off x="859536" y="4297680"/>
            <a:ext cx="27432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Calibri"/>
              <a:buNone/>
            </a:pPr>
            <a:r>
              <a:rPr b="1" i="0" lang="en-US" sz="1800" u="none" cap="none" strike="noStrike">
                <a:solidFill>
                  <a:srgbClr val="FFFFFF"/>
                </a:solidFill>
                <a:latin typeface="Inter"/>
                <a:ea typeface="Inter"/>
                <a:cs typeface="Inter"/>
                <a:sym typeface="Inter"/>
              </a:rPr>
              <a:t>Large accessible tiles</a:t>
            </a:r>
            <a:endParaRPr b="0" i="0" sz="1800" u="none" cap="none" strike="noStrike">
              <a:solidFill>
                <a:schemeClr val="dk1"/>
              </a:solidFill>
              <a:latin typeface="Calibri"/>
              <a:ea typeface="Calibri"/>
              <a:cs typeface="Calibri"/>
              <a:sym typeface="Calibri"/>
            </a:endParaRPr>
          </a:p>
        </p:txBody>
      </p:sp>
      <p:sp>
        <p:nvSpPr>
          <p:cNvPr id="310" name="Google Shape;310;p19"/>
          <p:cNvSpPr/>
          <p:nvPr/>
        </p:nvSpPr>
        <p:spPr>
          <a:xfrm>
            <a:off x="3694176" y="4297680"/>
            <a:ext cx="333756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7C5D6"/>
              </a:buClr>
              <a:buSzPts val="1600"/>
              <a:buFont typeface="Calibri"/>
              <a:buNone/>
            </a:pPr>
            <a:r>
              <a:rPr b="0" i="0" lang="en-US" sz="1600" u="none" cap="none" strike="noStrike">
                <a:solidFill>
                  <a:srgbClr val="B7C5D6"/>
                </a:solidFill>
                <a:latin typeface="Inter"/>
                <a:ea typeface="Inter"/>
                <a:cs typeface="Inter"/>
                <a:sym typeface="Inter"/>
              </a:rPr>
              <a:t>Built for impaired motor control.</a:t>
            </a:r>
            <a:endParaRPr b="0" i="0" sz="1600" u="none" cap="none" strike="noStrike">
              <a:solidFill>
                <a:schemeClr val="dk1"/>
              </a:solidFill>
              <a:latin typeface="Calibri"/>
              <a:ea typeface="Calibri"/>
              <a:cs typeface="Calibri"/>
              <a:sym typeface="Calibri"/>
            </a:endParaRPr>
          </a:p>
        </p:txBody>
      </p:sp>
      <p:sp>
        <p:nvSpPr>
          <p:cNvPr id="311" name="Google Shape;311;p19"/>
          <p:cNvSpPr/>
          <p:nvPr/>
        </p:nvSpPr>
        <p:spPr>
          <a:xfrm>
            <a:off x="585216" y="5001768"/>
            <a:ext cx="164592" cy="164592"/>
          </a:xfrm>
          <a:prstGeom prst="ellipse">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312" name="Google Shape;312;p19"/>
          <p:cNvSpPr/>
          <p:nvPr/>
        </p:nvSpPr>
        <p:spPr>
          <a:xfrm>
            <a:off x="859536" y="4937760"/>
            <a:ext cx="27432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Calibri"/>
              <a:buNone/>
            </a:pPr>
            <a:r>
              <a:rPr b="1" i="0" lang="en-US" sz="1800" u="none" cap="none" strike="noStrike">
                <a:solidFill>
                  <a:srgbClr val="FFFFFF"/>
                </a:solidFill>
                <a:latin typeface="Inter"/>
                <a:ea typeface="Inter"/>
                <a:cs typeface="Inter"/>
                <a:sym typeface="Inter"/>
              </a:rPr>
              <a:t>Instant notification</a:t>
            </a:r>
            <a:endParaRPr b="0" i="0" sz="1800" u="none" cap="none" strike="noStrike">
              <a:solidFill>
                <a:schemeClr val="dk1"/>
              </a:solidFill>
              <a:latin typeface="Calibri"/>
              <a:ea typeface="Calibri"/>
              <a:cs typeface="Calibri"/>
              <a:sym typeface="Calibri"/>
            </a:endParaRPr>
          </a:p>
        </p:txBody>
      </p:sp>
      <p:sp>
        <p:nvSpPr>
          <p:cNvPr id="313" name="Google Shape;313;p19"/>
          <p:cNvSpPr/>
          <p:nvPr/>
        </p:nvSpPr>
        <p:spPr>
          <a:xfrm>
            <a:off x="3694176" y="4937760"/>
            <a:ext cx="333756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7C5D6"/>
              </a:buClr>
              <a:buSzPts val="1600"/>
              <a:buFont typeface="Calibri"/>
              <a:buNone/>
            </a:pPr>
            <a:r>
              <a:rPr b="0" i="0" lang="en-US" sz="1600" u="none" cap="none" strike="noStrike">
                <a:solidFill>
                  <a:srgbClr val="B7C5D6"/>
                </a:solidFill>
                <a:latin typeface="Inter"/>
                <a:ea typeface="Inter"/>
                <a:cs typeface="Inter"/>
                <a:sym typeface="Inter"/>
              </a:rPr>
              <a:t>Caretaker's phone buzzes in &lt;1s.</a:t>
            </a:r>
            <a:endParaRPr b="0" i="0" sz="1600" u="none" cap="none" strike="noStrike">
              <a:solidFill>
                <a:schemeClr val="dk1"/>
              </a:solidFill>
              <a:latin typeface="Calibri"/>
              <a:ea typeface="Calibri"/>
              <a:cs typeface="Calibri"/>
              <a:sym typeface="Calibri"/>
            </a:endParaRPr>
          </a:p>
        </p:txBody>
      </p:sp>
      <p:sp>
        <p:nvSpPr>
          <p:cNvPr id="314" name="Google Shape;314;p19"/>
          <p:cNvSpPr/>
          <p:nvPr/>
        </p:nvSpPr>
        <p:spPr>
          <a:xfrm>
            <a:off x="585216" y="5641848"/>
            <a:ext cx="164592" cy="164592"/>
          </a:xfrm>
          <a:prstGeom prst="ellipse">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315" name="Google Shape;315;p19"/>
          <p:cNvSpPr/>
          <p:nvPr/>
        </p:nvSpPr>
        <p:spPr>
          <a:xfrm>
            <a:off x="859536" y="5577840"/>
            <a:ext cx="27432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Calibri"/>
              <a:buNone/>
            </a:pPr>
            <a:r>
              <a:rPr b="1" i="0" lang="en-US" sz="1800" u="none" cap="none" strike="noStrike">
                <a:solidFill>
                  <a:srgbClr val="FFFFFF"/>
                </a:solidFill>
                <a:latin typeface="Inter"/>
                <a:ea typeface="Inter"/>
                <a:cs typeface="Inter"/>
                <a:sym typeface="Inter"/>
              </a:rPr>
              <a:t>Same cursor engine</a:t>
            </a:r>
            <a:endParaRPr b="0" i="0" sz="1800" u="none" cap="none" strike="noStrike">
              <a:solidFill>
                <a:schemeClr val="dk1"/>
              </a:solidFill>
              <a:latin typeface="Calibri"/>
              <a:ea typeface="Calibri"/>
              <a:cs typeface="Calibri"/>
              <a:sym typeface="Calibri"/>
            </a:endParaRPr>
          </a:p>
        </p:txBody>
      </p:sp>
      <p:sp>
        <p:nvSpPr>
          <p:cNvPr id="316" name="Google Shape;316;p19"/>
          <p:cNvSpPr/>
          <p:nvPr/>
        </p:nvSpPr>
        <p:spPr>
          <a:xfrm>
            <a:off x="3694176" y="5577840"/>
            <a:ext cx="333756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7C5D6"/>
              </a:buClr>
              <a:buSzPts val="1600"/>
              <a:buFont typeface="Calibri"/>
              <a:buNone/>
            </a:pPr>
            <a:r>
              <a:rPr b="0" i="0" lang="en-US" sz="1600" u="none" cap="none" strike="noStrike">
                <a:solidFill>
                  <a:srgbClr val="B7C5D6"/>
                </a:solidFill>
                <a:latin typeface="Inter"/>
                <a:ea typeface="Inter"/>
                <a:cs typeface="Inter"/>
                <a:sym typeface="Inter"/>
              </a:rPr>
              <a:t>No new gestures to learn.</a:t>
            </a:r>
            <a:endParaRPr b="0" i="0" sz="1600" u="none" cap="none" strike="noStrike">
              <a:solidFill>
                <a:schemeClr val="dk1"/>
              </a:solidFill>
              <a:latin typeface="Calibri"/>
              <a:ea typeface="Calibri"/>
              <a:cs typeface="Calibri"/>
              <a:sym typeface="Calibri"/>
            </a:endParaRPr>
          </a:p>
        </p:txBody>
      </p:sp>
      <p:sp>
        <p:nvSpPr>
          <p:cNvPr id="317" name="Google Shape;317;p19"/>
          <p:cNvSpPr/>
          <p:nvPr/>
        </p:nvSpPr>
        <p:spPr>
          <a:xfrm>
            <a:off x="7384472" y="1831088"/>
            <a:ext cx="3920838" cy="2029968"/>
          </a:xfrm>
          <a:prstGeom prst="roundRect">
            <a:avLst>
              <a:gd fmla="val 1351" name="adj"/>
            </a:avLst>
          </a:prstGeom>
          <a:solidFill>
            <a:srgbClr val="FFFFFF"/>
          </a:solidFill>
          <a:ln>
            <a:noFill/>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318" name="Google Shape;318;p19"/>
          <p:cNvPicPr preferRelativeResize="0"/>
          <p:nvPr/>
        </p:nvPicPr>
        <p:blipFill rotWithShape="1">
          <a:blip r:embed="rId3">
            <a:alphaModFix/>
          </a:blip>
          <a:srcRect b="0" l="0" r="0" t="0"/>
          <a:stretch/>
        </p:blipFill>
        <p:spPr>
          <a:xfrm>
            <a:off x="7412182" y="1863547"/>
            <a:ext cx="3865418" cy="1920240"/>
          </a:xfrm>
          <a:prstGeom prst="rect">
            <a:avLst/>
          </a:prstGeom>
          <a:noFill/>
          <a:ln>
            <a:noFill/>
          </a:ln>
        </p:spPr>
      </p:pic>
      <p:sp>
        <p:nvSpPr>
          <p:cNvPr id="319" name="Google Shape;319;p19"/>
          <p:cNvSpPr/>
          <p:nvPr/>
        </p:nvSpPr>
        <p:spPr>
          <a:xfrm>
            <a:off x="6766560" y="3913632"/>
            <a:ext cx="5029200" cy="36576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9DB1C7"/>
              </a:buClr>
              <a:buSzPts val="1000"/>
              <a:buFont typeface="Calibri"/>
              <a:buNone/>
            </a:pPr>
            <a:r>
              <a:rPr b="1" i="1" lang="en-US" sz="1350" u="none" cap="none" strike="noStrike">
                <a:solidFill>
                  <a:srgbClr val="9DB1C7"/>
                </a:solidFill>
                <a:latin typeface="Inter"/>
                <a:ea typeface="Inter"/>
                <a:cs typeface="Inter"/>
                <a:sym typeface="Inter"/>
              </a:rPr>
              <a:t>Companion app — tile grid built for daily care.</a:t>
            </a:r>
            <a:endParaRPr b="0" i="0" sz="1000" u="none" cap="none" strike="noStrike">
              <a:solidFill>
                <a:schemeClr val="dk1"/>
              </a:solidFill>
              <a:latin typeface="Calibri"/>
              <a:ea typeface="Calibri"/>
              <a:cs typeface="Calibri"/>
              <a:sym typeface="Calibri"/>
            </a:endParaRPr>
          </a:p>
        </p:txBody>
      </p:sp>
      <p:sp>
        <p:nvSpPr>
          <p:cNvPr id="320" name="Google Shape;320;p19"/>
          <p:cNvSpPr/>
          <p:nvPr/>
        </p:nvSpPr>
        <p:spPr>
          <a:xfrm>
            <a:off x="6766560" y="4389120"/>
            <a:ext cx="5029200" cy="1371600"/>
          </a:xfrm>
          <a:prstGeom prst="roundRect">
            <a:avLst>
              <a:gd fmla="val 5333" name="adj"/>
            </a:avLst>
          </a:prstGeom>
          <a:solidFill>
            <a:srgbClr val="0F2440"/>
          </a:solidFill>
          <a:ln cap="flat" cmpd="sng" w="9525">
            <a:solidFill>
              <a:srgbClr val="0E7490">
                <a:alpha val="4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321" name="Google Shape;321;p19"/>
          <p:cNvSpPr/>
          <p:nvPr/>
        </p:nvSpPr>
        <p:spPr>
          <a:xfrm>
            <a:off x="6995160" y="4480560"/>
            <a:ext cx="4572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350" u="none" cap="none" strike="noStrike">
                <a:solidFill>
                  <a:srgbClr val="22D3EE"/>
                </a:solidFill>
                <a:latin typeface="Inter"/>
                <a:ea typeface="Inter"/>
                <a:cs typeface="Inter"/>
                <a:sym typeface="Inter"/>
              </a:rPr>
              <a:t>NOTIFICATION FLOW</a:t>
            </a:r>
            <a:endParaRPr b="0" i="0" sz="1100" u="none" cap="none" strike="noStrike">
              <a:solidFill>
                <a:schemeClr val="dk1"/>
              </a:solidFill>
              <a:latin typeface="Calibri"/>
              <a:ea typeface="Calibri"/>
              <a:cs typeface="Calibri"/>
              <a:sym typeface="Calibri"/>
            </a:endParaRPr>
          </a:p>
        </p:txBody>
      </p:sp>
      <p:sp>
        <p:nvSpPr>
          <p:cNvPr id="322" name="Google Shape;322;p19"/>
          <p:cNvSpPr/>
          <p:nvPr/>
        </p:nvSpPr>
        <p:spPr>
          <a:xfrm>
            <a:off x="6995160" y="4800600"/>
            <a:ext cx="45720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600"/>
              <a:buFont typeface="Calibri"/>
              <a:buNone/>
            </a:pPr>
            <a:r>
              <a:rPr b="1" i="0" lang="en-US" sz="1750" u="none" cap="none" strike="noStrike">
                <a:solidFill>
                  <a:srgbClr val="FFFFFF"/>
                </a:solidFill>
                <a:latin typeface="Inter"/>
                <a:ea typeface="Inter"/>
                <a:cs typeface="Inter"/>
                <a:sym typeface="Inter"/>
              </a:rPr>
              <a:t>IRIS cursor</a:t>
            </a:r>
            <a:r>
              <a:rPr b="1" i="0" lang="en-US" sz="1750" u="none" cap="none" strike="noStrike">
                <a:solidFill>
                  <a:srgbClr val="22D3EE"/>
                </a:solidFill>
                <a:latin typeface="Inter"/>
                <a:ea typeface="Inter"/>
                <a:cs typeface="Inter"/>
                <a:sym typeface="Inter"/>
              </a:rPr>
              <a:t>  →  </a:t>
            </a:r>
            <a:r>
              <a:rPr b="1" i="0" lang="en-US" sz="1750" u="none" cap="none" strike="noStrike">
                <a:solidFill>
                  <a:srgbClr val="CDD5E2"/>
                </a:solidFill>
                <a:latin typeface="Inter"/>
                <a:ea typeface="Inter"/>
                <a:cs typeface="Inter"/>
                <a:sym typeface="Inter"/>
              </a:rPr>
              <a:t>tile click</a:t>
            </a:r>
            <a:r>
              <a:rPr b="1" i="0" lang="en-US" sz="1750" u="none" cap="none" strike="noStrike">
                <a:solidFill>
                  <a:srgbClr val="22D3EE"/>
                </a:solidFill>
                <a:latin typeface="Inter"/>
                <a:ea typeface="Inter"/>
                <a:cs typeface="Inter"/>
                <a:sym typeface="Inter"/>
              </a:rPr>
              <a:t>  →  caretaker phone buzzes</a:t>
            </a:r>
            <a:endParaRPr b="0" i="0" sz="1600" u="none" cap="none" strike="noStrike">
              <a:solidFill>
                <a:schemeClr val="dk1"/>
              </a:solidFill>
              <a:latin typeface="Calibri"/>
              <a:ea typeface="Calibri"/>
              <a:cs typeface="Calibri"/>
              <a:sym typeface="Calibri"/>
            </a:endParaRPr>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20"/>
          <p:cNvSpPr txBox="1"/>
          <p:nvPr/>
        </p:nvSpPr>
        <p:spPr>
          <a:xfrm>
            <a:off x="502920" y="274320"/>
            <a:ext cx="36576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1150" u="none" cap="none" strike="noStrike">
                <a:solidFill>
                  <a:srgbClr val="CDD5E2"/>
                </a:solidFill>
                <a:latin typeface="Inter"/>
                <a:ea typeface="Inter"/>
                <a:cs typeface="Inter"/>
                <a:sym typeface="Inter"/>
              </a:rPr>
              <a:t>● IRIS</a:t>
            </a:r>
            <a:endParaRPr b="0" i="0" sz="1400" u="none" cap="none" strike="noStrike">
              <a:solidFill>
                <a:srgbClr val="000000"/>
              </a:solidFill>
              <a:latin typeface="Arial"/>
              <a:ea typeface="Arial"/>
              <a:cs typeface="Arial"/>
              <a:sym typeface="Arial"/>
            </a:endParaRPr>
          </a:p>
        </p:txBody>
      </p:sp>
      <p:sp>
        <p:nvSpPr>
          <p:cNvPr id="328" name="Google Shape;328;p20"/>
          <p:cNvSpPr txBox="1"/>
          <p:nvPr/>
        </p:nvSpPr>
        <p:spPr>
          <a:xfrm>
            <a:off x="502920" y="274320"/>
            <a:ext cx="18288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20"/>
          <p:cNvSpPr txBox="1"/>
          <p:nvPr/>
        </p:nvSpPr>
        <p:spPr>
          <a:xfrm>
            <a:off x="502920" y="868680"/>
            <a:ext cx="10515600"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400" u="none" cap="none" strike="noStrike">
                <a:solidFill>
                  <a:srgbClr val="22D3EE"/>
                </a:solidFill>
                <a:latin typeface="Inter"/>
                <a:ea typeface="Inter"/>
                <a:cs typeface="Inter"/>
                <a:sym typeface="Inter"/>
              </a:rPr>
              <a:t>THE APP  ·  SETTINGS HUB &amp; IOT MENUS</a:t>
            </a:r>
            <a:endParaRPr b="0" i="0" sz="1400" u="none" cap="none" strike="noStrike">
              <a:solidFill>
                <a:srgbClr val="000000"/>
              </a:solidFill>
              <a:latin typeface="Arial"/>
              <a:ea typeface="Arial"/>
              <a:cs typeface="Arial"/>
              <a:sym typeface="Arial"/>
            </a:endParaRPr>
          </a:p>
        </p:txBody>
      </p:sp>
      <p:sp>
        <p:nvSpPr>
          <p:cNvPr id="330" name="Google Shape;330;p20"/>
          <p:cNvSpPr txBox="1"/>
          <p:nvPr/>
        </p:nvSpPr>
        <p:spPr>
          <a:xfrm>
            <a:off x="502920" y="1280160"/>
            <a:ext cx="1097280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FFFFFF"/>
                </a:solidFill>
                <a:latin typeface="Inter"/>
                <a:ea typeface="Inter"/>
                <a:cs typeface="Inter"/>
                <a:sym typeface="Inter"/>
              </a:rPr>
              <a:t>Everything inside the Settings Hub.</a:t>
            </a:r>
            <a:endParaRPr b="0" i="0" sz="1800" u="none" cap="none" strike="noStrike">
              <a:solidFill>
                <a:schemeClr val="dk1"/>
              </a:solidFill>
              <a:latin typeface="Calibri"/>
              <a:ea typeface="Calibri"/>
              <a:cs typeface="Calibri"/>
              <a:sym typeface="Calibri"/>
            </a:endParaRPr>
          </a:p>
        </p:txBody>
      </p:sp>
      <p:sp>
        <p:nvSpPr>
          <p:cNvPr id="331" name="Google Shape;331;p20"/>
          <p:cNvSpPr txBox="1"/>
          <p:nvPr/>
        </p:nvSpPr>
        <p:spPr>
          <a:xfrm>
            <a:off x="502920" y="2080256"/>
            <a:ext cx="10515600"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50"/>
              <a:buFont typeface="Arial"/>
              <a:buNone/>
            </a:pPr>
            <a:r>
              <a:rPr b="0" i="1" lang="en-US" sz="1750" u="none" cap="none" strike="noStrike">
                <a:solidFill>
                  <a:srgbClr val="CDD5E2"/>
                </a:solidFill>
                <a:latin typeface="Inter"/>
                <a:ea typeface="Inter"/>
                <a:cs typeface="Inter"/>
                <a:sym typeface="Inter"/>
              </a:rPr>
              <a:t>Entertainment and Health Monitoring are organized inside Settings alongside Simulation, Futuristic IoT, and Bluetooth menus.</a:t>
            </a:r>
            <a:endParaRPr b="0" i="0" sz="1400" u="none" cap="none" strike="noStrike">
              <a:solidFill>
                <a:srgbClr val="000000"/>
              </a:solidFill>
              <a:latin typeface="Arial"/>
              <a:ea typeface="Arial"/>
              <a:cs typeface="Arial"/>
              <a:sym typeface="Arial"/>
            </a:endParaRPr>
          </a:p>
        </p:txBody>
      </p:sp>
      <p:sp>
        <p:nvSpPr>
          <p:cNvPr id="332" name="Google Shape;332;p20"/>
          <p:cNvSpPr txBox="1"/>
          <p:nvPr/>
        </p:nvSpPr>
        <p:spPr>
          <a:xfrm>
            <a:off x="502920" y="3203263"/>
            <a:ext cx="18288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333" name="Google Shape;333;p20"/>
          <p:cNvSpPr txBox="1"/>
          <p:nvPr/>
        </p:nvSpPr>
        <p:spPr>
          <a:xfrm>
            <a:off x="731519" y="3203263"/>
            <a:ext cx="10607040" cy="4206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50"/>
              <a:buFont typeface="Arial"/>
              <a:buNone/>
            </a:pPr>
            <a:r>
              <a:rPr b="0" i="0" lang="en-US" sz="1750" u="none" cap="none" strike="noStrike">
                <a:solidFill>
                  <a:srgbClr val="FFFFFF"/>
                </a:solidFill>
                <a:latin typeface="Inter"/>
                <a:ea typeface="Inter"/>
                <a:cs typeface="Inter"/>
                <a:sym typeface="Inter"/>
              </a:rPr>
              <a:t>Entertainment Menu — 360° Flight Simulator, gaze games, music &amp; audiobooks</a:t>
            </a:r>
            <a:endParaRPr b="0" i="0" sz="1400" u="none" cap="none" strike="noStrike">
              <a:solidFill>
                <a:srgbClr val="000000"/>
              </a:solidFill>
              <a:latin typeface="Arial"/>
              <a:ea typeface="Arial"/>
              <a:cs typeface="Arial"/>
              <a:sym typeface="Arial"/>
            </a:endParaRPr>
          </a:p>
        </p:txBody>
      </p:sp>
      <p:sp>
        <p:nvSpPr>
          <p:cNvPr id="334" name="Google Shape;334;p20"/>
          <p:cNvSpPr txBox="1"/>
          <p:nvPr/>
        </p:nvSpPr>
        <p:spPr>
          <a:xfrm>
            <a:off x="502920" y="3587311"/>
            <a:ext cx="18288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335" name="Google Shape;335;p20"/>
          <p:cNvSpPr txBox="1"/>
          <p:nvPr/>
        </p:nvSpPr>
        <p:spPr>
          <a:xfrm>
            <a:off x="731520" y="3587311"/>
            <a:ext cx="10607040" cy="4206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50"/>
              <a:buFont typeface="Arial"/>
              <a:buNone/>
            </a:pPr>
            <a:r>
              <a:rPr b="0" i="0" lang="en-US" sz="1750" u="none" cap="none" strike="noStrike">
                <a:solidFill>
                  <a:srgbClr val="FFFFFF"/>
                </a:solidFill>
                <a:latin typeface="Inter"/>
                <a:ea typeface="Inter"/>
                <a:cs typeface="Inter"/>
                <a:sym typeface="Inter"/>
              </a:rPr>
              <a:t>Health Monitoring Menu — Detailed clinical vitals logs and symptom history</a:t>
            </a:r>
            <a:endParaRPr b="0" i="0" sz="1400" u="none" cap="none" strike="noStrike">
              <a:solidFill>
                <a:srgbClr val="000000"/>
              </a:solidFill>
              <a:latin typeface="Arial"/>
              <a:ea typeface="Arial"/>
              <a:cs typeface="Arial"/>
              <a:sym typeface="Arial"/>
            </a:endParaRPr>
          </a:p>
        </p:txBody>
      </p:sp>
      <p:sp>
        <p:nvSpPr>
          <p:cNvPr id="336" name="Google Shape;336;p20"/>
          <p:cNvSpPr txBox="1"/>
          <p:nvPr/>
        </p:nvSpPr>
        <p:spPr>
          <a:xfrm>
            <a:off x="502920" y="3971358"/>
            <a:ext cx="18288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337" name="Google Shape;337;p20"/>
          <p:cNvSpPr txBox="1"/>
          <p:nvPr/>
        </p:nvSpPr>
        <p:spPr>
          <a:xfrm>
            <a:off x="731520" y="3971358"/>
            <a:ext cx="10607040" cy="4206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50"/>
              <a:buFont typeface="Arial"/>
              <a:buNone/>
            </a:pPr>
            <a:r>
              <a:rPr b="0" i="0" lang="en-US" sz="1750" u="none" cap="none" strike="noStrike">
                <a:solidFill>
                  <a:srgbClr val="FFFFFF"/>
                </a:solidFill>
                <a:latin typeface="Inter"/>
                <a:ea typeface="Inter"/>
                <a:cs typeface="Inter"/>
                <a:sym typeface="Inter"/>
              </a:rPr>
              <a:t>Simulation Menu — Live Python eye digital twin &amp; interactive room light simulator</a:t>
            </a:r>
            <a:endParaRPr b="0" i="0" sz="1400" u="none" cap="none" strike="noStrike">
              <a:solidFill>
                <a:srgbClr val="000000"/>
              </a:solidFill>
              <a:latin typeface="Arial"/>
              <a:ea typeface="Arial"/>
              <a:cs typeface="Arial"/>
              <a:sym typeface="Arial"/>
            </a:endParaRPr>
          </a:p>
        </p:txBody>
      </p:sp>
      <p:sp>
        <p:nvSpPr>
          <p:cNvPr id="338" name="Google Shape;338;p20"/>
          <p:cNvSpPr txBox="1"/>
          <p:nvPr/>
        </p:nvSpPr>
        <p:spPr>
          <a:xfrm>
            <a:off x="502920" y="4355406"/>
            <a:ext cx="18288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339" name="Google Shape;339;p20"/>
          <p:cNvSpPr txBox="1"/>
          <p:nvPr/>
        </p:nvSpPr>
        <p:spPr>
          <a:xfrm>
            <a:off x="731520" y="4355406"/>
            <a:ext cx="10607040" cy="4206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50"/>
              <a:buFont typeface="Arial"/>
              <a:buNone/>
            </a:pPr>
            <a:r>
              <a:rPr b="0" i="0" lang="en-US" sz="1750" u="none" cap="none" strike="noStrike">
                <a:solidFill>
                  <a:srgbClr val="FFFFFF"/>
                </a:solidFill>
                <a:latin typeface="Inter"/>
                <a:ea typeface="Inter"/>
                <a:cs typeface="Inter"/>
                <a:sym typeface="Inter"/>
              </a:rPr>
              <a:t>Futuristic IoT Menu — Wi-Fi cloud control for room lights, fans &amp; appliances</a:t>
            </a:r>
            <a:endParaRPr b="0" i="0" sz="1400" u="none" cap="none" strike="noStrike">
              <a:solidFill>
                <a:srgbClr val="000000"/>
              </a:solidFill>
              <a:latin typeface="Arial"/>
              <a:ea typeface="Arial"/>
              <a:cs typeface="Arial"/>
              <a:sym typeface="Arial"/>
            </a:endParaRPr>
          </a:p>
        </p:txBody>
      </p:sp>
      <p:sp>
        <p:nvSpPr>
          <p:cNvPr id="340" name="Google Shape;340;p20"/>
          <p:cNvSpPr txBox="1"/>
          <p:nvPr/>
        </p:nvSpPr>
        <p:spPr>
          <a:xfrm>
            <a:off x="502920" y="4739455"/>
            <a:ext cx="18288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341" name="Google Shape;341;p20"/>
          <p:cNvSpPr txBox="1"/>
          <p:nvPr/>
        </p:nvSpPr>
        <p:spPr>
          <a:xfrm>
            <a:off x="731520" y="4739455"/>
            <a:ext cx="10607040" cy="4206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50"/>
              <a:buFont typeface="Arial"/>
              <a:buNone/>
            </a:pPr>
            <a:r>
              <a:rPr b="0" i="0" lang="en-US" sz="1750" u="none" cap="none" strike="noStrike">
                <a:solidFill>
                  <a:srgbClr val="FFFFFF"/>
                </a:solidFill>
                <a:latin typeface="Inter"/>
                <a:ea typeface="Inter"/>
                <a:cs typeface="Inter"/>
                <a:sym typeface="Inter"/>
              </a:rPr>
              <a:t>Bluetooth &amp; Wi-Fi Menu — Wireless failover, sensitivity &amp; user profile tuning</a:t>
            </a:r>
            <a:endParaRPr b="0" i="0" sz="1400" u="none" cap="none" strike="noStrike">
              <a:solidFill>
                <a:srgbClr val="000000"/>
              </a:solidFill>
              <a:latin typeface="Arial"/>
              <a:ea typeface="Arial"/>
              <a:cs typeface="Arial"/>
              <a:sym typeface="Arial"/>
            </a:endParaRPr>
          </a:p>
        </p:txBody>
      </p:sp>
      <p:sp>
        <p:nvSpPr>
          <p:cNvPr id="342" name="Google Shape;342;p20"/>
          <p:cNvSpPr txBox="1"/>
          <p:nvPr/>
        </p:nvSpPr>
        <p:spPr>
          <a:xfrm>
            <a:off x="502920" y="5123502"/>
            <a:ext cx="18288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343" name="Google Shape;343;p20"/>
          <p:cNvSpPr txBox="1"/>
          <p:nvPr/>
        </p:nvSpPr>
        <p:spPr>
          <a:xfrm>
            <a:off x="731520" y="5123502"/>
            <a:ext cx="10607040" cy="4206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50"/>
              <a:buFont typeface="Arial"/>
              <a:buNone/>
            </a:pPr>
            <a:r>
              <a:rPr b="0" i="0" lang="en-US" sz="1750" u="none" cap="none" strike="noStrike">
                <a:solidFill>
                  <a:srgbClr val="FFFFFF"/>
                </a:solidFill>
                <a:latin typeface="Inter"/>
                <a:ea typeface="Inter"/>
                <a:cs typeface="Inter"/>
                <a:sym typeface="Inter"/>
              </a:rPr>
              <a:t>Emergency SOS &amp; Calls — One-blink caretaker alert &amp; family video calling</a:t>
            </a:r>
            <a:endParaRPr b="0" i="0" sz="1400" u="none" cap="none" strike="noStrike">
              <a:solidFill>
                <a:srgbClr val="000000"/>
              </a:solidFill>
              <a:latin typeface="Arial"/>
              <a:ea typeface="Arial"/>
              <a:cs typeface="Arial"/>
              <a:sym typeface="Arial"/>
            </a:endParaRPr>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pic>
        <p:nvPicPr>
          <p:cNvPr id="348" name="Google Shape;348;p17"/>
          <p:cNvPicPr preferRelativeResize="0"/>
          <p:nvPr/>
        </p:nvPicPr>
        <p:blipFill rotWithShape="1">
          <a:blip r:embed="rId3">
            <a:alphaModFix/>
          </a:blip>
          <a:srcRect b="0" l="0" r="0" t="0"/>
          <a:stretch/>
        </p:blipFill>
        <p:spPr>
          <a:xfrm>
            <a:off x="0" y="-26037"/>
            <a:ext cx="12192000" cy="6854653"/>
          </a:xfrm>
          <a:prstGeom prst="rect">
            <a:avLst/>
          </a:prstGeom>
          <a:noFill/>
          <a:ln>
            <a:noFill/>
          </a:ln>
        </p:spPr>
      </p:pic>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pic>
        <p:nvPicPr>
          <p:cNvPr id="353" name="Google Shape;353;p18"/>
          <p:cNvPicPr preferRelativeResize="0"/>
          <p:nvPr/>
        </p:nvPicPr>
        <p:blipFill rotWithShape="1">
          <a:blip r:embed="rId3">
            <a:alphaModFix/>
          </a:blip>
          <a:srcRect b="0" l="0" r="0" t="0"/>
          <a:stretch/>
        </p:blipFill>
        <p:spPr>
          <a:xfrm>
            <a:off x="0" y="1673"/>
            <a:ext cx="12192000" cy="6854653"/>
          </a:xfrm>
          <a:prstGeom prst="rect">
            <a:avLst/>
          </a:prstGeom>
          <a:noFill/>
          <a:ln>
            <a:noFill/>
          </a:ln>
        </p:spPr>
      </p:pic>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21"/>
          <p:cNvSpPr txBox="1"/>
          <p:nvPr/>
        </p:nvSpPr>
        <p:spPr>
          <a:xfrm>
            <a:off x="3370811" y="2426943"/>
            <a:ext cx="4803371" cy="186204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500"/>
              <a:buFont typeface="Arial"/>
              <a:buNone/>
            </a:pPr>
            <a:r>
              <a:rPr b="1" i="0" lang="en-US" sz="11500" u="none" cap="none" strike="noStrike">
                <a:solidFill>
                  <a:srgbClr val="FFFFFF"/>
                </a:solidFill>
                <a:latin typeface="Inter"/>
                <a:ea typeface="Inter"/>
                <a:cs typeface="Inter"/>
                <a:sym typeface="Inter"/>
              </a:rPr>
              <a:t>DEMO</a:t>
            </a:r>
            <a:endParaRPr b="0" i="0" sz="11500" u="none" cap="none" strike="noStrike">
              <a:solidFill>
                <a:schemeClr val="dk1"/>
              </a:solidFill>
              <a:latin typeface="Calibri"/>
              <a:ea typeface="Calibri"/>
              <a:cs typeface="Calibri"/>
              <a:sym typeface="Calibri"/>
            </a:endParaRPr>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44"/>
          <p:cNvSpPr/>
          <p:nvPr/>
        </p:nvSpPr>
        <p:spPr>
          <a:xfrm>
            <a:off x="0" y="0"/>
            <a:ext cx="12191695" cy="6858000"/>
          </a:xfrm>
          <a:prstGeom prst="rect">
            <a:avLst/>
          </a:prstGeom>
          <a:solidFill>
            <a:srgbClr val="070B1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4" name="Google Shape;364;p44"/>
          <p:cNvSpPr txBox="1"/>
          <p:nvPr/>
        </p:nvSpPr>
        <p:spPr>
          <a:xfrm>
            <a:off x="502920" y="274320"/>
            <a:ext cx="4572000"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00E5FF"/>
                </a:solidFill>
                <a:latin typeface="Inter"/>
                <a:ea typeface="Inter"/>
                <a:cs typeface="Inter"/>
                <a:sym typeface="Inter"/>
              </a:rPr>
              <a:t>●  IRIS   ·   SECTION 02 OF 06</a:t>
            </a:r>
            <a:endParaRPr/>
          </a:p>
        </p:txBody>
      </p:sp>
      <p:sp>
        <p:nvSpPr>
          <p:cNvPr id="365" name="Google Shape;365;p44"/>
          <p:cNvSpPr/>
          <p:nvPr/>
        </p:nvSpPr>
        <p:spPr>
          <a:xfrm>
            <a:off x="502920" y="658368"/>
            <a:ext cx="11183112" cy="18288"/>
          </a:xfrm>
          <a:prstGeom prst="rect">
            <a:avLst/>
          </a:prstGeom>
          <a:solidFill>
            <a:srgbClr val="1E305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6" name="Google Shape;366;p44"/>
          <p:cNvSpPr txBox="1"/>
          <p:nvPr/>
        </p:nvSpPr>
        <p:spPr>
          <a:xfrm>
            <a:off x="502920" y="2844142"/>
            <a:ext cx="11183100" cy="1169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7000" u="none" cap="none" strike="noStrike">
                <a:solidFill>
                  <a:srgbClr val="F5F8FF"/>
                </a:solidFill>
                <a:latin typeface="Inter"/>
                <a:ea typeface="Inter"/>
                <a:cs typeface="Inter"/>
                <a:sym typeface="Inter"/>
              </a:rPr>
              <a:t>TECHNICAL SECTION</a:t>
            </a:r>
            <a:endParaRPr sz="70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pic>
        <p:nvPicPr>
          <p:cNvPr id="371" name="Google Shape;371;p24"/>
          <p:cNvPicPr preferRelativeResize="0"/>
          <p:nvPr/>
        </p:nvPicPr>
        <p:blipFill rotWithShape="1">
          <a:blip r:embed="rId3">
            <a:alphaModFix/>
          </a:blip>
          <a:srcRect b="0" l="0" r="0" t="0"/>
          <a:stretch/>
        </p:blipFill>
        <p:spPr>
          <a:xfrm>
            <a:off x="1343881" y="187445"/>
            <a:ext cx="9144019" cy="6483109"/>
          </a:xfrm>
          <a:prstGeom prst="rect">
            <a:avLst/>
          </a:prstGeom>
          <a:noFill/>
          <a:ln>
            <a:noFill/>
          </a:ln>
        </p:spPr>
      </p:pic>
      <p:sp>
        <p:nvSpPr>
          <p:cNvPr id="372" name="Google Shape;372;p24"/>
          <p:cNvSpPr/>
          <p:nvPr/>
        </p:nvSpPr>
        <p:spPr>
          <a:xfrm>
            <a:off x="7593676" y="6171341"/>
            <a:ext cx="54864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Inter"/>
                <a:ea typeface="Inter"/>
                <a:cs typeface="Inter"/>
                <a:sym typeface="Inter"/>
              </a:rPr>
              <a:t>Ayushman Choudhary</a:t>
            </a:r>
            <a:endParaRPr b="0" i="0" sz="2000" u="none" cap="none" strike="noStrike">
              <a:solidFill>
                <a:schemeClr val="dk1"/>
              </a:solidFill>
              <a:latin typeface="Calibri"/>
              <a:ea typeface="Calibri"/>
              <a:cs typeface="Calibri"/>
              <a:sym typeface="Calibri"/>
            </a:endParaRPr>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49"/>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378" name="Google Shape;378;p49"/>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9" name="Google Shape;379;p49"/>
          <p:cNvSpPr/>
          <p:nvPr/>
        </p:nvSpPr>
        <p:spPr>
          <a:xfrm>
            <a:off x="502920" y="868680"/>
            <a:ext cx="1051560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400" u="none" cap="none" strike="noStrike">
                <a:solidFill>
                  <a:srgbClr val="22D3EE"/>
                </a:solidFill>
                <a:latin typeface="Inter"/>
                <a:ea typeface="Inter"/>
                <a:cs typeface="Inter"/>
                <a:sym typeface="Inter"/>
              </a:rPr>
              <a:t>SYSTEM SPECIFICATIONS  ·  TECHNICAL DATASHEET</a:t>
            </a:r>
            <a:endParaRPr b="0" i="0" sz="1100" u="none" cap="none" strike="noStrike">
              <a:solidFill>
                <a:schemeClr val="dk1"/>
              </a:solidFill>
              <a:latin typeface="Calibri"/>
              <a:ea typeface="Calibri"/>
              <a:cs typeface="Calibri"/>
              <a:sym typeface="Calibri"/>
            </a:endParaRPr>
          </a:p>
        </p:txBody>
      </p:sp>
      <p:sp>
        <p:nvSpPr>
          <p:cNvPr id="380" name="Google Shape;380;p49"/>
          <p:cNvSpPr/>
          <p:nvPr/>
        </p:nvSpPr>
        <p:spPr>
          <a:xfrm>
            <a:off x="502920" y="1280160"/>
            <a:ext cx="109728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3600"/>
              <a:buFont typeface="Arial"/>
              <a:buNone/>
            </a:pPr>
            <a:r>
              <a:rPr b="1" i="0" lang="en-US" sz="3300" u="none" cap="none" strike="noStrike">
                <a:solidFill>
                  <a:srgbClr val="FFFFFF"/>
                </a:solidFill>
                <a:latin typeface="Inter"/>
                <a:ea typeface="Inter"/>
                <a:cs typeface="Inter"/>
                <a:sym typeface="Inter"/>
              </a:rPr>
              <a:t>Complete hardware &amp; software specifications.</a:t>
            </a:r>
            <a:endParaRPr b="0" i="0" sz="3600" u="none" cap="none" strike="noStrike">
              <a:solidFill>
                <a:schemeClr val="dk1"/>
              </a:solidFill>
              <a:latin typeface="Calibri"/>
              <a:ea typeface="Calibri"/>
              <a:cs typeface="Calibri"/>
              <a:sym typeface="Calibri"/>
            </a:endParaRPr>
          </a:p>
        </p:txBody>
      </p:sp>
      <p:sp>
        <p:nvSpPr>
          <p:cNvPr id="381" name="Google Shape;381;p49"/>
          <p:cNvSpPr/>
          <p:nvPr/>
        </p:nvSpPr>
        <p:spPr>
          <a:xfrm>
            <a:off x="502920" y="2194560"/>
            <a:ext cx="1051560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C5D6"/>
              </a:buClr>
              <a:buSzPts val="1400"/>
              <a:buFont typeface="Calibri"/>
              <a:buNone/>
            </a:pPr>
            <a:r>
              <a:rPr b="0" i="1" lang="en-US" sz="1750" u="none" cap="none" strike="noStrike">
                <a:solidFill>
                  <a:srgbClr val="B7C5D6"/>
                </a:solidFill>
                <a:latin typeface="Inter"/>
                <a:ea typeface="Inter"/>
                <a:cs typeface="Inter"/>
                <a:sym typeface="Inter"/>
              </a:rPr>
              <a:t>Every component selected for minimal weight, deterministic speed, and 12-hour reliability.</a:t>
            </a:r>
            <a:endParaRPr b="0" i="0" sz="1400" u="none" cap="none" strike="noStrike">
              <a:solidFill>
                <a:schemeClr val="dk1"/>
              </a:solidFill>
              <a:latin typeface="Calibri"/>
              <a:ea typeface="Calibri"/>
              <a:cs typeface="Calibri"/>
              <a:sym typeface="Calibri"/>
            </a:endParaRPr>
          </a:p>
        </p:txBody>
      </p:sp>
      <p:sp>
        <p:nvSpPr>
          <p:cNvPr id="382" name="Google Shape;382;p49"/>
          <p:cNvSpPr/>
          <p:nvPr/>
        </p:nvSpPr>
        <p:spPr>
          <a:xfrm>
            <a:off x="472288" y="2880360"/>
            <a:ext cx="5440680" cy="1691640"/>
          </a:xfrm>
          <a:prstGeom prst="roundRect">
            <a:avLst>
              <a:gd fmla="val 4324"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3" name="Google Shape;383;p49"/>
          <p:cNvSpPr/>
          <p:nvPr/>
        </p:nvSpPr>
        <p:spPr>
          <a:xfrm>
            <a:off x="700888" y="3154680"/>
            <a:ext cx="777240" cy="777240"/>
          </a:xfrm>
          <a:prstGeom prst="rect">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4" name="Google Shape;384;p49"/>
          <p:cNvSpPr/>
          <p:nvPr/>
        </p:nvSpPr>
        <p:spPr>
          <a:xfrm>
            <a:off x="700888" y="3154680"/>
            <a:ext cx="777240" cy="7772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A2E"/>
              </a:buClr>
              <a:buSzPts val="2400"/>
              <a:buFont typeface="Arial"/>
              <a:buNone/>
            </a:pPr>
            <a:r>
              <a:rPr b="1" i="0" lang="en-US" sz="2000" u="none" cap="none" strike="noStrike">
                <a:solidFill>
                  <a:srgbClr val="0B1A2E"/>
                </a:solidFill>
                <a:latin typeface="Inter"/>
                <a:ea typeface="Inter"/>
                <a:cs typeface="Inter"/>
                <a:sym typeface="Inter"/>
              </a:rPr>
              <a:t>01</a:t>
            </a:r>
            <a:endParaRPr b="0" i="0" sz="2400" u="none" cap="none" strike="noStrike">
              <a:solidFill>
                <a:schemeClr val="dk1"/>
              </a:solidFill>
              <a:latin typeface="Calibri"/>
              <a:ea typeface="Calibri"/>
              <a:cs typeface="Calibri"/>
              <a:sym typeface="Calibri"/>
            </a:endParaRPr>
          </a:p>
        </p:txBody>
      </p:sp>
      <p:sp>
        <p:nvSpPr>
          <p:cNvPr id="385" name="Google Shape;385;p49"/>
          <p:cNvSpPr/>
          <p:nvPr/>
        </p:nvSpPr>
        <p:spPr>
          <a:xfrm>
            <a:off x="1615288" y="3154680"/>
            <a:ext cx="429768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500" u="none" cap="none" strike="noStrike">
                <a:solidFill>
                  <a:srgbClr val="22D3EE"/>
                </a:solidFill>
                <a:latin typeface="Inter"/>
                <a:ea typeface="Inter"/>
                <a:cs typeface="Inter"/>
                <a:sym typeface="Inter"/>
              </a:rPr>
              <a:t>MICROCONTROLLER &amp; MOTION IMU</a:t>
            </a:r>
            <a:endParaRPr b="0" i="0" sz="1100" u="none" cap="none" strike="noStrike">
              <a:solidFill>
                <a:schemeClr val="dk1"/>
              </a:solidFill>
              <a:latin typeface="Calibri"/>
              <a:ea typeface="Calibri"/>
              <a:cs typeface="Calibri"/>
              <a:sym typeface="Calibri"/>
            </a:endParaRPr>
          </a:p>
        </p:txBody>
      </p:sp>
      <p:sp>
        <p:nvSpPr>
          <p:cNvPr id="386" name="Google Shape;386;p49"/>
          <p:cNvSpPr/>
          <p:nvPr/>
        </p:nvSpPr>
        <p:spPr>
          <a:xfrm>
            <a:off x="1615288" y="3438144"/>
            <a:ext cx="4315968" cy="11155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600"/>
              <a:buFont typeface="Calibri"/>
              <a:buNone/>
            </a:pPr>
            <a:r>
              <a:rPr b="0" i="0" lang="en-US" sz="1400" u="none" cap="none" strike="noStrike">
                <a:solidFill>
                  <a:srgbClr val="B4C3DC"/>
                </a:solidFill>
                <a:latin typeface="Inter"/>
                <a:ea typeface="Inter"/>
                <a:cs typeface="Inter"/>
                <a:sym typeface="Inter"/>
              </a:rPr>
              <a:t>•  MCU: Seeed XIAO ESP32C3 (160 MHz RISC-V)</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IMU: MPU6050 6-DOF (3-axis gyro + accel)</a:t>
            </a:r>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Bus: I2C @ 400 kHz · 50 Hz gesture sample</a:t>
            </a:r>
            <a:endParaRPr/>
          </a:p>
        </p:txBody>
      </p:sp>
      <p:sp>
        <p:nvSpPr>
          <p:cNvPr id="387" name="Google Shape;387;p49"/>
          <p:cNvSpPr/>
          <p:nvPr/>
        </p:nvSpPr>
        <p:spPr>
          <a:xfrm>
            <a:off x="6278728" y="2880360"/>
            <a:ext cx="5440680" cy="1691640"/>
          </a:xfrm>
          <a:prstGeom prst="roundRect">
            <a:avLst>
              <a:gd fmla="val 4324"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8" name="Google Shape;388;p49"/>
          <p:cNvSpPr/>
          <p:nvPr/>
        </p:nvSpPr>
        <p:spPr>
          <a:xfrm>
            <a:off x="6507328" y="3154680"/>
            <a:ext cx="777240" cy="777240"/>
          </a:xfrm>
          <a:prstGeom prst="rect">
            <a:avLst/>
          </a:prstGeom>
          <a:solidFill>
            <a:srgbClr val="FFB02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9" name="Google Shape;389;p49"/>
          <p:cNvSpPr/>
          <p:nvPr/>
        </p:nvSpPr>
        <p:spPr>
          <a:xfrm>
            <a:off x="6507328" y="3154680"/>
            <a:ext cx="777240" cy="7772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A2E"/>
              </a:buClr>
              <a:buSzPts val="2400"/>
              <a:buFont typeface="Arial"/>
              <a:buNone/>
            </a:pPr>
            <a:r>
              <a:rPr b="1" i="0" lang="en-US" sz="2000" u="none" cap="none" strike="noStrike">
                <a:solidFill>
                  <a:srgbClr val="0B1A2E"/>
                </a:solidFill>
                <a:latin typeface="Inter"/>
                <a:ea typeface="Inter"/>
                <a:cs typeface="Inter"/>
                <a:sym typeface="Inter"/>
              </a:rPr>
              <a:t>02</a:t>
            </a:r>
            <a:endParaRPr b="0" i="0" sz="2400" u="none" cap="none" strike="noStrike">
              <a:solidFill>
                <a:schemeClr val="dk1"/>
              </a:solidFill>
              <a:latin typeface="Calibri"/>
              <a:ea typeface="Calibri"/>
              <a:cs typeface="Calibri"/>
              <a:sym typeface="Calibri"/>
            </a:endParaRPr>
          </a:p>
        </p:txBody>
      </p:sp>
      <p:sp>
        <p:nvSpPr>
          <p:cNvPr id="390" name="Google Shape;390;p49"/>
          <p:cNvSpPr/>
          <p:nvPr/>
        </p:nvSpPr>
        <p:spPr>
          <a:xfrm>
            <a:off x="7421728" y="3154680"/>
            <a:ext cx="429768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B020"/>
              </a:buClr>
              <a:buSzPts val="1100"/>
              <a:buFont typeface="Calibri"/>
              <a:buNone/>
            </a:pPr>
            <a:r>
              <a:rPr b="1" i="0" lang="en-US" sz="1500" u="none" cap="none" strike="noStrike">
                <a:solidFill>
                  <a:srgbClr val="FFB020"/>
                </a:solidFill>
                <a:latin typeface="Inter"/>
                <a:ea typeface="Inter"/>
                <a:cs typeface="Inter"/>
                <a:sym typeface="Inter"/>
              </a:rPr>
              <a:t>OPTICS &amp; MAGNETIC MOUNT</a:t>
            </a:r>
            <a:endParaRPr b="0" i="0" sz="1100" u="none" cap="none" strike="noStrike">
              <a:solidFill>
                <a:schemeClr val="dk1"/>
              </a:solidFill>
              <a:latin typeface="Calibri"/>
              <a:ea typeface="Calibri"/>
              <a:cs typeface="Calibri"/>
              <a:sym typeface="Calibri"/>
            </a:endParaRPr>
          </a:p>
        </p:txBody>
      </p:sp>
      <p:sp>
        <p:nvSpPr>
          <p:cNvPr id="391" name="Google Shape;391;p49"/>
          <p:cNvSpPr/>
          <p:nvPr/>
        </p:nvSpPr>
        <p:spPr>
          <a:xfrm>
            <a:off x="7421728" y="3438144"/>
            <a:ext cx="4315968" cy="11155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600"/>
              <a:buFont typeface="Calibri"/>
              <a:buNone/>
            </a:pPr>
            <a:r>
              <a:rPr b="0" i="0" lang="en-US" sz="1400" u="none" cap="none" strike="noStrike">
                <a:solidFill>
                  <a:srgbClr val="B4C3DC"/>
                </a:solidFill>
                <a:latin typeface="Inter"/>
                <a:ea typeface="Inter"/>
                <a:cs typeface="Inter"/>
                <a:sym typeface="Inter"/>
              </a:rPr>
              <a:t>•  Emitter: 950nm Multi-Beam IR + LM393 chip</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Safety: &lt;0.5 mW/cm² (IEC 62471 Exempt)</a:t>
            </a:r>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Mount: Neodymium Magnet + Nut-Bolt (±7D)</a:t>
            </a:r>
            <a:endParaRPr/>
          </a:p>
        </p:txBody>
      </p:sp>
      <p:sp>
        <p:nvSpPr>
          <p:cNvPr id="392" name="Google Shape;392;p49"/>
          <p:cNvSpPr/>
          <p:nvPr/>
        </p:nvSpPr>
        <p:spPr>
          <a:xfrm>
            <a:off x="472288" y="4800600"/>
            <a:ext cx="5440680" cy="1691640"/>
          </a:xfrm>
          <a:prstGeom prst="roundRect">
            <a:avLst>
              <a:gd fmla="val 4324"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3" name="Google Shape;393;p49"/>
          <p:cNvSpPr/>
          <p:nvPr/>
        </p:nvSpPr>
        <p:spPr>
          <a:xfrm>
            <a:off x="700888" y="5074920"/>
            <a:ext cx="777240" cy="777240"/>
          </a:xfrm>
          <a:prstGeom prst="rect">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4" name="Google Shape;394;p49"/>
          <p:cNvSpPr/>
          <p:nvPr/>
        </p:nvSpPr>
        <p:spPr>
          <a:xfrm>
            <a:off x="700888" y="5074920"/>
            <a:ext cx="777240" cy="7772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A2E"/>
              </a:buClr>
              <a:buSzPts val="2400"/>
              <a:buFont typeface="Arial"/>
              <a:buNone/>
            </a:pPr>
            <a:r>
              <a:rPr b="1" i="0" lang="en-US" sz="2000" u="none" cap="none" strike="noStrike">
                <a:solidFill>
                  <a:srgbClr val="0B1A2E"/>
                </a:solidFill>
                <a:latin typeface="Inter"/>
                <a:ea typeface="Inter"/>
                <a:cs typeface="Inter"/>
                <a:sym typeface="Inter"/>
              </a:rPr>
              <a:t>03</a:t>
            </a:r>
            <a:endParaRPr b="0" i="0" sz="2400" u="none" cap="none" strike="noStrike">
              <a:solidFill>
                <a:schemeClr val="dk1"/>
              </a:solidFill>
              <a:latin typeface="Calibri"/>
              <a:ea typeface="Calibri"/>
              <a:cs typeface="Calibri"/>
              <a:sym typeface="Calibri"/>
            </a:endParaRPr>
          </a:p>
        </p:txBody>
      </p:sp>
      <p:sp>
        <p:nvSpPr>
          <p:cNvPr id="395" name="Google Shape;395;p49"/>
          <p:cNvSpPr/>
          <p:nvPr/>
        </p:nvSpPr>
        <p:spPr>
          <a:xfrm>
            <a:off x="1615288" y="5074920"/>
            <a:ext cx="429768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500" u="none" cap="none" strike="noStrike">
                <a:solidFill>
                  <a:srgbClr val="22D3EE"/>
                </a:solidFill>
                <a:latin typeface="Inter"/>
                <a:ea typeface="Inter"/>
                <a:cs typeface="Inter"/>
                <a:sym typeface="Inter"/>
              </a:rPr>
              <a:t>POWER, BATTERY &amp; ERGONOMICS</a:t>
            </a:r>
            <a:endParaRPr b="0" i="0" sz="1100" u="none" cap="none" strike="noStrike">
              <a:solidFill>
                <a:schemeClr val="dk1"/>
              </a:solidFill>
              <a:latin typeface="Calibri"/>
              <a:ea typeface="Calibri"/>
              <a:cs typeface="Calibri"/>
              <a:sym typeface="Calibri"/>
            </a:endParaRPr>
          </a:p>
        </p:txBody>
      </p:sp>
      <p:sp>
        <p:nvSpPr>
          <p:cNvPr id="396" name="Google Shape;396;p49"/>
          <p:cNvSpPr/>
          <p:nvPr/>
        </p:nvSpPr>
        <p:spPr>
          <a:xfrm>
            <a:off x="1615288" y="5358384"/>
            <a:ext cx="4315968" cy="11155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600"/>
              <a:buFont typeface="Calibri"/>
              <a:buNone/>
            </a:pPr>
            <a:r>
              <a:rPr b="0" i="0" lang="en-US" sz="1400" u="none" cap="none" strike="noStrike">
                <a:solidFill>
                  <a:srgbClr val="B4C3DC"/>
                </a:solidFill>
                <a:latin typeface="Inter"/>
                <a:ea typeface="Inter"/>
                <a:cs typeface="Inter"/>
                <a:sym typeface="Inter"/>
              </a:rPr>
              <a:t>•  Battery: 3.7V 1000mAh Li-Po (XIAO BAT+/-)</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Power: Onboard 3.3V reg (no buck module)</a:t>
            </a:r>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Runtime: ~12h Deep Sleep · Velcro air belt</a:t>
            </a:r>
            <a:endParaRPr/>
          </a:p>
        </p:txBody>
      </p:sp>
      <p:sp>
        <p:nvSpPr>
          <p:cNvPr id="397" name="Google Shape;397;p49"/>
          <p:cNvSpPr/>
          <p:nvPr/>
        </p:nvSpPr>
        <p:spPr>
          <a:xfrm>
            <a:off x="6278728" y="4800600"/>
            <a:ext cx="5440680" cy="1691640"/>
          </a:xfrm>
          <a:prstGeom prst="roundRect">
            <a:avLst>
              <a:gd fmla="val 4324"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8" name="Google Shape;398;p49"/>
          <p:cNvSpPr/>
          <p:nvPr/>
        </p:nvSpPr>
        <p:spPr>
          <a:xfrm>
            <a:off x="6507328" y="5074920"/>
            <a:ext cx="777240" cy="777240"/>
          </a:xfrm>
          <a:prstGeom prst="rect">
            <a:avLst/>
          </a:prstGeom>
          <a:solidFill>
            <a:srgbClr val="FFB02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9" name="Google Shape;399;p49"/>
          <p:cNvSpPr/>
          <p:nvPr/>
        </p:nvSpPr>
        <p:spPr>
          <a:xfrm>
            <a:off x="6507328" y="5074920"/>
            <a:ext cx="777240" cy="7772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A2E"/>
              </a:buClr>
              <a:buSzPts val="2400"/>
              <a:buFont typeface="Arial"/>
              <a:buNone/>
            </a:pPr>
            <a:r>
              <a:rPr b="1" i="0" lang="en-US" sz="2000" u="none" cap="none" strike="noStrike">
                <a:solidFill>
                  <a:srgbClr val="0B1A2E"/>
                </a:solidFill>
                <a:latin typeface="Inter"/>
                <a:ea typeface="Inter"/>
                <a:cs typeface="Inter"/>
                <a:sym typeface="Inter"/>
              </a:rPr>
              <a:t>04</a:t>
            </a:r>
            <a:endParaRPr b="0" i="0" sz="2400" u="none" cap="none" strike="noStrike">
              <a:solidFill>
                <a:schemeClr val="dk1"/>
              </a:solidFill>
              <a:latin typeface="Calibri"/>
              <a:ea typeface="Calibri"/>
              <a:cs typeface="Calibri"/>
              <a:sym typeface="Calibri"/>
            </a:endParaRPr>
          </a:p>
        </p:txBody>
      </p:sp>
      <p:sp>
        <p:nvSpPr>
          <p:cNvPr id="400" name="Google Shape;400;p49"/>
          <p:cNvSpPr/>
          <p:nvPr/>
        </p:nvSpPr>
        <p:spPr>
          <a:xfrm>
            <a:off x="7421728" y="5074920"/>
            <a:ext cx="429768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B020"/>
              </a:buClr>
              <a:buSzPts val="1100"/>
              <a:buFont typeface="Calibri"/>
              <a:buNone/>
            </a:pPr>
            <a:r>
              <a:rPr b="1" i="0" lang="en-US" sz="1500" u="none" cap="none" strike="noStrike">
                <a:solidFill>
                  <a:srgbClr val="FFB020"/>
                </a:solidFill>
                <a:latin typeface="Inter"/>
                <a:ea typeface="Inter"/>
                <a:cs typeface="Inter"/>
                <a:sym typeface="Inter"/>
              </a:rPr>
              <a:t>WIRELESS, AI TWIN &amp; CALIBRATION</a:t>
            </a:r>
            <a:endParaRPr b="0" i="0" sz="1100" u="none" cap="none" strike="noStrike">
              <a:solidFill>
                <a:schemeClr val="dk1"/>
              </a:solidFill>
              <a:latin typeface="Calibri"/>
              <a:ea typeface="Calibri"/>
              <a:cs typeface="Calibri"/>
              <a:sym typeface="Calibri"/>
            </a:endParaRPr>
          </a:p>
        </p:txBody>
      </p:sp>
      <p:sp>
        <p:nvSpPr>
          <p:cNvPr id="401" name="Google Shape;401;p49"/>
          <p:cNvSpPr/>
          <p:nvPr/>
        </p:nvSpPr>
        <p:spPr>
          <a:xfrm>
            <a:off x="7421728" y="5358384"/>
            <a:ext cx="4315968" cy="11155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600"/>
              <a:buFont typeface="Calibri"/>
              <a:buNone/>
            </a:pPr>
            <a:r>
              <a:rPr b="0" i="0" lang="en-US" sz="1400" u="none" cap="none" strike="noStrike">
                <a:solidFill>
                  <a:srgbClr val="B4C3DC"/>
                </a:solidFill>
                <a:latin typeface="Inter"/>
                <a:ea typeface="Inter"/>
                <a:cs typeface="Inter"/>
                <a:sym typeface="Inter"/>
              </a:rPr>
              <a:t>•  Link: BLE 5.0 + Auto Wi-Fi Failover + USB</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Stack: PyAutoGUI + TensorFlow + Eye Twin</a:t>
            </a:r>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Setup: 2–3s first-run · Total BOM: ₹885</a:t>
            </a:r>
            <a:endParaRPr/>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22"/>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408" name="Google Shape;408;p22"/>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9" name="Google Shape;409;p22"/>
          <p:cNvSpPr/>
          <p:nvPr/>
        </p:nvSpPr>
        <p:spPr>
          <a:xfrm>
            <a:off x="502920" y="868680"/>
            <a:ext cx="1051560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400" u="none" cap="none" strike="noStrike">
                <a:solidFill>
                  <a:srgbClr val="22D3EE"/>
                </a:solidFill>
                <a:latin typeface="Inter"/>
                <a:ea typeface="Inter"/>
                <a:cs typeface="Inter"/>
                <a:sym typeface="Inter"/>
              </a:rPr>
              <a:t>SYSTEM ARCHITECTURE  ·  3-STAGE SIGNAL FLOW</a:t>
            </a:r>
            <a:endParaRPr b="0" i="0" sz="1100" u="none" cap="none" strike="noStrike">
              <a:solidFill>
                <a:schemeClr val="dk1"/>
              </a:solidFill>
              <a:latin typeface="Calibri"/>
              <a:ea typeface="Calibri"/>
              <a:cs typeface="Calibri"/>
              <a:sym typeface="Calibri"/>
            </a:endParaRPr>
          </a:p>
        </p:txBody>
      </p:sp>
      <p:sp>
        <p:nvSpPr>
          <p:cNvPr id="410" name="Google Shape;410;p22"/>
          <p:cNvSpPr/>
          <p:nvPr/>
        </p:nvSpPr>
        <p:spPr>
          <a:xfrm>
            <a:off x="502920" y="1280160"/>
            <a:ext cx="109728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3600"/>
              <a:buFont typeface="Arial"/>
              <a:buNone/>
            </a:pPr>
            <a:r>
              <a:rPr b="1" i="0" lang="en-US" sz="3600" u="none" cap="none" strike="noStrike">
                <a:solidFill>
                  <a:srgbClr val="FFFFFF"/>
                </a:solidFill>
                <a:latin typeface="Inter"/>
                <a:ea typeface="Inter"/>
                <a:cs typeface="Inter"/>
                <a:sym typeface="Inter"/>
              </a:rPr>
              <a:t>Headband → BLE / Wi-Fi → Cursor.</a:t>
            </a:r>
            <a:endParaRPr b="0" i="0" sz="3600" u="none" cap="none" strike="noStrike">
              <a:solidFill>
                <a:schemeClr val="dk1"/>
              </a:solidFill>
              <a:latin typeface="Calibri"/>
              <a:ea typeface="Calibri"/>
              <a:cs typeface="Calibri"/>
              <a:sym typeface="Calibri"/>
            </a:endParaRPr>
          </a:p>
        </p:txBody>
      </p:sp>
      <p:sp>
        <p:nvSpPr>
          <p:cNvPr id="411" name="Google Shape;411;p22"/>
          <p:cNvSpPr/>
          <p:nvPr/>
        </p:nvSpPr>
        <p:spPr>
          <a:xfrm>
            <a:off x="502920" y="2083722"/>
            <a:ext cx="100584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C5D6"/>
              </a:buClr>
              <a:buSzPts val="2000"/>
              <a:buFont typeface="Calibri"/>
              <a:buNone/>
            </a:pPr>
            <a:r>
              <a:rPr b="0" i="1" lang="en-US" sz="2000" u="none" cap="none" strike="noStrike">
                <a:solidFill>
                  <a:srgbClr val="B7C5D6"/>
                </a:solidFill>
                <a:latin typeface="Inter"/>
                <a:ea typeface="Inter"/>
                <a:cs typeface="Inter"/>
                <a:sym typeface="Inter"/>
              </a:rPr>
              <a:t>Two-piece magnetic rig, dual wireless link, zero cables to the laptop.</a:t>
            </a:r>
            <a:endParaRPr b="0" i="0" sz="2000" u="none" cap="none" strike="noStrike">
              <a:solidFill>
                <a:schemeClr val="dk1"/>
              </a:solidFill>
              <a:latin typeface="Calibri"/>
              <a:ea typeface="Calibri"/>
              <a:cs typeface="Calibri"/>
              <a:sym typeface="Calibri"/>
            </a:endParaRPr>
          </a:p>
        </p:txBody>
      </p:sp>
      <p:sp>
        <p:nvSpPr>
          <p:cNvPr id="412" name="Google Shape;412;p22"/>
          <p:cNvSpPr/>
          <p:nvPr/>
        </p:nvSpPr>
        <p:spPr>
          <a:xfrm>
            <a:off x="586588" y="2880360"/>
            <a:ext cx="3337560" cy="2606040"/>
          </a:xfrm>
          <a:prstGeom prst="roundRect">
            <a:avLst>
              <a:gd fmla="val 2807"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3" name="Google Shape;413;p22"/>
          <p:cNvSpPr/>
          <p:nvPr/>
        </p:nvSpPr>
        <p:spPr>
          <a:xfrm>
            <a:off x="860908" y="3154680"/>
            <a:ext cx="502920" cy="502920"/>
          </a:xfrm>
          <a:prstGeom prst="ellipse">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4" name="Google Shape;414;p22"/>
          <p:cNvSpPr/>
          <p:nvPr/>
        </p:nvSpPr>
        <p:spPr>
          <a:xfrm>
            <a:off x="860908" y="3154680"/>
            <a:ext cx="50292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A2E"/>
              </a:buClr>
              <a:buSzPts val="1600"/>
              <a:buFont typeface="Arial"/>
              <a:buNone/>
            </a:pPr>
            <a:r>
              <a:rPr b="1" i="0" lang="en-US" sz="2000" u="none" cap="none" strike="noStrike">
                <a:solidFill>
                  <a:srgbClr val="0B1A2E"/>
                </a:solidFill>
                <a:latin typeface="Inter"/>
                <a:ea typeface="Inter"/>
                <a:cs typeface="Inter"/>
                <a:sym typeface="Inter"/>
              </a:rPr>
              <a:t>1</a:t>
            </a:r>
            <a:endParaRPr b="0" i="0" sz="1600" u="none" cap="none" strike="noStrike">
              <a:solidFill>
                <a:schemeClr val="dk1"/>
              </a:solidFill>
              <a:latin typeface="Calibri"/>
              <a:ea typeface="Calibri"/>
              <a:cs typeface="Calibri"/>
              <a:sym typeface="Calibri"/>
            </a:endParaRPr>
          </a:p>
        </p:txBody>
      </p:sp>
      <p:sp>
        <p:nvSpPr>
          <p:cNvPr id="415" name="Google Shape;415;p22"/>
          <p:cNvSpPr/>
          <p:nvPr/>
        </p:nvSpPr>
        <p:spPr>
          <a:xfrm>
            <a:off x="1500988" y="3154680"/>
            <a:ext cx="224028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en-US" sz="1700" u="none" cap="none" strike="noStrike">
                <a:solidFill>
                  <a:srgbClr val="FFFFFF"/>
                </a:solidFill>
                <a:latin typeface="Inter"/>
                <a:ea typeface="Inter"/>
                <a:cs typeface="Inter"/>
                <a:sym typeface="Inter"/>
              </a:rPr>
              <a:t>THE WEARABLE</a:t>
            </a:r>
            <a:endParaRPr b="0" i="0" sz="1300" u="none" cap="none" strike="noStrike">
              <a:solidFill>
                <a:schemeClr val="dk1"/>
              </a:solidFill>
              <a:latin typeface="Calibri"/>
              <a:ea typeface="Calibri"/>
              <a:cs typeface="Calibri"/>
              <a:sym typeface="Calibri"/>
            </a:endParaRPr>
          </a:p>
        </p:txBody>
      </p:sp>
      <p:sp>
        <p:nvSpPr>
          <p:cNvPr id="416" name="Google Shape;416;p22"/>
          <p:cNvSpPr/>
          <p:nvPr/>
        </p:nvSpPr>
        <p:spPr>
          <a:xfrm>
            <a:off x="860908" y="3840480"/>
            <a:ext cx="2788920" cy="310896"/>
          </a:xfrm>
          <a:prstGeom prst="roundRect">
            <a:avLst>
              <a:gd fmla="val 147059" name="adj"/>
            </a:avLst>
          </a:prstGeom>
          <a:solidFill>
            <a:srgbClr val="050E1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7" name="Google Shape;417;p22"/>
          <p:cNvSpPr/>
          <p:nvPr/>
        </p:nvSpPr>
        <p:spPr>
          <a:xfrm>
            <a:off x="860908" y="3840480"/>
            <a:ext cx="2788920" cy="31089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050"/>
              <a:buFont typeface="Calibri"/>
              <a:buNone/>
            </a:pPr>
            <a:r>
              <a:rPr b="1" i="0" lang="en-US" sz="1350" u="none" cap="none" strike="noStrike">
                <a:solidFill>
                  <a:srgbClr val="22D3EE"/>
                </a:solidFill>
                <a:latin typeface="Inter"/>
                <a:ea typeface="Inter"/>
                <a:cs typeface="Inter"/>
                <a:sym typeface="Inter"/>
              </a:rPr>
              <a:t>IR + IMU + XIAO C3</a:t>
            </a:r>
            <a:endParaRPr b="0" i="0" sz="1050" u="none" cap="none" strike="noStrike">
              <a:solidFill>
                <a:schemeClr val="dk1"/>
              </a:solidFill>
              <a:latin typeface="Calibri"/>
              <a:ea typeface="Calibri"/>
              <a:cs typeface="Calibri"/>
              <a:sym typeface="Calibri"/>
            </a:endParaRPr>
          </a:p>
        </p:txBody>
      </p:sp>
      <p:sp>
        <p:nvSpPr>
          <p:cNvPr id="418" name="Google Shape;418;p22"/>
          <p:cNvSpPr/>
          <p:nvPr/>
        </p:nvSpPr>
        <p:spPr>
          <a:xfrm>
            <a:off x="860908" y="4297680"/>
            <a:ext cx="2971800" cy="129844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400"/>
              <a:buFont typeface="Calibri"/>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Magnetic-pivot IR sensor on glasses</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4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MPU6050 + XIAO inside Velcro belt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200"/>
              </a:spcAft>
              <a:buClr>
                <a:srgbClr val="000000"/>
              </a:buClr>
              <a:buSzPts val="14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3.7V Li-Po with 12h Deep Sleep</a:t>
            </a:r>
            <a:endParaRPr b="0" i="0" sz="1400" u="none" cap="none" strike="noStrike">
              <a:solidFill>
                <a:srgbClr val="000000"/>
              </a:solidFill>
              <a:latin typeface="Arial"/>
              <a:ea typeface="Arial"/>
              <a:cs typeface="Arial"/>
              <a:sym typeface="Arial"/>
            </a:endParaRPr>
          </a:p>
        </p:txBody>
      </p:sp>
      <p:sp>
        <p:nvSpPr>
          <p:cNvPr id="419" name="Google Shape;419;p22"/>
          <p:cNvSpPr/>
          <p:nvPr/>
        </p:nvSpPr>
        <p:spPr>
          <a:xfrm>
            <a:off x="3969868" y="4046220"/>
            <a:ext cx="338328" cy="36576"/>
          </a:xfrm>
          <a:prstGeom prst="rect">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0" name="Google Shape;420;p22"/>
          <p:cNvSpPr/>
          <p:nvPr/>
        </p:nvSpPr>
        <p:spPr>
          <a:xfrm>
            <a:off x="4216756" y="3881628"/>
            <a:ext cx="36576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400"/>
              <a:buFont typeface="Arial"/>
              <a:buNone/>
            </a:pPr>
            <a:r>
              <a:rPr b="1" i="0" lang="en-US" sz="1400" u="none" cap="none" strike="noStrike">
                <a:solidFill>
                  <a:srgbClr val="22D3EE"/>
                </a:solidFill>
                <a:latin typeface="Inter"/>
                <a:ea typeface="Inter"/>
                <a:cs typeface="Inter"/>
                <a:sym typeface="Inter"/>
              </a:rPr>
              <a:t>▶</a:t>
            </a:r>
            <a:endParaRPr b="0" i="0" sz="1400" u="none" cap="none" strike="noStrike">
              <a:solidFill>
                <a:schemeClr val="dk1"/>
              </a:solidFill>
              <a:latin typeface="Calibri"/>
              <a:ea typeface="Calibri"/>
              <a:cs typeface="Calibri"/>
              <a:sym typeface="Calibri"/>
            </a:endParaRPr>
          </a:p>
        </p:txBody>
      </p:sp>
      <p:sp>
        <p:nvSpPr>
          <p:cNvPr id="421" name="Google Shape;421;p22"/>
          <p:cNvSpPr/>
          <p:nvPr/>
        </p:nvSpPr>
        <p:spPr>
          <a:xfrm>
            <a:off x="4427068" y="2880360"/>
            <a:ext cx="3337560" cy="2606040"/>
          </a:xfrm>
          <a:prstGeom prst="roundRect">
            <a:avLst>
              <a:gd fmla="val 2807"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2" name="Google Shape;422;p22"/>
          <p:cNvSpPr/>
          <p:nvPr/>
        </p:nvSpPr>
        <p:spPr>
          <a:xfrm>
            <a:off x="4701388" y="3154680"/>
            <a:ext cx="502920" cy="502920"/>
          </a:xfrm>
          <a:prstGeom prst="ellipse">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3" name="Google Shape;423;p22"/>
          <p:cNvSpPr/>
          <p:nvPr/>
        </p:nvSpPr>
        <p:spPr>
          <a:xfrm>
            <a:off x="4701388" y="3154680"/>
            <a:ext cx="50292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A2E"/>
              </a:buClr>
              <a:buSzPts val="1600"/>
              <a:buFont typeface="Arial"/>
              <a:buNone/>
            </a:pPr>
            <a:r>
              <a:rPr b="1" i="0" lang="en-US" sz="2000" u="none" cap="none" strike="noStrike">
                <a:solidFill>
                  <a:srgbClr val="0B1A2E"/>
                </a:solidFill>
                <a:latin typeface="Inter"/>
                <a:ea typeface="Inter"/>
                <a:cs typeface="Inter"/>
                <a:sym typeface="Inter"/>
              </a:rPr>
              <a:t>2</a:t>
            </a:r>
            <a:endParaRPr b="0" i="0" sz="1600" u="none" cap="none" strike="noStrike">
              <a:solidFill>
                <a:schemeClr val="dk1"/>
              </a:solidFill>
              <a:latin typeface="Calibri"/>
              <a:ea typeface="Calibri"/>
              <a:cs typeface="Calibri"/>
              <a:sym typeface="Calibri"/>
            </a:endParaRPr>
          </a:p>
        </p:txBody>
      </p:sp>
      <p:sp>
        <p:nvSpPr>
          <p:cNvPr id="424" name="Google Shape;424;p22"/>
          <p:cNvSpPr/>
          <p:nvPr/>
        </p:nvSpPr>
        <p:spPr>
          <a:xfrm>
            <a:off x="5341468" y="3154680"/>
            <a:ext cx="224028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en-US" sz="1700" u="none" cap="none" strike="noStrike">
                <a:solidFill>
                  <a:srgbClr val="FFFFFF"/>
                </a:solidFill>
                <a:latin typeface="Inter"/>
                <a:ea typeface="Inter"/>
                <a:cs typeface="Inter"/>
                <a:sym typeface="Inter"/>
              </a:rPr>
              <a:t>THE BRAIN</a:t>
            </a:r>
            <a:endParaRPr b="0" i="0" sz="1300" u="none" cap="none" strike="noStrike">
              <a:solidFill>
                <a:schemeClr val="dk1"/>
              </a:solidFill>
              <a:latin typeface="Calibri"/>
              <a:ea typeface="Calibri"/>
              <a:cs typeface="Calibri"/>
              <a:sym typeface="Calibri"/>
            </a:endParaRPr>
          </a:p>
        </p:txBody>
      </p:sp>
      <p:sp>
        <p:nvSpPr>
          <p:cNvPr id="425" name="Google Shape;425;p22"/>
          <p:cNvSpPr/>
          <p:nvPr/>
        </p:nvSpPr>
        <p:spPr>
          <a:xfrm>
            <a:off x="4701388" y="3840480"/>
            <a:ext cx="2788920" cy="310896"/>
          </a:xfrm>
          <a:prstGeom prst="roundRect">
            <a:avLst>
              <a:gd fmla="val 147059" name="adj"/>
            </a:avLst>
          </a:prstGeom>
          <a:solidFill>
            <a:srgbClr val="050E1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6" name="Google Shape;426;p22"/>
          <p:cNvSpPr/>
          <p:nvPr/>
        </p:nvSpPr>
        <p:spPr>
          <a:xfrm>
            <a:off x="4701388" y="3840480"/>
            <a:ext cx="2788920" cy="31089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200"/>
              <a:buFont typeface="Calibri"/>
              <a:buNone/>
            </a:pPr>
            <a:r>
              <a:rPr b="1" i="0" lang="en-US" sz="1350" u="none" cap="none" strike="noStrike">
                <a:solidFill>
                  <a:srgbClr val="22D3EE"/>
                </a:solidFill>
                <a:latin typeface="Inter"/>
                <a:ea typeface="Inter"/>
                <a:cs typeface="Inter"/>
                <a:sym typeface="Inter"/>
              </a:rPr>
              <a:t>XIAO ESP32C3 + AI</a:t>
            </a:r>
            <a:endParaRPr b="0" i="0" sz="1200" u="none" cap="none" strike="noStrike">
              <a:solidFill>
                <a:schemeClr val="dk1"/>
              </a:solidFill>
              <a:latin typeface="Calibri"/>
              <a:ea typeface="Calibri"/>
              <a:cs typeface="Calibri"/>
              <a:sym typeface="Calibri"/>
            </a:endParaRPr>
          </a:p>
        </p:txBody>
      </p:sp>
      <p:sp>
        <p:nvSpPr>
          <p:cNvPr id="427" name="Google Shape;427;p22"/>
          <p:cNvSpPr/>
          <p:nvPr/>
        </p:nvSpPr>
        <p:spPr>
          <a:xfrm>
            <a:off x="4701388" y="4297680"/>
            <a:ext cx="2971800" cy="129844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400"/>
              <a:buFont typeface="Calibri"/>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Reads multi-beam IR &amp; IMU angles</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4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TensorFlow pipeline removes noise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200"/>
              </a:spcAft>
              <a:buClr>
                <a:srgbClr val="000000"/>
              </a:buClr>
              <a:buSzPts val="14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Streams over BLE or Wi-Fi failover</a:t>
            </a:r>
            <a:endParaRPr b="0" i="0" sz="1400" u="none" cap="none" strike="noStrike">
              <a:solidFill>
                <a:srgbClr val="000000"/>
              </a:solidFill>
              <a:latin typeface="Arial"/>
              <a:ea typeface="Arial"/>
              <a:cs typeface="Arial"/>
              <a:sym typeface="Arial"/>
            </a:endParaRPr>
          </a:p>
        </p:txBody>
      </p:sp>
      <p:sp>
        <p:nvSpPr>
          <p:cNvPr id="428" name="Google Shape;428;p22"/>
          <p:cNvSpPr/>
          <p:nvPr/>
        </p:nvSpPr>
        <p:spPr>
          <a:xfrm>
            <a:off x="7810348" y="4046220"/>
            <a:ext cx="338328" cy="36576"/>
          </a:xfrm>
          <a:prstGeom prst="rect">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9" name="Google Shape;429;p22"/>
          <p:cNvSpPr/>
          <p:nvPr/>
        </p:nvSpPr>
        <p:spPr>
          <a:xfrm>
            <a:off x="8057236" y="3881628"/>
            <a:ext cx="36576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400"/>
              <a:buFont typeface="Arial"/>
              <a:buNone/>
            </a:pPr>
            <a:r>
              <a:rPr b="1" i="0" lang="en-US" sz="1400" u="none" cap="none" strike="noStrike">
                <a:solidFill>
                  <a:srgbClr val="22D3EE"/>
                </a:solidFill>
                <a:latin typeface="Inter"/>
                <a:ea typeface="Inter"/>
                <a:cs typeface="Inter"/>
                <a:sym typeface="Inter"/>
              </a:rPr>
              <a:t>▶</a:t>
            </a:r>
            <a:endParaRPr b="0" i="0" sz="1400" u="none" cap="none" strike="noStrike">
              <a:solidFill>
                <a:schemeClr val="dk1"/>
              </a:solidFill>
              <a:latin typeface="Calibri"/>
              <a:ea typeface="Calibri"/>
              <a:cs typeface="Calibri"/>
              <a:sym typeface="Calibri"/>
            </a:endParaRPr>
          </a:p>
        </p:txBody>
      </p:sp>
      <p:sp>
        <p:nvSpPr>
          <p:cNvPr id="430" name="Google Shape;430;p22"/>
          <p:cNvSpPr/>
          <p:nvPr/>
        </p:nvSpPr>
        <p:spPr>
          <a:xfrm>
            <a:off x="8267548" y="2880360"/>
            <a:ext cx="3337560" cy="2606040"/>
          </a:xfrm>
          <a:prstGeom prst="roundRect">
            <a:avLst>
              <a:gd fmla="val 2807"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1" name="Google Shape;431;p22"/>
          <p:cNvSpPr/>
          <p:nvPr/>
        </p:nvSpPr>
        <p:spPr>
          <a:xfrm>
            <a:off x="8541868" y="3154680"/>
            <a:ext cx="502920" cy="502920"/>
          </a:xfrm>
          <a:prstGeom prst="ellipse">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2" name="Google Shape;432;p22"/>
          <p:cNvSpPr/>
          <p:nvPr/>
        </p:nvSpPr>
        <p:spPr>
          <a:xfrm>
            <a:off x="8541868" y="3154680"/>
            <a:ext cx="50292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A2E"/>
              </a:buClr>
              <a:buSzPts val="1600"/>
              <a:buFont typeface="Arial"/>
              <a:buNone/>
            </a:pPr>
            <a:r>
              <a:rPr b="1" i="0" lang="en-US" sz="2000" u="none" cap="none" strike="noStrike">
                <a:solidFill>
                  <a:srgbClr val="0B1A2E"/>
                </a:solidFill>
                <a:latin typeface="Inter"/>
                <a:ea typeface="Inter"/>
                <a:cs typeface="Inter"/>
                <a:sym typeface="Inter"/>
              </a:rPr>
              <a:t>3</a:t>
            </a:r>
            <a:endParaRPr b="0" i="0" sz="1600" u="none" cap="none" strike="noStrike">
              <a:solidFill>
                <a:schemeClr val="dk1"/>
              </a:solidFill>
              <a:latin typeface="Calibri"/>
              <a:ea typeface="Calibri"/>
              <a:cs typeface="Calibri"/>
              <a:sym typeface="Calibri"/>
            </a:endParaRPr>
          </a:p>
        </p:txBody>
      </p:sp>
      <p:sp>
        <p:nvSpPr>
          <p:cNvPr id="433" name="Google Shape;433;p22"/>
          <p:cNvSpPr/>
          <p:nvPr/>
        </p:nvSpPr>
        <p:spPr>
          <a:xfrm>
            <a:off x="9181948" y="3154680"/>
            <a:ext cx="224028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en-US" sz="1700" u="none" cap="none" strike="noStrike">
                <a:solidFill>
                  <a:srgbClr val="FFFFFF"/>
                </a:solidFill>
                <a:latin typeface="Inter"/>
                <a:ea typeface="Inter"/>
                <a:cs typeface="Inter"/>
                <a:sym typeface="Inter"/>
              </a:rPr>
              <a:t>THE BRIDGE</a:t>
            </a:r>
            <a:endParaRPr b="0" i="0" sz="1300" u="none" cap="none" strike="noStrike">
              <a:solidFill>
                <a:schemeClr val="dk1"/>
              </a:solidFill>
              <a:latin typeface="Calibri"/>
              <a:ea typeface="Calibri"/>
              <a:cs typeface="Calibri"/>
              <a:sym typeface="Calibri"/>
            </a:endParaRPr>
          </a:p>
        </p:txBody>
      </p:sp>
      <p:sp>
        <p:nvSpPr>
          <p:cNvPr id="434" name="Google Shape;434;p22"/>
          <p:cNvSpPr/>
          <p:nvPr/>
        </p:nvSpPr>
        <p:spPr>
          <a:xfrm>
            <a:off x="8541868" y="3840480"/>
            <a:ext cx="2788920" cy="310896"/>
          </a:xfrm>
          <a:prstGeom prst="roundRect">
            <a:avLst>
              <a:gd fmla="val 147059" name="adj"/>
            </a:avLst>
          </a:prstGeom>
          <a:solidFill>
            <a:srgbClr val="050E1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5" name="Google Shape;435;p22"/>
          <p:cNvSpPr/>
          <p:nvPr/>
        </p:nvSpPr>
        <p:spPr>
          <a:xfrm>
            <a:off x="8541868" y="3840480"/>
            <a:ext cx="2788920" cy="31089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200"/>
              <a:buFont typeface="Calibri"/>
              <a:buNone/>
            </a:pPr>
            <a:r>
              <a:rPr b="1" i="0" lang="en-US" sz="1350" u="none" cap="none" strike="noStrike">
                <a:solidFill>
                  <a:srgbClr val="22D3EE"/>
                </a:solidFill>
                <a:latin typeface="Inter"/>
                <a:ea typeface="Inter"/>
                <a:cs typeface="Inter"/>
                <a:sym typeface="Inter"/>
              </a:rPr>
              <a:t>BLE / WI-FI → PYTHON</a:t>
            </a:r>
            <a:endParaRPr b="0" i="0" sz="1200" u="none" cap="none" strike="noStrike">
              <a:solidFill>
                <a:schemeClr val="dk1"/>
              </a:solidFill>
              <a:latin typeface="Calibri"/>
              <a:ea typeface="Calibri"/>
              <a:cs typeface="Calibri"/>
              <a:sym typeface="Calibri"/>
            </a:endParaRPr>
          </a:p>
        </p:txBody>
      </p:sp>
      <p:sp>
        <p:nvSpPr>
          <p:cNvPr id="436" name="Google Shape;436;p22"/>
          <p:cNvSpPr/>
          <p:nvPr/>
        </p:nvSpPr>
        <p:spPr>
          <a:xfrm>
            <a:off x="8541868" y="4297680"/>
            <a:ext cx="2971800" cy="129844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400"/>
              <a:buFont typeface="Calibri"/>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Renders live eye twin in Python</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4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Drives real OS cursor via PyAutoGUI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200"/>
              </a:spcAft>
              <a:buClr>
                <a:srgbClr val="000000"/>
              </a:buClr>
              <a:buSzPts val="14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Controls apps, keyboard &amp; IoT lights</a:t>
            </a:r>
            <a:endParaRPr b="0" i="0" sz="1400" u="none" cap="none" strike="noStrike">
              <a:solidFill>
                <a:srgbClr val="000000"/>
              </a:solidFill>
              <a:latin typeface="Arial"/>
              <a:ea typeface="Arial"/>
              <a:cs typeface="Arial"/>
              <a:sym typeface="Arial"/>
            </a:endParaRPr>
          </a:p>
        </p:txBody>
      </p:sp>
      <p:sp>
        <p:nvSpPr>
          <p:cNvPr id="437" name="Google Shape;437;p22"/>
          <p:cNvSpPr/>
          <p:nvPr/>
        </p:nvSpPr>
        <p:spPr>
          <a:xfrm>
            <a:off x="502920" y="5715000"/>
            <a:ext cx="11185855" cy="777240"/>
          </a:xfrm>
          <a:prstGeom prst="roundRect">
            <a:avLst>
              <a:gd fmla="val 9412" name="adj"/>
            </a:avLst>
          </a:prstGeom>
          <a:solidFill>
            <a:srgbClr val="0F2440"/>
          </a:solidFill>
          <a:ln cap="flat" cmpd="sng" w="9525">
            <a:solidFill>
              <a:srgbClr val="0E7490">
                <a:alpha val="4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8" name="Google Shape;438;p22"/>
          <p:cNvSpPr/>
          <p:nvPr/>
        </p:nvSpPr>
        <p:spPr>
          <a:xfrm>
            <a:off x="777240" y="5760720"/>
            <a:ext cx="10637215"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200"/>
              <a:buFont typeface="Calibri"/>
              <a:buNone/>
            </a:pPr>
            <a:r>
              <a:rPr b="1" i="0" lang="en-US" sz="1500" u="none" cap="none" strike="noStrike">
                <a:solidFill>
                  <a:srgbClr val="22D3EE"/>
                </a:solidFill>
                <a:latin typeface="Inter"/>
                <a:ea typeface="Inter"/>
                <a:cs typeface="Inter"/>
                <a:sym typeface="Inter"/>
              </a:rPr>
              <a:t>WHY HYBRID?  </a:t>
            </a:r>
            <a:r>
              <a:rPr b="0" i="0" lang="en-US" sz="1500" u="none" cap="none" strike="noStrike">
                <a:solidFill>
                  <a:srgbClr val="FFFFFF"/>
                </a:solidFill>
                <a:latin typeface="Inter"/>
                <a:ea typeface="Inter"/>
                <a:cs typeface="Inter"/>
                <a:sym typeface="Inter"/>
              </a:rPr>
              <a:t>IR alone can't read head position. IMU alone can't read a blink. Together they cover full cursor control plus click actions.</a:t>
            </a:r>
            <a:endParaRPr b="0" i="0" sz="1200" u="none" cap="none" strike="noStrike">
              <a:solidFill>
                <a:schemeClr val="dk1"/>
              </a:solidFill>
              <a:latin typeface="Calibri"/>
              <a:ea typeface="Calibri"/>
              <a:cs typeface="Calibri"/>
              <a:sym typeface="Calibri"/>
            </a:endParaRPr>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h1542c758c6719de2_0_91"/>
          <p:cNvSpPr/>
          <p:nvPr/>
        </p:nvSpPr>
        <p:spPr>
          <a:xfrm>
            <a:off x="502920" y="274320"/>
            <a:ext cx="3657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444" name="Google Shape;444;h1542c758c6719de2_0_91"/>
          <p:cNvSpPr/>
          <p:nvPr/>
        </p:nvSpPr>
        <p:spPr>
          <a:xfrm>
            <a:off x="502920" y="640080"/>
            <a:ext cx="11185800" cy="11100"/>
          </a:xfrm>
          <a:prstGeom prst="rect">
            <a:avLst/>
          </a:prstGeom>
          <a:solidFill>
            <a:srgbClr val="22D3EE">
              <a:alpha val="3020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5" name="Google Shape;445;h1542c758c6719de2_0_91"/>
          <p:cNvSpPr/>
          <p:nvPr/>
        </p:nvSpPr>
        <p:spPr>
          <a:xfrm>
            <a:off x="502920" y="868680"/>
            <a:ext cx="10515600" cy="329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22D3EE"/>
                </a:solidFill>
                <a:latin typeface="Inter"/>
                <a:ea typeface="Inter"/>
                <a:cs typeface="Inter"/>
                <a:sym typeface="Inter"/>
              </a:rPr>
              <a:t>HARDWARE EVOLUTION · PAST PROTOTYPES</a:t>
            </a:r>
            <a:endParaRPr b="1" sz="1400">
              <a:solidFill>
                <a:srgbClr val="22D3EE"/>
              </a:solidFill>
              <a:latin typeface="Inter"/>
              <a:ea typeface="Inter"/>
              <a:cs typeface="Inter"/>
              <a:sym typeface="Inter"/>
            </a:endParaRPr>
          </a:p>
        </p:txBody>
      </p:sp>
      <p:sp>
        <p:nvSpPr>
          <p:cNvPr id="446" name="Google Shape;446;h1542c758c6719de2_0_91"/>
          <p:cNvSpPr/>
          <p:nvPr/>
        </p:nvSpPr>
        <p:spPr>
          <a:xfrm>
            <a:off x="502920" y="1280160"/>
            <a:ext cx="10972800" cy="571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3300">
                <a:solidFill>
                  <a:srgbClr val="FFFFFF"/>
                </a:solidFill>
                <a:latin typeface="Inter"/>
                <a:ea typeface="Inter"/>
                <a:cs typeface="Inter"/>
                <a:sym typeface="Inter"/>
              </a:rPr>
              <a:t>Early Hardware Iterations</a:t>
            </a:r>
            <a:endParaRPr b="1" sz="3300">
              <a:solidFill>
                <a:srgbClr val="FFFFFF"/>
              </a:solidFill>
              <a:latin typeface="Inter"/>
              <a:ea typeface="Inter"/>
              <a:cs typeface="Inter"/>
              <a:sym typeface="Inter"/>
            </a:endParaRPr>
          </a:p>
        </p:txBody>
      </p:sp>
      <p:sp>
        <p:nvSpPr>
          <p:cNvPr id="447" name="Google Shape;447;h1542c758c6719de2_0_91"/>
          <p:cNvSpPr/>
          <p:nvPr/>
        </p:nvSpPr>
        <p:spPr>
          <a:xfrm>
            <a:off x="502920" y="1905000"/>
            <a:ext cx="105156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1" lang="en-US" sz="1600">
                <a:solidFill>
                  <a:srgbClr val="B7C5D6"/>
                </a:solidFill>
                <a:latin typeface="Inter"/>
                <a:ea typeface="Inter"/>
                <a:cs typeface="Inter"/>
                <a:sym typeface="Inter"/>
              </a:rPr>
              <a:t>How IRIS evolved from a heavy wired breadboard setup into a refined prototype foundation.</a:t>
            </a:r>
            <a:endParaRPr b="0" i="1" sz="1600">
              <a:solidFill>
                <a:srgbClr val="B7C5D6"/>
              </a:solidFill>
              <a:latin typeface="Inter"/>
              <a:ea typeface="Inter"/>
              <a:cs typeface="Inter"/>
              <a:sym typeface="Inter"/>
            </a:endParaRPr>
          </a:p>
        </p:txBody>
      </p:sp>
      <p:grpSp>
        <p:nvGrpSpPr>
          <p:cNvPr id="448" name="Google Shape;448;h1542c758c6719de2_0_91"/>
          <p:cNvGrpSpPr/>
          <p:nvPr/>
        </p:nvGrpSpPr>
        <p:grpSpPr>
          <a:xfrm>
            <a:off x="502920" y="2476500"/>
            <a:ext cx="11182500" cy="3714900"/>
            <a:chOff x="502920" y="2476500"/>
            <a:chExt cx="11182500" cy="3714900"/>
          </a:xfrm>
        </p:grpSpPr>
        <p:grpSp>
          <p:nvGrpSpPr>
            <p:cNvPr id="449" name="Google Shape;449;h1542c758c6719de2_0_91"/>
            <p:cNvGrpSpPr/>
            <p:nvPr/>
          </p:nvGrpSpPr>
          <p:grpSpPr>
            <a:xfrm>
              <a:off x="502920" y="2476500"/>
              <a:ext cx="3486300" cy="3714900"/>
              <a:chOff x="0" y="0"/>
              <a:chExt cx="3486300" cy="3714900"/>
            </a:xfrm>
          </p:grpSpPr>
          <p:sp>
            <p:nvSpPr>
              <p:cNvPr id="450" name="Google Shape;450;h1542c758c6719de2_0_91"/>
              <p:cNvSpPr/>
              <p:nvPr/>
            </p:nvSpPr>
            <p:spPr>
              <a:xfrm>
                <a:off x="0" y="0"/>
                <a:ext cx="3486300" cy="3714900"/>
              </a:xfrm>
              <a:prstGeom prst="roundRect">
                <a:avLst>
                  <a:gd fmla="val 3278" name="adj"/>
                </a:avLst>
              </a:prstGeom>
              <a:solidFill>
                <a:srgbClr val="0A182E"/>
              </a:solidFill>
              <a:ln cap="flat" cmpd="sng" w="14300">
                <a:solidFill>
                  <a:srgbClr val="1E3A5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1" name="Google Shape;451;h1542c758c6719de2_0_91"/>
              <p:cNvSpPr/>
              <p:nvPr/>
            </p:nvSpPr>
            <p:spPr>
              <a:xfrm>
                <a:off x="228600" y="228600"/>
                <a:ext cx="800100" cy="266700"/>
              </a:xfrm>
              <a:prstGeom prst="roundRect">
                <a:avLst>
                  <a:gd fmla="val 21428" name="adj"/>
                </a:avLst>
              </a:prstGeom>
              <a:solidFill>
                <a:srgbClr val="0F284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2" name="Google Shape;452;h1542c758c6719de2_0_91"/>
              <p:cNvSpPr txBox="1"/>
              <p:nvPr/>
            </p:nvSpPr>
            <p:spPr>
              <a:xfrm>
                <a:off x="228600" y="228600"/>
                <a:ext cx="800100" cy="266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22D3EE"/>
                    </a:solidFill>
                    <a:latin typeface="Inter"/>
                    <a:ea typeface="Inter"/>
                    <a:cs typeface="Inter"/>
                    <a:sym typeface="Inter"/>
                  </a:rPr>
                  <a:t>STAGE 01</a:t>
                </a:r>
                <a:endParaRPr b="1" sz="1000">
                  <a:solidFill>
                    <a:srgbClr val="22D3EE"/>
                  </a:solidFill>
                  <a:latin typeface="Inter"/>
                  <a:ea typeface="Inter"/>
                  <a:cs typeface="Inter"/>
                  <a:sym typeface="Inter"/>
                </a:endParaRPr>
              </a:p>
            </p:txBody>
          </p:sp>
          <p:sp>
            <p:nvSpPr>
              <p:cNvPr id="453" name="Google Shape;453;h1542c758c6719de2_0_91"/>
              <p:cNvSpPr txBox="1"/>
              <p:nvPr/>
            </p:nvSpPr>
            <p:spPr>
              <a:xfrm>
                <a:off x="228600" y="666750"/>
                <a:ext cx="3029100" cy="2819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800">
                    <a:solidFill>
                      <a:srgbClr val="FFFFFF"/>
                    </a:solidFill>
                    <a:latin typeface="Inter"/>
                    <a:ea typeface="Inter"/>
                    <a:cs typeface="Inter"/>
                    <a:sym typeface="Inter"/>
                  </a:rPr>
                  <a:t>01. Wired ESP32 Devkit</a:t>
                </a:r>
                <a:endParaRPr b="1" sz="1800">
                  <a:solidFill>
                    <a:srgbClr val="FFFFFF"/>
                  </a:solidFill>
                  <a:latin typeface="Inter"/>
                  <a:ea typeface="Inter"/>
                  <a:cs typeface="Inter"/>
                  <a:sym typeface="Inter"/>
                </a:endParaRPr>
              </a:p>
              <a:p>
                <a:pPr indent="0" lvl="0" marL="0" rtl="0" algn="l">
                  <a:spcBef>
                    <a:spcPts val="750"/>
                  </a:spcBef>
                  <a:spcAft>
                    <a:spcPts val="0"/>
                  </a:spcAft>
                  <a:buNone/>
                </a:pPr>
                <a:r>
                  <a:rPr b="0" lang="en-US" sz="1200">
                    <a:solidFill>
                      <a:srgbClr val="94A3B8"/>
                    </a:solidFill>
                    <a:latin typeface="Inter"/>
                    <a:ea typeface="Inter"/>
                    <a:cs typeface="Inter"/>
                    <a:sym typeface="Inter"/>
                  </a:rPr>
                  <a:t>Bulky WROOM module + buck converter &amp; rigid buckle strap</a:t>
                </a:r>
                <a:endParaRPr b="0" sz="1200">
                  <a:solidFill>
                    <a:srgbClr val="94A3B8"/>
                  </a:solidFill>
                  <a:latin typeface="Inter"/>
                  <a:ea typeface="Inter"/>
                  <a:cs typeface="Inter"/>
                  <a:sym typeface="Inter"/>
                </a:endParaRPr>
              </a:p>
              <a:p>
                <a:pPr indent="-298450" lvl="0" marL="457200" rtl="0" algn="l">
                  <a:spcBef>
                    <a:spcPts val="1500"/>
                  </a:spcBef>
                  <a:spcAft>
                    <a:spcPts val="0"/>
                  </a:spcAft>
                  <a:buClr>
                    <a:srgbClr val="CDD5E2"/>
                  </a:buClr>
                  <a:buSzPts val="1100"/>
                  <a:buFont typeface="Inter"/>
                  <a:buChar char="●"/>
                </a:pPr>
                <a:r>
                  <a:rPr lang="en-US" sz="1100">
                    <a:solidFill>
                      <a:srgbClr val="CDD5E2"/>
                    </a:solidFill>
                    <a:latin typeface="Inter"/>
                    <a:ea typeface="Inter"/>
                    <a:cs typeface="Inter"/>
                    <a:sym typeface="Inter"/>
                  </a:rPr>
                  <a:t>Tethered USB power dependency</a:t>
                </a:r>
                <a:endParaRPr sz="1100">
                  <a:solidFill>
                    <a:srgbClr val="CDD5E2"/>
                  </a:solidFill>
                  <a:latin typeface="Inter"/>
                  <a:ea typeface="Inter"/>
                  <a:cs typeface="Inter"/>
                  <a:sym typeface="Inter"/>
                </a:endParaRPr>
              </a:p>
              <a:p>
                <a:pPr indent="-298450" lvl="0" marL="457200" rtl="0" algn="l">
                  <a:spcBef>
                    <a:spcPts val="750"/>
                  </a:spcBef>
                  <a:spcAft>
                    <a:spcPts val="0"/>
                  </a:spcAft>
                  <a:buClr>
                    <a:srgbClr val="CDD5E2"/>
                  </a:buClr>
                  <a:buSzPts val="1100"/>
                  <a:buFont typeface="Inter"/>
                  <a:buChar char="●"/>
                </a:pPr>
                <a:r>
                  <a:rPr lang="en-US" sz="1100">
                    <a:solidFill>
                      <a:srgbClr val="CDD5E2"/>
                    </a:solidFill>
                    <a:latin typeface="Inter"/>
                    <a:ea typeface="Inter"/>
                    <a:cs typeface="Inter"/>
                    <a:sym typeface="Inter"/>
                  </a:rPr>
                  <a:t>Rigid strap caused high user discomfort</a:t>
                </a:r>
                <a:endParaRPr sz="1100">
                  <a:solidFill>
                    <a:srgbClr val="CDD5E2"/>
                  </a:solidFill>
                  <a:latin typeface="Inter"/>
                  <a:ea typeface="Inter"/>
                  <a:cs typeface="Inter"/>
                  <a:sym typeface="Inter"/>
                </a:endParaRPr>
              </a:p>
              <a:p>
                <a:pPr indent="-298450" lvl="0" marL="457200" rtl="0" algn="l">
                  <a:spcBef>
                    <a:spcPts val="750"/>
                  </a:spcBef>
                  <a:spcAft>
                    <a:spcPts val="750"/>
                  </a:spcAft>
                  <a:buClr>
                    <a:srgbClr val="CDD5E2"/>
                  </a:buClr>
                  <a:buSzPts val="1100"/>
                  <a:buFont typeface="Inter"/>
                  <a:buChar char="●"/>
                </a:pPr>
                <a:r>
                  <a:rPr lang="en-US" sz="1100">
                    <a:solidFill>
                      <a:srgbClr val="CDD5E2"/>
                    </a:solidFill>
                    <a:latin typeface="Inter"/>
                    <a:ea typeface="Inter"/>
                    <a:cs typeface="Inter"/>
                    <a:sym typeface="Inter"/>
                  </a:rPr>
                  <a:t>Served as initial proof-of-concept</a:t>
                </a:r>
                <a:endParaRPr sz="1100">
                  <a:solidFill>
                    <a:srgbClr val="CDD5E2"/>
                  </a:solidFill>
                  <a:latin typeface="Inter"/>
                  <a:ea typeface="Inter"/>
                  <a:cs typeface="Inter"/>
                  <a:sym typeface="Inter"/>
                </a:endParaRPr>
              </a:p>
            </p:txBody>
          </p:sp>
        </p:grpSp>
        <p:grpSp>
          <p:nvGrpSpPr>
            <p:cNvPr id="454" name="Google Shape;454;h1542c758c6719de2_0_91"/>
            <p:cNvGrpSpPr/>
            <p:nvPr/>
          </p:nvGrpSpPr>
          <p:grpSpPr>
            <a:xfrm>
              <a:off x="4351020" y="2476500"/>
              <a:ext cx="3486300" cy="3714900"/>
              <a:chOff x="0" y="0"/>
              <a:chExt cx="3486300" cy="3714900"/>
            </a:xfrm>
          </p:grpSpPr>
          <p:sp>
            <p:nvSpPr>
              <p:cNvPr id="455" name="Google Shape;455;h1542c758c6719de2_0_91"/>
              <p:cNvSpPr/>
              <p:nvPr/>
            </p:nvSpPr>
            <p:spPr>
              <a:xfrm>
                <a:off x="0" y="0"/>
                <a:ext cx="3486300" cy="3714900"/>
              </a:xfrm>
              <a:prstGeom prst="roundRect">
                <a:avLst>
                  <a:gd fmla="val 3278" name="adj"/>
                </a:avLst>
              </a:prstGeom>
              <a:solidFill>
                <a:srgbClr val="0A182E"/>
              </a:solidFill>
              <a:ln cap="flat" cmpd="sng" w="14300">
                <a:solidFill>
                  <a:srgbClr val="1E3A5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6" name="Google Shape;456;h1542c758c6719de2_0_91"/>
              <p:cNvSpPr/>
              <p:nvPr/>
            </p:nvSpPr>
            <p:spPr>
              <a:xfrm>
                <a:off x="228600" y="228600"/>
                <a:ext cx="800100" cy="266700"/>
              </a:xfrm>
              <a:prstGeom prst="roundRect">
                <a:avLst>
                  <a:gd fmla="val 21428" name="adj"/>
                </a:avLst>
              </a:prstGeom>
              <a:solidFill>
                <a:srgbClr val="0F284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7" name="Google Shape;457;h1542c758c6719de2_0_91"/>
              <p:cNvSpPr txBox="1"/>
              <p:nvPr/>
            </p:nvSpPr>
            <p:spPr>
              <a:xfrm>
                <a:off x="228600" y="228600"/>
                <a:ext cx="800100" cy="266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22D3EE"/>
                    </a:solidFill>
                    <a:latin typeface="Inter"/>
                    <a:ea typeface="Inter"/>
                    <a:cs typeface="Inter"/>
                    <a:sym typeface="Inter"/>
                  </a:rPr>
                  <a:t>STAGE 02</a:t>
                </a:r>
                <a:endParaRPr b="1" sz="1000">
                  <a:solidFill>
                    <a:srgbClr val="22D3EE"/>
                  </a:solidFill>
                  <a:latin typeface="Inter"/>
                  <a:ea typeface="Inter"/>
                  <a:cs typeface="Inter"/>
                  <a:sym typeface="Inter"/>
                </a:endParaRPr>
              </a:p>
            </p:txBody>
          </p:sp>
          <p:sp>
            <p:nvSpPr>
              <p:cNvPr id="458" name="Google Shape;458;h1542c758c6719de2_0_91"/>
              <p:cNvSpPr txBox="1"/>
              <p:nvPr/>
            </p:nvSpPr>
            <p:spPr>
              <a:xfrm>
                <a:off x="228600" y="666750"/>
                <a:ext cx="3029100" cy="2819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800">
                    <a:solidFill>
                      <a:srgbClr val="FFFFFF"/>
                    </a:solidFill>
                    <a:latin typeface="Inter"/>
                    <a:ea typeface="Inter"/>
                    <a:cs typeface="Inter"/>
                    <a:sym typeface="Inter"/>
                  </a:rPr>
                  <a:t>02. Wireless BLE Link</a:t>
                </a:r>
                <a:endParaRPr b="1" sz="1800">
                  <a:solidFill>
                    <a:srgbClr val="FFFFFF"/>
                  </a:solidFill>
                  <a:latin typeface="Inter"/>
                  <a:ea typeface="Inter"/>
                  <a:cs typeface="Inter"/>
                  <a:sym typeface="Inter"/>
                </a:endParaRPr>
              </a:p>
              <a:p>
                <a:pPr indent="0" lvl="0" marL="0" rtl="0" algn="l">
                  <a:spcBef>
                    <a:spcPts val="750"/>
                  </a:spcBef>
                  <a:spcAft>
                    <a:spcPts val="0"/>
                  </a:spcAft>
                  <a:buNone/>
                </a:pPr>
                <a:r>
                  <a:rPr b="0" lang="en-US" sz="1200">
                    <a:solidFill>
                      <a:srgbClr val="94A3B8"/>
                    </a:solidFill>
                    <a:latin typeface="Inter"/>
                    <a:ea typeface="Inter"/>
                    <a:cs typeface="Inter"/>
                    <a:sym typeface="Inter"/>
                  </a:rPr>
                  <a:t>Cut USB tether via Bluetooth serial &amp; added LM393 gate</a:t>
                </a:r>
                <a:endParaRPr b="0" sz="1200">
                  <a:solidFill>
                    <a:srgbClr val="94A3B8"/>
                  </a:solidFill>
                  <a:latin typeface="Inter"/>
                  <a:ea typeface="Inter"/>
                  <a:cs typeface="Inter"/>
                  <a:sym typeface="Inter"/>
                </a:endParaRPr>
              </a:p>
              <a:p>
                <a:pPr indent="-298450" lvl="0" marL="457200" rtl="0" algn="l">
                  <a:spcBef>
                    <a:spcPts val="1500"/>
                  </a:spcBef>
                  <a:spcAft>
                    <a:spcPts val="0"/>
                  </a:spcAft>
                  <a:buClr>
                    <a:srgbClr val="CDD5E2"/>
                  </a:buClr>
                  <a:buSzPts val="1100"/>
                  <a:buFont typeface="Inter"/>
                  <a:buChar char="●"/>
                </a:pPr>
                <a:r>
                  <a:rPr lang="en-US" sz="1100">
                    <a:solidFill>
                      <a:srgbClr val="CDD5E2"/>
                    </a:solidFill>
                    <a:latin typeface="Inter"/>
                    <a:ea typeface="Inter"/>
                    <a:cs typeface="Inter"/>
                    <a:sym typeface="Inter"/>
                  </a:rPr>
                  <a:t>Wireless serial telemetry over BLE</a:t>
                </a:r>
                <a:endParaRPr sz="1100">
                  <a:solidFill>
                    <a:srgbClr val="CDD5E2"/>
                  </a:solidFill>
                  <a:latin typeface="Inter"/>
                  <a:ea typeface="Inter"/>
                  <a:cs typeface="Inter"/>
                  <a:sym typeface="Inter"/>
                </a:endParaRPr>
              </a:p>
              <a:p>
                <a:pPr indent="-298450" lvl="0" marL="457200" rtl="0" algn="l">
                  <a:spcBef>
                    <a:spcPts val="750"/>
                  </a:spcBef>
                  <a:spcAft>
                    <a:spcPts val="0"/>
                  </a:spcAft>
                  <a:buClr>
                    <a:srgbClr val="CDD5E2"/>
                  </a:buClr>
                  <a:buSzPts val="1100"/>
                  <a:buFont typeface="Inter"/>
                  <a:buChar char="●"/>
                </a:pPr>
                <a:r>
                  <a:rPr lang="en-US" sz="1100">
                    <a:solidFill>
                      <a:srgbClr val="CDD5E2"/>
                    </a:solidFill>
                    <a:latin typeface="Inter"/>
                    <a:ea typeface="Inter"/>
                    <a:cs typeface="Inter"/>
                    <a:sym typeface="Inter"/>
                  </a:rPr>
                  <a:t>LM393 comparator gate for thresholding</a:t>
                </a:r>
                <a:endParaRPr sz="1100">
                  <a:solidFill>
                    <a:srgbClr val="CDD5E2"/>
                  </a:solidFill>
                  <a:latin typeface="Inter"/>
                  <a:ea typeface="Inter"/>
                  <a:cs typeface="Inter"/>
                  <a:sym typeface="Inter"/>
                </a:endParaRPr>
              </a:p>
              <a:p>
                <a:pPr indent="-298450" lvl="0" marL="457200" rtl="0" algn="l">
                  <a:spcBef>
                    <a:spcPts val="750"/>
                  </a:spcBef>
                  <a:spcAft>
                    <a:spcPts val="750"/>
                  </a:spcAft>
                  <a:buClr>
                    <a:srgbClr val="CDD5E2"/>
                  </a:buClr>
                  <a:buSzPts val="1100"/>
                  <a:buFont typeface="Inter"/>
                  <a:buChar char="●"/>
                </a:pPr>
                <a:r>
                  <a:rPr lang="en-US" sz="1100">
                    <a:solidFill>
                      <a:srgbClr val="CDD5E2"/>
                    </a:solidFill>
                    <a:latin typeface="Inter"/>
                    <a:ea typeface="Inter"/>
                    <a:cs typeface="Inter"/>
                    <a:sym typeface="Inter"/>
                  </a:rPr>
                  <a:t>Eliminated direct cable connection to host</a:t>
                </a:r>
                <a:endParaRPr sz="1100">
                  <a:solidFill>
                    <a:srgbClr val="CDD5E2"/>
                  </a:solidFill>
                  <a:latin typeface="Inter"/>
                  <a:ea typeface="Inter"/>
                  <a:cs typeface="Inter"/>
                  <a:sym typeface="Inter"/>
                </a:endParaRPr>
              </a:p>
            </p:txBody>
          </p:sp>
        </p:grpSp>
        <p:grpSp>
          <p:nvGrpSpPr>
            <p:cNvPr id="459" name="Google Shape;459;h1542c758c6719de2_0_91"/>
            <p:cNvGrpSpPr/>
            <p:nvPr/>
          </p:nvGrpSpPr>
          <p:grpSpPr>
            <a:xfrm>
              <a:off x="8199120" y="2476500"/>
              <a:ext cx="3486300" cy="3714900"/>
              <a:chOff x="0" y="0"/>
              <a:chExt cx="3486300" cy="3714900"/>
            </a:xfrm>
          </p:grpSpPr>
          <p:sp>
            <p:nvSpPr>
              <p:cNvPr id="460" name="Google Shape;460;h1542c758c6719de2_0_91"/>
              <p:cNvSpPr/>
              <p:nvPr/>
            </p:nvSpPr>
            <p:spPr>
              <a:xfrm>
                <a:off x="0" y="0"/>
                <a:ext cx="3486300" cy="3714900"/>
              </a:xfrm>
              <a:prstGeom prst="roundRect">
                <a:avLst>
                  <a:gd fmla="val 3278" name="adj"/>
                </a:avLst>
              </a:prstGeom>
              <a:solidFill>
                <a:srgbClr val="0A182E"/>
              </a:solidFill>
              <a:ln cap="flat" cmpd="sng" w="14300">
                <a:solidFill>
                  <a:srgbClr val="1E3A5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1" name="Google Shape;461;h1542c758c6719de2_0_91"/>
              <p:cNvSpPr/>
              <p:nvPr/>
            </p:nvSpPr>
            <p:spPr>
              <a:xfrm>
                <a:off x="228600" y="228600"/>
                <a:ext cx="800100" cy="266700"/>
              </a:xfrm>
              <a:prstGeom prst="roundRect">
                <a:avLst>
                  <a:gd fmla="val 21428" name="adj"/>
                </a:avLst>
              </a:prstGeom>
              <a:solidFill>
                <a:srgbClr val="0F284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2" name="Google Shape;462;h1542c758c6719de2_0_91"/>
              <p:cNvSpPr txBox="1"/>
              <p:nvPr/>
            </p:nvSpPr>
            <p:spPr>
              <a:xfrm>
                <a:off x="228600" y="228600"/>
                <a:ext cx="800100" cy="266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22D3EE"/>
                    </a:solidFill>
                    <a:latin typeface="Inter"/>
                    <a:ea typeface="Inter"/>
                    <a:cs typeface="Inter"/>
                    <a:sym typeface="Inter"/>
                  </a:rPr>
                  <a:t>STAGE 03</a:t>
                </a:r>
                <a:endParaRPr b="1" sz="1000">
                  <a:solidFill>
                    <a:srgbClr val="22D3EE"/>
                  </a:solidFill>
                  <a:latin typeface="Inter"/>
                  <a:ea typeface="Inter"/>
                  <a:cs typeface="Inter"/>
                  <a:sym typeface="Inter"/>
                </a:endParaRPr>
              </a:p>
            </p:txBody>
          </p:sp>
          <p:sp>
            <p:nvSpPr>
              <p:cNvPr id="463" name="Google Shape;463;h1542c758c6719de2_0_91"/>
              <p:cNvSpPr txBox="1"/>
              <p:nvPr/>
            </p:nvSpPr>
            <p:spPr>
              <a:xfrm>
                <a:off x="228600" y="666750"/>
                <a:ext cx="3029100" cy="2819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800">
                    <a:solidFill>
                      <a:srgbClr val="FFFFFF"/>
                    </a:solidFill>
                    <a:latin typeface="Inter"/>
                    <a:ea typeface="Inter"/>
                    <a:cs typeface="Inter"/>
                    <a:sym typeface="Inter"/>
                  </a:rPr>
                  <a:t>03. Fixed Lens Frame</a:t>
                </a:r>
                <a:endParaRPr b="1" sz="1800">
                  <a:solidFill>
                    <a:srgbClr val="FFFFFF"/>
                  </a:solidFill>
                  <a:latin typeface="Inter"/>
                  <a:ea typeface="Inter"/>
                  <a:cs typeface="Inter"/>
                  <a:sym typeface="Inter"/>
                </a:endParaRPr>
              </a:p>
              <a:p>
                <a:pPr indent="0" lvl="0" marL="0" rtl="0" algn="l">
                  <a:spcBef>
                    <a:spcPts val="750"/>
                  </a:spcBef>
                  <a:spcAft>
                    <a:spcPts val="0"/>
                  </a:spcAft>
                  <a:buNone/>
                </a:pPr>
                <a:r>
                  <a:rPr b="0" lang="en-US" sz="1200">
                    <a:solidFill>
                      <a:srgbClr val="94A3B8"/>
                    </a:solidFill>
                    <a:latin typeface="Inter"/>
                    <a:ea typeface="Inter"/>
                    <a:cs typeface="Inter"/>
                    <a:sym typeface="Inter"/>
                  </a:rPr>
                  <a:t>Glued IR sensor, identified thermal &amp; Rx lens limitations</a:t>
                </a:r>
                <a:endParaRPr b="0" sz="1200">
                  <a:solidFill>
                    <a:srgbClr val="94A3B8"/>
                  </a:solidFill>
                  <a:latin typeface="Inter"/>
                  <a:ea typeface="Inter"/>
                  <a:cs typeface="Inter"/>
                  <a:sym typeface="Inter"/>
                </a:endParaRPr>
              </a:p>
              <a:p>
                <a:pPr indent="-298450" lvl="0" marL="457200" rtl="0" algn="l">
                  <a:spcBef>
                    <a:spcPts val="1500"/>
                  </a:spcBef>
                  <a:spcAft>
                    <a:spcPts val="0"/>
                  </a:spcAft>
                  <a:buClr>
                    <a:srgbClr val="CDD5E2"/>
                  </a:buClr>
                  <a:buSzPts val="1100"/>
                  <a:buFont typeface="Inter"/>
                  <a:buChar char="●"/>
                </a:pPr>
                <a:r>
                  <a:rPr lang="en-US" sz="1100">
                    <a:solidFill>
                      <a:srgbClr val="CDD5E2"/>
                    </a:solidFill>
                    <a:latin typeface="Inter"/>
                    <a:ea typeface="Inter"/>
                    <a:cs typeface="Inter"/>
                    <a:sym typeface="Inter"/>
                  </a:rPr>
                  <a:t>Direct sensor alignment onto eyeglass frame</a:t>
                </a:r>
                <a:endParaRPr sz="1100">
                  <a:solidFill>
                    <a:srgbClr val="CDD5E2"/>
                  </a:solidFill>
                  <a:latin typeface="Inter"/>
                  <a:ea typeface="Inter"/>
                  <a:cs typeface="Inter"/>
                  <a:sym typeface="Inter"/>
                </a:endParaRPr>
              </a:p>
              <a:p>
                <a:pPr indent="-298450" lvl="0" marL="457200" rtl="0" algn="l">
                  <a:spcBef>
                    <a:spcPts val="750"/>
                  </a:spcBef>
                  <a:spcAft>
                    <a:spcPts val="0"/>
                  </a:spcAft>
                  <a:buClr>
                    <a:srgbClr val="CDD5E2"/>
                  </a:buClr>
                  <a:buSzPts val="1100"/>
                  <a:buFont typeface="Inter"/>
                  <a:buChar char="●"/>
                </a:pPr>
                <a:r>
                  <a:rPr lang="en-US" sz="1100">
                    <a:solidFill>
                      <a:srgbClr val="CDD5E2"/>
                    </a:solidFill>
                    <a:latin typeface="Inter"/>
                    <a:ea typeface="Inter"/>
                    <a:cs typeface="Inter"/>
                    <a:sym typeface="Inter"/>
                  </a:rPr>
                  <a:t>Identified thermal drift &amp; reflection bottlenecks</a:t>
                </a:r>
                <a:endParaRPr sz="1100">
                  <a:solidFill>
                    <a:srgbClr val="CDD5E2"/>
                  </a:solidFill>
                  <a:latin typeface="Inter"/>
                  <a:ea typeface="Inter"/>
                  <a:cs typeface="Inter"/>
                  <a:sym typeface="Inter"/>
                </a:endParaRPr>
              </a:p>
              <a:p>
                <a:pPr indent="-298450" lvl="0" marL="457200" rtl="0" algn="l">
                  <a:spcBef>
                    <a:spcPts val="750"/>
                  </a:spcBef>
                  <a:spcAft>
                    <a:spcPts val="750"/>
                  </a:spcAft>
                  <a:buClr>
                    <a:srgbClr val="CDD5E2"/>
                  </a:buClr>
                  <a:buSzPts val="1100"/>
                  <a:buFont typeface="Inter"/>
                  <a:buChar char="●"/>
                </a:pPr>
                <a:r>
                  <a:rPr lang="en-US" sz="1100">
                    <a:solidFill>
                      <a:srgbClr val="CDD5E2"/>
                    </a:solidFill>
                    <a:latin typeface="Inter"/>
                    <a:ea typeface="Inter"/>
                    <a:cs typeface="Inter"/>
                    <a:sym typeface="Inter"/>
                  </a:rPr>
                  <a:t>Informed design of current magnetic rig</a:t>
                </a:r>
                <a:endParaRPr sz="1100">
                  <a:solidFill>
                    <a:srgbClr val="CDD5E2"/>
                  </a:solidFill>
                  <a:latin typeface="Inter"/>
                  <a:ea typeface="Inter"/>
                  <a:cs typeface="Inter"/>
                  <a:sym typeface="Inter"/>
                </a:endParaRPr>
              </a:p>
            </p:txBody>
          </p:sp>
        </p:grpSp>
      </p:gr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h1542c758c6719de2_0_249"/>
          <p:cNvSpPr/>
          <p:nvPr/>
        </p:nvSpPr>
        <p:spPr>
          <a:xfrm>
            <a:off x="502920" y="274320"/>
            <a:ext cx="3657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469" name="Google Shape;469;h1542c758c6719de2_0_249"/>
          <p:cNvSpPr/>
          <p:nvPr/>
        </p:nvSpPr>
        <p:spPr>
          <a:xfrm>
            <a:off x="502920" y="640080"/>
            <a:ext cx="11185800" cy="11100"/>
          </a:xfrm>
          <a:prstGeom prst="rect">
            <a:avLst/>
          </a:prstGeom>
          <a:solidFill>
            <a:srgbClr val="22D3EE">
              <a:alpha val="3020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0" name="Google Shape;470;h1542c758c6719de2_0_249"/>
          <p:cNvSpPr/>
          <p:nvPr/>
        </p:nvSpPr>
        <p:spPr>
          <a:xfrm>
            <a:off x="502920" y="868680"/>
            <a:ext cx="10515600" cy="329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en-US" sz="1400">
                <a:solidFill>
                  <a:srgbClr val="22D3EE"/>
                </a:solidFill>
                <a:latin typeface="Inter"/>
                <a:ea typeface="Inter"/>
                <a:cs typeface="Inter"/>
                <a:sym typeface="Inter"/>
              </a:rPr>
              <a:t>HARDWARE EVOLUTION · PRESENT PROTOTYPE</a:t>
            </a:r>
            <a:endParaRPr b="1" i="0" sz="1400">
              <a:solidFill>
                <a:srgbClr val="22D3EE"/>
              </a:solidFill>
              <a:latin typeface="Inter"/>
              <a:ea typeface="Inter"/>
              <a:cs typeface="Inter"/>
              <a:sym typeface="Inter"/>
            </a:endParaRPr>
          </a:p>
        </p:txBody>
      </p:sp>
      <p:sp>
        <p:nvSpPr>
          <p:cNvPr id="471" name="Google Shape;471;h1542c758c6719de2_0_249"/>
          <p:cNvSpPr/>
          <p:nvPr/>
        </p:nvSpPr>
        <p:spPr>
          <a:xfrm>
            <a:off x="502920" y="1280160"/>
            <a:ext cx="10972800" cy="571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US" sz="3300">
                <a:solidFill>
                  <a:srgbClr val="FFFFFF"/>
                </a:solidFill>
                <a:latin typeface="Inter"/>
                <a:ea typeface="Inter"/>
                <a:cs typeface="Inter"/>
                <a:sym typeface="Inter"/>
              </a:rPr>
              <a:t>Current IRIS </a:t>
            </a:r>
            <a:r>
              <a:rPr b="1" lang="en-US" sz="3300">
                <a:solidFill>
                  <a:srgbClr val="FFFFFF"/>
                </a:solidFill>
                <a:latin typeface="Inter"/>
                <a:ea typeface="Inter"/>
                <a:cs typeface="Inter"/>
                <a:sym typeface="Inter"/>
              </a:rPr>
              <a:t>Prototype</a:t>
            </a:r>
            <a:endParaRPr b="1" i="0" sz="3300">
              <a:solidFill>
                <a:srgbClr val="FFFFFF"/>
              </a:solidFill>
              <a:latin typeface="Inter"/>
              <a:ea typeface="Inter"/>
              <a:cs typeface="Inter"/>
              <a:sym typeface="Inter"/>
            </a:endParaRPr>
          </a:p>
        </p:txBody>
      </p:sp>
      <p:sp>
        <p:nvSpPr>
          <p:cNvPr id="472" name="Google Shape;472;h1542c758c6719de2_0_249"/>
          <p:cNvSpPr/>
          <p:nvPr/>
        </p:nvSpPr>
        <p:spPr>
          <a:xfrm>
            <a:off x="502920" y="1885950"/>
            <a:ext cx="105156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1" lang="en-US" sz="1600">
                <a:solidFill>
                  <a:srgbClr val="B7C5D6"/>
                </a:solidFill>
                <a:latin typeface="Inter"/>
                <a:ea typeface="Inter"/>
                <a:cs typeface="Inter"/>
                <a:sym typeface="Inter"/>
              </a:rPr>
              <a:t>Active testing </a:t>
            </a:r>
            <a:r>
              <a:rPr i="1" lang="en-US" sz="1600">
                <a:solidFill>
                  <a:srgbClr val="B7C5D6"/>
                </a:solidFill>
                <a:latin typeface="Inter"/>
                <a:ea typeface="Inter"/>
                <a:cs typeface="Inter"/>
                <a:sym typeface="Inter"/>
              </a:rPr>
              <a:t>prototype</a:t>
            </a:r>
            <a:r>
              <a:rPr b="0" i="1" lang="en-US" sz="1600">
                <a:solidFill>
                  <a:srgbClr val="B7C5D6"/>
                </a:solidFill>
                <a:latin typeface="Inter"/>
                <a:ea typeface="Inter"/>
                <a:cs typeface="Inter"/>
                <a:sym typeface="Inter"/>
              </a:rPr>
              <a:t>: modular, lightweight, and engineered for low-latency eye tracking.</a:t>
            </a:r>
            <a:endParaRPr b="0" i="1" sz="1600">
              <a:solidFill>
                <a:srgbClr val="B7C5D6"/>
              </a:solidFill>
              <a:latin typeface="Inter"/>
              <a:ea typeface="Inter"/>
              <a:cs typeface="Inter"/>
              <a:sym typeface="Inter"/>
            </a:endParaRPr>
          </a:p>
        </p:txBody>
      </p:sp>
      <p:sp>
        <p:nvSpPr>
          <p:cNvPr id="473" name="Google Shape;473;h1542c758c6719de2_0_249"/>
          <p:cNvSpPr/>
          <p:nvPr/>
        </p:nvSpPr>
        <p:spPr>
          <a:xfrm>
            <a:off x="503183" y="2480625"/>
            <a:ext cx="9313266" cy="4000500"/>
          </a:xfrm>
          <a:prstGeom prst="roundRect">
            <a:avLst>
              <a:gd fmla="val 2857" name="adj"/>
            </a:avLst>
          </a:prstGeom>
          <a:solidFill>
            <a:srgbClr val="0F2847"/>
          </a:solidFill>
          <a:ln cap="flat" cmpd="sng" w="19050">
            <a:solidFill>
              <a:srgbClr val="22D3E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48"/>
          <p:cNvSpPr/>
          <p:nvPr/>
        </p:nvSpPr>
        <p:spPr>
          <a:xfrm>
            <a:off x="502920" y="274320"/>
            <a:ext cx="3657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479" name="Google Shape;479;p48"/>
          <p:cNvSpPr/>
          <p:nvPr/>
        </p:nvSpPr>
        <p:spPr>
          <a:xfrm>
            <a:off x="502920" y="640080"/>
            <a:ext cx="11185800" cy="11100"/>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0" name="Google Shape;480;p48"/>
          <p:cNvSpPr/>
          <p:nvPr/>
        </p:nvSpPr>
        <p:spPr>
          <a:xfrm>
            <a:off x="502920" y="868680"/>
            <a:ext cx="10515600" cy="329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en-US" sz="1400">
                <a:solidFill>
                  <a:srgbClr val="22D3EE"/>
                </a:solidFill>
                <a:latin typeface="Inter"/>
                <a:ea typeface="Inter"/>
                <a:cs typeface="Inter"/>
                <a:sym typeface="Inter"/>
              </a:rPr>
              <a:t>HARDWARE EVOLUTION · FUTURE PRODUCT</a:t>
            </a:r>
            <a:endParaRPr b="1" i="0" sz="1400">
              <a:solidFill>
                <a:srgbClr val="22D3EE"/>
              </a:solidFill>
              <a:latin typeface="Inter"/>
              <a:ea typeface="Inter"/>
              <a:cs typeface="Inter"/>
              <a:sym typeface="Inter"/>
            </a:endParaRPr>
          </a:p>
        </p:txBody>
      </p:sp>
      <p:sp>
        <p:nvSpPr>
          <p:cNvPr id="481" name="Google Shape;481;p48"/>
          <p:cNvSpPr/>
          <p:nvPr/>
        </p:nvSpPr>
        <p:spPr>
          <a:xfrm>
            <a:off x="502920" y="1280160"/>
            <a:ext cx="10972800" cy="571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US" sz="3300">
                <a:solidFill>
                  <a:srgbClr val="FFFFFF"/>
                </a:solidFill>
                <a:latin typeface="Inter"/>
                <a:ea typeface="Inter"/>
                <a:cs typeface="Inter"/>
                <a:sym typeface="Inter"/>
              </a:rPr>
              <a:t>Future Product Roadmap</a:t>
            </a:r>
            <a:endParaRPr b="1" i="0" sz="3300">
              <a:solidFill>
                <a:srgbClr val="FFFFFF"/>
              </a:solidFill>
              <a:latin typeface="Inter"/>
              <a:ea typeface="Inter"/>
              <a:cs typeface="Inter"/>
              <a:sym typeface="Inter"/>
            </a:endParaRPr>
          </a:p>
        </p:txBody>
      </p:sp>
      <p:sp>
        <p:nvSpPr>
          <p:cNvPr id="482" name="Google Shape;482;p48"/>
          <p:cNvSpPr/>
          <p:nvPr/>
        </p:nvSpPr>
        <p:spPr>
          <a:xfrm>
            <a:off x="502920" y="1885950"/>
            <a:ext cx="105156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b="0" i="1" sz="1600">
              <a:solidFill>
                <a:srgbClr val="B7C5D6"/>
              </a:solidFill>
              <a:latin typeface="Inter"/>
              <a:ea typeface="Inter"/>
              <a:cs typeface="Inter"/>
              <a:sym typeface="Inter"/>
            </a:endParaRPr>
          </a:p>
        </p:txBody>
      </p:sp>
      <p:sp>
        <p:nvSpPr>
          <p:cNvPr id="483" name="Google Shape;483;p48"/>
          <p:cNvSpPr/>
          <p:nvPr/>
        </p:nvSpPr>
        <p:spPr>
          <a:xfrm>
            <a:off x="502920" y="2476500"/>
            <a:ext cx="3486300" cy="3714900"/>
          </a:xfrm>
          <a:prstGeom prst="roundRect">
            <a:avLst>
              <a:gd fmla="val 3278" name="adj"/>
            </a:avLst>
          </a:prstGeom>
          <a:solidFill>
            <a:srgbClr val="0A182E"/>
          </a:solidFill>
          <a:ln cap="flat" cmpd="sng" w="14300">
            <a:solidFill>
              <a:srgbClr val="1E3A5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4" name="Google Shape;484;p48"/>
          <p:cNvSpPr/>
          <p:nvPr/>
        </p:nvSpPr>
        <p:spPr>
          <a:xfrm>
            <a:off x="677675" y="5423450"/>
            <a:ext cx="3136800" cy="472800"/>
          </a:xfrm>
          <a:prstGeom prst="roundRect">
            <a:avLst>
              <a:gd fmla="val 21428" name="adj"/>
            </a:avLst>
          </a:prstGeom>
          <a:solidFill>
            <a:schemeClr val="lt1"/>
          </a:solidFill>
          <a:ln>
            <a:noFill/>
          </a:ln>
        </p:spPr>
        <p:txBody>
          <a:bodyPr anchorCtr="0" anchor="ctr" bIns="0" lIns="0" spcFirstLastPara="1" rIns="0" wrap="square" tIns="0">
            <a:noAutofit/>
          </a:bodyPr>
          <a:lstStyle/>
          <a:p>
            <a:pPr indent="0" lvl="0" marL="0" rtl="0" algn="l">
              <a:spcBef>
                <a:spcPts val="0"/>
              </a:spcBef>
              <a:spcAft>
                <a:spcPts val="0"/>
              </a:spcAft>
              <a:buNone/>
            </a:pPr>
            <a:r>
              <a:rPr lang="en-US"/>
              <a:t>FOR GAMERS</a:t>
            </a:r>
            <a:endParaRPr/>
          </a:p>
        </p:txBody>
      </p:sp>
      <p:sp>
        <p:nvSpPr>
          <p:cNvPr id="485" name="Google Shape;485;p48"/>
          <p:cNvSpPr/>
          <p:nvPr/>
        </p:nvSpPr>
        <p:spPr>
          <a:xfrm>
            <a:off x="8199120" y="2476500"/>
            <a:ext cx="3486300" cy="3714900"/>
          </a:xfrm>
          <a:prstGeom prst="roundRect">
            <a:avLst>
              <a:gd fmla="val 3278" name="adj"/>
            </a:avLst>
          </a:prstGeom>
          <a:solidFill>
            <a:srgbClr val="0A182E"/>
          </a:solidFill>
          <a:ln cap="flat" cmpd="sng" w="14300">
            <a:solidFill>
              <a:srgbClr val="1E3A5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6" name="Google Shape;486;p48"/>
          <p:cNvSpPr/>
          <p:nvPr/>
        </p:nvSpPr>
        <p:spPr>
          <a:xfrm>
            <a:off x="4579632" y="5598347"/>
            <a:ext cx="3029100" cy="329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7" name="Google Shape;487;p48"/>
          <p:cNvSpPr/>
          <p:nvPr/>
        </p:nvSpPr>
        <p:spPr>
          <a:xfrm>
            <a:off x="4581457" y="5598350"/>
            <a:ext cx="3029100" cy="329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8" name="Google Shape;488;p48"/>
          <p:cNvSpPr/>
          <p:nvPr/>
        </p:nvSpPr>
        <p:spPr>
          <a:xfrm>
            <a:off x="4351020" y="2476500"/>
            <a:ext cx="3486300" cy="3714900"/>
          </a:xfrm>
          <a:prstGeom prst="roundRect">
            <a:avLst>
              <a:gd fmla="val 3278" name="adj"/>
            </a:avLst>
          </a:prstGeom>
          <a:solidFill>
            <a:srgbClr val="0A182E"/>
          </a:solidFill>
          <a:ln cap="flat" cmpd="sng" w="14300">
            <a:solidFill>
              <a:srgbClr val="1E3A5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9" name="Google Shape;489;p48"/>
          <p:cNvSpPr/>
          <p:nvPr/>
        </p:nvSpPr>
        <p:spPr>
          <a:xfrm>
            <a:off x="1800632" y="4610100"/>
            <a:ext cx="3029100" cy="329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0" name="Google Shape;490;p48"/>
          <p:cNvSpPr/>
          <p:nvPr/>
        </p:nvSpPr>
        <p:spPr>
          <a:xfrm>
            <a:off x="4525775" y="5423425"/>
            <a:ext cx="3136800" cy="472800"/>
          </a:xfrm>
          <a:prstGeom prst="roundRect">
            <a:avLst>
              <a:gd fmla="val 21428" name="adj"/>
            </a:avLst>
          </a:prstGeom>
          <a:solidFill>
            <a:schemeClr val="lt1"/>
          </a:solidFill>
          <a:ln>
            <a:noFill/>
          </a:ln>
        </p:spPr>
        <p:txBody>
          <a:bodyPr anchorCtr="0" anchor="ctr" bIns="0" lIns="0" spcFirstLastPara="1" rIns="0" wrap="square" tIns="0">
            <a:noAutofit/>
          </a:bodyPr>
          <a:lstStyle/>
          <a:p>
            <a:pPr indent="0" lvl="0" marL="0" rtl="0" algn="l">
              <a:spcBef>
                <a:spcPts val="0"/>
              </a:spcBef>
              <a:spcAft>
                <a:spcPts val="0"/>
              </a:spcAft>
              <a:buNone/>
            </a:pPr>
            <a:r>
              <a:rPr lang="en-US"/>
              <a:t>FOR COMPLETE PARALYSIS</a:t>
            </a:r>
            <a:endParaRPr/>
          </a:p>
        </p:txBody>
      </p:sp>
      <p:sp>
        <p:nvSpPr>
          <p:cNvPr id="491" name="Google Shape;491;p48"/>
          <p:cNvSpPr/>
          <p:nvPr/>
        </p:nvSpPr>
        <p:spPr>
          <a:xfrm>
            <a:off x="8373875" y="5423450"/>
            <a:ext cx="3136800" cy="472800"/>
          </a:xfrm>
          <a:prstGeom prst="roundRect">
            <a:avLst>
              <a:gd fmla="val 21428" name="adj"/>
            </a:avLst>
          </a:prstGeom>
          <a:solidFill>
            <a:schemeClr val="lt1"/>
          </a:solidFill>
          <a:ln>
            <a:noFill/>
          </a:ln>
        </p:spPr>
        <p:txBody>
          <a:bodyPr anchorCtr="0" anchor="ctr" bIns="0" lIns="0" spcFirstLastPara="1" rIns="0" wrap="square" tIns="0">
            <a:noAutofit/>
          </a:bodyPr>
          <a:lstStyle/>
          <a:p>
            <a:pPr indent="0" lvl="0" marL="0" rtl="0" algn="l">
              <a:spcBef>
                <a:spcPts val="0"/>
              </a:spcBef>
              <a:spcAft>
                <a:spcPts val="0"/>
              </a:spcAft>
              <a:buNone/>
            </a:pPr>
            <a:r>
              <a:rPr lang="en-US"/>
              <a:t>FOR AI DEVELOPERS AND ROBOT TRAINERS</a:t>
            </a:r>
            <a:endParaRPr/>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h1542c758c6719de2_0_137"/>
          <p:cNvSpPr/>
          <p:nvPr/>
        </p:nvSpPr>
        <p:spPr>
          <a:xfrm>
            <a:off x="502920" y="274320"/>
            <a:ext cx="3657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498" name="Google Shape;498;h1542c758c6719de2_0_137"/>
          <p:cNvSpPr/>
          <p:nvPr/>
        </p:nvSpPr>
        <p:spPr>
          <a:xfrm>
            <a:off x="502920" y="640080"/>
            <a:ext cx="11185800" cy="11100"/>
          </a:xfrm>
          <a:prstGeom prst="rect">
            <a:avLst/>
          </a:prstGeom>
          <a:solidFill>
            <a:srgbClr val="22D3EE">
              <a:alpha val="3020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9" name="Google Shape;499;h1542c758c6719de2_0_137"/>
          <p:cNvSpPr/>
          <p:nvPr/>
        </p:nvSpPr>
        <p:spPr>
          <a:xfrm>
            <a:off x="502920" y="1280160"/>
            <a:ext cx="109728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4000"/>
              <a:buFont typeface="Arial"/>
              <a:buNone/>
            </a:pPr>
            <a:r>
              <a:rPr b="1" i="0" lang="en-US" sz="4000" u="none" cap="none" strike="noStrike">
                <a:solidFill>
                  <a:srgbClr val="FFFFFF"/>
                </a:solidFill>
                <a:latin typeface="Inter"/>
                <a:ea typeface="Inter"/>
                <a:cs typeface="Inter"/>
                <a:sym typeface="Inter"/>
              </a:rPr>
              <a:t>The Brain.</a:t>
            </a:r>
            <a:endParaRPr b="0" i="0" sz="4000" u="none" cap="none" strike="noStrike">
              <a:solidFill>
                <a:schemeClr val="dk1"/>
              </a:solidFill>
              <a:latin typeface="Calibri"/>
              <a:ea typeface="Calibri"/>
              <a:cs typeface="Calibri"/>
              <a:sym typeface="Calibri"/>
            </a:endParaRPr>
          </a:p>
        </p:txBody>
      </p:sp>
      <p:sp>
        <p:nvSpPr>
          <p:cNvPr id="500" name="Google Shape;500;h1542c758c6719de2_0_137"/>
          <p:cNvSpPr/>
          <p:nvPr/>
        </p:nvSpPr>
        <p:spPr>
          <a:xfrm>
            <a:off x="502920" y="2125285"/>
            <a:ext cx="6858000" cy="96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400"/>
              <a:buFont typeface="Calibri"/>
              <a:buNone/>
            </a:pPr>
            <a:r>
              <a:rPr b="1" i="0" lang="en-US" sz="1500" u="none" cap="none" strike="noStrike">
                <a:solidFill>
                  <a:srgbClr val="22D3EE"/>
                </a:solidFill>
                <a:latin typeface="Inter"/>
                <a:ea typeface="Inter"/>
                <a:cs typeface="Inter"/>
                <a:sym typeface="Inter"/>
              </a:rPr>
              <a:t>•  </a:t>
            </a:r>
            <a:r>
              <a:rPr b="0" i="0" lang="en-US" sz="1500" u="none" cap="none" strike="noStrike">
                <a:solidFill>
                  <a:srgbClr val="CDD5E2"/>
                </a:solidFill>
                <a:latin typeface="Inter"/>
                <a:ea typeface="Inter"/>
                <a:cs typeface="Inter"/>
                <a:sym typeface="Inter"/>
              </a:rPr>
              <a:t>Seeed Studio XIAO ESP32C3 reads IMU angle &amp; multi-beam IR proximity every loop.</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500"/>
              <a:buFont typeface="Arial"/>
              <a:buNone/>
            </a:pPr>
            <a:r>
              <a:rPr b="1" i="0" lang="en-US" sz="1500" u="none" cap="none" strike="noStrike">
                <a:solidFill>
                  <a:srgbClr val="22D3EE"/>
                </a:solidFill>
                <a:latin typeface="Inter"/>
                <a:ea typeface="Inter"/>
                <a:cs typeface="Inter"/>
                <a:sym typeface="Inter"/>
              </a:rPr>
              <a:t>•  </a:t>
            </a:r>
            <a:r>
              <a:rPr b="0" i="0" lang="en-US" sz="1500" u="none" cap="none" strike="noStrike">
                <a:solidFill>
                  <a:srgbClr val="CDD5E2"/>
                </a:solidFill>
                <a:latin typeface="Inter"/>
                <a:ea typeface="Inter"/>
                <a:cs typeface="Inter"/>
                <a:sym typeface="Inter"/>
              </a:rPr>
              <a:t>Python + TensorFlow pipeline filters out ambient light noise &amp; micro-tremors.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200"/>
              </a:spcAft>
              <a:buClr>
                <a:srgbClr val="000000"/>
              </a:buClr>
              <a:buSzPts val="1500"/>
              <a:buFont typeface="Arial"/>
              <a:buNone/>
            </a:pPr>
            <a:r>
              <a:rPr b="1" i="0" lang="en-US" sz="1500" u="none" cap="none" strike="noStrike">
                <a:solidFill>
                  <a:srgbClr val="22D3EE"/>
                </a:solidFill>
                <a:latin typeface="Inter"/>
                <a:ea typeface="Inter"/>
                <a:cs typeface="Inter"/>
                <a:sym typeface="Inter"/>
              </a:rPr>
              <a:t>•  </a:t>
            </a:r>
            <a:r>
              <a:rPr b="0" i="0" lang="en-US" sz="1500" u="none" cap="none" strike="noStrike">
                <a:solidFill>
                  <a:srgbClr val="CDD5E2"/>
                </a:solidFill>
                <a:latin typeface="Inter"/>
                <a:ea typeface="Inter"/>
                <a:cs typeface="Inter"/>
                <a:sym typeface="Inter"/>
              </a:rPr>
              <a:t>Streams gesture tokens over Bluetooth 5.0 with automatic Wi-Fi failover.</a:t>
            </a:r>
            <a:endParaRPr b="0" i="0" sz="1400" u="none" cap="none" strike="noStrike">
              <a:solidFill>
                <a:srgbClr val="000000"/>
              </a:solidFill>
              <a:latin typeface="Arial"/>
              <a:ea typeface="Arial"/>
              <a:cs typeface="Arial"/>
              <a:sym typeface="Arial"/>
            </a:endParaRPr>
          </a:p>
        </p:txBody>
      </p:sp>
      <p:sp>
        <p:nvSpPr>
          <p:cNvPr id="501" name="Google Shape;501;h1542c758c6719de2_0_137"/>
          <p:cNvSpPr/>
          <p:nvPr/>
        </p:nvSpPr>
        <p:spPr>
          <a:xfrm>
            <a:off x="502920" y="3721359"/>
            <a:ext cx="6675000" cy="365700"/>
          </a:xfrm>
          <a:prstGeom prst="roundRect">
            <a:avLst>
              <a:gd fmla="val 12500" name="adj"/>
            </a:avLst>
          </a:prstGeom>
          <a:solidFill>
            <a:srgbClr val="050E1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02" name="Google Shape;502;h1542c758c6719de2_0_137"/>
          <p:cNvSpPr/>
          <p:nvPr/>
        </p:nvSpPr>
        <p:spPr>
          <a:xfrm>
            <a:off x="685800" y="3721359"/>
            <a:ext cx="24690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400"/>
              <a:buFont typeface="Calibri"/>
              <a:buNone/>
            </a:pPr>
            <a:r>
              <a:rPr b="1" i="0" lang="en-US" sz="1550" u="none" cap="none" strike="noStrike">
                <a:solidFill>
                  <a:srgbClr val="22D3EE"/>
                </a:solidFill>
                <a:latin typeface="Inter"/>
                <a:ea typeface="Inter"/>
                <a:cs typeface="Inter"/>
                <a:sym typeface="Inter"/>
              </a:rPr>
              <a:t>SIGNAL</a:t>
            </a:r>
            <a:endParaRPr b="0" i="0" sz="1400" u="none" cap="none" strike="noStrike">
              <a:solidFill>
                <a:schemeClr val="dk1"/>
              </a:solidFill>
              <a:latin typeface="Calibri"/>
              <a:ea typeface="Calibri"/>
              <a:cs typeface="Calibri"/>
              <a:sym typeface="Calibri"/>
            </a:endParaRPr>
          </a:p>
        </p:txBody>
      </p:sp>
      <p:sp>
        <p:nvSpPr>
          <p:cNvPr id="503" name="Google Shape;503;h1542c758c6719de2_0_137"/>
          <p:cNvSpPr/>
          <p:nvPr/>
        </p:nvSpPr>
        <p:spPr>
          <a:xfrm>
            <a:off x="3200400" y="3721359"/>
            <a:ext cx="27432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400"/>
              <a:buFont typeface="Calibri"/>
              <a:buNone/>
            </a:pPr>
            <a:r>
              <a:rPr b="1" i="0" lang="en-US" sz="1550" u="none" cap="none" strike="noStrike">
                <a:solidFill>
                  <a:srgbClr val="22D3EE"/>
                </a:solidFill>
                <a:latin typeface="Inter"/>
                <a:ea typeface="Inter"/>
                <a:cs typeface="Inter"/>
                <a:sym typeface="Inter"/>
              </a:rPr>
              <a:t>CONDITION</a:t>
            </a:r>
            <a:endParaRPr b="0" i="0" sz="1400" u="none" cap="none" strike="noStrike">
              <a:solidFill>
                <a:schemeClr val="dk1"/>
              </a:solidFill>
              <a:latin typeface="Calibri"/>
              <a:ea typeface="Calibri"/>
              <a:cs typeface="Calibri"/>
              <a:sym typeface="Calibri"/>
            </a:endParaRPr>
          </a:p>
        </p:txBody>
      </p:sp>
      <p:sp>
        <p:nvSpPr>
          <p:cNvPr id="504" name="Google Shape;504;h1542c758c6719de2_0_137"/>
          <p:cNvSpPr/>
          <p:nvPr/>
        </p:nvSpPr>
        <p:spPr>
          <a:xfrm>
            <a:off x="5989320" y="3721359"/>
            <a:ext cx="10974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400"/>
              <a:buFont typeface="Calibri"/>
              <a:buNone/>
            </a:pPr>
            <a:r>
              <a:rPr b="1" i="0" lang="en-US" sz="1550" u="none" cap="none" strike="noStrike">
                <a:solidFill>
                  <a:srgbClr val="22D3EE"/>
                </a:solidFill>
                <a:latin typeface="Inter"/>
                <a:ea typeface="Inter"/>
                <a:cs typeface="Inter"/>
                <a:sym typeface="Inter"/>
              </a:rPr>
              <a:t>OUTPUT</a:t>
            </a:r>
            <a:endParaRPr b="0" i="0" sz="1400" u="none" cap="none" strike="noStrike">
              <a:solidFill>
                <a:schemeClr val="dk1"/>
              </a:solidFill>
              <a:latin typeface="Calibri"/>
              <a:ea typeface="Calibri"/>
              <a:cs typeface="Calibri"/>
              <a:sym typeface="Calibri"/>
            </a:endParaRPr>
          </a:p>
        </p:txBody>
      </p:sp>
      <p:sp>
        <p:nvSpPr>
          <p:cNvPr id="505" name="Google Shape;505;h1542c758c6719de2_0_137"/>
          <p:cNvSpPr/>
          <p:nvPr/>
        </p:nvSpPr>
        <p:spPr>
          <a:xfrm>
            <a:off x="502920" y="4087119"/>
            <a:ext cx="6675000" cy="329100"/>
          </a:xfrm>
          <a:prstGeom prst="rect">
            <a:avLst/>
          </a:prstGeom>
          <a:solidFill>
            <a:srgbClr val="0F2440"/>
          </a:solidFill>
          <a:ln cap="flat" cmpd="sng" w="9525">
            <a:solidFill>
              <a:srgbClr val="1E3A5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06" name="Google Shape;506;h1542c758c6719de2_0_137"/>
          <p:cNvSpPr/>
          <p:nvPr/>
        </p:nvSpPr>
        <p:spPr>
          <a:xfrm>
            <a:off x="685800" y="4087119"/>
            <a:ext cx="24690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0" i="0" lang="en-US" sz="1550" u="none" cap="none" strike="noStrike">
                <a:solidFill>
                  <a:srgbClr val="FFFFFF"/>
                </a:solidFill>
                <a:latin typeface="Inter"/>
                <a:ea typeface="Inter"/>
                <a:cs typeface="Inter"/>
                <a:sym typeface="Inter"/>
              </a:rPr>
              <a:t>Head tilt left</a:t>
            </a:r>
            <a:endParaRPr b="0" i="0" sz="1400" u="none" cap="none" strike="noStrike">
              <a:solidFill>
                <a:schemeClr val="dk1"/>
              </a:solidFill>
              <a:latin typeface="Calibri"/>
              <a:ea typeface="Calibri"/>
              <a:cs typeface="Calibri"/>
              <a:sym typeface="Calibri"/>
            </a:endParaRPr>
          </a:p>
        </p:txBody>
      </p:sp>
      <p:sp>
        <p:nvSpPr>
          <p:cNvPr id="507" name="Google Shape;507;h1542c758c6719de2_0_137"/>
          <p:cNvSpPr/>
          <p:nvPr/>
        </p:nvSpPr>
        <p:spPr>
          <a:xfrm>
            <a:off x="3200400" y="4087119"/>
            <a:ext cx="27432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DD5E2"/>
              </a:buClr>
              <a:buSzPts val="1400"/>
              <a:buFont typeface="Calibri"/>
              <a:buNone/>
            </a:pPr>
            <a:r>
              <a:rPr b="0" i="0" lang="en-US" sz="1550" u="none" cap="none" strike="noStrike">
                <a:solidFill>
                  <a:srgbClr val="CDD5E2"/>
                </a:solidFill>
                <a:latin typeface="Inter"/>
                <a:ea typeface="Inter"/>
                <a:cs typeface="Inter"/>
                <a:sym typeface="Inter"/>
              </a:rPr>
              <a:t>toward left shoulder</a:t>
            </a:r>
            <a:endParaRPr b="0" i="0" sz="1400" u="none" cap="none" strike="noStrike">
              <a:solidFill>
                <a:schemeClr val="dk1"/>
              </a:solidFill>
              <a:latin typeface="Calibri"/>
              <a:ea typeface="Calibri"/>
              <a:cs typeface="Calibri"/>
              <a:sym typeface="Calibri"/>
            </a:endParaRPr>
          </a:p>
        </p:txBody>
      </p:sp>
      <p:sp>
        <p:nvSpPr>
          <p:cNvPr id="508" name="Google Shape;508;h1542c758c6719de2_0_137"/>
          <p:cNvSpPr/>
          <p:nvPr/>
        </p:nvSpPr>
        <p:spPr>
          <a:xfrm>
            <a:off x="5989320" y="4087119"/>
            <a:ext cx="10974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400"/>
              <a:buFont typeface="Courier New"/>
              <a:buNone/>
            </a:pPr>
            <a:r>
              <a:rPr b="1" i="0" lang="en-US" sz="1550" u="none" cap="none" strike="noStrike">
                <a:solidFill>
                  <a:srgbClr val="22D3EE"/>
                </a:solidFill>
                <a:latin typeface="Courier New"/>
                <a:ea typeface="Courier New"/>
                <a:cs typeface="Courier New"/>
                <a:sym typeface="Courier New"/>
              </a:rPr>
              <a:t>→ L</a:t>
            </a:r>
            <a:endParaRPr b="0" i="0" sz="1400" u="none" cap="none" strike="noStrike">
              <a:solidFill>
                <a:schemeClr val="dk1"/>
              </a:solidFill>
              <a:latin typeface="Calibri"/>
              <a:ea typeface="Calibri"/>
              <a:cs typeface="Calibri"/>
              <a:sym typeface="Calibri"/>
            </a:endParaRPr>
          </a:p>
        </p:txBody>
      </p:sp>
      <p:sp>
        <p:nvSpPr>
          <p:cNvPr id="509" name="Google Shape;509;h1542c758c6719de2_0_137"/>
          <p:cNvSpPr/>
          <p:nvPr/>
        </p:nvSpPr>
        <p:spPr>
          <a:xfrm>
            <a:off x="502920" y="4416303"/>
            <a:ext cx="6675000" cy="329100"/>
          </a:xfrm>
          <a:prstGeom prst="rect">
            <a:avLst/>
          </a:prstGeom>
          <a:solidFill>
            <a:srgbClr val="050E1C"/>
          </a:solidFill>
          <a:ln cap="flat" cmpd="sng" w="9525">
            <a:solidFill>
              <a:srgbClr val="1E3A5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10" name="Google Shape;510;h1542c758c6719de2_0_137"/>
          <p:cNvSpPr/>
          <p:nvPr/>
        </p:nvSpPr>
        <p:spPr>
          <a:xfrm>
            <a:off x="685800" y="4416303"/>
            <a:ext cx="24690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0" i="0" lang="en-US" sz="1550" u="none" cap="none" strike="noStrike">
                <a:solidFill>
                  <a:srgbClr val="FFFFFF"/>
                </a:solidFill>
                <a:latin typeface="Inter"/>
                <a:ea typeface="Inter"/>
                <a:cs typeface="Inter"/>
                <a:sym typeface="Inter"/>
              </a:rPr>
              <a:t>Head tilt right</a:t>
            </a:r>
            <a:endParaRPr b="0" i="0" sz="1400" u="none" cap="none" strike="noStrike">
              <a:solidFill>
                <a:schemeClr val="dk1"/>
              </a:solidFill>
              <a:latin typeface="Calibri"/>
              <a:ea typeface="Calibri"/>
              <a:cs typeface="Calibri"/>
              <a:sym typeface="Calibri"/>
            </a:endParaRPr>
          </a:p>
        </p:txBody>
      </p:sp>
      <p:sp>
        <p:nvSpPr>
          <p:cNvPr id="511" name="Google Shape;511;h1542c758c6719de2_0_137"/>
          <p:cNvSpPr/>
          <p:nvPr/>
        </p:nvSpPr>
        <p:spPr>
          <a:xfrm>
            <a:off x="3200400" y="4416303"/>
            <a:ext cx="27432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DD5E2"/>
              </a:buClr>
              <a:buSzPts val="1400"/>
              <a:buFont typeface="Calibri"/>
              <a:buNone/>
            </a:pPr>
            <a:r>
              <a:rPr b="0" i="0" lang="en-US" sz="1550" u="none" cap="none" strike="noStrike">
                <a:solidFill>
                  <a:srgbClr val="CDD5E2"/>
                </a:solidFill>
                <a:latin typeface="Inter"/>
                <a:ea typeface="Inter"/>
                <a:cs typeface="Inter"/>
                <a:sym typeface="Inter"/>
              </a:rPr>
              <a:t>toward right shoulder</a:t>
            </a:r>
            <a:endParaRPr b="0" i="0" sz="1400" u="none" cap="none" strike="noStrike">
              <a:solidFill>
                <a:schemeClr val="dk1"/>
              </a:solidFill>
              <a:latin typeface="Calibri"/>
              <a:ea typeface="Calibri"/>
              <a:cs typeface="Calibri"/>
              <a:sym typeface="Calibri"/>
            </a:endParaRPr>
          </a:p>
        </p:txBody>
      </p:sp>
      <p:sp>
        <p:nvSpPr>
          <p:cNvPr id="512" name="Google Shape;512;h1542c758c6719de2_0_137"/>
          <p:cNvSpPr/>
          <p:nvPr/>
        </p:nvSpPr>
        <p:spPr>
          <a:xfrm>
            <a:off x="5989320" y="4416303"/>
            <a:ext cx="10974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400"/>
              <a:buFont typeface="Courier New"/>
              <a:buNone/>
            </a:pPr>
            <a:r>
              <a:rPr b="1" i="0" lang="en-US" sz="1550" u="none" cap="none" strike="noStrike">
                <a:solidFill>
                  <a:srgbClr val="22D3EE"/>
                </a:solidFill>
                <a:latin typeface="Courier New"/>
                <a:ea typeface="Courier New"/>
                <a:cs typeface="Courier New"/>
                <a:sym typeface="Courier New"/>
              </a:rPr>
              <a:t>→ R</a:t>
            </a:r>
            <a:endParaRPr b="0" i="0" sz="1400" u="none" cap="none" strike="noStrike">
              <a:solidFill>
                <a:schemeClr val="dk1"/>
              </a:solidFill>
              <a:latin typeface="Calibri"/>
              <a:ea typeface="Calibri"/>
              <a:cs typeface="Calibri"/>
              <a:sym typeface="Calibri"/>
            </a:endParaRPr>
          </a:p>
        </p:txBody>
      </p:sp>
      <p:sp>
        <p:nvSpPr>
          <p:cNvPr id="513" name="Google Shape;513;h1542c758c6719de2_0_137"/>
          <p:cNvSpPr/>
          <p:nvPr/>
        </p:nvSpPr>
        <p:spPr>
          <a:xfrm>
            <a:off x="502920" y="4745487"/>
            <a:ext cx="6675000" cy="329100"/>
          </a:xfrm>
          <a:prstGeom prst="rect">
            <a:avLst/>
          </a:prstGeom>
          <a:solidFill>
            <a:srgbClr val="0F2440"/>
          </a:solidFill>
          <a:ln cap="flat" cmpd="sng" w="9525">
            <a:solidFill>
              <a:srgbClr val="1E3A5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14" name="Google Shape;514;h1542c758c6719de2_0_137"/>
          <p:cNvSpPr/>
          <p:nvPr/>
        </p:nvSpPr>
        <p:spPr>
          <a:xfrm>
            <a:off x="685800" y="4745487"/>
            <a:ext cx="24690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0" i="0" lang="en-US" sz="1550" u="none" cap="none" strike="noStrike">
                <a:solidFill>
                  <a:srgbClr val="FFFFFF"/>
                </a:solidFill>
                <a:latin typeface="Inter"/>
                <a:ea typeface="Inter"/>
                <a:cs typeface="Inter"/>
                <a:sym typeface="Inter"/>
              </a:rPr>
              <a:t>Head nod up</a:t>
            </a:r>
            <a:endParaRPr b="0" i="0" sz="1400" u="none" cap="none" strike="noStrike">
              <a:solidFill>
                <a:schemeClr val="dk1"/>
              </a:solidFill>
              <a:latin typeface="Calibri"/>
              <a:ea typeface="Calibri"/>
              <a:cs typeface="Calibri"/>
              <a:sym typeface="Calibri"/>
            </a:endParaRPr>
          </a:p>
        </p:txBody>
      </p:sp>
      <p:sp>
        <p:nvSpPr>
          <p:cNvPr id="515" name="Google Shape;515;h1542c758c6719de2_0_137"/>
          <p:cNvSpPr/>
          <p:nvPr/>
        </p:nvSpPr>
        <p:spPr>
          <a:xfrm>
            <a:off x="3200400" y="4745487"/>
            <a:ext cx="27432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DD5E2"/>
              </a:buClr>
              <a:buSzPts val="1400"/>
              <a:buFont typeface="Calibri"/>
              <a:buNone/>
            </a:pPr>
            <a:r>
              <a:rPr b="0" i="0" lang="en-US" sz="1550" u="none" cap="none" strike="noStrike">
                <a:solidFill>
                  <a:srgbClr val="CDD5E2"/>
                </a:solidFill>
                <a:latin typeface="Inter"/>
                <a:ea typeface="Inter"/>
                <a:cs typeface="Inter"/>
                <a:sym typeface="Inter"/>
              </a:rPr>
              <a:t>pitch beyond threshold</a:t>
            </a:r>
            <a:endParaRPr b="0" i="0" sz="1400" u="none" cap="none" strike="noStrike">
              <a:solidFill>
                <a:schemeClr val="dk1"/>
              </a:solidFill>
              <a:latin typeface="Calibri"/>
              <a:ea typeface="Calibri"/>
              <a:cs typeface="Calibri"/>
              <a:sym typeface="Calibri"/>
            </a:endParaRPr>
          </a:p>
        </p:txBody>
      </p:sp>
      <p:sp>
        <p:nvSpPr>
          <p:cNvPr id="516" name="Google Shape;516;h1542c758c6719de2_0_137"/>
          <p:cNvSpPr/>
          <p:nvPr/>
        </p:nvSpPr>
        <p:spPr>
          <a:xfrm>
            <a:off x="5989320" y="4745487"/>
            <a:ext cx="10974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400"/>
              <a:buFont typeface="Courier New"/>
              <a:buNone/>
            </a:pPr>
            <a:r>
              <a:rPr b="1" i="0" lang="en-US" sz="1550" u="none" cap="none" strike="noStrike">
                <a:solidFill>
                  <a:srgbClr val="22D3EE"/>
                </a:solidFill>
                <a:latin typeface="Courier New"/>
                <a:ea typeface="Courier New"/>
                <a:cs typeface="Courier New"/>
                <a:sym typeface="Courier New"/>
              </a:rPr>
              <a:t>→ U</a:t>
            </a:r>
            <a:endParaRPr b="0" i="0" sz="1400" u="none" cap="none" strike="noStrike">
              <a:solidFill>
                <a:schemeClr val="dk1"/>
              </a:solidFill>
              <a:latin typeface="Calibri"/>
              <a:ea typeface="Calibri"/>
              <a:cs typeface="Calibri"/>
              <a:sym typeface="Calibri"/>
            </a:endParaRPr>
          </a:p>
        </p:txBody>
      </p:sp>
      <p:sp>
        <p:nvSpPr>
          <p:cNvPr id="517" name="Google Shape;517;h1542c758c6719de2_0_137"/>
          <p:cNvSpPr/>
          <p:nvPr/>
        </p:nvSpPr>
        <p:spPr>
          <a:xfrm>
            <a:off x="502920" y="5074671"/>
            <a:ext cx="6675000" cy="329100"/>
          </a:xfrm>
          <a:prstGeom prst="rect">
            <a:avLst/>
          </a:prstGeom>
          <a:solidFill>
            <a:srgbClr val="050E1C"/>
          </a:solidFill>
          <a:ln cap="flat" cmpd="sng" w="9525">
            <a:solidFill>
              <a:srgbClr val="1E3A5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18" name="Google Shape;518;h1542c758c6719de2_0_137"/>
          <p:cNvSpPr/>
          <p:nvPr/>
        </p:nvSpPr>
        <p:spPr>
          <a:xfrm>
            <a:off x="685800" y="5074671"/>
            <a:ext cx="24690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0" i="0" lang="en-US" sz="1550" u="none" cap="none" strike="noStrike">
                <a:solidFill>
                  <a:srgbClr val="FFFFFF"/>
                </a:solidFill>
                <a:latin typeface="Inter"/>
                <a:ea typeface="Inter"/>
                <a:cs typeface="Inter"/>
                <a:sym typeface="Inter"/>
              </a:rPr>
              <a:t>Head nod down</a:t>
            </a:r>
            <a:endParaRPr b="0" i="0" sz="1400" u="none" cap="none" strike="noStrike">
              <a:solidFill>
                <a:schemeClr val="dk1"/>
              </a:solidFill>
              <a:latin typeface="Calibri"/>
              <a:ea typeface="Calibri"/>
              <a:cs typeface="Calibri"/>
              <a:sym typeface="Calibri"/>
            </a:endParaRPr>
          </a:p>
        </p:txBody>
      </p:sp>
      <p:sp>
        <p:nvSpPr>
          <p:cNvPr id="519" name="Google Shape;519;h1542c758c6719de2_0_137"/>
          <p:cNvSpPr/>
          <p:nvPr/>
        </p:nvSpPr>
        <p:spPr>
          <a:xfrm>
            <a:off x="3200400" y="5074671"/>
            <a:ext cx="27432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DD5E2"/>
              </a:buClr>
              <a:buSzPts val="1400"/>
              <a:buFont typeface="Calibri"/>
              <a:buNone/>
            </a:pPr>
            <a:r>
              <a:rPr b="0" i="0" lang="en-US" sz="1550" u="none" cap="none" strike="noStrike">
                <a:solidFill>
                  <a:srgbClr val="CDD5E2"/>
                </a:solidFill>
                <a:latin typeface="Inter"/>
                <a:ea typeface="Inter"/>
                <a:cs typeface="Inter"/>
                <a:sym typeface="Inter"/>
              </a:rPr>
              <a:t>pitch beyond threshold</a:t>
            </a:r>
            <a:endParaRPr b="0" i="0" sz="1400" u="none" cap="none" strike="noStrike">
              <a:solidFill>
                <a:schemeClr val="dk1"/>
              </a:solidFill>
              <a:latin typeface="Calibri"/>
              <a:ea typeface="Calibri"/>
              <a:cs typeface="Calibri"/>
              <a:sym typeface="Calibri"/>
            </a:endParaRPr>
          </a:p>
        </p:txBody>
      </p:sp>
      <p:sp>
        <p:nvSpPr>
          <p:cNvPr id="520" name="Google Shape;520;h1542c758c6719de2_0_137"/>
          <p:cNvSpPr/>
          <p:nvPr/>
        </p:nvSpPr>
        <p:spPr>
          <a:xfrm>
            <a:off x="5989320" y="5074671"/>
            <a:ext cx="10974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400"/>
              <a:buFont typeface="Courier New"/>
              <a:buNone/>
            </a:pPr>
            <a:r>
              <a:rPr b="1" i="0" lang="en-US" sz="1550" u="none" cap="none" strike="noStrike">
                <a:solidFill>
                  <a:srgbClr val="22D3EE"/>
                </a:solidFill>
                <a:latin typeface="Courier New"/>
                <a:ea typeface="Courier New"/>
                <a:cs typeface="Courier New"/>
                <a:sym typeface="Courier New"/>
              </a:rPr>
              <a:t>→ D</a:t>
            </a:r>
            <a:endParaRPr b="0" i="0" sz="1400" u="none" cap="none" strike="noStrike">
              <a:solidFill>
                <a:schemeClr val="dk1"/>
              </a:solidFill>
              <a:latin typeface="Calibri"/>
              <a:ea typeface="Calibri"/>
              <a:cs typeface="Calibri"/>
              <a:sym typeface="Calibri"/>
            </a:endParaRPr>
          </a:p>
        </p:txBody>
      </p:sp>
      <p:sp>
        <p:nvSpPr>
          <p:cNvPr id="521" name="Google Shape;521;h1542c758c6719de2_0_137"/>
          <p:cNvSpPr/>
          <p:nvPr/>
        </p:nvSpPr>
        <p:spPr>
          <a:xfrm>
            <a:off x="502920" y="5403855"/>
            <a:ext cx="6675000" cy="329100"/>
          </a:xfrm>
          <a:prstGeom prst="rect">
            <a:avLst/>
          </a:prstGeom>
          <a:solidFill>
            <a:srgbClr val="0F2440"/>
          </a:solidFill>
          <a:ln cap="flat" cmpd="sng" w="9525">
            <a:solidFill>
              <a:srgbClr val="1E3A5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22" name="Google Shape;522;h1542c758c6719de2_0_137"/>
          <p:cNvSpPr/>
          <p:nvPr/>
        </p:nvSpPr>
        <p:spPr>
          <a:xfrm>
            <a:off x="685800" y="5403855"/>
            <a:ext cx="24690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0" i="0" lang="en-US" sz="1550" u="none" cap="none" strike="noStrike">
                <a:solidFill>
                  <a:srgbClr val="FFFFFF"/>
                </a:solidFill>
                <a:latin typeface="Inter"/>
                <a:ea typeface="Inter"/>
                <a:cs typeface="Inter"/>
                <a:sym typeface="Inter"/>
              </a:rPr>
              <a:t>Single deliberate blink</a:t>
            </a:r>
            <a:endParaRPr b="0" i="0" sz="1400" u="none" cap="none" strike="noStrike">
              <a:solidFill>
                <a:schemeClr val="dk1"/>
              </a:solidFill>
              <a:latin typeface="Calibri"/>
              <a:ea typeface="Calibri"/>
              <a:cs typeface="Calibri"/>
              <a:sym typeface="Calibri"/>
            </a:endParaRPr>
          </a:p>
        </p:txBody>
      </p:sp>
      <p:sp>
        <p:nvSpPr>
          <p:cNvPr id="523" name="Google Shape;523;h1542c758c6719de2_0_137"/>
          <p:cNvSpPr/>
          <p:nvPr/>
        </p:nvSpPr>
        <p:spPr>
          <a:xfrm>
            <a:off x="3200400" y="5403855"/>
            <a:ext cx="27432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DD5E2"/>
              </a:buClr>
              <a:buSzPts val="1400"/>
              <a:buFont typeface="Calibri"/>
              <a:buNone/>
            </a:pPr>
            <a:r>
              <a:rPr b="0" i="0" lang="en-US" sz="1550" u="none" cap="none" strike="noStrike">
                <a:solidFill>
                  <a:srgbClr val="CDD5E2"/>
                </a:solidFill>
                <a:latin typeface="Inter"/>
                <a:ea typeface="Inter"/>
                <a:cs typeface="Inter"/>
                <a:sym typeface="Inter"/>
              </a:rPr>
              <a:t>held, above threshold duration</a:t>
            </a:r>
            <a:endParaRPr b="0" i="0" sz="1400" u="none" cap="none" strike="noStrike">
              <a:solidFill>
                <a:schemeClr val="dk1"/>
              </a:solidFill>
              <a:latin typeface="Calibri"/>
              <a:ea typeface="Calibri"/>
              <a:cs typeface="Calibri"/>
              <a:sym typeface="Calibri"/>
            </a:endParaRPr>
          </a:p>
        </p:txBody>
      </p:sp>
      <p:sp>
        <p:nvSpPr>
          <p:cNvPr id="524" name="Google Shape;524;h1542c758c6719de2_0_137"/>
          <p:cNvSpPr/>
          <p:nvPr/>
        </p:nvSpPr>
        <p:spPr>
          <a:xfrm>
            <a:off x="5989320" y="5403855"/>
            <a:ext cx="10974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400"/>
              <a:buFont typeface="Courier New"/>
              <a:buNone/>
            </a:pPr>
            <a:r>
              <a:rPr b="1" i="0" lang="en-US" sz="1550" u="none" cap="none" strike="noStrike">
                <a:solidFill>
                  <a:srgbClr val="22D3EE"/>
                </a:solidFill>
                <a:latin typeface="Courier New"/>
                <a:ea typeface="Courier New"/>
                <a:cs typeface="Courier New"/>
                <a:sym typeface="Courier New"/>
              </a:rPr>
              <a:t>→ LC</a:t>
            </a:r>
            <a:endParaRPr b="0" i="0" sz="1400" u="none" cap="none" strike="noStrike">
              <a:solidFill>
                <a:schemeClr val="dk1"/>
              </a:solidFill>
              <a:latin typeface="Calibri"/>
              <a:ea typeface="Calibri"/>
              <a:cs typeface="Calibri"/>
              <a:sym typeface="Calibri"/>
            </a:endParaRPr>
          </a:p>
        </p:txBody>
      </p:sp>
      <p:sp>
        <p:nvSpPr>
          <p:cNvPr id="525" name="Google Shape;525;h1542c758c6719de2_0_137"/>
          <p:cNvSpPr/>
          <p:nvPr/>
        </p:nvSpPr>
        <p:spPr>
          <a:xfrm>
            <a:off x="502920" y="5733039"/>
            <a:ext cx="6675000" cy="329100"/>
          </a:xfrm>
          <a:prstGeom prst="rect">
            <a:avLst/>
          </a:prstGeom>
          <a:solidFill>
            <a:srgbClr val="050E1C"/>
          </a:solidFill>
          <a:ln cap="flat" cmpd="sng" w="9525">
            <a:solidFill>
              <a:srgbClr val="1E3A5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26" name="Google Shape;526;h1542c758c6719de2_0_137"/>
          <p:cNvSpPr/>
          <p:nvPr/>
        </p:nvSpPr>
        <p:spPr>
          <a:xfrm>
            <a:off x="685800" y="5733039"/>
            <a:ext cx="24690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0" i="0" lang="en-US" sz="1550" u="none" cap="none" strike="noStrike">
                <a:solidFill>
                  <a:srgbClr val="FFFFFF"/>
                </a:solidFill>
                <a:latin typeface="Inter"/>
                <a:ea typeface="Inter"/>
                <a:cs typeface="Inter"/>
                <a:sym typeface="Inter"/>
              </a:rPr>
              <a:t>Double deliberate blink</a:t>
            </a:r>
            <a:endParaRPr b="0" i="0" sz="1400" u="none" cap="none" strike="noStrike">
              <a:solidFill>
                <a:schemeClr val="dk1"/>
              </a:solidFill>
              <a:latin typeface="Calibri"/>
              <a:ea typeface="Calibri"/>
              <a:cs typeface="Calibri"/>
              <a:sym typeface="Calibri"/>
            </a:endParaRPr>
          </a:p>
        </p:txBody>
      </p:sp>
      <p:sp>
        <p:nvSpPr>
          <p:cNvPr id="527" name="Google Shape;527;h1542c758c6719de2_0_137"/>
          <p:cNvSpPr/>
          <p:nvPr/>
        </p:nvSpPr>
        <p:spPr>
          <a:xfrm>
            <a:off x="3200400" y="5733039"/>
            <a:ext cx="27432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DD5E2"/>
              </a:buClr>
              <a:buSzPts val="1400"/>
              <a:buFont typeface="Calibri"/>
              <a:buNone/>
            </a:pPr>
            <a:r>
              <a:rPr b="0" i="0" lang="en-US" sz="1550" u="none" cap="none" strike="noStrike">
                <a:solidFill>
                  <a:srgbClr val="CDD5E2"/>
                </a:solidFill>
                <a:latin typeface="Inter"/>
                <a:ea typeface="Inter"/>
                <a:cs typeface="Inter"/>
                <a:sym typeface="Inter"/>
              </a:rPr>
              <a:t>two held blinks in quick succession</a:t>
            </a:r>
            <a:endParaRPr b="0" i="0" sz="1400" u="none" cap="none" strike="noStrike">
              <a:solidFill>
                <a:schemeClr val="dk1"/>
              </a:solidFill>
              <a:latin typeface="Calibri"/>
              <a:ea typeface="Calibri"/>
              <a:cs typeface="Calibri"/>
              <a:sym typeface="Calibri"/>
            </a:endParaRPr>
          </a:p>
        </p:txBody>
      </p:sp>
      <p:sp>
        <p:nvSpPr>
          <p:cNvPr id="528" name="Google Shape;528;h1542c758c6719de2_0_137"/>
          <p:cNvSpPr/>
          <p:nvPr/>
        </p:nvSpPr>
        <p:spPr>
          <a:xfrm>
            <a:off x="5989320" y="5733039"/>
            <a:ext cx="10974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400"/>
              <a:buFont typeface="Courier New"/>
              <a:buNone/>
            </a:pPr>
            <a:r>
              <a:rPr b="1" i="0" lang="en-US" sz="1550" u="none" cap="none" strike="noStrike">
                <a:solidFill>
                  <a:srgbClr val="22D3EE"/>
                </a:solidFill>
                <a:latin typeface="Courier New"/>
                <a:ea typeface="Courier New"/>
                <a:cs typeface="Courier New"/>
                <a:sym typeface="Courier New"/>
              </a:rPr>
              <a:t>→ RC</a:t>
            </a:r>
            <a:endParaRPr b="0" i="0" sz="1400" u="none" cap="none" strike="noStrike">
              <a:solidFill>
                <a:schemeClr val="dk1"/>
              </a:solidFill>
              <a:latin typeface="Calibri"/>
              <a:ea typeface="Calibri"/>
              <a:cs typeface="Calibri"/>
              <a:sym typeface="Calibri"/>
            </a:endParaRPr>
          </a:p>
        </p:txBody>
      </p:sp>
      <p:sp>
        <p:nvSpPr>
          <p:cNvPr id="529" name="Google Shape;529;h1542c758c6719de2_0_137"/>
          <p:cNvSpPr/>
          <p:nvPr/>
        </p:nvSpPr>
        <p:spPr>
          <a:xfrm>
            <a:off x="502920" y="6062223"/>
            <a:ext cx="6675000" cy="329100"/>
          </a:xfrm>
          <a:prstGeom prst="rect">
            <a:avLst/>
          </a:prstGeom>
          <a:solidFill>
            <a:srgbClr val="0F2440"/>
          </a:solidFill>
          <a:ln cap="flat" cmpd="sng" w="9525">
            <a:solidFill>
              <a:srgbClr val="1E3A5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30" name="Google Shape;530;h1542c758c6719de2_0_137"/>
          <p:cNvSpPr/>
          <p:nvPr/>
        </p:nvSpPr>
        <p:spPr>
          <a:xfrm>
            <a:off x="685800" y="6062223"/>
            <a:ext cx="24690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0" i="0" lang="en-US" sz="1550" u="none" cap="none" strike="noStrike">
                <a:solidFill>
                  <a:srgbClr val="FFFFFF"/>
                </a:solidFill>
                <a:latin typeface="Inter"/>
                <a:ea typeface="Inter"/>
                <a:cs typeface="Inter"/>
                <a:sym typeface="Inter"/>
              </a:rPr>
              <a:t>Natural / fast blink</a:t>
            </a:r>
            <a:endParaRPr b="0" i="0" sz="1400" u="none" cap="none" strike="noStrike">
              <a:solidFill>
                <a:schemeClr val="dk1"/>
              </a:solidFill>
              <a:latin typeface="Calibri"/>
              <a:ea typeface="Calibri"/>
              <a:cs typeface="Calibri"/>
              <a:sym typeface="Calibri"/>
            </a:endParaRPr>
          </a:p>
        </p:txBody>
      </p:sp>
      <p:sp>
        <p:nvSpPr>
          <p:cNvPr id="531" name="Google Shape;531;h1542c758c6719de2_0_137"/>
          <p:cNvSpPr/>
          <p:nvPr/>
        </p:nvSpPr>
        <p:spPr>
          <a:xfrm>
            <a:off x="3200400" y="6062223"/>
            <a:ext cx="27432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DD5E2"/>
              </a:buClr>
              <a:buSzPts val="1400"/>
              <a:buFont typeface="Calibri"/>
              <a:buNone/>
            </a:pPr>
            <a:r>
              <a:rPr b="0" i="0" lang="en-US" sz="1550" u="none" cap="none" strike="noStrike">
                <a:solidFill>
                  <a:srgbClr val="CDD5E2"/>
                </a:solidFill>
                <a:latin typeface="Inter"/>
                <a:ea typeface="Inter"/>
                <a:cs typeface="Inter"/>
                <a:sym typeface="Inter"/>
              </a:rPr>
              <a:t>below threshold duration</a:t>
            </a:r>
            <a:endParaRPr b="0" i="0" sz="1400" u="none" cap="none" strike="noStrike">
              <a:solidFill>
                <a:schemeClr val="dk1"/>
              </a:solidFill>
              <a:latin typeface="Calibri"/>
              <a:ea typeface="Calibri"/>
              <a:cs typeface="Calibri"/>
              <a:sym typeface="Calibri"/>
            </a:endParaRPr>
          </a:p>
        </p:txBody>
      </p:sp>
      <p:sp>
        <p:nvSpPr>
          <p:cNvPr id="532" name="Google Shape;532;h1542c758c6719de2_0_137"/>
          <p:cNvSpPr/>
          <p:nvPr/>
        </p:nvSpPr>
        <p:spPr>
          <a:xfrm>
            <a:off x="5989320" y="6062223"/>
            <a:ext cx="10974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1400"/>
              <a:buFont typeface="Courier New"/>
              <a:buNone/>
            </a:pPr>
            <a:r>
              <a:rPr b="1" i="0" lang="en-US" sz="1550" u="none" cap="none" strike="noStrike">
                <a:solidFill>
                  <a:srgbClr val="94A3B8"/>
                </a:solidFill>
                <a:latin typeface="Courier New"/>
                <a:ea typeface="Courier New"/>
                <a:cs typeface="Courier New"/>
                <a:sym typeface="Courier New"/>
              </a:rPr>
              <a:t>ignored</a:t>
            </a:r>
            <a:endParaRPr b="0" i="0" sz="1400" u="none" cap="none" strike="noStrike">
              <a:solidFill>
                <a:schemeClr val="dk1"/>
              </a:solidFill>
              <a:latin typeface="Calibri"/>
              <a:ea typeface="Calibri"/>
              <a:cs typeface="Calibri"/>
              <a:sym typeface="Calibri"/>
            </a:endParaRPr>
          </a:p>
        </p:txBody>
      </p:sp>
      <p:sp>
        <p:nvSpPr>
          <p:cNvPr id="533" name="Google Shape;533;h1542c758c6719de2_0_137"/>
          <p:cNvSpPr/>
          <p:nvPr/>
        </p:nvSpPr>
        <p:spPr>
          <a:xfrm>
            <a:off x="8631936" y="1225296"/>
            <a:ext cx="3127200" cy="4133100"/>
          </a:xfrm>
          <a:prstGeom prst="roundRect">
            <a:avLst>
              <a:gd fmla="val 877" name="adj"/>
            </a:avLst>
          </a:prstGeom>
          <a:solidFill>
            <a:srgbClr val="FFFFFF"/>
          </a:solidFill>
          <a:ln>
            <a:noFill/>
          </a:ln>
          <a:effectLst>
            <a:outerShdw blurRad="127000" rotWithShape="0" algn="bl" dir="5400000" dist="25400">
              <a:srgbClr val="000000">
                <a:alpha val="102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534" name="Google Shape;534;h1542c758c6719de2_0_137"/>
          <p:cNvPicPr preferRelativeResize="0"/>
          <p:nvPr/>
        </p:nvPicPr>
        <p:blipFill rotWithShape="1">
          <a:blip r:embed="rId3">
            <a:alphaModFix/>
          </a:blip>
          <a:srcRect b="0" l="0" r="0" t="0"/>
          <a:stretch/>
        </p:blipFill>
        <p:spPr>
          <a:xfrm>
            <a:off x="8869680" y="1280160"/>
            <a:ext cx="2606038" cy="4023358"/>
          </a:xfrm>
          <a:prstGeom prst="rect">
            <a:avLst/>
          </a:prstGeom>
          <a:noFill/>
          <a:ln>
            <a:noFill/>
          </a:ln>
        </p:spPr>
      </p:pic>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23"/>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541" name="Google Shape;541;p23"/>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2" name="Google Shape;542;p23"/>
          <p:cNvSpPr/>
          <p:nvPr/>
        </p:nvSpPr>
        <p:spPr>
          <a:xfrm>
            <a:off x="502920" y="1280160"/>
            <a:ext cx="64008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4000"/>
              <a:buFont typeface="Arial"/>
              <a:buNone/>
            </a:pPr>
            <a:r>
              <a:rPr b="1" i="0" lang="en-US" sz="4000" u="none" cap="none" strike="noStrike">
                <a:solidFill>
                  <a:srgbClr val="FFFFFF"/>
                </a:solidFill>
                <a:latin typeface="Inter"/>
                <a:ea typeface="Inter"/>
                <a:cs typeface="Inter"/>
                <a:sym typeface="Inter"/>
              </a:rPr>
              <a:t>The Bridge.</a:t>
            </a:r>
            <a:endParaRPr b="0" i="0" sz="4000" u="none" cap="none" strike="noStrike">
              <a:solidFill>
                <a:schemeClr val="dk1"/>
              </a:solidFill>
              <a:latin typeface="Calibri"/>
              <a:ea typeface="Calibri"/>
              <a:cs typeface="Calibri"/>
              <a:sym typeface="Calibri"/>
            </a:endParaRPr>
          </a:p>
        </p:txBody>
      </p:sp>
      <p:sp>
        <p:nvSpPr>
          <p:cNvPr id="543" name="Google Shape;543;p23"/>
          <p:cNvSpPr/>
          <p:nvPr/>
        </p:nvSpPr>
        <p:spPr>
          <a:xfrm>
            <a:off x="502920" y="2194560"/>
            <a:ext cx="6217920" cy="137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2000"/>
              <a:buFont typeface="Calibri"/>
              <a:buNone/>
            </a:pPr>
            <a:r>
              <a:rPr b="1" i="0" lang="en-US" sz="1550" u="none" cap="none" strike="noStrike">
                <a:solidFill>
                  <a:srgbClr val="22D3EE"/>
                </a:solidFill>
                <a:latin typeface="Inter"/>
                <a:ea typeface="Inter"/>
                <a:cs typeface="Inter"/>
                <a:sym typeface="Inter"/>
              </a:rPr>
              <a:t>•  </a:t>
            </a:r>
            <a:r>
              <a:rPr b="0" i="0" lang="en-US" sz="1550" u="none" cap="none" strike="noStrike">
                <a:solidFill>
                  <a:srgbClr val="CDD5E2"/>
                </a:solidFill>
                <a:latin typeface="Inter"/>
                <a:ea typeface="Inter"/>
                <a:cs typeface="Inter"/>
                <a:sym typeface="Inter"/>
              </a:rPr>
              <a:t>Receives wireless stream from XIAO ESP32C3 (BLE 5.0 + Wi-Fi failover).</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rgbClr val="000000"/>
              </a:buClr>
              <a:buSzPts val="1550"/>
              <a:buFont typeface="Arial"/>
              <a:buNone/>
            </a:pPr>
            <a:r>
              <a:rPr b="1" i="0" lang="en-US" sz="1550" u="none" cap="none" strike="noStrike">
                <a:solidFill>
                  <a:srgbClr val="22D3EE"/>
                </a:solidFill>
                <a:latin typeface="Inter"/>
                <a:ea typeface="Inter"/>
                <a:cs typeface="Inter"/>
                <a:sym typeface="Inter"/>
              </a:rPr>
              <a:t>•  </a:t>
            </a:r>
            <a:r>
              <a:rPr b="0" i="0" lang="en-US" sz="1550" u="none" cap="none" strike="noStrike">
                <a:solidFill>
                  <a:srgbClr val="CDD5E2"/>
                </a:solidFill>
                <a:latin typeface="Inter"/>
                <a:ea typeface="Inter"/>
                <a:cs typeface="Inter"/>
                <a:sym typeface="Inter"/>
              </a:rPr>
              <a:t>Renders a live digital twin of the user's eye blinking in real time.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300"/>
              </a:spcAft>
              <a:buClr>
                <a:srgbClr val="000000"/>
              </a:buClr>
              <a:buSzPts val="1550"/>
              <a:buFont typeface="Arial"/>
              <a:buNone/>
            </a:pPr>
            <a:r>
              <a:rPr b="1" i="0" lang="en-US" sz="1550" u="none" cap="none" strike="noStrike">
                <a:solidFill>
                  <a:srgbClr val="22D3EE"/>
                </a:solidFill>
                <a:latin typeface="Inter"/>
                <a:ea typeface="Inter"/>
                <a:cs typeface="Inter"/>
                <a:sym typeface="Inter"/>
              </a:rPr>
              <a:t>•  </a:t>
            </a:r>
            <a:r>
              <a:rPr b="0" i="0" lang="en-US" sz="1550" u="none" cap="none" strike="noStrike">
                <a:solidFill>
                  <a:srgbClr val="CDD5E2"/>
                </a:solidFill>
                <a:latin typeface="Inter"/>
                <a:ea typeface="Inter"/>
                <a:cs typeface="Inter"/>
                <a:sym typeface="Inter"/>
              </a:rPr>
              <a:t>Maps gestures to OS cursor actions across Windows, macOS &amp; Android.</a:t>
            </a:r>
            <a:endParaRPr b="0" i="0" sz="1400" u="none" cap="none" strike="noStrike">
              <a:solidFill>
                <a:srgbClr val="000000"/>
              </a:solidFill>
              <a:latin typeface="Arial"/>
              <a:ea typeface="Arial"/>
              <a:cs typeface="Arial"/>
              <a:sym typeface="Arial"/>
            </a:endParaRPr>
          </a:p>
        </p:txBody>
      </p:sp>
      <p:sp>
        <p:nvSpPr>
          <p:cNvPr id="544" name="Google Shape;544;p23"/>
          <p:cNvSpPr/>
          <p:nvPr/>
        </p:nvSpPr>
        <p:spPr>
          <a:xfrm>
            <a:off x="502920" y="3657600"/>
            <a:ext cx="786384" cy="329184"/>
          </a:xfrm>
          <a:prstGeom prst="roundRect">
            <a:avLst>
              <a:gd fmla="val 138889" name="adj"/>
            </a:avLst>
          </a:prstGeom>
          <a:solidFill>
            <a:srgbClr val="050E1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5" name="Google Shape;545;p23"/>
          <p:cNvSpPr/>
          <p:nvPr/>
        </p:nvSpPr>
        <p:spPr>
          <a:xfrm>
            <a:off x="502920" y="3657600"/>
            <a:ext cx="786384" cy="32918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900"/>
              <a:buFont typeface="Calibri"/>
              <a:buNone/>
            </a:pPr>
            <a:r>
              <a:rPr b="1" i="0" lang="en-US" sz="1200" u="none" cap="none" strike="noStrike">
                <a:solidFill>
                  <a:srgbClr val="22D3EE"/>
                </a:solidFill>
                <a:latin typeface="Inter"/>
                <a:ea typeface="Inter"/>
                <a:cs typeface="Inter"/>
                <a:sym typeface="Inter"/>
              </a:rPr>
              <a:t>PYSERIAL</a:t>
            </a:r>
            <a:endParaRPr b="0" i="0" sz="900" u="none" cap="none" strike="noStrike">
              <a:solidFill>
                <a:schemeClr val="dk1"/>
              </a:solidFill>
              <a:latin typeface="Calibri"/>
              <a:ea typeface="Calibri"/>
              <a:cs typeface="Calibri"/>
              <a:sym typeface="Calibri"/>
            </a:endParaRPr>
          </a:p>
        </p:txBody>
      </p:sp>
      <p:sp>
        <p:nvSpPr>
          <p:cNvPr id="546" name="Google Shape;546;p23"/>
          <p:cNvSpPr/>
          <p:nvPr/>
        </p:nvSpPr>
        <p:spPr>
          <a:xfrm>
            <a:off x="1472184" y="3657600"/>
            <a:ext cx="864108" cy="329184"/>
          </a:xfrm>
          <a:prstGeom prst="roundRect">
            <a:avLst>
              <a:gd fmla="val 138889" name="adj"/>
            </a:avLst>
          </a:prstGeom>
          <a:solidFill>
            <a:srgbClr val="050E1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7" name="Google Shape;547;p23"/>
          <p:cNvSpPr/>
          <p:nvPr/>
        </p:nvSpPr>
        <p:spPr>
          <a:xfrm>
            <a:off x="1472184" y="3657600"/>
            <a:ext cx="864108" cy="32918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900"/>
              <a:buFont typeface="Calibri"/>
              <a:buNone/>
            </a:pPr>
            <a:r>
              <a:rPr b="1" i="0" lang="en-US" sz="1200" u="none" cap="none" strike="noStrike">
                <a:solidFill>
                  <a:srgbClr val="22D3EE"/>
                </a:solidFill>
                <a:latin typeface="Inter"/>
                <a:ea typeface="Inter"/>
                <a:cs typeface="Inter"/>
                <a:sym typeface="Inter"/>
              </a:rPr>
              <a:t>PYAUTOGUI</a:t>
            </a:r>
            <a:endParaRPr b="0" i="0" sz="900" u="none" cap="none" strike="noStrike">
              <a:solidFill>
                <a:schemeClr val="dk1"/>
              </a:solidFill>
              <a:latin typeface="Calibri"/>
              <a:ea typeface="Calibri"/>
              <a:cs typeface="Calibri"/>
              <a:sym typeface="Calibri"/>
            </a:endParaRPr>
          </a:p>
        </p:txBody>
      </p:sp>
      <p:sp>
        <p:nvSpPr>
          <p:cNvPr id="548" name="Google Shape;548;p23"/>
          <p:cNvSpPr/>
          <p:nvPr/>
        </p:nvSpPr>
        <p:spPr>
          <a:xfrm>
            <a:off x="2519172" y="3657600"/>
            <a:ext cx="1175004" cy="329184"/>
          </a:xfrm>
          <a:prstGeom prst="roundRect">
            <a:avLst>
              <a:gd fmla="val 138889" name="adj"/>
            </a:avLst>
          </a:prstGeom>
          <a:solidFill>
            <a:srgbClr val="050E1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9" name="Google Shape;549;p23"/>
          <p:cNvSpPr/>
          <p:nvPr/>
        </p:nvSpPr>
        <p:spPr>
          <a:xfrm>
            <a:off x="2519172" y="3657600"/>
            <a:ext cx="1175004" cy="32918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900"/>
              <a:buFont typeface="Calibri"/>
              <a:buNone/>
            </a:pPr>
            <a:r>
              <a:rPr b="1" i="0" lang="en-US" sz="1200" u="none" cap="none" strike="noStrike">
                <a:solidFill>
                  <a:srgbClr val="22D3EE"/>
                </a:solidFill>
                <a:latin typeface="Inter"/>
                <a:ea typeface="Inter"/>
                <a:cs typeface="Inter"/>
                <a:sym typeface="Inter"/>
              </a:rPr>
              <a:t>XIAO BLE / WI-FI</a:t>
            </a:r>
            <a:endParaRPr b="0" i="0" sz="900" u="none" cap="none" strike="noStrike">
              <a:solidFill>
                <a:schemeClr val="dk1"/>
              </a:solidFill>
              <a:latin typeface="Calibri"/>
              <a:ea typeface="Calibri"/>
              <a:cs typeface="Calibri"/>
              <a:sym typeface="Calibri"/>
            </a:endParaRPr>
          </a:p>
        </p:txBody>
      </p:sp>
      <p:sp>
        <p:nvSpPr>
          <p:cNvPr id="550" name="Google Shape;550;p23"/>
          <p:cNvSpPr/>
          <p:nvPr/>
        </p:nvSpPr>
        <p:spPr>
          <a:xfrm>
            <a:off x="502925" y="4206251"/>
            <a:ext cx="5943600" cy="2490600"/>
          </a:xfrm>
          <a:prstGeom prst="roundRect">
            <a:avLst>
              <a:gd fmla="val 3200" name="adj"/>
            </a:avLst>
          </a:prstGeom>
          <a:solidFill>
            <a:srgbClr val="0F2440"/>
          </a:solidFill>
          <a:ln cap="flat" cmpd="sng" w="9525">
            <a:solidFill>
              <a:srgbClr val="0E7490">
                <a:alpha val="4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1" name="Google Shape;551;p23"/>
          <p:cNvSpPr/>
          <p:nvPr/>
        </p:nvSpPr>
        <p:spPr>
          <a:xfrm>
            <a:off x="777240" y="42976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900"/>
              <a:buFont typeface="Calibri"/>
              <a:buNone/>
            </a:pPr>
            <a:r>
              <a:rPr b="1" i="0" lang="en-US" sz="1200" u="none" cap="none" strike="noStrike">
                <a:solidFill>
                  <a:srgbClr val="22D3EE"/>
                </a:solidFill>
                <a:latin typeface="Inter"/>
                <a:ea typeface="Inter"/>
                <a:cs typeface="Inter"/>
                <a:sym typeface="Inter"/>
              </a:rPr>
              <a:t>SIGNAL PATH</a:t>
            </a:r>
            <a:endParaRPr b="0" i="0" sz="900" u="none" cap="none" strike="noStrike">
              <a:solidFill>
                <a:schemeClr val="dk1"/>
              </a:solidFill>
              <a:latin typeface="Calibri"/>
              <a:ea typeface="Calibri"/>
              <a:cs typeface="Calibri"/>
              <a:sym typeface="Calibri"/>
            </a:endParaRPr>
          </a:p>
        </p:txBody>
      </p:sp>
      <p:sp>
        <p:nvSpPr>
          <p:cNvPr id="552" name="Google Shape;552;p23"/>
          <p:cNvSpPr/>
          <p:nvPr/>
        </p:nvSpPr>
        <p:spPr>
          <a:xfrm>
            <a:off x="777240" y="4772032"/>
            <a:ext cx="54864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2000" u="none" cap="none" strike="noStrike">
                <a:solidFill>
                  <a:srgbClr val="FFFFFF"/>
                </a:solidFill>
                <a:latin typeface="Inter"/>
                <a:ea typeface="Inter"/>
                <a:cs typeface="Inter"/>
                <a:sym typeface="Inter"/>
              </a:rPr>
              <a:t>Why Python barely changes between USB and Bluetooth.</a:t>
            </a:r>
            <a:endParaRPr b="0" i="0" sz="2000" u="none" cap="none" strike="noStrike">
              <a:solidFill>
                <a:schemeClr val="dk1"/>
              </a:solidFill>
              <a:latin typeface="Calibri"/>
              <a:ea typeface="Calibri"/>
              <a:cs typeface="Calibri"/>
              <a:sym typeface="Calibri"/>
            </a:endParaRPr>
          </a:p>
        </p:txBody>
      </p:sp>
      <p:sp>
        <p:nvSpPr>
          <p:cNvPr id="553" name="Google Shape;553;p23"/>
          <p:cNvSpPr/>
          <p:nvPr/>
        </p:nvSpPr>
        <p:spPr>
          <a:xfrm>
            <a:off x="777240" y="5397829"/>
            <a:ext cx="5760720" cy="137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400"/>
              <a:buFont typeface="Calibri"/>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XIAO TX → BLE 5.0 / Wi-Fi Failover → Python TensorFlow denoiser.</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000000"/>
              </a:buClr>
              <a:buSzPts val="14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Updates live eye simulation &amp; executes PyAutoGUI cursor movement.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200"/>
              </a:spcAft>
              <a:buClr>
                <a:srgbClr val="000000"/>
              </a:buClr>
              <a:buSzPts val="14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Includes wired USB-C fallback for zero-drop hospital reliability.</a:t>
            </a:r>
            <a:endParaRPr b="0" i="0" sz="1400" u="none" cap="none" strike="noStrike">
              <a:solidFill>
                <a:srgbClr val="000000"/>
              </a:solidFill>
              <a:latin typeface="Arial"/>
              <a:ea typeface="Arial"/>
              <a:cs typeface="Arial"/>
              <a:sym typeface="Arial"/>
            </a:endParaRPr>
          </a:p>
        </p:txBody>
      </p:sp>
      <p:sp>
        <p:nvSpPr>
          <p:cNvPr id="554" name="Google Shape;554;p23"/>
          <p:cNvSpPr/>
          <p:nvPr/>
        </p:nvSpPr>
        <p:spPr>
          <a:xfrm>
            <a:off x="6986016" y="1271016"/>
            <a:ext cx="4956048" cy="5276088"/>
          </a:xfrm>
          <a:prstGeom prst="roundRect">
            <a:avLst>
              <a:gd fmla="val 554" name="adj"/>
            </a:avLst>
          </a:prstGeom>
          <a:solidFill>
            <a:srgbClr val="FFFFFF"/>
          </a:solidFill>
          <a:ln>
            <a:noFill/>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5" name="Google Shape;555;p23"/>
          <p:cNvSpPr/>
          <p:nvPr/>
        </p:nvSpPr>
        <p:spPr>
          <a:xfrm>
            <a:off x="7040880" y="1325880"/>
            <a:ext cx="4846320" cy="5166360"/>
          </a:xfrm>
          <a:prstGeom prst="roundRect">
            <a:avLst>
              <a:gd fmla="val 1132" name="adj"/>
            </a:avLst>
          </a:prstGeom>
          <a:solidFill>
            <a:srgbClr val="050E1C"/>
          </a:solidFill>
          <a:ln cap="flat" cmpd="sng" w="9525">
            <a:solidFill>
              <a:srgbClr val="0E7490">
                <a:alpha val="5019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6" name="Google Shape;556;p23"/>
          <p:cNvSpPr/>
          <p:nvPr/>
        </p:nvSpPr>
        <p:spPr>
          <a:xfrm>
            <a:off x="7223760" y="1463040"/>
            <a:ext cx="4480560" cy="4892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ourier New"/>
              <a:buNone/>
            </a:pPr>
            <a:r>
              <a:rPr b="0" i="0" lang="en-US" sz="1350" u="none" cap="none" strike="noStrike">
                <a:solidFill>
                  <a:srgbClr val="22D3EE"/>
                </a:solidFill>
                <a:latin typeface="Noto Sans Mono"/>
                <a:ea typeface="Noto Sans Mono"/>
                <a:cs typeface="Noto Sans Mono"/>
                <a:sym typeface="Noto Sans Mono"/>
              </a:rPr>
              <a:t>import serial, pyautogui, tensorflow as tf</a:t>
            </a:r>
            <a:br>
              <a:rPr b="0" i="0" lang="en-US" sz="1200" u="none" cap="none" strike="noStrike">
                <a:solidFill>
                  <a:srgbClr val="22D3EE"/>
                </a:solidFill>
                <a:latin typeface="Noto Sans Mono"/>
                <a:ea typeface="Noto Sans Mono"/>
                <a:cs typeface="Noto Sans Mono"/>
                <a:sym typeface="Noto Sans Mono"/>
              </a:rPr>
            </a:br>
            <a:r>
              <a:rPr b="0" i="0" lang="en-US" sz="1350" u="none" cap="none" strike="noStrike">
                <a:solidFill>
                  <a:srgbClr val="22D3EE"/>
                </a:solidFill>
                <a:latin typeface="Noto Sans Mono"/>
                <a:ea typeface="Noto Sans Mono"/>
                <a:cs typeface="Noto Sans Mono"/>
                <a:sym typeface="Noto Sans Mono"/>
              </a:rPr>
              <a:t>from iris_sim import EyeDigitalTwin</a:t>
            </a:r>
            <a:br>
              <a:rPr b="0" i="0" lang="en-US" sz="1200" u="none" cap="none" strike="noStrike">
                <a:solidFill>
                  <a:srgbClr val="22D3EE"/>
                </a:solidFill>
                <a:latin typeface="Noto Sans Mono"/>
                <a:ea typeface="Noto Sans Mono"/>
                <a:cs typeface="Noto Sans Mono"/>
                <a:sym typeface="Noto Sans Mono"/>
              </a:rPr>
            </a:br>
            <a:br>
              <a:rPr b="0" i="0" lang="en-US" sz="1200" u="none" cap="none" strike="noStrike">
                <a:solidFill>
                  <a:srgbClr val="22D3EE"/>
                </a:solidFill>
                <a:latin typeface="Noto Sans Mono"/>
                <a:ea typeface="Noto Sans Mono"/>
                <a:cs typeface="Noto Sans Mono"/>
                <a:sym typeface="Noto Sans Mono"/>
              </a:rPr>
            </a:br>
            <a:r>
              <a:rPr b="0" i="0" lang="en-US" sz="1350" u="none" cap="none" strike="noStrike">
                <a:solidFill>
                  <a:srgbClr val="22D3EE"/>
                </a:solidFill>
                <a:latin typeface="Noto Sans Mono"/>
                <a:ea typeface="Noto Sans Mono"/>
                <a:cs typeface="Noto Sans Mono"/>
                <a:sym typeface="Noto Sans Mono"/>
              </a:rPr>
              <a:t>link = EyeDigitalTwin.connect(ble='IRIS_XIAO', wifi_backup=True)</a:t>
            </a:r>
            <a:br>
              <a:rPr b="0" i="0" lang="en-US" sz="1200" u="none" cap="none" strike="noStrike">
                <a:solidFill>
                  <a:srgbClr val="22D3EE"/>
                </a:solidFill>
                <a:latin typeface="Noto Sans Mono"/>
                <a:ea typeface="Noto Sans Mono"/>
                <a:cs typeface="Noto Sans Mono"/>
                <a:sym typeface="Noto Sans Mono"/>
              </a:rPr>
            </a:br>
            <a:r>
              <a:rPr b="0" i="0" lang="en-US" sz="1350" u="none" cap="none" strike="noStrike">
                <a:solidFill>
                  <a:srgbClr val="22D3EE"/>
                </a:solidFill>
                <a:latin typeface="Noto Sans Mono"/>
                <a:ea typeface="Noto Sans Mono"/>
                <a:cs typeface="Noto Sans Mono"/>
                <a:sym typeface="Noto Sans Mono"/>
              </a:rPr>
              <a:t>eye_ui = EyeDigitalTwin.launch_live_eye_window()</a:t>
            </a:r>
            <a:br>
              <a:rPr b="0" i="0" lang="en-US" sz="1200" u="none" cap="none" strike="noStrike">
                <a:solidFill>
                  <a:srgbClr val="22D3EE"/>
                </a:solidFill>
                <a:latin typeface="Noto Sans Mono"/>
                <a:ea typeface="Noto Sans Mono"/>
                <a:cs typeface="Noto Sans Mono"/>
                <a:sym typeface="Noto Sans Mono"/>
              </a:rPr>
            </a:br>
            <a:br>
              <a:rPr b="0" i="0" lang="en-US" sz="1200" u="none" cap="none" strike="noStrike">
                <a:solidFill>
                  <a:srgbClr val="22D3EE"/>
                </a:solidFill>
                <a:latin typeface="Noto Sans Mono"/>
                <a:ea typeface="Noto Sans Mono"/>
                <a:cs typeface="Noto Sans Mono"/>
                <a:sym typeface="Noto Sans Mono"/>
              </a:rPr>
            </a:br>
            <a:r>
              <a:rPr b="0" i="0" lang="en-US" sz="1350" u="none" cap="none" strike="noStrike">
                <a:solidFill>
                  <a:srgbClr val="22D3EE"/>
                </a:solidFill>
                <a:latin typeface="Noto Sans Mono"/>
                <a:ea typeface="Noto Sans Mono"/>
                <a:cs typeface="Noto Sans Mono"/>
                <a:sym typeface="Noto Sans Mono"/>
              </a:rPr>
              <a:t>while True:</a:t>
            </a:r>
            <a:br>
              <a:rPr b="0" i="0" lang="en-US" sz="1200" u="none" cap="none" strike="noStrike">
                <a:solidFill>
                  <a:srgbClr val="22D3EE"/>
                </a:solidFill>
                <a:latin typeface="Noto Sans Mono"/>
                <a:ea typeface="Noto Sans Mono"/>
                <a:cs typeface="Noto Sans Mono"/>
                <a:sym typeface="Noto Sans Mono"/>
              </a:rPr>
            </a:br>
            <a:r>
              <a:rPr b="0" i="0" lang="en-US" sz="1350" u="none" cap="none" strike="noStrike">
                <a:solidFill>
                  <a:srgbClr val="22D3EE"/>
                </a:solidFill>
                <a:latin typeface="Noto Sans Mono"/>
                <a:ea typeface="Noto Sans Mono"/>
                <a:cs typeface="Noto Sans Mono"/>
                <a:sym typeface="Noto Sans Mono"/>
              </a:rPr>
              <a:t>    pkt = link.read_denoised_ir_imu()  # TensorFlow filter</a:t>
            </a:r>
            <a:br>
              <a:rPr b="0" i="0" lang="en-US" sz="1200" u="none" cap="none" strike="noStrike">
                <a:solidFill>
                  <a:srgbClr val="22D3EE"/>
                </a:solidFill>
                <a:latin typeface="Noto Sans Mono"/>
                <a:ea typeface="Noto Sans Mono"/>
                <a:cs typeface="Noto Sans Mono"/>
                <a:sym typeface="Noto Sans Mono"/>
              </a:rPr>
            </a:br>
            <a:r>
              <a:rPr b="0" i="0" lang="en-US" sz="1350" u="none" cap="none" strike="noStrike">
                <a:solidFill>
                  <a:srgbClr val="22D3EE"/>
                </a:solidFill>
                <a:latin typeface="Noto Sans Mono"/>
                <a:ea typeface="Noto Sans Mono"/>
                <a:cs typeface="Noto Sans Mono"/>
                <a:sym typeface="Noto Sans Mono"/>
              </a:rPr>
              <a:t>    eye_ui.sync_blink_and_gaze(pkt.ir_beams)</a:t>
            </a:r>
            <a:br>
              <a:rPr b="0" i="0" lang="en-US" sz="1200" u="none" cap="none" strike="noStrike">
                <a:solidFill>
                  <a:srgbClr val="22D3EE"/>
                </a:solidFill>
                <a:latin typeface="Noto Sans Mono"/>
                <a:ea typeface="Noto Sans Mono"/>
                <a:cs typeface="Noto Sans Mono"/>
                <a:sym typeface="Noto Sans Mono"/>
              </a:rPr>
            </a:br>
            <a:r>
              <a:rPr b="0" i="0" lang="en-US" sz="1350" u="none" cap="none" strike="noStrike">
                <a:solidFill>
                  <a:srgbClr val="22D3EE"/>
                </a:solidFill>
                <a:latin typeface="Noto Sans Mono"/>
                <a:ea typeface="Noto Sans Mono"/>
                <a:cs typeface="Noto Sans Mono"/>
                <a:sym typeface="Noto Sans Mono"/>
              </a:rPr>
              <a:t>    c = pkt.command</a:t>
            </a:r>
            <a:br>
              <a:rPr b="0" i="0" lang="en-US" sz="1200" u="none" cap="none" strike="noStrike">
                <a:solidFill>
                  <a:srgbClr val="22D3EE"/>
                </a:solidFill>
                <a:latin typeface="Noto Sans Mono"/>
                <a:ea typeface="Noto Sans Mono"/>
                <a:cs typeface="Noto Sans Mono"/>
                <a:sym typeface="Noto Sans Mono"/>
              </a:rPr>
            </a:br>
            <a:r>
              <a:rPr b="0" i="0" lang="en-US" sz="1350" u="none" cap="none" strike="noStrike">
                <a:solidFill>
                  <a:srgbClr val="22D3EE"/>
                </a:solidFill>
                <a:latin typeface="Noto Sans Mono"/>
                <a:ea typeface="Noto Sans Mono"/>
                <a:cs typeface="Noto Sans Mono"/>
                <a:sym typeface="Noto Sans Mono"/>
              </a:rPr>
              <a:t>    if c == 'L':  pyautogui.moveRel(-30, 0)</a:t>
            </a:r>
            <a:br>
              <a:rPr b="0" i="0" lang="en-US" sz="1200" u="none" cap="none" strike="noStrike">
                <a:solidFill>
                  <a:srgbClr val="22D3EE"/>
                </a:solidFill>
                <a:latin typeface="Noto Sans Mono"/>
                <a:ea typeface="Noto Sans Mono"/>
                <a:cs typeface="Noto Sans Mono"/>
                <a:sym typeface="Noto Sans Mono"/>
              </a:rPr>
            </a:br>
            <a:r>
              <a:rPr b="0" i="0" lang="en-US" sz="1350" u="none" cap="none" strike="noStrike">
                <a:solidFill>
                  <a:srgbClr val="22D3EE"/>
                </a:solidFill>
                <a:latin typeface="Noto Sans Mono"/>
                <a:ea typeface="Noto Sans Mono"/>
                <a:cs typeface="Noto Sans Mono"/>
                <a:sym typeface="Noto Sans Mono"/>
              </a:rPr>
              <a:t>    if c == 'R':  pyautogui.moveRel(30, 0)</a:t>
            </a:r>
            <a:br>
              <a:rPr b="0" i="0" lang="en-US" sz="1200" u="none" cap="none" strike="noStrike">
                <a:solidFill>
                  <a:srgbClr val="22D3EE"/>
                </a:solidFill>
                <a:latin typeface="Noto Sans Mono"/>
                <a:ea typeface="Noto Sans Mono"/>
                <a:cs typeface="Noto Sans Mono"/>
                <a:sym typeface="Noto Sans Mono"/>
              </a:rPr>
            </a:br>
            <a:r>
              <a:rPr b="0" i="0" lang="en-US" sz="1350" u="none" cap="none" strike="noStrike">
                <a:solidFill>
                  <a:srgbClr val="22D3EE"/>
                </a:solidFill>
                <a:latin typeface="Noto Sans Mono"/>
                <a:ea typeface="Noto Sans Mono"/>
                <a:cs typeface="Noto Sans Mono"/>
                <a:sym typeface="Noto Sans Mono"/>
              </a:rPr>
              <a:t>    if c == 'U':  pyautogui.moveRel(0, -30)</a:t>
            </a:r>
            <a:br>
              <a:rPr b="0" i="0" lang="en-US" sz="1200" u="none" cap="none" strike="noStrike">
                <a:solidFill>
                  <a:srgbClr val="22D3EE"/>
                </a:solidFill>
                <a:latin typeface="Noto Sans Mono"/>
                <a:ea typeface="Noto Sans Mono"/>
                <a:cs typeface="Noto Sans Mono"/>
                <a:sym typeface="Noto Sans Mono"/>
              </a:rPr>
            </a:br>
            <a:r>
              <a:rPr b="0" i="0" lang="en-US" sz="1350" u="none" cap="none" strike="noStrike">
                <a:solidFill>
                  <a:srgbClr val="22D3EE"/>
                </a:solidFill>
                <a:latin typeface="Noto Sans Mono"/>
                <a:ea typeface="Noto Sans Mono"/>
                <a:cs typeface="Noto Sans Mono"/>
                <a:sym typeface="Noto Sans Mono"/>
              </a:rPr>
              <a:t>    if c == 'D':  pyautogui.moveRel(0, 30)</a:t>
            </a:r>
            <a:br>
              <a:rPr b="0" i="0" lang="en-US" sz="1200" u="none" cap="none" strike="noStrike">
                <a:solidFill>
                  <a:srgbClr val="22D3EE"/>
                </a:solidFill>
                <a:latin typeface="Noto Sans Mono"/>
                <a:ea typeface="Noto Sans Mono"/>
                <a:cs typeface="Noto Sans Mono"/>
                <a:sym typeface="Noto Sans Mono"/>
              </a:rPr>
            </a:br>
            <a:r>
              <a:rPr b="0" i="0" lang="en-US" sz="1350" u="none" cap="none" strike="noStrike">
                <a:solidFill>
                  <a:srgbClr val="22D3EE"/>
                </a:solidFill>
                <a:latin typeface="Noto Sans Mono"/>
                <a:ea typeface="Noto Sans Mono"/>
                <a:cs typeface="Noto Sans Mono"/>
                <a:sym typeface="Noto Sans Mono"/>
              </a:rPr>
              <a:t>    if c == 'LC': pyautogui.click()</a:t>
            </a:r>
            <a:br>
              <a:rPr b="0" i="0" lang="en-US" sz="1200" u="none" cap="none" strike="noStrike">
                <a:solidFill>
                  <a:srgbClr val="22D3EE"/>
                </a:solidFill>
                <a:latin typeface="Noto Sans Mono"/>
                <a:ea typeface="Noto Sans Mono"/>
                <a:cs typeface="Noto Sans Mono"/>
                <a:sym typeface="Noto Sans Mono"/>
              </a:rPr>
            </a:br>
            <a:r>
              <a:rPr b="0" i="0" lang="en-US" sz="1350" u="none" cap="none" strike="noStrike">
                <a:solidFill>
                  <a:srgbClr val="22D3EE"/>
                </a:solidFill>
                <a:latin typeface="Noto Sans Mono"/>
                <a:ea typeface="Noto Sans Mono"/>
                <a:cs typeface="Noto Sans Mono"/>
                <a:sym typeface="Noto Sans Mono"/>
              </a:rPr>
              <a:t>    if c == 'RC': pyautogui.rightClick()</a:t>
            </a:r>
            <a:endParaRPr b="0" i="0" sz="1100" u="none" cap="none" strike="noStrike">
              <a:solidFill>
                <a:schemeClr val="dk1"/>
              </a:solidFill>
              <a:latin typeface="Calibri"/>
              <a:ea typeface="Calibri"/>
              <a:cs typeface="Calibri"/>
              <a:sym typeface="Calibri"/>
            </a:endParaRPr>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12"/>
          <p:cNvSpPr txBox="1"/>
          <p:nvPr/>
        </p:nvSpPr>
        <p:spPr>
          <a:xfrm>
            <a:off x="502920" y="274320"/>
            <a:ext cx="36576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1150" u="none" cap="none" strike="noStrike">
                <a:solidFill>
                  <a:srgbClr val="CDD5E2"/>
                </a:solidFill>
                <a:latin typeface="Inter"/>
                <a:ea typeface="Inter"/>
                <a:cs typeface="Inter"/>
                <a:sym typeface="Inter"/>
              </a:rPr>
              <a:t>● IRIS</a:t>
            </a:r>
            <a:endParaRPr b="0" i="0" sz="1400" u="none" cap="none" strike="noStrike">
              <a:solidFill>
                <a:srgbClr val="000000"/>
              </a:solidFill>
              <a:latin typeface="Arial"/>
              <a:ea typeface="Arial"/>
              <a:cs typeface="Arial"/>
              <a:sym typeface="Arial"/>
            </a:endParaRPr>
          </a:p>
        </p:txBody>
      </p:sp>
      <p:sp>
        <p:nvSpPr>
          <p:cNvPr id="562" name="Google Shape;562;p12"/>
          <p:cNvSpPr txBox="1"/>
          <p:nvPr/>
        </p:nvSpPr>
        <p:spPr>
          <a:xfrm>
            <a:off x="502920" y="274320"/>
            <a:ext cx="18288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3" name="Google Shape;563;p12"/>
          <p:cNvSpPr txBox="1"/>
          <p:nvPr/>
        </p:nvSpPr>
        <p:spPr>
          <a:xfrm>
            <a:off x="502920" y="1280160"/>
            <a:ext cx="10972800" cy="914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FFFFFF"/>
                </a:solidFill>
                <a:latin typeface="Inter"/>
                <a:ea typeface="Inter"/>
                <a:cs typeface="Inter"/>
                <a:sym typeface="Inter"/>
              </a:rPr>
              <a:t>One LED tells you everything.</a:t>
            </a:r>
            <a:endParaRPr b="0" i="0" sz="1400" u="none" cap="none" strike="noStrike">
              <a:solidFill>
                <a:srgbClr val="000000"/>
              </a:solidFill>
              <a:latin typeface="Arial"/>
              <a:ea typeface="Arial"/>
              <a:cs typeface="Arial"/>
              <a:sym typeface="Arial"/>
            </a:endParaRPr>
          </a:p>
        </p:txBody>
      </p:sp>
      <p:sp>
        <p:nvSpPr>
          <p:cNvPr id="564" name="Google Shape;564;p12"/>
          <p:cNvSpPr txBox="1"/>
          <p:nvPr/>
        </p:nvSpPr>
        <p:spPr>
          <a:xfrm>
            <a:off x="502920" y="2194560"/>
            <a:ext cx="10515600" cy="5486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1" lang="en-US" sz="1750" u="none" cap="none" strike="noStrike">
                <a:solidFill>
                  <a:srgbClr val="CDD5E2"/>
                </a:solidFill>
                <a:latin typeface="Inter"/>
                <a:ea typeface="Inter"/>
                <a:cs typeface="Inter"/>
                <a:sym typeface="Inter"/>
              </a:rPr>
              <a:t>A single RGB LED on the outer belt gives instant visual feedback — no screen needed.</a:t>
            </a:r>
            <a:endParaRPr b="0" i="0" sz="1400" u="none" cap="none" strike="noStrike">
              <a:solidFill>
                <a:srgbClr val="000000"/>
              </a:solidFill>
              <a:latin typeface="Arial"/>
              <a:ea typeface="Arial"/>
              <a:cs typeface="Arial"/>
              <a:sym typeface="Arial"/>
            </a:endParaRPr>
          </a:p>
        </p:txBody>
      </p:sp>
      <p:sp>
        <p:nvSpPr>
          <p:cNvPr id="565" name="Google Shape;565;p12"/>
          <p:cNvSpPr/>
          <p:nvPr/>
        </p:nvSpPr>
        <p:spPr>
          <a:xfrm>
            <a:off x="495300" y="2926074"/>
            <a:ext cx="3520500" cy="3468000"/>
          </a:xfrm>
          <a:prstGeom prst="roundRect">
            <a:avLst>
              <a:gd fmla="val 16667" name="adj"/>
            </a:avLst>
          </a:prstGeom>
          <a:solidFill>
            <a:srgbClr val="0F2440"/>
          </a:solidFill>
          <a:ln cap="flat" cmpd="sng" w="9525">
            <a:solidFill>
              <a:srgbClr val="0E7490"/>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66" name="Google Shape;566;p12"/>
          <p:cNvSpPr/>
          <p:nvPr/>
        </p:nvSpPr>
        <p:spPr>
          <a:xfrm>
            <a:off x="1889760" y="3200400"/>
            <a:ext cx="731520" cy="731520"/>
          </a:xfrm>
          <a:prstGeom prst="ellipse">
            <a:avLst/>
          </a:prstGeom>
          <a:solidFill>
            <a:srgbClr val="16A34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67" name="Google Shape;567;p12"/>
          <p:cNvSpPr txBox="1"/>
          <p:nvPr/>
        </p:nvSpPr>
        <p:spPr>
          <a:xfrm>
            <a:off x="723900" y="4069080"/>
            <a:ext cx="3063240" cy="274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US" sz="1350" u="none" cap="none" strike="noStrike">
                <a:solidFill>
                  <a:srgbClr val="16A34A"/>
                </a:solidFill>
                <a:latin typeface="Inter"/>
                <a:ea typeface="Inter"/>
                <a:cs typeface="Inter"/>
                <a:sym typeface="Inter"/>
              </a:rPr>
              <a:t>GREEN</a:t>
            </a:r>
            <a:endParaRPr b="0" i="0" sz="1400" u="none" cap="none" strike="noStrike">
              <a:solidFill>
                <a:srgbClr val="000000"/>
              </a:solidFill>
              <a:latin typeface="Arial"/>
              <a:ea typeface="Arial"/>
              <a:cs typeface="Arial"/>
              <a:sym typeface="Arial"/>
            </a:endParaRPr>
          </a:p>
        </p:txBody>
      </p:sp>
      <p:sp>
        <p:nvSpPr>
          <p:cNvPr id="568" name="Google Shape;568;p12"/>
          <p:cNvSpPr txBox="1"/>
          <p:nvPr/>
        </p:nvSpPr>
        <p:spPr>
          <a:xfrm>
            <a:off x="723900" y="4343400"/>
            <a:ext cx="3063240" cy="3200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950" u="none" cap="none" strike="noStrike">
                <a:solidFill>
                  <a:srgbClr val="FFFFFF"/>
                </a:solidFill>
                <a:latin typeface="Inter"/>
                <a:ea typeface="Inter"/>
                <a:cs typeface="Inter"/>
                <a:sym typeface="Inter"/>
              </a:rPr>
              <a:t>System starting</a:t>
            </a:r>
            <a:endParaRPr b="0" i="0" sz="1400" u="none" cap="none" strike="noStrike">
              <a:solidFill>
                <a:srgbClr val="000000"/>
              </a:solidFill>
              <a:latin typeface="Arial"/>
              <a:ea typeface="Arial"/>
              <a:cs typeface="Arial"/>
              <a:sym typeface="Arial"/>
            </a:endParaRPr>
          </a:p>
        </p:txBody>
      </p:sp>
      <p:sp>
        <p:nvSpPr>
          <p:cNvPr id="569" name="Google Shape;569;p12"/>
          <p:cNvSpPr txBox="1"/>
          <p:nvPr/>
        </p:nvSpPr>
        <p:spPr>
          <a:xfrm>
            <a:off x="723900" y="4709160"/>
            <a:ext cx="3154680" cy="10972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br>
              <a:rPr b="0" i="0" lang="en-US" sz="1400" u="none" cap="none" strike="noStrike">
                <a:solidFill>
                  <a:srgbClr val="CDD5E2"/>
                </a:solidFill>
                <a:latin typeface="Calibri"/>
                <a:ea typeface="Calibri"/>
                <a:cs typeface="Calibri"/>
                <a:sym typeface="Calibri"/>
              </a:rPr>
            </a:b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Solid green for 2s on boot-up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4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XIAO initializes IMU &amp; IR sensors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300"/>
              </a:spcAft>
              <a:buClr>
                <a:srgbClr val="000000"/>
              </a:buClr>
              <a:buSzPts val="14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Starts BLE &amp; Wi-Fi wireless stack</a:t>
            </a:r>
            <a:endParaRPr b="0" i="0" sz="1400" u="none" cap="none" strike="noStrike">
              <a:solidFill>
                <a:srgbClr val="000000"/>
              </a:solidFill>
              <a:latin typeface="Arial"/>
              <a:ea typeface="Arial"/>
              <a:cs typeface="Arial"/>
              <a:sym typeface="Arial"/>
            </a:endParaRPr>
          </a:p>
        </p:txBody>
      </p:sp>
      <p:sp>
        <p:nvSpPr>
          <p:cNvPr id="570" name="Google Shape;570;p12"/>
          <p:cNvSpPr/>
          <p:nvPr/>
        </p:nvSpPr>
        <p:spPr>
          <a:xfrm>
            <a:off x="4335775" y="2926074"/>
            <a:ext cx="3520500" cy="3468000"/>
          </a:xfrm>
          <a:prstGeom prst="roundRect">
            <a:avLst>
              <a:gd fmla="val 16667" name="adj"/>
            </a:avLst>
          </a:prstGeom>
          <a:solidFill>
            <a:srgbClr val="0F2440"/>
          </a:solidFill>
          <a:ln cap="flat" cmpd="sng" w="9525">
            <a:solidFill>
              <a:srgbClr val="0E7490"/>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71" name="Google Shape;571;p12"/>
          <p:cNvSpPr/>
          <p:nvPr/>
        </p:nvSpPr>
        <p:spPr>
          <a:xfrm>
            <a:off x="5730240" y="3200400"/>
            <a:ext cx="731520" cy="731520"/>
          </a:xfrm>
          <a:prstGeom prst="ellipse">
            <a:avLst/>
          </a:prstGeom>
          <a:solidFill>
            <a:srgbClr val="3B82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72" name="Google Shape;572;p12"/>
          <p:cNvSpPr txBox="1"/>
          <p:nvPr/>
        </p:nvSpPr>
        <p:spPr>
          <a:xfrm>
            <a:off x="4564380" y="4069080"/>
            <a:ext cx="3063240" cy="274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US" sz="1350" u="none" cap="none" strike="noStrike">
                <a:solidFill>
                  <a:srgbClr val="3B82F6"/>
                </a:solidFill>
                <a:latin typeface="Inter"/>
                <a:ea typeface="Inter"/>
                <a:cs typeface="Inter"/>
                <a:sym typeface="Inter"/>
              </a:rPr>
              <a:t>BLUE · BLINKING</a:t>
            </a:r>
            <a:endParaRPr b="0" i="0" sz="1400" u="none" cap="none" strike="noStrike">
              <a:solidFill>
                <a:srgbClr val="000000"/>
              </a:solidFill>
              <a:latin typeface="Arial"/>
              <a:ea typeface="Arial"/>
              <a:cs typeface="Arial"/>
              <a:sym typeface="Arial"/>
            </a:endParaRPr>
          </a:p>
        </p:txBody>
      </p:sp>
      <p:sp>
        <p:nvSpPr>
          <p:cNvPr id="573" name="Google Shape;573;p12"/>
          <p:cNvSpPr txBox="1"/>
          <p:nvPr/>
        </p:nvSpPr>
        <p:spPr>
          <a:xfrm>
            <a:off x="4564380" y="4343400"/>
            <a:ext cx="3063240" cy="3200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950" u="none" cap="none" strike="noStrike">
                <a:solidFill>
                  <a:srgbClr val="FFFFFF"/>
                </a:solidFill>
                <a:latin typeface="Inter"/>
                <a:ea typeface="Inter"/>
                <a:cs typeface="Inter"/>
                <a:sym typeface="Inter"/>
              </a:rPr>
              <a:t>Searching for device</a:t>
            </a:r>
            <a:endParaRPr b="0" i="0" sz="1400" u="none" cap="none" strike="noStrike">
              <a:solidFill>
                <a:srgbClr val="000000"/>
              </a:solidFill>
              <a:latin typeface="Arial"/>
              <a:ea typeface="Arial"/>
              <a:cs typeface="Arial"/>
              <a:sym typeface="Arial"/>
            </a:endParaRPr>
          </a:p>
        </p:txBody>
      </p:sp>
      <p:sp>
        <p:nvSpPr>
          <p:cNvPr id="574" name="Google Shape;574;p12"/>
          <p:cNvSpPr txBox="1"/>
          <p:nvPr/>
        </p:nvSpPr>
        <p:spPr>
          <a:xfrm>
            <a:off x="4564380" y="4709160"/>
            <a:ext cx="3154680" cy="10972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Blinks at 2Hz while advertising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4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Waits for laptop or phone pairing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300"/>
              </a:spcAft>
              <a:buClr>
                <a:srgbClr val="000000"/>
              </a:buClr>
              <a:buSzPts val="14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Auto-switches to Wi-Fi if BLE drops</a:t>
            </a:r>
            <a:endParaRPr b="0" i="0" sz="1400" u="none" cap="none" strike="noStrike">
              <a:solidFill>
                <a:srgbClr val="000000"/>
              </a:solidFill>
              <a:latin typeface="Arial"/>
              <a:ea typeface="Arial"/>
              <a:cs typeface="Arial"/>
              <a:sym typeface="Arial"/>
            </a:endParaRPr>
          </a:p>
        </p:txBody>
      </p:sp>
      <p:sp>
        <p:nvSpPr>
          <p:cNvPr id="575" name="Google Shape;575;p12"/>
          <p:cNvSpPr/>
          <p:nvPr/>
        </p:nvSpPr>
        <p:spPr>
          <a:xfrm>
            <a:off x="8176250" y="2926075"/>
            <a:ext cx="3520500" cy="3468000"/>
          </a:xfrm>
          <a:prstGeom prst="roundRect">
            <a:avLst>
              <a:gd fmla="val 16667" name="adj"/>
            </a:avLst>
          </a:prstGeom>
          <a:solidFill>
            <a:srgbClr val="0F2440"/>
          </a:solidFill>
          <a:ln cap="flat" cmpd="sng" w="9525">
            <a:solidFill>
              <a:srgbClr val="0E7490"/>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76" name="Google Shape;576;p12"/>
          <p:cNvSpPr/>
          <p:nvPr/>
        </p:nvSpPr>
        <p:spPr>
          <a:xfrm>
            <a:off x="9570720" y="3200400"/>
            <a:ext cx="731520" cy="731520"/>
          </a:xfrm>
          <a:prstGeom prst="ellipse">
            <a:avLst/>
          </a:prstGeom>
          <a:solidFill>
            <a:srgbClr val="FFB02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77" name="Google Shape;577;p12"/>
          <p:cNvSpPr txBox="1"/>
          <p:nvPr/>
        </p:nvSpPr>
        <p:spPr>
          <a:xfrm>
            <a:off x="8404860" y="4069080"/>
            <a:ext cx="3063240" cy="274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US" sz="1350" u="none" cap="none" strike="noStrike">
                <a:solidFill>
                  <a:srgbClr val="FFB020"/>
                </a:solidFill>
                <a:latin typeface="Inter"/>
                <a:ea typeface="Inter"/>
                <a:cs typeface="Inter"/>
                <a:sym typeface="Inter"/>
              </a:rPr>
              <a:t>YELLOW</a:t>
            </a:r>
            <a:endParaRPr b="0" i="0" sz="1400" u="none" cap="none" strike="noStrike">
              <a:solidFill>
                <a:srgbClr val="000000"/>
              </a:solidFill>
              <a:latin typeface="Arial"/>
              <a:ea typeface="Arial"/>
              <a:cs typeface="Arial"/>
              <a:sym typeface="Arial"/>
            </a:endParaRPr>
          </a:p>
        </p:txBody>
      </p:sp>
      <p:sp>
        <p:nvSpPr>
          <p:cNvPr id="578" name="Google Shape;578;p12"/>
          <p:cNvSpPr txBox="1"/>
          <p:nvPr/>
        </p:nvSpPr>
        <p:spPr>
          <a:xfrm>
            <a:off x="8404860" y="4343400"/>
            <a:ext cx="3063240" cy="3200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950" u="none" cap="none" strike="noStrike">
                <a:solidFill>
                  <a:srgbClr val="FFFFFF"/>
                </a:solidFill>
                <a:latin typeface="Inter"/>
                <a:ea typeface="Inter"/>
                <a:cs typeface="Inter"/>
                <a:sym typeface="Inter"/>
              </a:rPr>
              <a:t>Connected</a:t>
            </a:r>
            <a:endParaRPr b="0" i="0" sz="1400" u="none" cap="none" strike="noStrike">
              <a:solidFill>
                <a:srgbClr val="000000"/>
              </a:solidFill>
              <a:latin typeface="Arial"/>
              <a:ea typeface="Arial"/>
              <a:cs typeface="Arial"/>
              <a:sym typeface="Arial"/>
            </a:endParaRPr>
          </a:p>
        </p:txBody>
      </p:sp>
      <p:sp>
        <p:nvSpPr>
          <p:cNvPr id="579" name="Google Shape;579;p12"/>
          <p:cNvSpPr txBox="1"/>
          <p:nvPr/>
        </p:nvSpPr>
        <p:spPr>
          <a:xfrm>
            <a:off x="8404860" y="4709160"/>
            <a:ext cx="3154680" cy="10972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br>
              <a:rPr b="0" i="0" lang="en-US" sz="1400" u="none" cap="none" strike="noStrike">
                <a:solidFill>
                  <a:srgbClr val="CDD5E2"/>
                </a:solidFill>
                <a:latin typeface="Calibri"/>
                <a:ea typeface="Calibri"/>
                <a:cs typeface="Calibri"/>
                <a:sym typeface="Calibri"/>
              </a:rPr>
            </a:b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Solid yellow once link is locked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4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Live cursor &amp; eye twin active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300"/>
              </a:spcAft>
              <a:buClr>
                <a:srgbClr val="000000"/>
              </a:buClr>
              <a:buSzPts val="14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Visible to caregivers across room</a:t>
            </a:r>
            <a:endParaRPr b="0" i="0" sz="1400" u="none" cap="none" strike="noStrike">
              <a:solidFill>
                <a:srgbClr val="000000"/>
              </a:solidFill>
              <a:latin typeface="Arial"/>
              <a:ea typeface="Arial"/>
              <a:cs typeface="Arial"/>
              <a:sym typeface="Arial"/>
            </a:endParaRPr>
          </a:p>
        </p:txBody>
      </p:sp>
      <p:sp>
        <p:nvSpPr>
          <p:cNvPr id="580" name="Google Shape;580;p12"/>
          <p:cNvSpPr txBox="1"/>
          <p:nvPr/>
        </p:nvSpPr>
        <p:spPr>
          <a:xfrm>
            <a:off x="685800" y="6086305"/>
            <a:ext cx="107898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26"/>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587" name="Google Shape;587;p26"/>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8" name="Google Shape;588;p26"/>
          <p:cNvSpPr/>
          <p:nvPr/>
        </p:nvSpPr>
        <p:spPr>
          <a:xfrm>
            <a:off x="502920" y="1280160"/>
            <a:ext cx="109728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3600"/>
              <a:buFont typeface="Arial"/>
              <a:buNone/>
            </a:pPr>
            <a:r>
              <a:rPr b="1" i="0" lang="en-US" sz="3600" u="none" cap="none" strike="noStrike">
                <a:solidFill>
                  <a:srgbClr val="FFFFFF"/>
                </a:solidFill>
                <a:latin typeface="Inter"/>
                <a:ea typeface="Inter"/>
                <a:cs typeface="Inter"/>
                <a:sym typeface="Inter"/>
              </a:rPr>
              <a:t>Two signals, one reliable cursor.</a:t>
            </a:r>
            <a:endParaRPr b="0" i="0" sz="3600" u="none" cap="none" strike="noStrike">
              <a:solidFill>
                <a:schemeClr val="dk1"/>
              </a:solidFill>
              <a:latin typeface="Calibri"/>
              <a:ea typeface="Calibri"/>
              <a:cs typeface="Calibri"/>
              <a:sym typeface="Calibri"/>
            </a:endParaRPr>
          </a:p>
        </p:txBody>
      </p:sp>
      <p:sp>
        <p:nvSpPr>
          <p:cNvPr id="589" name="Google Shape;589;p26"/>
          <p:cNvSpPr/>
          <p:nvPr/>
        </p:nvSpPr>
        <p:spPr>
          <a:xfrm>
            <a:off x="502920" y="2111430"/>
            <a:ext cx="1051560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C5D6"/>
              </a:buClr>
              <a:buSzPts val="1800"/>
              <a:buFont typeface="Calibri"/>
              <a:buNone/>
            </a:pPr>
            <a:r>
              <a:rPr b="0" i="1" lang="en-US" sz="1800" u="none" cap="none" strike="noStrike">
                <a:solidFill>
                  <a:srgbClr val="B7C5D6"/>
                </a:solidFill>
                <a:latin typeface="Inter"/>
                <a:ea typeface="Inter"/>
                <a:cs typeface="Inter"/>
                <a:sym typeface="Inter"/>
              </a:rPr>
              <a:t>Optical reads your blink. Inertial reads your head. Together, they never fail.</a:t>
            </a:r>
            <a:endParaRPr b="0" i="0" sz="1800" u="none" cap="none" strike="noStrike">
              <a:solidFill>
                <a:schemeClr val="dk1"/>
              </a:solidFill>
              <a:latin typeface="Calibri"/>
              <a:ea typeface="Calibri"/>
              <a:cs typeface="Calibri"/>
              <a:sym typeface="Calibri"/>
            </a:endParaRPr>
          </a:p>
        </p:txBody>
      </p:sp>
      <p:sp>
        <p:nvSpPr>
          <p:cNvPr id="590" name="Google Shape;590;p26"/>
          <p:cNvSpPr/>
          <p:nvPr/>
        </p:nvSpPr>
        <p:spPr>
          <a:xfrm>
            <a:off x="472288" y="2926080"/>
            <a:ext cx="5440680" cy="3474720"/>
          </a:xfrm>
          <a:prstGeom prst="roundRect">
            <a:avLst>
              <a:gd fmla="val 2105"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1" name="Google Shape;591;p26"/>
          <p:cNvSpPr/>
          <p:nvPr/>
        </p:nvSpPr>
        <p:spPr>
          <a:xfrm>
            <a:off x="792328" y="3246120"/>
            <a:ext cx="685800" cy="685800"/>
          </a:xfrm>
          <a:prstGeom prst="ellipse">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2" name="Google Shape;592;p26"/>
          <p:cNvSpPr/>
          <p:nvPr/>
        </p:nvSpPr>
        <p:spPr>
          <a:xfrm>
            <a:off x="792328" y="3246120"/>
            <a:ext cx="6858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3" name="Google Shape;593;p26"/>
          <p:cNvSpPr/>
          <p:nvPr/>
        </p:nvSpPr>
        <p:spPr>
          <a:xfrm>
            <a:off x="1661008" y="3291840"/>
            <a:ext cx="4069080"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300" u="none" cap="none" strike="noStrike">
                <a:solidFill>
                  <a:srgbClr val="22D3EE"/>
                </a:solidFill>
                <a:latin typeface="Inter"/>
                <a:ea typeface="Inter"/>
                <a:cs typeface="Inter"/>
                <a:sym typeface="Inter"/>
              </a:rPr>
              <a:t>OPTICAL  ·  IR BLINK SENSING</a:t>
            </a:r>
            <a:endParaRPr b="0" i="0" sz="1100" u="none" cap="none" strike="noStrike">
              <a:solidFill>
                <a:schemeClr val="dk1"/>
              </a:solidFill>
              <a:latin typeface="Calibri"/>
              <a:ea typeface="Calibri"/>
              <a:cs typeface="Calibri"/>
              <a:sym typeface="Calibri"/>
            </a:endParaRPr>
          </a:p>
        </p:txBody>
      </p:sp>
      <p:sp>
        <p:nvSpPr>
          <p:cNvPr id="594" name="Google Shape;594;p26"/>
          <p:cNvSpPr/>
          <p:nvPr/>
        </p:nvSpPr>
        <p:spPr>
          <a:xfrm>
            <a:off x="1661008" y="3566160"/>
            <a:ext cx="406908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1900" u="none" cap="none" strike="noStrike">
                <a:solidFill>
                  <a:srgbClr val="FFFFFF"/>
                </a:solidFill>
                <a:latin typeface="Inter"/>
                <a:ea typeface="Inter"/>
                <a:cs typeface="Inter"/>
                <a:sym typeface="Inter"/>
              </a:rPr>
              <a:t>Sclera reflects, eyelid blocks.</a:t>
            </a:r>
            <a:endParaRPr b="0" i="0" sz="2000" u="none" cap="none" strike="noStrike">
              <a:solidFill>
                <a:schemeClr val="dk1"/>
              </a:solidFill>
              <a:latin typeface="Calibri"/>
              <a:ea typeface="Calibri"/>
              <a:cs typeface="Calibri"/>
              <a:sym typeface="Calibri"/>
            </a:endParaRPr>
          </a:p>
        </p:txBody>
      </p:sp>
      <p:sp>
        <p:nvSpPr>
          <p:cNvPr id="595" name="Google Shape;595;p26"/>
          <p:cNvSpPr/>
          <p:nvPr/>
        </p:nvSpPr>
        <p:spPr>
          <a:xfrm>
            <a:off x="792328" y="4133087"/>
            <a:ext cx="5010912" cy="160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800"/>
              <a:buFont typeface="Calibri"/>
              <a:buNone/>
            </a:pPr>
            <a:r>
              <a:rPr b="0" i="0" lang="en-US" sz="1450" u="none" cap="none" strike="noStrike">
                <a:solidFill>
                  <a:srgbClr val="B4C3DC"/>
                </a:solidFill>
                <a:latin typeface="Inter"/>
                <a:ea typeface="Inter"/>
                <a:cs typeface="Inter"/>
                <a:sym typeface="Inter"/>
              </a:rPr>
              <a:t>•  Projects dispersed 950nm IR beams at the eye.</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Open sclera reflects strongly; eyelid blocks IR.</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Python/TensorFlow filters noise &amp; mirrors blinks.</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Timing gate separates reflex blinks from clicks.</a:t>
            </a:r>
            <a:endParaRPr/>
          </a:p>
        </p:txBody>
      </p:sp>
      <p:sp>
        <p:nvSpPr>
          <p:cNvPr id="596" name="Google Shape;596;p26"/>
          <p:cNvSpPr/>
          <p:nvPr/>
        </p:nvSpPr>
        <p:spPr>
          <a:xfrm>
            <a:off x="792328" y="5897880"/>
            <a:ext cx="4663440" cy="347472"/>
          </a:xfrm>
          <a:prstGeom prst="roundRect">
            <a:avLst>
              <a:gd fmla="val 142857" name="adj"/>
            </a:avLst>
          </a:prstGeom>
          <a:solidFill>
            <a:srgbClr val="0B25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597" name="Google Shape;597;p26"/>
          <p:cNvSpPr/>
          <p:nvPr/>
        </p:nvSpPr>
        <p:spPr>
          <a:xfrm>
            <a:off x="792328" y="5897880"/>
            <a:ext cx="466344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200"/>
              <a:buFont typeface="Calibri"/>
              <a:buNone/>
            </a:pPr>
            <a:r>
              <a:rPr b="1" i="0" lang="en-US" sz="1300" u="none" cap="none" strike="noStrike">
                <a:solidFill>
                  <a:srgbClr val="22D3EE"/>
                </a:solidFill>
                <a:latin typeface="Inter"/>
                <a:ea typeface="Inter"/>
                <a:cs typeface="Inter"/>
                <a:sym typeface="Inter"/>
              </a:rPr>
              <a:t>950nm IR · reflective sensing</a:t>
            </a:r>
            <a:endParaRPr b="0" i="0" sz="1100" u="none" cap="none" strike="noStrike">
              <a:solidFill>
                <a:schemeClr val="dk1"/>
              </a:solidFill>
              <a:latin typeface="Calibri"/>
              <a:ea typeface="Calibri"/>
              <a:cs typeface="Calibri"/>
              <a:sym typeface="Calibri"/>
            </a:endParaRPr>
          </a:p>
        </p:txBody>
      </p:sp>
      <p:sp>
        <p:nvSpPr>
          <p:cNvPr id="598" name="Google Shape;598;p26"/>
          <p:cNvSpPr/>
          <p:nvPr/>
        </p:nvSpPr>
        <p:spPr>
          <a:xfrm>
            <a:off x="6278728" y="2926080"/>
            <a:ext cx="5440680" cy="3474720"/>
          </a:xfrm>
          <a:prstGeom prst="roundRect">
            <a:avLst>
              <a:gd fmla="val 2105"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9" name="Google Shape;599;p26"/>
          <p:cNvSpPr/>
          <p:nvPr/>
        </p:nvSpPr>
        <p:spPr>
          <a:xfrm>
            <a:off x="6598768" y="3246120"/>
            <a:ext cx="685800" cy="685800"/>
          </a:xfrm>
          <a:prstGeom prst="ellipse">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00" name="Google Shape;600;p26"/>
          <p:cNvSpPr/>
          <p:nvPr/>
        </p:nvSpPr>
        <p:spPr>
          <a:xfrm>
            <a:off x="6598768" y="3246120"/>
            <a:ext cx="6858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B02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01" name="Google Shape;601;p26"/>
          <p:cNvSpPr/>
          <p:nvPr/>
        </p:nvSpPr>
        <p:spPr>
          <a:xfrm>
            <a:off x="7467448" y="3291840"/>
            <a:ext cx="4069080"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B020"/>
              </a:buClr>
              <a:buSzPts val="1100"/>
              <a:buFont typeface="Calibri"/>
              <a:buNone/>
            </a:pPr>
            <a:r>
              <a:rPr b="1" i="0" lang="en-US" sz="1300" u="none" cap="none" strike="noStrike">
                <a:solidFill>
                  <a:srgbClr val="FFB020"/>
                </a:solidFill>
                <a:latin typeface="Inter"/>
                <a:ea typeface="Inter"/>
                <a:cs typeface="Inter"/>
                <a:sym typeface="Inter"/>
              </a:rPr>
              <a:t>INERTIAL  ·  HEAD GESTURE SENSING</a:t>
            </a:r>
            <a:endParaRPr b="0" i="0" sz="1100" u="none" cap="none" strike="noStrike">
              <a:solidFill>
                <a:schemeClr val="dk1"/>
              </a:solidFill>
              <a:latin typeface="Calibri"/>
              <a:ea typeface="Calibri"/>
              <a:cs typeface="Calibri"/>
              <a:sym typeface="Calibri"/>
            </a:endParaRPr>
          </a:p>
        </p:txBody>
      </p:sp>
      <p:sp>
        <p:nvSpPr>
          <p:cNvPr id="602" name="Google Shape;602;p26"/>
          <p:cNvSpPr/>
          <p:nvPr/>
        </p:nvSpPr>
        <p:spPr>
          <a:xfrm>
            <a:off x="7467448" y="3566160"/>
            <a:ext cx="406908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1900" u="none" cap="none" strike="noStrike">
                <a:solidFill>
                  <a:srgbClr val="FFFFFF"/>
                </a:solidFill>
                <a:latin typeface="Inter"/>
                <a:ea typeface="Inter"/>
                <a:cs typeface="Inter"/>
                <a:sym typeface="Inter"/>
              </a:rPr>
              <a:t>Tilt your head, move the cursor.</a:t>
            </a:r>
            <a:endParaRPr b="0" i="0" sz="2000" u="none" cap="none" strike="noStrike">
              <a:solidFill>
                <a:schemeClr val="dk1"/>
              </a:solidFill>
              <a:latin typeface="Calibri"/>
              <a:ea typeface="Calibri"/>
              <a:cs typeface="Calibri"/>
              <a:sym typeface="Calibri"/>
            </a:endParaRPr>
          </a:p>
        </p:txBody>
      </p:sp>
      <p:sp>
        <p:nvSpPr>
          <p:cNvPr id="603" name="Google Shape;603;p26"/>
          <p:cNvSpPr/>
          <p:nvPr/>
        </p:nvSpPr>
        <p:spPr>
          <a:xfrm>
            <a:off x="6598768" y="4133087"/>
            <a:ext cx="5010912" cy="160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2000"/>
              <a:buFont typeface="Calibri"/>
              <a:buNone/>
            </a:pPr>
            <a:r>
              <a:rPr b="0" i="0" lang="en-US" sz="1450" u="none" cap="none" strike="noStrike">
                <a:solidFill>
                  <a:srgbClr val="B4C3DC"/>
                </a:solidFill>
                <a:latin typeface="Inter"/>
                <a:ea typeface="Inter"/>
                <a:cs typeface="Inter"/>
                <a:sym typeface="Inter"/>
              </a:rPr>
              <a:t>•  MPU6050 6-DOF MEMS reads pitch &amp; roll at 50Hz.</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Nod up/down and tilt left/right steer cursor.</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Avoids the eye strain of camera-only gaze.</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Long-blink clutch re-zeros gyro against drift.</a:t>
            </a:r>
            <a:endParaRPr/>
          </a:p>
        </p:txBody>
      </p:sp>
      <p:sp>
        <p:nvSpPr>
          <p:cNvPr id="604" name="Google Shape;604;p26"/>
          <p:cNvSpPr/>
          <p:nvPr/>
        </p:nvSpPr>
        <p:spPr>
          <a:xfrm>
            <a:off x="6598768" y="5897880"/>
            <a:ext cx="4663440" cy="347472"/>
          </a:xfrm>
          <a:prstGeom prst="roundRect">
            <a:avLst>
              <a:gd fmla="val 142857" name="adj"/>
            </a:avLst>
          </a:prstGeom>
          <a:solidFill>
            <a:srgbClr val="2A1F0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605" name="Google Shape;605;p26"/>
          <p:cNvSpPr/>
          <p:nvPr/>
        </p:nvSpPr>
        <p:spPr>
          <a:xfrm>
            <a:off x="6598768" y="5897880"/>
            <a:ext cx="466344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B020"/>
              </a:buClr>
              <a:buSzPts val="1050"/>
              <a:buFont typeface="Calibri"/>
              <a:buNone/>
            </a:pPr>
            <a:r>
              <a:rPr b="1" i="0" lang="en-US" sz="1300" u="none" cap="none" strike="noStrike">
                <a:solidFill>
                  <a:srgbClr val="FFB020"/>
                </a:solidFill>
                <a:latin typeface="Inter"/>
                <a:ea typeface="Inter"/>
                <a:cs typeface="Inter"/>
                <a:sym typeface="Inter"/>
              </a:rPr>
              <a:t>MPU6050 · 6-DOF MEMS</a:t>
            </a:r>
            <a:endParaRPr b="0" i="0" sz="1050" u="none" cap="none" strike="noStrike">
              <a:solidFill>
                <a:schemeClr val="dk1"/>
              </a:solidFill>
              <a:latin typeface="Calibri"/>
              <a:ea typeface="Calibri"/>
              <a:cs typeface="Calibri"/>
              <a:sym typeface="Calibri"/>
            </a:endParaRPr>
          </a:p>
        </p:txBody>
      </p:sp>
      <p:pic>
        <p:nvPicPr>
          <p:cNvPr descr="icon_eye.png" id="606" name="Google Shape;606;p26"/>
          <p:cNvPicPr preferRelativeResize="0"/>
          <p:nvPr/>
        </p:nvPicPr>
        <p:blipFill rotWithShape="1">
          <a:blip r:embed="rId3">
            <a:alphaModFix/>
          </a:blip>
          <a:srcRect b="0" l="0" r="0" t="0"/>
          <a:stretch/>
        </p:blipFill>
        <p:spPr>
          <a:xfrm>
            <a:off x="792328" y="3246120"/>
            <a:ext cx="685800" cy="685800"/>
          </a:xfrm>
          <a:prstGeom prst="rect">
            <a:avLst/>
          </a:prstGeom>
          <a:noFill/>
          <a:ln>
            <a:noFill/>
          </a:ln>
        </p:spPr>
      </p:pic>
      <p:pic>
        <p:nvPicPr>
          <p:cNvPr descr="icon_imu.png" id="607" name="Google Shape;607;p26"/>
          <p:cNvPicPr preferRelativeResize="0"/>
          <p:nvPr/>
        </p:nvPicPr>
        <p:blipFill rotWithShape="1">
          <a:blip r:embed="rId4">
            <a:alphaModFix/>
          </a:blip>
          <a:srcRect b="0" l="0" r="0" t="0"/>
          <a:stretch/>
        </p:blipFill>
        <p:spPr>
          <a:xfrm>
            <a:off x="6598768" y="3246120"/>
            <a:ext cx="685800" cy="685800"/>
          </a:xfrm>
          <a:prstGeom prst="rect">
            <a:avLst/>
          </a:prstGeom>
          <a:noFill/>
          <a:ln>
            <a:noFill/>
          </a:ln>
        </p:spPr>
      </p:pic>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50"/>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613" name="Google Shape;613;p50"/>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4" name="Google Shape;614;p50"/>
          <p:cNvSpPr/>
          <p:nvPr/>
        </p:nvSpPr>
        <p:spPr>
          <a:xfrm>
            <a:off x="502920" y="1280160"/>
            <a:ext cx="109728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3600"/>
              <a:buFont typeface="Arial"/>
              <a:buNone/>
            </a:pPr>
            <a:r>
              <a:rPr b="1" i="0" lang="en-US" sz="3400" u="none" cap="none" strike="noStrike">
                <a:solidFill>
                  <a:srgbClr val="FFFFFF"/>
                </a:solidFill>
                <a:latin typeface="Inter"/>
                <a:ea typeface="Inter"/>
                <a:cs typeface="Inter"/>
                <a:sym typeface="Inter"/>
              </a:rPr>
              <a:t>Mapping the eye. Mirroring every blink live.</a:t>
            </a:r>
            <a:endParaRPr b="0" i="0" sz="3600" u="none" cap="none" strike="noStrike">
              <a:solidFill>
                <a:schemeClr val="dk1"/>
              </a:solidFill>
              <a:latin typeface="Calibri"/>
              <a:ea typeface="Calibri"/>
              <a:cs typeface="Calibri"/>
              <a:sym typeface="Calibri"/>
            </a:endParaRPr>
          </a:p>
        </p:txBody>
      </p:sp>
      <p:sp>
        <p:nvSpPr>
          <p:cNvPr id="615" name="Google Shape;615;p50"/>
          <p:cNvSpPr/>
          <p:nvPr/>
        </p:nvSpPr>
        <p:spPr>
          <a:xfrm>
            <a:off x="502920" y="2111430"/>
            <a:ext cx="1051560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C5D6"/>
              </a:buClr>
              <a:buSzPts val="1800"/>
              <a:buFont typeface="Calibri"/>
              <a:buNone/>
            </a:pPr>
            <a:r>
              <a:rPr b="0" i="1" lang="en-US" sz="1750" u="none" cap="none" strike="noStrike">
                <a:solidFill>
                  <a:srgbClr val="B7C5D6"/>
                </a:solidFill>
                <a:latin typeface="Inter"/>
                <a:ea typeface="Inter"/>
                <a:cs typeface="Inter"/>
                <a:sym typeface="Inter"/>
              </a:rPr>
              <a:t>Multi-directional IR beams and Python/TensorFlow noise filtering build a live digital twin of the eye.</a:t>
            </a:r>
            <a:endParaRPr b="0" i="0" sz="1800" u="none" cap="none" strike="noStrike">
              <a:solidFill>
                <a:schemeClr val="dk1"/>
              </a:solidFill>
              <a:latin typeface="Calibri"/>
              <a:ea typeface="Calibri"/>
              <a:cs typeface="Calibri"/>
              <a:sym typeface="Calibri"/>
            </a:endParaRPr>
          </a:p>
        </p:txBody>
      </p:sp>
      <p:sp>
        <p:nvSpPr>
          <p:cNvPr id="616" name="Google Shape;616;p50"/>
          <p:cNvSpPr/>
          <p:nvPr/>
        </p:nvSpPr>
        <p:spPr>
          <a:xfrm>
            <a:off x="472288" y="2926080"/>
            <a:ext cx="5440680" cy="3474720"/>
          </a:xfrm>
          <a:prstGeom prst="roundRect">
            <a:avLst>
              <a:gd fmla="val 2105"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7" name="Google Shape;617;p50"/>
          <p:cNvSpPr/>
          <p:nvPr/>
        </p:nvSpPr>
        <p:spPr>
          <a:xfrm>
            <a:off x="792328" y="3246120"/>
            <a:ext cx="685800" cy="685800"/>
          </a:xfrm>
          <a:prstGeom prst="ellipse">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8" name="Google Shape;618;p50"/>
          <p:cNvSpPr/>
          <p:nvPr/>
        </p:nvSpPr>
        <p:spPr>
          <a:xfrm>
            <a:off x="792328" y="3246120"/>
            <a:ext cx="6858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9" name="Google Shape;619;p50"/>
          <p:cNvSpPr/>
          <p:nvPr/>
        </p:nvSpPr>
        <p:spPr>
          <a:xfrm>
            <a:off x="1661008" y="3291840"/>
            <a:ext cx="4069080"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300" u="none" cap="none" strike="noStrike">
                <a:solidFill>
                  <a:srgbClr val="22D3EE"/>
                </a:solidFill>
                <a:latin typeface="Inter"/>
                <a:ea typeface="Inter"/>
                <a:cs typeface="Inter"/>
                <a:sym typeface="Inter"/>
              </a:rPr>
              <a:t>MULTI-BEAM IR &amp; TENSORFLOW DENOISING</a:t>
            </a:r>
            <a:endParaRPr b="0" i="0" sz="1100" u="none" cap="none" strike="noStrike">
              <a:solidFill>
                <a:schemeClr val="dk1"/>
              </a:solidFill>
              <a:latin typeface="Calibri"/>
              <a:ea typeface="Calibri"/>
              <a:cs typeface="Calibri"/>
              <a:sym typeface="Calibri"/>
            </a:endParaRPr>
          </a:p>
        </p:txBody>
      </p:sp>
      <p:sp>
        <p:nvSpPr>
          <p:cNvPr id="620" name="Google Shape;620;p50"/>
          <p:cNvSpPr/>
          <p:nvPr/>
        </p:nvSpPr>
        <p:spPr>
          <a:xfrm>
            <a:off x="1661008" y="3566160"/>
            <a:ext cx="4114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1900" u="none" cap="none" strike="noStrike">
                <a:solidFill>
                  <a:srgbClr val="FFFFFF"/>
                </a:solidFill>
                <a:latin typeface="Inter"/>
                <a:ea typeface="Inter"/>
                <a:cs typeface="Inter"/>
                <a:sym typeface="Inter"/>
              </a:rPr>
              <a:t>Multi-angle proximity with zero noise.</a:t>
            </a:r>
            <a:endParaRPr b="0" i="0" sz="2000" u="none" cap="none" strike="noStrike">
              <a:solidFill>
                <a:schemeClr val="dk1"/>
              </a:solidFill>
              <a:latin typeface="Calibri"/>
              <a:ea typeface="Calibri"/>
              <a:cs typeface="Calibri"/>
              <a:sym typeface="Calibri"/>
            </a:endParaRPr>
          </a:p>
        </p:txBody>
      </p:sp>
      <p:sp>
        <p:nvSpPr>
          <p:cNvPr id="621" name="Google Shape;621;p50"/>
          <p:cNvSpPr/>
          <p:nvPr/>
        </p:nvSpPr>
        <p:spPr>
          <a:xfrm>
            <a:off x="792328" y="4133087"/>
            <a:ext cx="5010912" cy="160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800"/>
              <a:buFont typeface="Calibri"/>
              <a:buNone/>
            </a:pPr>
            <a:r>
              <a:rPr b="0" i="0" lang="en-US" sz="1450" u="none" cap="none" strike="noStrike">
                <a:solidFill>
                  <a:srgbClr val="B4C3DC"/>
                </a:solidFill>
                <a:latin typeface="Inter"/>
                <a:ea typeface="Inter"/>
                <a:cs typeface="Inter"/>
                <a:sym typeface="Inter"/>
              </a:rPr>
              <a:t>•  MPU6050 50Hz angles fused with multi-beam IR.</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Python + TensorFlow filters tremor &amp; room noise.</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25° ergonomic dead-zone stops accidental drift.</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Future Upgrade: BNO085 9-DOF quaternion IMU.</a:t>
            </a:r>
            <a:endParaRPr/>
          </a:p>
        </p:txBody>
      </p:sp>
      <p:sp>
        <p:nvSpPr>
          <p:cNvPr id="622" name="Google Shape;622;p50"/>
          <p:cNvSpPr/>
          <p:nvPr/>
        </p:nvSpPr>
        <p:spPr>
          <a:xfrm>
            <a:off x="792328" y="5897880"/>
            <a:ext cx="4663440" cy="347472"/>
          </a:xfrm>
          <a:prstGeom prst="roundRect">
            <a:avLst>
              <a:gd fmla="val 142857" name="adj"/>
            </a:avLst>
          </a:prstGeom>
          <a:solidFill>
            <a:srgbClr val="0B25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623" name="Google Shape;623;p50"/>
          <p:cNvSpPr/>
          <p:nvPr/>
        </p:nvSpPr>
        <p:spPr>
          <a:xfrm>
            <a:off x="792328" y="5897880"/>
            <a:ext cx="466344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200"/>
              <a:buFont typeface="Calibri"/>
              <a:buNone/>
            </a:pPr>
            <a:r>
              <a:rPr b="1" i="0" lang="en-US" sz="1300" u="none" cap="none" strike="noStrike">
                <a:solidFill>
                  <a:srgbClr val="22D3EE"/>
                </a:solidFill>
                <a:latin typeface="Inter"/>
                <a:ea typeface="Inter"/>
                <a:cs typeface="Inter"/>
                <a:sym typeface="Inter"/>
              </a:rPr>
              <a:t>Multi-Beam IR · TensorFlow Noise Filter</a:t>
            </a:r>
            <a:endParaRPr b="0" i="0" sz="1100" u="none" cap="none" strike="noStrike">
              <a:solidFill>
                <a:schemeClr val="dk1"/>
              </a:solidFill>
              <a:latin typeface="Calibri"/>
              <a:ea typeface="Calibri"/>
              <a:cs typeface="Calibri"/>
              <a:sym typeface="Calibri"/>
            </a:endParaRPr>
          </a:p>
        </p:txBody>
      </p:sp>
      <p:sp>
        <p:nvSpPr>
          <p:cNvPr id="624" name="Google Shape;624;p50"/>
          <p:cNvSpPr/>
          <p:nvPr/>
        </p:nvSpPr>
        <p:spPr>
          <a:xfrm>
            <a:off x="6278728" y="2926080"/>
            <a:ext cx="5440680" cy="3474720"/>
          </a:xfrm>
          <a:prstGeom prst="roundRect">
            <a:avLst>
              <a:gd fmla="val 2105"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5" name="Google Shape;625;p50"/>
          <p:cNvSpPr/>
          <p:nvPr/>
        </p:nvSpPr>
        <p:spPr>
          <a:xfrm>
            <a:off x="6598768" y="3246120"/>
            <a:ext cx="685800" cy="685800"/>
          </a:xfrm>
          <a:prstGeom prst="ellipse">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6" name="Google Shape;626;p50"/>
          <p:cNvSpPr/>
          <p:nvPr/>
        </p:nvSpPr>
        <p:spPr>
          <a:xfrm>
            <a:off x="6598768" y="3246120"/>
            <a:ext cx="6858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B02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7" name="Google Shape;627;p50"/>
          <p:cNvSpPr/>
          <p:nvPr/>
        </p:nvSpPr>
        <p:spPr>
          <a:xfrm>
            <a:off x="7467448" y="3291840"/>
            <a:ext cx="4069080"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B020"/>
              </a:buClr>
              <a:buSzPts val="1100"/>
              <a:buFont typeface="Calibri"/>
              <a:buNone/>
            </a:pPr>
            <a:r>
              <a:rPr b="1" i="0" lang="en-US" sz="1300" u="none" cap="none" strike="noStrike">
                <a:solidFill>
                  <a:srgbClr val="FFB020"/>
                </a:solidFill>
                <a:latin typeface="Inter"/>
                <a:ea typeface="Inter"/>
                <a:cs typeface="Inter"/>
                <a:sym typeface="Inter"/>
              </a:rPr>
              <a:t>REAL-TIME PYTHON EYE SIMULATION</a:t>
            </a:r>
            <a:endParaRPr b="0" i="0" sz="1100" u="none" cap="none" strike="noStrike">
              <a:solidFill>
                <a:schemeClr val="dk1"/>
              </a:solidFill>
              <a:latin typeface="Calibri"/>
              <a:ea typeface="Calibri"/>
              <a:cs typeface="Calibri"/>
              <a:sym typeface="Calibri"/>
            </a:endParaRPr>
          </a:p>
        </p:txBody>
      </p:sp>
      <p:sp>
        <p:nvSpPr>
          <p:cNvPr id="628" name="Google Shape;628;p50"/>
          <p:cNvSpPr/>
          <p:nvPr/>
        </p:nvSpPr>
        <p:spPr>
          <a:xfrm>
            <a:off x="7467448" y="3566160"/>
            <a:ext cx="4114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1900" u="none" cap="none" strike="noStrike">
                <a:solidFill>
                  <a:srgbClr val="FFFFFF"/>
                </a:solidFill>
                <a:latin typeface="Inter"/>
                <a:ea typeface="Inter"/>
                <a:cs typeface="Inter"/>
                <a:sym typeface="Inter"/>
              </a:rPr>
              <a:t>When you blink, the Python eye blinks.</a:t>
            </a:r>
            <a:endParaRPr b="0" i="0" sz="2000" u="none" cap="none" strike="noStrike">
              <a:solidFill>
                <a:schemeClr val="dk1"/>
              </a:solidFill>
              <a:latin typeface="Calibri"/>
              <a:ea typeface="Calibri"/>
              <a:cs typeface="Calibri"/>
              <a:sym typeface="Calibri"/>
            </a:endParaRPr>
          </a:p>
        </p:txBody>
      </p:sp>
      <p:sp>
        <p:nvSpPr>
          <p:cNvPr id="629" name="Google Shape;629;p50"/>
          <p:cNvSpPr/>
          <p:nvPr/>
        </p:nvSpPr>
        <p:spPr>
          <a:xfrm>
            <a:off x="6598768" y="4133087"/>
            <a:ext cx="5010912" cy="160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2000"/>
              <a:buFont typeface="Calibri"/>
              <a:buNone/>
            </a:pPr>
            <a:r>
              <a:rPr b="0" i="0" lang="en-US" sz="1450" u="none" cap="none" strike="noStrike">
                <a:solidFill>
                  <a:srgbClr val="B4C3DC"/>
                </a:solidFill>
                <a:latin typeface="Inter"/>
                <a:ea typeface="Inter"/>
                <a:cs typeface="Inter"/>
                <a:sym typeface="Inter"/>
              </a:rPr>
              <a:t>•  Reconstructs eye structure live in Python.</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Mirrors open state, eyelid velocity &amp; blinks.</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Displays live sensor tracking during demos.</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Adaptive baseline cuts setup to 2–3 seconds.</a:t>
            </a:r>
            <a:endParaRPr/>
          </a:p>
        </p:txBody>
      </p:sp>
      <p:sp>
        <p:nvSpPr>
          <p:cNvPr id="630" name="Google Shape;630;p50"/>
          <p:cNvSpPr/>
          <p:nvPr/>
        </p:nvSpPr>
        <p:spPr>
          <a:xfrm>
            <a:off x="6598768" y="5897880"/>
            <a:ext cx="4663440" cy="347472"/>
          </a:xfrm>
          <a:prstGeom prst="roundRect">
            <a:avLst>
              <a:gd fmla="val 142857" name="adj"/>
            </a:avLst>
          </a:prstGeom>
          <a:solidFill>
            <a:srgbClr val="2A1F0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631" name="Google Shape;631;p50"/>
          <p:cNvSpPr/>
          <p:nvPr/>
        </p:nvSpPr>
        <p:spPr>
          <a:xfrm>
            <a:off x="6598768" y="5897880"/>
            <a:ext cx="466344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B020"/>
              </a:buClr>
              <a:buSzPts val="1050"/>
              <a:buFont typeface="Calibri"/>
              <a:buNone/>
            </a:pPr>
            <a:r>
              <a:rPr b="1" i="0" lang="en-US" sz="1300" u="none" cap="none" strike="noStrike">
                <a:solidFill>
                  <a:srgbClr val="FFB020"/>
                </a:solidFill>
                <a:latin typeface="Inter"/>
                <a:ea typeface="Inter"/>
                <a:cs typeface="Inter"/>
                <a:sym typeface="Inter"/>
              </a:rPr>
              <a:t>Live Python Eye Twin · 2–3s Calibration</a:t>
            </a:r>
            <a:endParaRPr b="0" i="0" sz="1050" u="none" cap="none" strike="noStrike">
              <a:solidFill>
                <a:schemeClr val="dk1"/>
              </a:solidFill>
              <a:latin typeface="Calibri"/>
              <a:ea typeface="Calibri"/>
              <a:cs typeface="Calibri"/>
              <a:sym typeface="Calibri"/>
            </a:endParaRPr>
          </a:p>
        </p:txBody>
      </p:sp>
      <p:pic>
        <p:nvPicPr>
          <p:cNvPr descr="icon_eye.png" id="632" name="Google Shape;632;p50"/>
          <p:cNvPicPr preferRelativeResize="0"/>
          <p:nvPr/>
        </p:nvPicPr>
        <p:blipFill rotWithShape="1">
          <a:blip r:embed="rId3">
            <a:alphaModFix/>
          </a:blip>
          <a:srcRect b="0" l="0" r="0" t="0"/>
          <a:stretch/>
        </p:blipFill>
        <p:spPr>
          <a:xfrm>
            <a:off x="792328" y="3246120"/>
            <a:ext cx="685800" cy="685800"/>
          </a:xfrm>
          <a:prstGeom prst="rect">
            <a:avLst/>
          </a:prstGeom>
          <a:noFill/>
          <a:ln>
            <a:noFill/>
          </a:ln>
        </p:spPr>
      </p:pic>
      <p:pic>
        <p:nvPicPr>
          <p:cNvPr descr="icon_chip.png" id="633" name="Google Shape;633;p50"/>
          <p:cNvPicPr preferRelativeResize="0"/>
          <p:nvPr/>
        </p:nvPicPr>
        <p:blipFill rotWithShape="1">
          <a:blip r:embed="rId4">
            <a:alphaModFix/>
          </a:blip>
          <a:srcRect b="0" l="0" r="0" t="0"/>
          <a:stretch/>
        </p:blipFill>
        <p:spPr>
          <a:xfrm>
            <a:off x="6598768" y="3246120"/>
            <a:ext cx="685800" cy="685800"/>
          </a:xfrm>
          <a:prstGeom prst="rect">
            <a:avLst/>
          </a:prstGeom>
          <a:noFill/>
          <a:ln>
            <a:noFill/>
          </a:ln>
        </p:spPr>
      </p:pic>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11"/>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640" name="Google Shape;640;p11"/>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1" name="Google Shape;641;p11"/>
          <p:cNvSpPr/>
          <p:nvPr/>
        </p:nvSpPr>
        <p:spPr>
          <a:xfrm>
            <a:off x="502920" y="1280160"/>
            <a:ext cx="1124712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3200"/>
              <a:buFont typeface="Arial"/>
              <a:buNone/>
            </a:pPr>
            <a:r>
              <a:rPr b="1" i="0" lang="en-US" sz="3200" u="none" cap="none" strike="noStrike">
                <a:solidFill>
                  <a:srgbClr val="FFFFFF"/>
                </a:solidFill>
                <a:latin typeface="Inter"/>
                <a:ea typeface="Inter"/>
                <a:cs typeface="Inter"/>
                <a:sym typeface="Inter"/>
              </a:rPr>
              <a:t>How a blink becomes a click.</a:t>
            </a:r>
            <a:endParaRPr b="0" i="0" sz="3200" u="none" cap="none" strike="noStrike">
              <a:solidFill>
                <a:schemeClr val="dk1"/>
              </a:solidFill>
              <a:latin typeface="Calibri"/>
              <a:ea typeface="Calibri"/>
              <a:cs typeface="Calibri"/>
              <a:sym typeface="Calibri"/>
            </a:endParaRPr>
          </a:p>
        </p:txBody>
      </p:sp>
      <p:sp>
        <p:nvSpPr>
          <p:cNvPr id="642" name="Google Shape;642;p11"/>
          <p:cNvSpPr/>
          <p:nvPr/>
        </p:nvSpPr>
        <p:spPr>
          <a:xfrm>
            <a:off x="502920" y="2194560"/>
            <a:ext cx="1051560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C5D6"/>
              </a:buClr>
              <a:buSzPts val="1400"/>
              <a:buFont typeface="Calibri"/>
              <a:buNone/>
            </a:pPr>
            <a:r>
              <a:rPr b="0" i="1" lang="en-US" sz="1750" u="none" cap="none" strike="noStrike">
                <a:solidFill>
                  <a:srgbClr val="B7C5D6"/>
                </a:solidFill>
                <a:latin typeface="Inter"/>
                <a:ea typeface="Inter"/>
                <a:cs typeface="Inter"/>
                <a:sym typeface="Inter"/>
              </a:rPr>
              <a:t>The hardest part of any blink-based interface is ignoring the blinks you don't mean. IRIS solves this with timing, not guessing.</a:t>
            </a:r>
            <a:endParaRPr b="0" i="0" sz="1400" u="none" cap="none" strike="noStrike">
              <a:solidFill>
                <a:schemeClr val="dk1"/>
              </a:solidFill>
              <a:latin typeface="Calibri"/>
              <a:ea typeface="Calibri"/>
              <a:cs typeface="Calibri"/>
              <a:sym typeface="Calibri"/>
            </a:endParaRPr>
          </a:p>
        </p:txBody>
      </p:sp>
      <p:sp>
        <p:nvSpPr>
          <p:cNvPr id="643" name="Google Shape;643;p11"/>
          <p:cNvSpPr/>
          <p:nvPr/>
        </p:nvSpPr>
        <p:spPr>
          <a:xfrm>
            <a:off x="449428" y="2880360"/>
            <a:ext cx="3520440" cy="3520440"/>
          </a:xfrm>
          <a:prstGeom prst="roundRect">
            <a:avLst>
              <a:gd fmla="val 2078"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4" name="Google Shape;644;p11"/>
          <p:cNvSpPr/>
          <p:nvPr/>
        </p:nvSpPr>
        <p:spPr>
          <a:xfrm>
            <a:off x="769468" y="3200400"/>
            <a:ext cx="2880360" cy="868680"/>
          </a:xfrm>
          <a:prstGeom prst="roundRect">
            <a:avLst>
              <a:gd fmla="val 10526" name="adj"/>
            </a:avLst>
          </a:prstGeom>
          <a:solidFill>
            <a:srgbClr val="050E1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5" name="Google Shape;645;p11"/>
          <p:cNvSpPr/>
          <p:nvPr/>
        </p:nvSpPr>
        <p:spPr>
          <a:xfrm>
            <a:off x="769468" y="3200400"/>
            <a:ext cx="2880360" cy="8686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4A3B8"/>
              </a:buClr>
              <a:buSzPts val="3000"/>
              <a:buFont typeface="Courier New"/>
              <a:buNone/>
            </a:pPr>
            <a:r>
              <a:rPr b="1" i="0" lang="en-US" sz="3000" u="none" cap="none" strike="noStrike">
                <a:solidFill>
                  <a:srgbClr val="94A3B8"/>
                </a:solidFill>
                <a:latin typeface="Courier New"/>
                <a:ea typeface="Courier New"/>
                <a:cs typeface="Courier New"/>
                <a:sym typeface="Courier New"/>
              </a:rPr>
              <a:t>∼</a:t>
            </a:r>
            <a:endParaRPr b="0" i="0" sz="3000" u="none" cap="none" strike="noStrike">
              <a:solidFill>
                <a:schemeClr val="dk1"/>
              </a:solidFill>
              <a:latin typeface="Calibri"/>
              <a:ea typeface="Calibri"/>
              <a:cs typeface="Calibri"/>
              <a:sym typeface="Calibri"/>
            </a:endParaRPr>
          </a:p>
        </p:txBody>
      </p:sp>
      <p:sp>
        <p:nvSpPr>
          <p:cNvPr id="646" name="Google Shape;646;p11"/>
          <p:cNvSpPr/>
          <p:nvPr/>
        </p:nvSpPr>
        <p:spPr>
          <a:xfrm>
            <a:off x="769468" y="4206240"/>
            <a:ext cx="28803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1050"/>
              <a:buFont typeface="Calibri"/>
              <a:buNone/>
            </a:pPr>
            <a:r>
              <a:rPr b="1" i="0" lang="en-US" sz="1350" u="none" cap="none" strike="noStrike">
                <a:solidFill>
                  <a:srgbClr val="94A3B8"/>
                </a:solidFill>
                <a:latin typeface="Inter"/>
                <a:ea typeface="Inter"/>
                <a:cs typeface="Inter"/>
                <a:sym typeface="Inter"/>
              </a:rPr>
              <a:t>NATURAL BLINK</a:t>
            </a:r>
            <a:endParaRPr b="0" i="0" sz="1050" u="none" cap="none" strike="noStrike">
              <a:solidFill>
                <a:schemeClr val="dk1"/>
              </a:solidFill>
              <a:latin typeface="Calibri"/>
              <a:ea typeface="Calibri"/>
              <a:cs typeface="Calibri"/>
              <a:sym typeface="Calibri"/>
            </a:endParaRPr>
          </a:p>
        </p:txBody>
      </p:sp>
      <p:sp>
        <p:nvSpPr>
          <p:cNvPr id="647" name="Google Shape;647;p11"/>
          <p:cNvSpPr/>
          <p:nvPr/>
        </p:nvSpPr>
        <p:spPr>
          <a:xfrm>
            <a:off x="769468" y="4522125"/>
            <a:ext cx="288036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2100" u="none" cap="none" strike="noStrike">
                <a:solidFill>
                  <a:srgbClr val="FFFFFF"/>
                </a:solidFill>
                <a:latin typeface="Inter"/>
                <a:ea typeface="Inter"/>
                <a:cs typeface="Inter"/>
                <a:sym typeface="Inter"/>
              </a:rPr>
              <a:t>Ignored completely.</a:t>
            </a:r>
            <a:endParaRPr b="0" i="0" sz="2000" u="none" cap="none" strike="noStrike">
              <a:solidFill>
                <a:schemeClr val="dk1"/>
              </a:solidFill>
              <a:latin typeface="Calibri"/>
              <a:ea typeface="Calibri"/>
              <a:cs typeface="Calibri"/>
              <a:sym typeface="Calibri"/>
            </a:endParaRPr>
          </a:p>
        </p:txBody>
      </p:sp>
      <p:sp>
        <p:nvSpPr>
          <p:cNvPr id="648" name="Google Shape;648;p11"/>
          <p:cNvSpPr/>
          <p:nvPr/>
        </p:nvSpPr>
        <p:spPr>
          <a:xfrm>
            <a:off x="769468" y="4983479"/>
            <a:ext cx="3017520" cy="10241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400"/>
              <a:buFont typeface="Calibri"/>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Fast, involuntary reflex blink</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rgbClr val="000000"/>
              </a:buClr>
              <a:buSzPts val="14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Filtered out before any action fires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300"/>
              </a:spcAft>
              <a:buClr>
                <a:srgbClr val="000000"/>
              </a:buClr>
              <a:buSzPts val="14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Cursor never twitches or misfires</a:t>
            </a:r>
            <a:endParaRPr b="0" i="0" sz="1400" u="none" cap="none" strike="noStrike">
              <a:solidFill>
                <a:srgbClr val="000000"/>
              </a:solidFill>
              <a:latin typeface="Arial"/>
              <a:ea typeface="Arial"/>
              <a:cs typeface="Arial"/>
              <a:sym typeface="Arial"/>
            </a:endParaRPr>
          </a:p>
        </p:txBody>
      </p:sp>
      <p:sp>
        <p:nvSpPr>
          <p:cNvPr id="649" name="Google Shape;649;p11"/>
          <p:cNvSpPr/>
          <p:nvPr/>
        </p:nvSpPr>
        <p:spPr>
          <a:xfrm>
            <a:off x="1249531" y="6400755"/>
            <a:ext cx="1920300" cy="310800"/>
          </a:xfrm>
          <a:prstGeom prst="roundRect">
            <a:avLst>
              <a:gd fmla="val 147059" name="adj"/>
            </a:avLst>
          </a:prstGeom>
          <a:solidFill>
            <a:srgbClr val="1A2A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650" name="Google Shape;650;p11"/>
          <p:cNvSpPr/>
          <p:nvPr/>
        </p:nvSpPr>
        <p:spPr>
          <a:xfrm>
            <a:off x="1249493" y="6400805"/>
            <a:ext cx="19203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4A3B8"/>
              </a:buClr>
              <a:buSzPts val="1100"/>
              <a:buFont typeface="Calibri"/>
              <a:buNone/>
            </a:pPr>
            <a:r>
              <a:rPr b="1" i="0" lang="en-US" sz="1400" u="none" cap="none" strike="noStrike">
                <a:solidFill>
                  <a:srgbClr val="94A3B8"/>
                </a:solidFill>
                <a:latin typeface="Inter"/>
                <a:ea typeface="Inter"/>
                <a:cs typeface="Inter"/>
                <a:sym typeface="Inter"/>
              </a:rPr>
              <a:t>&lt; 200ms</a:t>
            </a:r>
            <a:endParaRPr b="0" i="0" sz="900" u="none" cap="none" strike="noStrike">
              <a:solidFill>
                <a:schemeClr val="dk1"/>
              </a:solidFill>
              <a:latin typeface="Calibri"/>
              <a:ea typeface="Calibri"/>
              <a:cs typeface="Calibri"/>
              <a:sym typeface="Calibri"/>
            </a:endParaRPr>
          </a:p>
        </p:txBody>
      </p:sp>
      <p:sp>
        <p:nvSpPr>
          <p:cNvPr id="651" name="Google Shape;651;p11"/>
          <p:cNvSpPr/>
          <p:nvPr/>
        </p:nvSpPr>
        <p:spPr>
          <a:xfrm>
            <a:off x="4335628" y="2880360"/>
            <a:ext cx="3520440" cy="3520440"/>
          </a:xfrm>
          <a:prstGeom prst="roundRect">
            <a:avLst>
              <a:gd fmla="val 2078"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2" name="Google Shape;652;p11"/>
          <p:cNvSpPr/>
          <p:nvPr/>
        </p:nvSpPr>
        <p:spPr>
          <a:xfrm>
            <a:off x="4655668" y="3200400"/>
            <a:ext cx="2880360" cy="868680"/>
          </a:xfrm>
          <a:prstGeom prst="roundRect">
            <a:avLst>
              <a:gd fmla="val 10526" name="adj"/>
            </a:avLst>
          </a:prstGeom>
          <a:solidFill>
            <a:srgbClr val="050E1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3" name="Google Shape;653;p11"/>
          <p:cNvSpPr/>
          <p:nvPr/>
        </p:nvSpPr>
        <p:spPr>
          <a:xfrm>
            <a:off x="4655668" y="3200400"/>
            <a:ext cx="2880360" cy="8686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3000"/>
              <a:buFont typeface="Courier New"/>
              <a:buNone/>
            </a:pPr>
            <a:r>
              <a:rPr b="1" i="0" lang="en-US" sz="3000" u="none" cap="none" strike="noStrike">
                <a:solidFill>
                  <a:srgbClr val="22D3EE"/>
                </a:solidFill>
                <a:latin typeface="Courier New"/>
                <a:ea typeface="Courier New"/>
                <a:cs typeface="Courier New"/>
                <a:sym typeface="Courier New"/>
              </a:rPr>
              <a:t>▭</a:t>
            </a:r>
            <a:endParaRPr b="0" i="0" sz="3000" u="none" cap="none" strike="noStrike">
              <a:solidFill>
                <a:schemeClr val="dk1"/>
              </a:solidFill>
              <a:latin typeface="Calibri"/>
              <a:ea typeface="Calibri"/>
              <a:cs typeface="Calibri"/>
              <a:sym typeface="Calibri"/>
            </a:endParaRPr>
          </a:p>
        </p:txBody>
      </p:sp>
      <p:sp>
        <p:nvSpPr>
          <p:cNvPr id="654" name="Google Shape;654;p11"/>
          <p:cNvSpPr/>
          <p:nvPr/>
        </p:nvSpPr>
        <p:spPr>
          <a:xfrm>
            <a:off x="4655668" y="4206240"/>
            <a:ext cx="28803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050"/>
              <a:buFont typeface="Calibri"/>
              <a:buNone/>
            </a:pPr>
            <a:r>
              <a:rPr b="1" i="0" lang="en-US" sz="1350" u="none" cap="none" strike="noStrike">
                <a:solidFill>
                  <a:srgbClr val="22D3EE"/>
                </a:solidFill>
                <a:latin typeface="Inter"/>
                <a:ea typeface="Inter"/>
                <a:cs typeface="Inter"/>
                <a:sym typeface="Inter"/>
              </a:rPr>
              <a:t>SINGLE DELIBERATE</a:t>
            </a:r>
            <a:endParaRPr b="0" i="0" sz="1050" u="none" cap="none" strike="noStrike">
              <a:solidFill>
                <a:schemeClr val="dk1"/>
              </a:solidFill>
              <a:latin typeface="Calibri"/>
              <a:ea typeface="Calibri"/>
              <a:cs typeface="Calibri"/>
              <a:sym typeface="Calibri"/>
            </a:endParaRPr>
          </a:p>
        </p:txBody>
      </p:sp>
      <p:sp>
        <p:nvSpPr>
          <p:cNvPr id="655" name="Google Shape;655;p11"/>
          <p:cNvSpPr/>
          <p:nvPr/>
        </p:nvSpPr>
        <p:spPr>
          <a:xfrm>
            <a:off x="4655668" y="4522125"/>
            <a:ext cx="288036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2100" u="none" cap="none" strike="noStrike">
                <a:solidFill>
                  <a:srgbClr val="FFFFFF"/>
                </a:solidFill>
                <a:latin typeface="Inter"/>
                <a:ea typeface="Inter"/>
                <a:cs typeface="Inter"/>
                <a:sym typeface="Inter"/>
              </a:rPr>
              <a:t>Left click.</a:t>
            </a:r>
            <a:endParaRPr b="0" i="0" sz="2000" u="none" cap="none" strike="noStrike">
              <a:solidFill>
                <a:schemeClr val="dk1"/>
              </a:solidFill>
              <a:latin typeface="Calibri"/>
              <a:ea typeface="Calibri"/>
              <a:cs typeface="Calibri"/>
              <a:sym typeface="Calibri"/>
            </a:endParaRPr>
          </a:p>
        </p:txBody>
      </p:sp>
      <p:sp>
        <p:nvSpPr>
          <p:cNvPr id="656" name="Google Shape;656;p11"/>
          <p:cNvSpPr/>
          <p:nvPr/>
        </p:nvSpPr>
        <p:spPr>
          <a:xfrm>
            <a:off x="4655668" y="4983479"/>
            <a:ext cx="3017520" cy="10241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400"/>
              <a:buFont typeface="Calibri"/>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Held intentionally for 200–500ms</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rgbClr val="000000"/>
              </a:buClr>
              <a:buSzPts val="14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Separates deliberate intent from reflex</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300"/>
              </a:spcAft>
              <a:buClr>
                <a:srgbClr val="000000"/>
              </a:buClr>
              <a:buSzPts val="14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Fires a clean single Left Click (LC)</a:t>
            </a:r>
            <a:endParaRPr b="0" i="0" sz="1400" u="none" cap="none" strike="noStrike">
              <a:solidFill>
                <a:srgbClr val="000000"/>
              </a:solidFill>
              <a:latin typeface="Arial"/>
              <a:ea typeface="Arial"/>
              <a:cs typeface="Arial"/>
              <a:sym typeface="Arial"/>
            </a:endParaRPr>
          </a:p>
        </p:txBody>
      </p:sp>
      <p:sp>
        <p:nvSpPr>
          <p:cNvPr id="657" name="Google Shape;657;p11"/>
          <p:cNvSpPr/>
          <p:nvPr/>
        </p:nvSpPr>
        <p:spPr>
          <a:xfrm>
            <a:off x="5295718" y="6412528"/>
            <a:ext cx="1920300" cy="310800"/>
          </a:xfrm>
          <a:prstGeom prst="roundRect">
            <a:avLst>
              <a:gd fmla="val 147059" name="adj"/>
            </a:avLst>
          </a:prstGeom>
          <a:solidFill>
            <a:srgbClr val="0B25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8" name="Google Shape;658;p11"/>
          <p:cNvSpPr/>
          <p:nvPr/>
        </p:nvSpPr>
        <p:spPr>
          <a:xfrm>
            <a:off x="8221828" y="2921925"/>
            <a:ext cx="3520440" cy="3520440"/>
          </a:xfrm>
          <a:prstGeom prst="roundRect">
            <a:avLst>
              <a:gd fmla="val 2078"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9" name="Google Shape;659;p11"/>
          <p:cNvSpPr/>
          <p:nvPr/>
        </p:nvSpPr>
        <p:spPr>
          <a:xfrm>
            <a:off x="8541868" y="3200400"/>
            <a:ext cx="2880360" cy="868680"/>
          </a:xfrm>
          <a:prstGeom prst="roundRect">
            <a:avLst>
              <a:gd fmla="val 10526" name="adj"/>
            </a:avLst>
          </a:prstGeom>
          <a:solidFill>
            <a:srgbClr val="050E1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0" name="Google Shape;660;p11"/>
          <p:cNvSpPr/>
          <p:nvPr/>
        </p:nvSpPr>
        <p:spPr>
          <a:xfrm>
            <a:off x="8541868" y="3200400"/>
            <a:ext cx="2880360" cy="8686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B020"/>
              </a:buClr>
              <a:buSzPts val="3000"/>
              <a:buFont typeface="Courier New"/>
              <a:buNone/>
            </a:pPr>
            <a:r>
              <a:rPr b="1" i="0" lang="en-US" sz="3000" u="none" cap="none" strike="noStrike">
                <a:solidFill>
                  <a:srgbClr val="FFB020"/>
                </a:solidFill>
                <a:latin typeface="Courier New"/>
                <a:ea typeface="Courier New"/>
                <a:cs typeface="Courier New"/>
                <a:sym typeface="Courier New"/>
              </a:rPr>
              <a:t>▭▭</a:t>
            </a:r>
            <a:endParaRPr b="0" i="0" sz="3000" u="none" cap="none" strike="noStrike">
              <a:solidFill>
                <a:schemeClr val="dk1"/>
              </a:solidFill>
              <a:latin typeface="Calibri"/>
              <a:ea typeface="Calibri"/>
              <a:cs typeface="Calibri"/>
              <a:sym typeface="Calibri"/>
            </a:endParaRPr>
          </a:p>
        </p:txBody>
      </p:sp>
      <p:sp>
        <p:nvSpPr>
          <p:cNvPr id="661" name="Google Shape;661;p11"/>
          <p:cNvSpPr/>
          <p:nvPr/>
        </p:nvSpPr>
        <p:spPr>
          <a:xfrm>
            <a:off x="8541868" y="4206240"/>
            <a:ext cx="28803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B020"/>
              </a:buClr>
              <a:buSzPts val="1050"/>
              <a:buFont typeface="Calibri"/>
              <a:buNone/>
            </a:pPr>
            <a:r>
              <a:rPr b="1" i="0" lang="en-US" sz="1350" u="none" cap="none" strike="noStrike">
                <a:solidFill>
                  <a:srgbClr val="FFB020"/>
                </a:solidFill>
                <a:latin typeface="Inter"/>
                <a:ea typeface="Inter"/>
                <a:cs typeface="Inter"/>
                <a:sym typeface="Inter"/>
              </a:rPr>
              <a:t>DOUBLE DELIBERATE</a:t>
            </a:r>
            <a:endParaRPr b="0" i="0" sz="1050" u="none" cap="none" strike="noStrike">
              <a:solidFill>
                <a:schemeClr val="dk1"/>
              </a:solidFill>
              <a:latin typeface="Calibri"/>
              <a:ea typeface="Calibri"/>
              <a:cs typeface="Calibri"/>
              <a:sym typeface="Calibri"/>
            </a:endParaRPr>
          </a:p>
        </p:txBody>
      </p:sp>
      <p:sp>
        <p:nvSpPr>
          <p:cNvPr id="662" name="Google Shape;662;p11"/>
          <p:cNvSpPr/>
          <p:nvPr/>
        </p:nvSpPr>
        <p:spPr>
          <a:xfrm>
            <a:off x="8541868" y="4522125"/>
            <a:ext cx="288036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2100" u="none" cap="none" strike="noStrike">
                <a:solidFill>
                  <a:srgbClr val="FFFFFF"/>
                </a:solidFill>
                <a:latin typeface="Inter"/>
                <a:ea typeface="Inter"/>
                <a:cs typeface="Inter"/>
                <a:sym typeface="Inter"/>
              </a:rPr>
              <a:t>Right click.</a:t>
            </a:r>
            <a:endParaRPr b="0" i="0" sz="2000" u="none" cap="none" strike="noStrike">
              <a:solidFill>
                <a:schemeClr val="dk1"/>
              </a:solidFill>
              <a:latin typeface="Calibri"/>
              <a:ea typeface="Calibri"/>
              <a:cs typeface="Calibri"/>
              <a:sym typeface="Calibri"/>
            </a:endParaRPr>
          </a:p>
        </p:txBody>
      </p:sp>
      <p:sp>
        <p:nvSpPr>
          <p:cNvPr id="663" name="Google Shape;663;p11"/>
          <p:cNvSpPr/>
          <p:nvPr/>
        </p:nvSpPr>
        <p:spPr>
          <a:xfrm>
            <a:off x="8541868" y="4983479"/>
            <a:ext cx="3017520" cy="10241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400"/>
              <a:buFont typeface="Calibri"/>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Two deliberate blinks within 600ms</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rgbClr val="000000"/>
              </a:buClr>
              <a:buSzPts val="14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Detected by timing window logic</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300"/>
              </a:spcAft>
              <a:buClr>
                <a:srgbClr val="000000"/>
              </a:buClr>
              <a:buSzPts val="14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Emits an instant Right Click (RC)</a:t>
            </a:r>
            <a:endParaRPr b="0" i="0" sz="1400" u="none" cap="none" strike="noStrike">
              <a:solidFill>
                <a:srgbClr val="000000"/>
              </a:solidFill>
              <a:latin typeface="Arial"/>
              <a:ea typeface="Arial"/>
              <a:cs typeface="Arial"/>
              <a:sym typeface="Arial"/>
            </a:endParaRPr>
          </a:p>
        </p:txBody>
      </p:sp>
      <p:sp>
        <p:nvSpPr>
          <p:cNvPr id="664" name="Google Shape;664;p11"/>
          <p:cNvSpPr/>
          <p:nvPr/>
        </p:nvSpPr>
        <p:spPr>
          <a:xfrm>
            <a:off x="9157381" y="6400655"/>
            <a:ext cx="1920300" cy="310800"/>
          </a:xfrm>
          <a:prstGeom prst="roundRect">
            <a:avLst>
              <a:gd fmla="val 147059" name="adj"/>
            </a:avLst>
          </a:prstGeom>
          <a:solidFill>
            <a:srgbClr val="2A1F0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5" name="Google Shape;665;p11"/>
          <p:cNvSpPr/>
          <p:nvPr/>
        </p:nvSpPr>
        <p:spPr>
          <a:xfrm>
            <a:off x="9157343" y="6400700"/>
            <a:ext cx="19203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B020"/>
              </a:buClr>
              <a:buSzPts val="1100"/>
              <a:buFont typeface="Calibri"/>
              <a:buNone/>
            </a:pPr>
            <a:r>
              <a:rPr b="1" i="0" lang="en-US" sz="1400" u="none" cap="none" strike="noStrike">
                <a:solidFill>
                  <a:srgbClr val="FFB020"/>
                </a:solidFill>
                <a:latin typeface="Inter"/>
                <a:ea typeface="Inter"/>
                <a:cs typeface="Inter"/>
                <a:sym typeface="Inter"/>
              </a:rPr>
              <a:t>2 × 200–500ms</a:t>
            </a:r>
            <a:endParaRPr b="0" i="0" sz="1100" u="none" cap="none" strike="noStrike">
              <a:solidFill>
                <a:schemeClr val="dk1"/>
              </a:solidFill>
              <a:latin typeface="Calibri"/>
              <a:ea typeface="Calibri"/>
              <a:cs typeface="Calibri"/>
              <a:sym typeface="Calibri"/>
            </a:endParaRPr>
          </a:p>
        </p:txBody>
      </p:sp>
      <p:sp>
        <p:nvSpPr>
          <p:cNvPr id="666" name="Google Shape;666;p11"/>
          <p:cNvSpPr/>
          <p:nvPr/>
        </p:nvSpPr>
        <p:spPr>
          <a:xfrm>
            <a:off x="5295718" y="6400805"/>
            <a:ext cx="19203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200"/>
              <a:buFont typeface="Calibri"/>
              <a:buNone/>
            </a:pPr>
            <a:r>
              <a:rPr b="1" i="0" lang="en-US" sz="1400" u="none" cap="none" strike="noStrike">
                <a:solidFill>
                  <a:srgbClr val="22D3EE"/>
                </a:solidFill>
                <a:latin typeface="Inter"/>
                <a:ea typeface="Inter"/>
                <a:cs typeface="Inter"/>
                <a:sym typeface="Inter"/>
              </a:rPr>
              <a:t>200–500ms</a:t>
            </a:r>
            <a:endParaRPr b="0" i="0" sz="900" u="none" cap="none" strike="noStrike">
              <a:solidFill>
                <a:schemeClr val="dk1"/>
              </a:solidFill>
              <a:latin typeface="Calibri"/>
              <a:ea typeface="Calibri"/>
              <a:cs typeface="Calibri"/>
              <a:sym typeface="Calibri"/>
            </a:endParaRPr>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51"/>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672" name="Google Shape;672;p51"/>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3" name="Google Shape;673;p51"/>
          <p:cNvSpPr/>
          <p:nvPr/>
        </p:nvSpPr>
        <p:spPr>
          <a:xfrm>
            <a:off x="502920" y="1280160"/>
            <a:ext cx="109728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3600"/>
              <a:buFont typeface="Arial"/>
              <a:buNone/>
            </a:pPr>
            <a:r>
              <a:rPr b="1" i="0" lang="en-US" sz="3400" u="none" cap="none" strike="noStrike">
                <a:solidFill>
                  <a:srgbClr val="FFFFFF"/>
                </a:solidFill>
                <a:latin typeface="Inter"/>
                <a:ea typeface="Inter"/>
                <a:cs typeface="Inter"/>
                <a:sym typeface="Inter"/>
              </a:rPr>
              <a:t>Does the IR sensor harm the eye? Straight no.</a:t>
            </a:r>
            <a:endParaRPr b="0" i="0" sz="3600" u="none" cap="none" strike="noStrike">
              <a:solidFill>
                <a:schemeClr val="dk1"/>
              </a:solidFill>
              <a:latin typeface="Calibri"/>
              <a:ea typeface="Calibri"/>
              <a:cs typeface="Calibri"/>
              <a:sym typeface="Calibri"/>
            </a:endParaRPr>
          </a:p>
        </p:txBody>
      </p:sp>
      <p:sp>
        <p:nvSpPr>
          <p:cNvPr id="674" name="Google Shape;674;p51"/>
          <p:cNvSpPr/>
          <p:nvPr/>
        </p:nvSpPr>
        <p:spPr>
          <a:xfrm>
            <a:off x="502920" y="2111430"/>
            <a:ext cx="1051560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C5D6"/>
              </a:buClr>
              <a:buSzPts val="1800"/>
              <a:buFont typeface="Calibri"/>
              <a:buNone/>
            </a:pPr>
            <a:r>
              <a:rPr b="0" i="1" lang="en-US" sz="1750" u="none" cap="none" strike="noStrike">
                <a:solidFill>
                  <a:srgbClr val="B7C5D6"/>
                </a:solidFill>
                <a:latin typeface="Inter"/>
                <a:ea typeface="Inter"/>
                <a:cs typeface="Inter"/>
                <a:sym typeface="Inter"/>
              </a:rPr>
              <a:t>Engineered well below international photobiological safety limits for continuous all-day wear.</a:t>
            </a:r>
            <a:endParaRPr b="0" i="0" sz="1800" u="none" cap="none" strike="noStrike">
              <a:solidFill>
                <a:schemeClr val="dk1"/>
              </a:solidFill>
              <a:latin typeface="Calibri"/>
              <a:ea typeface="Calibri"/>
              <a:cs typeface="Calibri"/>
              <a:sym typeface="Calibri"/>
            </a:endParaRPr>
          </a:p>
        </p:txBody>
      </p:sp>
      <p:sp>
        <p:nvSpPr>
          <p:cNvPr id="675" name="Google Shape;675;p51"/>
          <p:cNvSpPr/>
          <p:nvPr/>
        </p:nvSpPr>
        <p:spPr>
          <a:xfrm>
            <a:off x="472288" y="2926080"/>
            <a:ext cx="5440680" cy="3474720"/>
          </a:xfrm>
          <a:prstGeom prst="roundRect">
            <a:avLst>
              <a:gd fmla="val 2105"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6" name="Google Shape;676;p51"/>
          <p:cNvSpPr/>
          <p:nvPr/>
        </p:nvSpPr>
        <p:spPr>
          <a:xfrm>
            <a:off x="792328" y="3246120"/>
            <a:ext cx="685800" cy="685800"/>
          </a:xfrm>
          <a:prstGeom prst="ellipse">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7" name="Google Shape;677;p51"/>
          <p:cNvSpPr/>
          <p:nvPr/>
        </p:nvSpPr>
        <p:spPr>
          <a:xfrm>
            <a:off x="792328" y="3246120"/>
            <a:ext cx="6858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8" name="Google Shape;678;p51"/>
          <p:cNvSpPr/>
          <p:nvPr/>
        </p:nvSpPr>
        <p:spPr>
          <a:xfrm>
            <a:off x="1661008" y="3291840"/>
            <a:ext cx="4069080"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300" u="none" cap="none" strike="noStrike">
                <a:solidFill>
                  <a:srgbClr val="22D3EE"/>
                </a:solidFill>
                <a:latin typeface="Inter"/>
                <a:ea typeface="Inter"/>
                <a:cs typeface="Inter"/>
                <a:sym typeface="Inter"/>
              </a:rPr>
              <a:t>20× BELOW IEC 62471 SAFETY THRESHOLD</a:t>
            </a:r>
            <a:endParaRPr b="0" i="0" sz="1100" u="none" cap="none" strike="noStrike">
              <a:solidFill>
                <a:schemeClr val="dk1"/>
              </a:solidFill>
              <a:latin typeface="Calibri"/>
              <a:ea typeface="Calibri"/>
              <a:cs typeface="Calibri"/>
              <a:sym typeface="Calibri"/>
            </a:endParaRPr>
          </a:p>
        </p:txBody>
      </p:sp>
      <p:sp>
        <p:nvSpPr>
          <p:cNvPr id="679" name="Google Shape;679;p51"/>
          <p:cNvSpPr/>
          <p:nvPr/>
        </p:nvSpPr>
        <p:spPr>
          <a:xfrm>
            <a:off x="1661008" y="3698045"/>
            <a:ext cx="4114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1900" u="none" cap="none" strike="noStrike">
                <a:solidFill>
                  <a:srgbClr val="FFFFFF"/>
                </a:solidFill>
                <a:latin typeface="Inter"/>
                <a:ea typeface="Inter"/>
                <a:cs typeface="Inter"/>
                <a:sym typeface="Inter"/>
              </a:rPr>
              <a:t>Non-coherent 950nm LED — not a laser.</a:t>
            </a:r>
            <a:endParaRPr b="0" i="0" sz="2000" u="none" cap="none" strike="noStrike">
              <a:solidFill>
                <a:schemeClr val="dk1"/>
              </a:solidFill>
              <a:latin typeface="Calibri"/>
              <a:ea typeface="Calibri"/>
              <a:cs typeface="Calibri"/>
              <a:sym typeface="Calibri"/>
            </a:endParaRPr>
          </a:p>
        </p:txBody>
      </p:sp>
      <p:sp>
        <p:nvSpPr>
          <p:cNvPr id="680" name="Google Shape;680;p51"/>
          <p:cNvSpPr/>
          <p:nvPr/>
        </p:nvSpPr>
        <p:spPr>
          <a:xfrm>
            <a:off x="792328" y="4393925"/>
            <a:ext cx="5010900" cy="160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800"/>
              <a:buFont typeface="Calibri"/>
              <a:buNone/>
            </a:pPr>
            <a:r>
              <a:rPr b="0" i="0" lang="en-US" sz="1450" u="none" cap="none" strike="noStrike">
                <a:solidFill>
                  <a:srgbClr val="B4C3DC"/>
                </a:solidFill>
                <a:latin typeface="Inter"/>
                <a:ea typeface="Inter"/>
                <a:cs typeface="Inter"/>
                <a:sym typeface="Inter"/>
              </a:rPr>
              <a:t>•  Uses diffused low-power 950nm LED (no laser).</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Surface irradiance stays &lt;0.5 mW/cm² at eye.</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Over 20× below 10 mW/cm² IEC 62471 limit.</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Classified in IEC Exempt (Zero-Risk) group.</a:t>
            </a:r>
            <a:endParaRPr/>
          </a:p>
        </p:txBody>
      </p:sp>
      <p:sp>
        <p:nvSpPr>
          <p:cNvPr id="681" name="Google Shape;681;p51"/>
          <p:cNvSpPr/>
          <p:nvPr/>
        </p:nvSpPr>
        <p:spPr>
          <a:xfrm>
            <a:off x="792328" y="5897880"/>
            <a:ext cx="4663440" cy="347472"/>
          </a:xfrm>
          <a:prstGeom prst="roundRect">
            <a:avLst>
              <a:gd fmla="val 142857" name="adj"/>
            </a:avLst>
          </a:prstGeom>
          <a:solidFill>
            <a:srgbClr val="0B25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682" name="Google Shape;682;p51"/>
          <p:cNvSpPr/>
          <p:nvPr/>
        </p:nvSpPr>
        <p:spPr>
          <a:xfrm>
            <a:off x="792328" y="5897880"/>
            <a:ext cx="466344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200"/>
              <a:buFont typeface="Calibri"/>
              <a:buNone/>
            </a:pPr>
            <a:r>
              <a:rPr b="1" i="0" lang="en-US" sz="1300" u="none" cap="none" strike="noStrike">
                <a:solidFill>
                  <a:srgbClr val="22D3EE"/>
                </a:solidFill>
                <a:latin typeface="Inter"/>
                <a:ea typeface="Inter"/>
                <a:cs typeface="Inter"/>
                <a:sym typeface="Inter"/>
              </a:rPr>
              <a:t>IEC 62471 Exempt · &lt;0.5 mW/cm²</a:t>
            </a:r>
            <a:endParaRPr b="0" i="0" sz="1100" u="none" cap="none" strike="noStrike">
              <a:solidFill>
                <a:schemeClr val="dk1"/>
              </a:solidFill>
              <a:latin typeface="Calibri"/>
              <a:ea typeface="Calibri"/>
              <a:cs typeface="Calibri"/>
              <a:sym typeface="Calibri"/>
            </a:endParaRPr>
          </a:p>
        </p:txBody>
      </p:sp>
      <p:sp>
        <p:nvSpPr>
          <p:cNvPr id="683" name="Google Shape;683;p51"/>
          <p:cNvSpPr/>
          <p:nvPr/>
        </p:nvSpPr>
        <p:spPr>
          <a:xfrm>
            <a:off x="6278728" y="2926080"/>
            <a:ext cx="5440680" cy="3474720"/>
          </a:xfrm>
          <a:prstGeom prst="roundRect">
            <a:avLst>
              <a:gd fmla="val 2105"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4" name="Google Shape;684;p51"/>
          <p:cNvSpPr/>
          <p:nvPr/>
        </p:nvSpPr>
        <p:spPr>
          <a:xfrm>
            <a:off x="6598768" y="3246120"/>
            <a:ext cx="685800" cy="685800"/>
          </a:xfrm>
          <a:prstGeom prst="ellipse">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5" name="Google Shape;685;p51"/>
          <p:cNvSpPr/>
          <p:nvPr/>
        </p:nvSpPr>
        <p:spPr>
          <a:xfrm>
            <a:off x="6598768" y="3246120"/>
            <a:ext cx="6858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B02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6" name="Google Shape;686;p51"/>
          <p:cNvSpPr/>
          <p:nvPr/>
        </p:nvSpPr>
        <p:spPr>
          <a:xfrm>
            <a:off x="7467448" y="3291840"/>
            <a:ext cx="4069080"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B020"/>
              </a:buClr>
              <a:buSzPts val="1100"/>
              <a:buFont typeface="Calibri"/>
              <a:buNone/>
            </a:pPr>
            <a:r>
              <a:rPr b="1" i="0" lang="en-US" sz="1300" u="none" cap="none" strike="noStrike">
                <a:solidFill>
                  <a:srgbClr val="FFB020"/>
                </a:solidFill>
                <a:latin typeface="Inter"/>
                <a:ea typeface="Inter"/>
                <a:cs typeface="Inter"/>
                <a:sym typeface="Inter"/>
              </a:rPr>
              <a:t>SAFER THAN INDOOR SUNLIGHT</a:t>
            </a:r>
            <a:endParaRPr b="0" i="0" sz="1100" u="none" cap="none" strike="noStrike">
              <a:solidFill>
                <a:schemeClr val="dk1"/>
              </a:solidFill>
              <a:latin typeface="Calibri"/>
              <a:ea typeface="Calibri"/>
              <a:cs typeface="Calibri"/>
              <a:sym typeface="Calibri"/>
            </a:endParaRPr>
          </a:p>
        </p:txBody>
      </p:sp>
      <p:sp>
        <p:nvSpPr>
          <p:cNvPr id="687" name="Google Shape;687;p51"/>
          <p:cNvSpPr/>
          <p:nvPr/>
        </p:nvSpPr>
        <p:spPr>
          <a:xfrm>
            <a:off x="7467448" y="3698045"/>
            <a:ext cx="4114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1900" u="none" cap="none" strike="noStrike">
                <a:solidFill>
                  <a:srgbClr val="FFFFFF"/>
                </a:solidFill>
                <a:latin typeface="Inter"/>
                <a:ea typeface="Inter"/>
                <a:cs typeface="Inter"/>
                <a:sym typeface="Inter"/>
              </a:rPr>
              <a:t>Zero heat, zero UV, zero retinal strain.</a:t>
            </a:r>
            <a:endParaRPr b="0" i="0" sz="2000" u="none" cap="none" strike="noStrike">
              <a:solidFill>
                <a:schemeClr val="dk1"/>
              </a:solidFill>
              <a:latin typeface="Calibri"/>
              <a:ea typeface="Calibri"/>
              <a:cs typeface="Calibri"/>
              <a:sym typeface="Calibri"/>
            </a:endParaRPr>
          </a:p>
        </p:txBody>
      </p:sp>
      <p:sp>
        <p:nvSpPr>
          <p:cNvPr id="688" name="Google Shape;688;p51"/>
          <p:cNvSpPr/>
          <p:nvPr/>
        </p:nvSpPr>
        <p:spPr>
          <a:xfrm>
            <a:off x="6598768" y="4393925"/>
            <a:ext cx="5010900" cy="160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2000"/>
              <a:buFont typeface="Calibri"/>
              <a:buNone/>
            </a:pPr>
            <a:r>
              <a:rPr b="0" i="0" lang="en-US" sz="1450" u="none" cap="none" strike="noStrike">
                <a:solidFill>
                  <a:srgbClr val="B4C3DC"/>
                </a:solidFill>
                <a:latin typeface="Inter"/>
                <a:ea typeface="Inter"/>
                <a:cs typeface="Inter"/>
                <a:sym typeface="Inter"/>
              </a:rPr>
              <a:t>•  Emits less IR than daylight through a window.</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Lower IR density than a standard TV remote.</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Zero thermal buildup and zero corneal drying.</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Safe for 12+ hours of continuous daily wear.</a:t>
            </a:r>
            <a:endParaRPr/>
          </a:p>
        </p:txBody>
      </p:sp>
      <p:sp>
        <p:nvSpPr>
          <p:cNvPr id="689" name="Google Shape;689;p51"/>
          <p:cNvSpPr/>
          <p:nvPr/>
        </p:nvSpPr>
        <p:spPr>
          <a:xfrm>
            <a:off x="6598768" y="5897880"/>
            <a:ext cx="4663440" cy="347472"/>
          </a:xfrm>
          <a:prstGeom prst="roundRect">
            <a:avLst>
              <a:gd fmla="val 142857" name="adj"/>
            </a:avLst>
          </a:prstGeom>
          <a:solidFill>
            <a:srgbClr val="2A1F0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690" name="Google Shape;690;p51"/>
          <p:cNvSpPr/>
          <p:nvPr/>
        </p:nvSpPr>
        <p:spPr>
          <a:xfrm>
            <a:off x="6598768" y="5897880"/>
            <a:ext cx="466344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B020"/>
              </a:buClr>
              <a:buSzPts val="1050"/>
              <a:buFont typeface="Calibri"/>
              <a:buNone/>
            </a:pPr>
            <a:r>
              <a:rPr b="1" i="0" lang="en-US" sz="1300" u="none" cap="none" strike="noStrike">
                <a:solidFill>
                  <a:srgbClr val="FFB020"/>
                </a:solidFill>
                <a:latin typeface="Inter"/>
                <a:ea typeface="Inter"/>
                <a:cs typeface="Inter"/>
                <a:sym typeface="Inter"/>
              </a:rPr>
              <a:t>Zero Thermal Risk · 12h Continuous Safe</a:t>
            </a:r>
            <a:endParaRPr b="0" i="0" sz="1050" u="none" cap="none" strike="noStrike">
              <a:solidFill>
                <a:schemeClr val="dk1"/>
              </a:solidFill>
              <a:latin typeface="Calibri"/>
              <a:ea typeface="Calibri"/>
              <a:cs typeface="Calibri"/>
              <a:sym typeface="Calibri"/>
            </a:endParaRPr>
          </a:p>
        </p:txBody>
      </p:sp>
      <p:pic>
        <p:nvPicPr>
          <p:cNvPr descr="icon_shield.png" id="691" name="Google Shape;691;p51"/>
          <p:cNvPicPr preferRelativeResize="0"/>
          <p:nvPr/>
        </p:nvPicPr>
        <p:blipFill rotWithShape="1">
          <a:blip r:embed="rId3">
            <a:alphaModFix/>
          </a:blip>
          <a:srcRect b="0" l="0" r="0" t="0"/>
          <a:stretch/>
        </p:blipFill>
        <p:spPr>
          <a:xfrm>
            <a:off x="792328" y="3246120"/>
            <a:ext cx="685800" cy="685800"/>
          </a:xfrm>
          <a:prstGeom prst="rect">
            <a:avLst/>
          </a:prstGeom>
          <a:noFill/>
          <a:ln>
            <a:noFill/>
          </a:ln>
        </p:spPr>
      </p:pic>
      <p:pic>
        <p:nvPicPr>
          <p:cNvPr descr="icon_sun.png" id="692" name="Google Shape;692;p51"/>
          <p:cNvPicPr preferRelativeResize="0"/>
          <p:nvPr/>
        </p:nvPicPr>
        <p:blipFill rotWithShape="1">
          <a:blip r:embed="rId4">
            <a:alphaModFix/>
          </a:blip>
          <a:srcRect b="0" l="0" r="0" t="0"/>
          <a:stretch/>
        </p:blipFill>
        <p:spPr>
          <a:xfrm>
            <a:off x="6598768" y="3246120"/>
            <a:ext cx="685800" cy="685800"/>
          </a:xfrm>
          <a:prstGeom prst="rect">
            <a:avLst/>
          </a:prstGeom>
          <a:noFill/>
          <a:ln>
            <a:noFill/>
          </a:ln>
        </p:spPr>
      </p:pic>
    </p:spTree>
  </p:cSld>
  <p:clrMapOvr>
    <a:masterClrMapping/>
  </p:clrMapOvr>
  <p:transition spd="med">
    <p:fade/>
  </p:transition>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p56"/>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698" name="Google Shape;698;p56"/>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9" name="Google Shape;699;p56"/>
          <p:cNvSpPr/>
          <p:nvPr/>
        </p:nvSpPr>
        <p:spPr>
          <a:xfrm>
            <a:off x="502920" y="1280160"/>
            <a:ext cx="109728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3600"/>
              <a:buFont typeface="Arial"/>
              <a:buNone/>
            </a:pPr>
            <a:r>
              <a:rPr b="1" i="0" lang="en-US" sz="3400" u="none" cap="none" strike="noStrike">
                <a:solidFill>
                  <a:srgbClr val="FFFFFF"/>
                </a:solidFill>
                <a:latin typeface="Inter"/>
                <a:ea typeface="Inter"/>
                <a:cs typeface="Inter"/>
                <a:sym typeface="Inter"/>
              </a:rPr>
              <a:t>When only the eyes can move: AI + CV iris tracking.</a:t>
            </a:r>
            <a:endParaRPr b="0" i="0" sz="3600" u="none" cap="none" strike="noStrike">
              <a:solidFill>
                <a:schemeClr val="dk1"/>
              </a:solidFill>
              <a:latin typeface="Calibri"/>
              <a:ea typeface="Calibri"/>
              <a:cs typeface="Calibri"/>
              <a:sym typeface="Calibri"/>
            </a:endParaRPr>
          </a:p>
        </p:txBody>
      </p:sp>
      <p:sp>
        <p:nvSpPr>
          <p:cNvPr id="700" name="Google Shape;700;p56"/>
          <p:cNvSpPr/>
          <p:nvPr/>
        </p:nvSpPr>
        <p:spPr>
          <a:xfrm>
            <a:off x="502920" y="2111430"/>
            <a:ext cx="1051560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C5D6"/>
              </a:buClr>
              <a:buSzPts val="1800"/>
              <a:buFont typeface="Calibri"/>
              <a:buNone/>
            </a:pPr>
            <a:r>
              <a:rPr b="0" i="1" lang="en-US" sz="1750" u="none" cap="none" strike="noStrike">
                <a:solidFill>
                  <a:srgbClr val="B7C5D6"/>
                </a:solidFill>
                <a:latin typeface="Inter"/>
                <a:ea typeface="Inter"/>
                <a:cs typeface="Inter"/>
                <a:sym typeface="Inter"/>
              </a:rPr>
              <a:t>In complete paralysis, head tilt is impossible but the eyes still work — inspiring our next-gen CV engine.</a:t>
            </a:r>
            <a:endParaRPr b="0" i="0" sz="1800" u="none" cap="none" strike="noStrike">
              <a:solidFill>
                <a:schemeClr val="dk1"/>
              </a:solidFill>
              <a:latin typeface="Calibri"/>
              <a:ea typeface="Calibri"/>
              <a:cs typeface="Calibri"/>
              <a:sym typeface="Calibri"/>
            </a:endParaRPr>
          </a:p>
        </p:txBody>
      </p:sp>
      <p:sp>
        <p:nvSpPr>
          <p:cNvPr id="701" name="Google Shape;701;p56"/>
          <p:cNvSpPr/>
          <p:nvPr/>
        </p:nvSpPr>
        <p:spPr>
          <a:xfrm>
            <a:off x="472288" y="2926080"/>
            <a:ext cx="5440680" cy="3474720"/>
          </a:xfrm>
          <a:prstGeom prst="roundRect">
            <a:avLst>
              <a:gd fmla="val 2105"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2" name="Google Shape;702;p56"/>
          <p:cNvSpPr/>
          <p:nvPr/>
        </p:nvSpPr>
        <p:spPr>
          <a:xfrm>
            <a:off x="792328" y="3246120"/>
            <a:ext cx="685800" cy="685800"/>
          </a:xfrm>
          <a:prstGeom prst="ellipse">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3" name="Google Shape;703;p56"/>
          <p:cNvSpPr/>
          <p:nvPr/>
        </p:nvSpPr>
        <p:spPr>
          <a:xfrm>
            <a:off x="792328" y="3246120"/>
            <a:ext cx="6858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4" name="Google Shape;704;p56"/>
          <p:cNvSpPr/>
          <p:nvPr/>
        </p:nvSpPr>
        <p:spPr>
          <a:xfrm>
            <a:off x="1661008" y="3291840"/>
            <a:ext cx="4069080"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300" u="none" cap="none" strike="noStrike">
                <a:solidFill>
                  <a:srgbClr val="22D3EE"/>
                </a:solidFill>
                <a:latin typeface="Inter"/>
                <a:ea typeface="Inter"/>
                <a:cs typeface="Inter"/>
                <a:sym typeface="Inter"/>
              </a:rPr>
              <a:t>AI + COMPUTER VISION IRIS TRACKING</a:t>
            </a:r>
            <a:endParaRPr b="0" i="0" sz="1100" u="none" cap="none" strike="noStrike">
              <a:solidFill>
                <a:schemeClr val="dk1"/>
              </a:solidFill>
              <a:latin typeface="Calibri"/>
              <a:ea typeface="Calibri"/>
              <a:cs typeface="Calibri"/>
              <a:sym typeface="Calibri"/>
            </a:endParaRPr>
          </a:p>
        </p:txBody>
      </p:sp>
      <p:sp>
        <p:nvSpPr>
          <p:cNvPr id="705" name="Google Shape;705;p56"/>
          <p:cNvSpPr/>
          <p:nvPr/>
        </p:nvSpPr>
        <p:spPr>
          <a:xfrm>
            <a:off x="1661008" y="3566160"/>
            <a:ext cx="4114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1900" u="none" cap="none" strike="noStrike">
                <a:solidFill>
                  <a:srgbClr val="FFFFFF"/>
                </a:solidFill>
                <a:latin typeface="Inter"/>
                <a:ea typeface="Inter"/>
                <a:cs typeface="Inter"/>
                <a:sym typeface="Inter"/>
              </a:rPr>
              <a:t>Pure eye movement drives the screen.</a:t>
            </a:r>
            <a:endParaRPr b="0" i="0" sz="2000" u="none" cap="none" strike="noStrike">
              <a:solidFill>
                <a:schemeClr val="dk1"/>
              </a:solidFill>
              <a:latin typeface="Calibri"/>
              <a:ea typeface="Calibri"/>
              <a:cs typeface="Calibri"/>
              <a:sym typeface="Calibri"/>
            </a:endParaRPr>
          </a:p>
        </p:txBody>
      </p:sp>
      <p:sp>
        <p:nvSpPr>
          <p:cNvPr id="706" name="Google Shape;706;p56"/>
          <p:cNvSpPr/>
          <p:nvPr/>
        </p:nvSpPr>
        <p:spPr>
          <a:xfrm>
            <a:off x="792328" y="4280044"/>
            <a:ext cx="5010900" cy="160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800"/>
              <a:buFont typeface="Calibri"/>
              <a:buNone/>
            </a:pPr>
            <a:r>
              <a:rPr b="0" i="0" lang="en-US" sz="1450" u="none" cap="none" strike="noStrike">
                <a:solidFill>
                  <a:srgbClr val="B4C3DC"/>
                </a:solidFill>
                <a:latin typeface="Inter"/>
                <a:ea typeface="Inter"/>
                <a:cs typeface="Inter"/>
                <a:sym typeface="Inter"/>
              </a:rPr>
              <a:t>•  In total paralysis, ocular iris motion stays intact.</a:t>
            </a:r>
            <a:endParaRPr b="0" i="0" sz="19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Future AI + CV engine tracks subtle iris gaze.</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Maps eye-gaze direction to full cursor control.</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Runs all IRIS tiles &amp; speech with zero head tilt.</a:t>
            </a:r>
            <a:endParaRPr/>
          </a:p>
        </p:txBody>
      </p:sp>
      <p:sp>
        <p:nvSpPr>
          <p:cNvPr id="707" name="Google Shape;707;p56"/>
          <p:cNvSpPr/>
          <p:nvPr/>
        </p:nvSpPr>
        <p:spPr>
          <a:xfrm>
            <a:off x="792328" y="5897880"/>
            <a:ext cx="4663440" cy="347472"/>
          </a:xfrm>
          <a:prstGeom prst="roundRect">
            <a:avLst>
              <a:gd fmla="val 142857" name="adj"/>
            </a:avLst>
          </a:prstGeom>
          <a:solidFill>
            <a:srgbClr val="0B25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708" name="Google Shape;708;p56"/>
          <p:cNvSpPr/>
          <p:nvPr/>
        </p:nvSpPr>
        <p:spPr>
          <a:xfrm>
            <a:off x="792328" y="5897880"/>
            <a:ext cx="466344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200"/>
              <a:buFont typeface="Calibri"/>
              <a:buNone/>
            </a:pPr>
            <a:r>
              <a:rPr b="1" i="0" lang="en-US" sz="1300" u="none" cap="none" strike="noStrike">
                <a:solidFill>
                  <a:srgbClr val="22D3EE"/>
                </a:solidFill>
                <a:latin typeface="Inter"/>
                <a:ea typeface="Inter"/>
                <a:cs typeface="Inter"/>
                <a:sym typeface="Inter"/>
              </a:rPr>
              <a:t>AI + CV Iris Tracking · Zero Head Tilt</a:t>
            </a:r>
            <a:endParaRPr b="0" i="0" sz="1100" u="none" cap="none" strike="noStrike">
              <a:solidFill>
                <a:schemeClr val="dk1"/>
              </a:solidFill>
              <a:latin typeface="Calibri"/>
              <a:ea typeface="Calibri"/>
              <a:cs typeface="Calibri"/>
              <a:sym typeface="Calibri"/>
            </a:endParaRPr>
          </a:p>
        </p:txBody>
      </p:sp>
      <p:sp>
        <p:nvSpPr>
          <p:cNvPr id="709" name="Google Shape;709;p56"/>
          <p:cNvSpPr/>
          <p:nvPr/>
        </p:nvSpPr>
        <p:spPr>
          <a:xfrm>
            <a:off x="6278728" y="2926080"/>
            <a:ext cx="5440680" cy="3474720"/>
          </a:xfrm>
          <a:prstGeom prst="roundRect">
            <a:avLst>
              <a:gd fmla="val 2105"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0" name="Google Shape;710;p56"/>
          <p:cNvSpPr/>
          <p:nvPr/>
        </p:nvSpPr>
        <p:spPr>
          <a:xfrm>
            <a:off x="6598768" y="3246120"/>
            <a:ext cx="685800" cy="685800"/>
          </a:xfrm>
          <a:prstGeom prst="ellipse">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1" name="Google Shape;711;p56"/>
          <p:cNvSpPr/>
          <p:nvPr/>
        </p:nvSpPr>
        <p:spPr>
          <a:xfrm>
            <a:off x="6598768" y="3246120"/>
            <a:ext cx="6858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B02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2" name="Google Shape;712;p56"/>
          <p:cNvSpPr/>
          <p:nvPr/>
        </p:nvSpPr>
        <p:spPr>
          <a:xfrm>
            <a:off x="7467448" y="3291840"/>
            <a:ext cx="4069080"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B020"/>
              </a:buClr>
              <a:buSzPts val="1100"/>
              <a:buFont typeface="Calibri"/>
              <a:buNone/>
            </a:pPr>
            <a:r>
              <a:rPr b="1" i="0" lang="en-US" sz="1300" u="none" cap="none" strike="noStrike">
                <a:solidFill>
                  <a:srgbClr val="FFB020"/>
                </a:solidFill>
                <a:latin typeface="Inter"/>
                <a:ea typeface="Inter"/>
                <a:cs typeface="Inter"/>
                <a:sym typeface="Inter"/>
              </a:rPr>
              <a:t>LOW-COST PC DENOISING &amp; FALSE POSITIVES</a:t>
            </a:r>
            <a:endParaRPr b="0" i="0" sz="1100" u="none" cap="none" strike="noStrike">
              <a:solidFill>
                <a:schemeClr val="dk1"/>
              </a:solidFill>
              <a:latin typeface="Calibri"/>
              <a:ea typeface="Calibri"/>
              <a:cs typeface="Calibri"/>
              <a:sym typeface="Calibri"/>
            </a:endParaRPr>
          </a:p>
        </p:txBody>
      </p:sp>
      <p:sp>
        <p:nvSpPr>
          <p:cNvPr id="713" name="Google Shape;713;p56"/>
          <p:cNvSpPr/>
          <p:nvPr/>
        </p:nvSpPr>
        <p:spPr>
          <a:xfrm>
            <a:off x="7467448" y="3566160"/>
            <a:ext cx="4114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1900" u="none" cap="none" strike="noStrike">
                <a:solidFill>
                  <a:srgbClr val="FFFFFF"/>
                </a:solidFill>
                <a:latin typeface="Inter"/>
                <a:ea typeface="Inter"/>
                <a:cs typeface="Inter"/>
                <a:sym typeface="Inter"/>
              </a:rPr>
              <a:t>Affordable accuracy without a costly PC.</a:t>
            </a:r>
            <a:endParaRPr b="0" i="0" sz="2000" u="none" cap="none" strike="noStrike">
              <a:solidFill>
                <a:schemeClr val="dk1"/>
              </a:solidFill>
              <a:latin typeface="Calibri"/>
              <a:ea typeface="Calibri"/>
              <a:cs typeface="Calibri"/>
              <a:sym typeface="Calibri"/>
            </a:endParaRPr>
          </a:p>
        </p:txBody>
      </p:sp>
      <p:sp>
        <p:nvSpPr>
          <p:cNvPr id="714" name="Google Shape;714;p56"/>
          <p:cNvSpPr/>
          <p:nvPr/>
        </p:nvSpPr>
        <p:spPr>
          <a:xfrm>
            <a:off x="6598768" y="4280044"/>
            <a:ext cx="5010900" cy="160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2000"/>
              <a:buFont typeface="Calibri"/>
              <a:buNone/>
            </a:pPr>
            <a:r>
              <a:rPr b="0" i="0" lang="en-US" sz="1450" u="none" cap="none" strike="noStrike">
                <a:solidFill>
                  <a:srgbClr val="B4C3DC"/>
                </a:solidFill>
                <a:latin typeface="Inter"/>
                <a:ea typeface="Inter"/>
                <a:cs typeface="Inter"/>
                <a:sym typeface="Inter"/>
              </a:rPr>
              <a:t>•  Standard CV needs a costly camera &amp; gaming PC.</a:t>
            </a:r>
            <a:endParaRPr b="0" i="0" sz="21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Cheap webcams add grain &amp; false positives.</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Custom AI denoiser runs on budget laptops.</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Cuts false clicks so gaze stays affordable.</a:t>
            </a:r>
            <a:endParaRPr/>
          </a:p>
        </p:txBody>
      </p:sp>
      <p:sp>
        <p:nvSpPr>
          <p:cNvPr id="715" name="Google Shape;715;p56"/>
          <p:cNvSpPr/>
          <p:nvPr/>
        </p:nvSpPr>
        <p:spPr>
          <a:xfrm>
            <a:off x="6598768" y="5897880"/>
            <a:ext cx="4663440" cy="347472"/>
          </a:xfrm>
          <a:prstGeom prst="roundRect">
            <a:avLst>
              <a:gd fmla="val 142857" name="adj"/>
            </a:avLst>
          </a:prstGeom>
          <a:solidFill>
            <a:srgbClr val="2A1F0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716" name="Google Shape;716;p56"/>
          <p:cNvSpPr/>
          <p:nvPr/>
        </p:nvSpPr>
        <p:spPr>
          <a:xfrm>
            <a:off x="6598768" y="5897880"/>
            <a:ext cx="466344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B020"/>
              </a:buClr>
              <a:buSzPts val="1050"/>
              <a:buFont typeface="Calibri"/>
              <a:buNone/>
            </a:pPr>
            <a:r>
              <a:rPr b="1" i="0" lang="en-US" sz="1300" u="none" cap="none" strike="noStrike">
                <a:solidFill>
                  <a:srgbClr val="FFB020"/>
                </a:solidFill>
                <a:latin typeface="Inter"/>
                <a:ea typeface="Inter"/>
                <a:cs typeface="Inter"/>
                <a:sym typeface="Inter"/>
              </a:rPr>
              <a:t>Low-Cost PC Denoiser · Cuts False Positives</a:t>
            </a:r>
            <a:endParaRPr b="0" i="0" sz="1050" u="none" cap="none" strike="noStrike">
              <a:solidFill>
                <a:schemeClr val="dk1"/>
              </a:solidFill>
              <a:latin typeface="Calibri"/>
              <a:ea typeface="Calibri"/>
              <a:cs typeface="Calibri"/>
              <a:sym typeface="Calibri"/>
            </a:endParaRPr>
          </a:p>
        </p:txBody>
      </p:sp>
      <p:pic>
        <p:nvPicPr>
          <p:cNvPr descr="icon_eye.png" id="717" name="Google Shape;717;p56"/>
          <p:cNvPicPr preferRelativeResize="0"/>
          <p:nvPr/>
        </p:nvPicPr>
        <p:blipFill rotWithShape="1">
          <a:blip r:embed="rId3">
            <a:alphaModFix/>
          </a:blip>
          <a:srcRect b="0" l="0" r="0" t="0"/>
          <a:stretch/>
        </p:blipFill>
        <p:spPr>
          <a:xfrm>
            <a:off x="792328" y="3246120"/>
            <a:ext cx="685800" cy="685800"/>
          </a:xfrm>
          <a:prstGeom prst="rect">
            <a:avLst/>
          </a:prstGeom>
          <a:noFill/>
          <a:ln>
            <a:noFill/>
          </a:ln>
        </p:spPr>
      </p:pic>
      <p:pic>
        <p:nvPicPr>
          <p:cNvPr descr="icon_chip.png" id="718" name="Google Shape;718;p56"/>
          <p:cNvPicPr preferRelativeResize="0"/>
          <p:nvPr/>
        </p:nvPicPr>
        <p:blipFill rotWithShape="1">
          <a:blip r:embed="rId4">
            <a:alphaModFix/>
          </a:blip>
          <a:srcRect b="0" l="0" r="0" t="0"/>
          <a:stretch/>
        </p:blipFill>
        <p:spPr>
          <a:xfrm>
            <a:off x="6598768" y="3246120"/>
            <a:ext cx="685800" cy="685800"/>
          </a:xfrm>
          <a:prstGeom prst="rect">
            <a:avLst/>
          </a:prstGeom>
          <a:noFill/>
          <a:ln>
            <a:noFill/>
          </a:ln>
        </p:spPr>
      </p:pic>
    </p:spTree>
  </p:cSld>
  <p:clrMapOvr>
    <a:masterClrMapping/>
  </p:clrMapOvr>
  <p:transition spd="med">
    <p:fade/>
  </p:transition>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A2E"/>
        </a:solidFill>
      </p:bgPr>
    </p:bg>
    <p:spTree>
      <p:nvGrpSpPr>
        <p:cNvPr id="722" name="Shape 722"/>
        <p:cNvGrpSpPr/>
        <p:nvPr/>
      </p:nvGrpSpPr>
      <p:grpSpPr>
        <a:xfrm>
          <a:off x="0" y="0"/>
          <a:ext cx="0" cy="0"/>
          <a:chOff x="0" y="0"/>
          <a:chExt cx="0" cy="0"/>
        </a:xfrm>
      </p:grpSpPr>
      <p:sp>
        <p:nvSpPr>
          <p:cNvPr id="723" name="Google Shape;723;p16"/>
          <p:cNvSpPr txBox="1"/>
          <p:nvPr/>
        </p:nvSpPr>
        <p:spPr>
          <a:xfrm>
            <a:off x="502920" y="274320"/>
            <a:ext cx="18288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5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724" name="Google Shape;724;p16"/>
          <p:cNvSpPr txBox="1"/>
          <p:nvPr/>
        </p:nvSpPr>
        <p:spPr>
          <a:xfrm>
            <a:off x="685800" y="274320"/>
            <a:ext cx="36576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1150" u="none" cap="none" strike="noStrike">
                <a:solidFill>
                  <a:srgbClr val="CDD5E2"/>
                </a:solidFill>
                <a:latin typeface="Inter"/>
                <a:ea typeface="Inter"/>
                <a:cs typeface="Inter"/>
                <a:sym typeface="Inter"/>
              </a:rPr>
              <a:t>IRIS</a:t>
            </a:r>
            <a:endParaRPr b="0" i="0" sz="1400" u="none" cap="none" strike="noStrike">
              <a:solidFill>
                <a:srgbClr val="000000"/>
              </a:solidFill>
              <a:latin typeface="Arial"/>
              <a:ea typeface="Arial"/>
              <a:cs typeface="Arial"/>
              <a:sym typeface="Arial"/>
            </a:endParaRPr>
          </a:p>
        </p:txBody>
      </p:sp>
      <p:sp>
        <p:nvSpPr>
          <p:cNvPr id="725" name="Google Shape;725;p16"/>
          <p:cNvSpPr txBox="1"/>
          <p:nvPr/>
        </p:nvSpPr>
        <p:spPr>
          <a:xfrm>
            <a:off x="502920" y="1188720"/>
            <a:ext cx="10972800" cy="914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400" u="none" cap="none" strike="noStrike">
                <a:solidFill>
                  <a:srgbClr val="FFFFFF"/>
                </a:solidFill>
                <a:latin typeface="Inter"/>
                <a:ea typeface="Inter"/>
                <a:cs typeface="Inter"/>
                <a:sym typeface="Inter"/>
              </a:rPr>
              <a:t>Telegraphic in. Full sentences out.</a:t>
            </a:r>
            <a:endParaRPr b="0" i="0" sz="1400" u="none" cap="none" strike="noStrike">
              <a:solidFill>
                <a:srgbClr val="000000"/>
              </a:solidFill>
              <a:latin typeface="Arial"/>
              <a:ea typeface="Arial"/>
              <a:cs typeface="Arial"/>
              <a:sym typeface="Arial"/>
            </a:endParaRPr>
          </a:p>
        </p:txBody>
      </p:sp>
      <p:sp>
        <p:nvSpPr>
          <p:cNvPr id="726" name="Google Shape;726;p16"/>
          <p:cNvSpPr txBox="1"/>
          <p:nvPr/>
        </p:nvSpPr>
        <p:spPr>
          <a:xfrm>
            <a:off x="502920" y="2103120"/>
            <a:ext cx="105156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1" lang="en-US" sz="1700" u="none" cap="none" strike="noStrike">
                <a:solidFill>
                  <a:srgbClr val="CDD5E2"/>
                </a:solidFill>
                <a:latin typeface="Inter"/>
                <a:ea typeface="Inter"/>
                <a:cs typeface="Inter"/>
                <a:sym typeface="Inter"/>
              </a:rPr>
              <a:t>Patients with motor fatigue can't spell long sentences. Gemini AI expands telegraphic intent into articulate speech.</a:t>
            </a:r>
            <a:endParaRPr b="0" i="0" sz="1400" u="none" cap="none" strike="noStrike">
              <a:solidFill>
                <a:srgbClr val="000000"/>
              </a:solidFill>
              <a:latin typeface="Arial"/>
              <a:ea typeface="Arial"/>
              <a:cs typeface="Arial"/>
              <a:sym typeface="Arial"/>
            </a:endParaRPr>
          </a:p>
        </p:txBody>
      </p:sp>
      <p:sp>
        <p:nvSpPr>
          <p:cNvPr id="727" name="Google Shape;727;p16"/>
          <p:cNvSpPr/>
          <p:nvPr/>
        </p:nvSpPr>
        <p:spPr>
          <a:xfrm>
            <a:off x="502920" y="2926080"/>
            <a:ext cx="5303520" cy="3383280"/>
          </a:xfrm>
          <a:prstGeom prst="roundRect">
            <a:avLst>
              <a:gd fmla="val 16667" name="adj"/>
            </a:avLst>
          </a:prstGeom>
          <a:solidFill>
            <a:srgbClr val="0F2440"/>
          </a:solidFill>
          <a:ln cap="flat" cmpd="sng" w="9525">
            <a:solidFill>
              <a:srgbClr val="0E7490"/>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28" name="Google Shape;728;p16"/>
          <p:cNvSpPr txBox="1"/>
          <p:nvPr/>
        </p:nvSpPr>
        <p:spPr>
          <a:xfrm>
            <a:off x="731520" y="3063240"/>
            <a:ext cx="484632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400" u="none" cap="none" strike="noStrike">
                <a:solidFill>
                  <a:srgbClr val="22D3EE"/>
                </a:solidFill>
                <a:latin typeface="Inter"/>
                <a:ea typeface="Inter"/>
                <a:cs typeface="Inter"/>
                <a:sym typeface="Inter"/>
              </a:rPr>
              <a:t>PATIENT INPUT (telegraphic)</a:t>
            </a:r>
            <a:endParaRPr b="0" i="0" sz="1400" u="none" cap="none" strike="noStrike">
              <a:solidFill>
                <a:srgbClr val="000000"/>
              </a:solidFill>
              <a:latin typeface="Arial"/>
              <a:ea typeface="Arial"/>
              <a:cs typeface="Arial"/>
              <a:sym typeface="Arial"/>
            </a:endParaRPr>
          </a:p>
        </p:txBody>
      </p:sp>
      <p:sp>
        <p:nvSpPr>
          <p:cNvPr id="729" name="Google Shape;729;p16"/>
          <p:cNvSpPr txBox="1"/>
          <p:nvPr/>
        </p:nvSpPr>
        <p:spPr>
          <a:xfrm>
            <a:off x="731520" y="3429000"/>
            <a:ext cx="4846320" cy="5486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100" u="none" cap="none" strike="noStrike">
                <a:solidFill>
                  <a:srgbClr val="FFFFFF"/>
                </a:solidFill>
                <a:latin typeface="Inter"/>
                <a:ea typeface="Inter"/>
                <a:cs typeface="Inter"/>
                <a:sym typeface="Inter"/>
              </a:rPr>
              <a:t>pain / left shoulder / sharp</a:t>
            </a:r>
            <a:endParaRPr b="0" i="0" sz="1400" u="none" cap="none" strike="noStrike">
              <a:solidFill>
                <a:srgbClr val="000000"/>
              </a:solidFill>
              <a:latin typeface="Arial"/>
              <a:ea typeface="Arial"/>
              <a:cs typeface="Arial"/>
              <a:sym typeface="Arial"/>
            </a:endParaRPr>
          </a:p>
        </p:txBody>
      </p:sp>
      <p:sp>
        <p:nvSpPr>
          <p:cNvPr id="730" name="Google Shape;730;p16"/>
          <p:cNvSpPr txBox="1"/>
          <p:nvPr/>
        </p:nvSpPr>
        <p:spPr>
          <a:xfrm>
            <a:off x="731520" y="4023360"/>
            <a:ext cx="484632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1" lang="en-US" sz="1400" u="none" cap="none" strike="noStrike">
                <a:solidFill>
                  <a:srgbClr val="22D3EE"/>
                </a:solidFill>
                <a:latin typeface="Inter"/>
                <a:ea typeface="Inter"/>
                <a:cs typeface="Inter"/>
                <a:sym typeface="Inter"/>
              </a:rPr>
              <a:t>↓ Gemini AI Expansion</a:t>
            </a:r>
            <a:endParaRPr b="0" i="0" sz="1400" u="none" cap="none" strike="noStrike">
              <a:solidFill>
                <a:srgbClr val="000000"/>
              </a:solidFill>
              <a:latin typeface="Arial"/>
              <a:ea typeface="Arial"/>
              <a:cs typeface="Arial"/>
              <a:sym typeface="Arial"/>
            </a:endParaRPr>
          </a:p>
        </p:txBody>
      </p:sp>
      <p:sp>
        <p:nvSpPr>
          <p:cNvPr id="731" name="Google Shape;731;p16"/>
          <p:cNvSpPr txBox="1"/>
          <p:nvPr/>
        </p:nvSpPr>
        <p:spPr>
          <a:xfrm>
            <a:off x="731520" y="4389120"/>
            <a:ext cx="4846320" cy="137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1" lang="en-US" sz="1700" u="none" cap="none" strike="noStrike">
                <a:solidFill>
                  <a:srgbClr val="FFFFFF"/>
                </a:solidFill>
                <a:latin typeface="Inter"/>
                <a:ea typeface="Inter"/>
                <a:cs typeface="Inter"/>
                <a:sym typeface="Inter"/>
              </a:rPr>
              <a:t>"I am experiencing a sharp pain in my left shoulder; could you please help me readjust my position and check my pillows?"</a:t>
            </a:r>
            <a:endParaRPr b="0" i="0" sz="1400" u="none" cap="none" strike="noStrike">
              <a:solidFill>
                <a:srgbClr val="000000"/>
              </a:solidFill>
              <a:latin typeface="Arial"/>
              <a:ea typeface="Arial"/>
              <a:cs typeface="Arial"/>
              <a:sym typeface="Arial"/>
            </a:endParaRPr>
          </a:p>
        </p:txBody>
      </p:sp>
      <p:sp>
        <p:nvSpPr>
          <p:cNvPr id="732" name="Google Shape;732;p16"/>
          <p:cNvSpPr txBox="1"/>
          <p:nvPr/>
        </p:nvSpPr>
        <p:spPr>
          <a:xfrm>
            <a:off x="731520" y="5669280"/>
            <a:ext cx="484632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400" u="none" cap="none" strike="noStrike">
                <a:solidFill>
                  <a:srgbClr val="22D3EE"/>
                </a:solidFill>
                <a:latin typeface="Inter"/>
                <a:ea typeface="Inter"/>
                <a:cs typeface="Inter"/>
                <a:sym typeface="Inter"/>
              </a:rPr>
              <a:t>→ Spoken aloud via Web Speech API TTS</a:t>
            </a:r>
            <a:endParaRPr b="0" i="0" sz="1400" u="none" cap="none" strike="noStrike">
              <a:solidFill>
                <a:srgbClr val="000000"/>
              </a:solidFill>
              <a:latin typeface="Arial"/>
              <a:ea typeface="Arial"/>
              <a:cs typeface="Arial"/>
              <a:sym typeface="Arial"/>
            </a:endParaRPr>
          </a:p>
        </p:txBody>
      </p:sp>
      <p:sp>
        <p:nvSpPr>
          <p:cNvPr id="733" name="Google Shape;733;p16"/>
          <p:cNvSpPr txBox="1"/>
          <p:nvPr/>
        </p:nvSpPr>
        <p:spPr>
          <a:xfrm>
            <a:off x="6355080" y="2926080"/>
            <a:ext cx="530352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400" u="none" cap="none" strike="noStrike">
                <a:solidFill>
                  <a:srgbClr val="22D3EE"/>
                </a:solidFill>
                <a:latin typeface="Inter"/>
                <a:ea typeface="Inter"/>
                <a:cs typeface="Inter"/>
                <a:sym typeface="Inter"/>
              </a:rPr>
              <a:t>KEY FEATURES</a:t>
            </a:r>
            <a:endParaRPr b="0" i="0" sz="1400" u="none" cap="none" strike="noStrike">
              <a:solidFill>
                <a:srgbClr val="000000"/>
              </a:solidFill>
              <a:latin typeface="Arial"/>
              <a:ea typeface="Arial"/>
              <a:cs typeface="Arial"/>
              <a:sym typeface="Arial"/>
            </a:endParaRPr>
          </a:p>
        </p:txBody>
      </p:sp>
      <p:sp>
        <p:nvSpPr>
          <p:cNvPr id="734" name="Google Shape;734;p16"/>
          <p:cNvSpPr txBox="1"/>
          <p:nvPr/>
        </p:nvSpPr>
        <p:spPr>
          <a:xfrm>
            <a:off x="6355080" y="3291840"/>
            <a:ext cx="18288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40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735" name="Google Shape;735;p16"/>
          <p:cNvSpPr txBox="1"/>
          <p:nvPr/>
        </p:nvSpPr>
        <p:spPr>
          <a:xfrm>
            <a:off x="6583680" y="3291840"/>
            <a:ext cx="507492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500" u="none" cap="none" strike="noStrike">
                <a:solidFill>
                  <a:srgbClr val="FFFFFF"/>
                </a:solidFill>
                <a:latin typeface="Inter"/>
                <a:ea typeface="Inter"/>
                <a:cs typeface="Inter"/>
                <a:sym typeface="Inter"/>
              </a:rPr>
              <a:t>Google Gemini multimodal LLM for expansion</a:t>
            </a:r>
            <a:endParaRPr b="0" i="0" sz="1400" u="none" cap="none" strike="noStrike">
              <a:solidFill>
                <a:srgbClr val="000000"/>
              </a:solidFill>
              <a:latin typeface="Arial"/>
              <a:ea typeface="Arial"/>
              <a:cs typeface="Arial"/>
              <a:sym typeface="Arial"/>
            </a:endParaRPr>
          </a:p>
        </p:txBody>
      </p:sp>
      <p:sp>
        <p:nvSpPr>
          <p:cNvPr id="736" name="Google Shape;736;p16"/>
          <p:cNvSpPr txBox="1"/>
          <p:nvPr/>
        </p:nvSpPr>
        <p:spPr>
          <a:xfrm>
            <a:off x="6355080" y="3657600"/>
            <a:ext cx="18288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40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737" name="Google Shape;737;p16"/>
          <p:cNvSpPr txBox="1"/>
          <p:nvPr/>
        </p:nvSpPr>
        <p:spPr>
          <a:xfrm>
            <a:off x="6583680" y="3657600"/>
            <a:ext cx="507492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500" u="none" cap="none" strike="noStrike">
                <a:solidFill>
                  <a:srgbClr val="FFFFFF"/>
                </a:solidFill>
                <a:latin typeface="Inter"/>
                <a:ea typeface="Inter"/>
                <a:cs typeface="Inter"/>
                <a:sym typeface="Inter"/>
              </a:rPr>
              <a:t>Context-aware: time-of-day, history, clinical terms</a:t>
            </a:r>
            <a:endParaRPr b="0" i="0" sz="1400" u="none" cap="none" strike="noStrike">
              <a:solidFill>
                <a:srgbClr val="000000"/>
              </a:solidFill>
              <a:latin typeface="Arial"/>
              <a:ea typeface="Arial"/>
              <a:cs typeface="Arial"/>
              <a:sym typeface="Arial"/>
            </a:endParaRPr>
          </a:p>
        </p:txBody>
      </p:sp>
      <p:sp>
        <p:nvSpPr>
          <p:cNvPr id="738" name="Google Shape;738;p16"/>
          <p:cNvSpPr txBox="1"/>
          <p:nvPr/>
        </p:nvSpPr>
        <p:spPr>
          <a:xfrm>
            <a:off x="6355080" y="4023360"/>
            <a:ext cx="18288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40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739" name="Google Shape;739;p16"/>
          <p:cNvSpPr txBox="1"/>
          <p:nvPr/>
        </p:nvSpPr>
        <p:spPr>
          <a:xfrm>
            <a:off x="6583680" y="4023360"/>
            <a:ext cx="507492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500" u="none" cap="none" strike="noStrike">
                <a:solidFill>
                  <a:srgbClr val="FFFFFF"/>
                </a:solidFill>
                <a:latin typeface="Inter"/>
                <a:ea typeface="Inter"/>
                <a:cs typeface="Inter"/>
                <a:sym typeface="Inter"/>
              </a:rPr>
              <a:t>Patient confirms before vocalization (agency)</a:t>
            </a:r>
            <a:endParaRPr b="0" i="0" sz="1400" u="none" cap="none" strike="noStrike">
              <a:solidFill>
                <a:srgbClr val="000000"/>
              </a:solidFill>
              <a:latin typeface="Arial"/>
              <a:ea typeface="Arial"/>
              <a:cs typeface="Arial"/>
              <a:sym typeface="Arial"/>
            </a:endParaRPr>
          </a:p>
        </p:txBody>
      </p:sp>
      <p:sp>
        <p:nvSpPr>
          <p:cNvPr id="740" name="Google Shape;740;p16"/>
          <p:cNvSpPr txBox="1"/>
          <p:nvPr/>
        </p:nvSpPr>
        <p:spPr>
          <a:xfrm>
            <a:off x="6355080" y="4389120"/>
            <a:ext cx="18288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40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741" name="Google Shape;741;p16"/>
          <p:cNvSpPr txBox="1"/>
          <p:nvPr/>
        </p:nvSpPr>
        <p:spPr>
          <a:xfrm>
            <a:off x="6583680" y="4389120"/>
            <a:ext cx="507492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500" u="none" cap="none" strike="noStrike">
                <a:solidFill>
                  <a:srgbClr val="FFFFFF"/>
                </a:solidFill>
                <a:latin typeface="Inter"/>
                <a:ea typeface="Inter"/>
                <a:cs typeface="Inter"/>
                <a:sym typeface="Inter"/>
              </a:rPr>
              <a:t>Quick emergency tiles bypass AI for instant alert</a:t>
            </a:r>
            <a:endParaRPr b="0" i="0" sz="1400" u="none" cap="none" strike="noStrike">
              <a:solidFill>
                <a:srgbClr val="000000"/>
              </a:solidFill>
              <a:latin typeface="Arial"/>
              <a:ea typeface="Arial"/>
              <a:cs typeface="Arial"/>
              <a:sym typeface="Arial"/>
            </a:endParaRPr>
          </a:p>
        </p:txBody>
      </p:sp>
      <p:sp>
        <p:nvSpPr>
          <p:cNvPr id="742" name="Google Shape;742;p16"/>
          <p:cNvSpPr txBox="1"/>
          <p:nvPr/>
        </p:nvSpPr>
        <p:spPr>
          <a:xfrm>
            <a:off x="6355080" y="4754880"/>
            <a:ext cx="18288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40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743" name="Google Shape;743;p16"/>
          <p:cNvSpPr txBox="1"/>
          <p:nvPr/>
        </p:nvSpPr>
        <p:spPr>
          <a:xfrm>
            <a:off x="6583680" y="4754880"/>
            <a:ext cx="507492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500" u="none" cap="none" strike="noStrike">
                <a:solidFill>
                  <a:srgbClr val="FFFFFF"/>
                </a:solidFill>
                <a:latin typeface="Inter"/>
                <a:ea typeface="Inter"/>
                <a:cs typeface="Inter"/>
                <a:sym typeface="Inter"/>
              </a:rPr>
              <a:t>Hindi + English support</a:t>
            </a:r>
            <a:endParaRPr b="0" i="0" sz="1400" u="none" cap="none" strike="noStrike">
              <a:solidFill>
                <a:srgbClr val="000000"/>
              </a:solidFill>
              <a:latin typeface="Arial"/>
              <a:ea typeface="Arial"/>
              <a:cs typeface="Arial"/>
              <a:sym typeface="Arial"/>
            </a:endParaRPr>
          </a:p>
        </p:txBody>
      </p:sp>
      <p:sp>
        <p:nvSpPr>
          <p:cNvPr id="744" name="Google Shape;744;p16"/>
          <p:cNvSpPr txBox="1"/>
          <p:nvPr/>
        </p:nvSpPr>
        <p:spPr>
          <a:xfrm>
            <a:off x="6355080" y="5120640"/>
            <a:ext cx="18288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40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745" name="Google Shape;745;p16"/>
          <p:cNvSpPr txBox="1"/>
          <p:nvPr/>
        </p:nvSpPr>
        <p:spPr>
          <a:xfrm>
            <a:off x="6583680" y="5120640"/>
            <a:ext cx="507492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500" u="none" cap="none" strike="noStrike">
                <a:solidFill>
                  <a:srgbClr val="FFFFFF"/>
                </a:solidFill>
                <a:latin typeface="Inter"/>
                <a:ea typeface="Inter"/>
                <a:cs typeface="Inter"/>
                <a:sym typeface="Inter"/>
              </a:rPr>
              <a:t>Local TTS via Web Speech API — no cloud voice</a:t>
            </a:r>
            <a:endParaRPr b="0" i="0" sz="1400" u="none" cap="none" strike="noStrike">
              <a:solidFill>
                <a:srgbClr val="000000"/>
              </a:solidFill>
              <a:latin typeface="Arial"/>
              <a:ea typeface="Arial"/>
              <a:cs typeface="Arial"/>
              <a:sym typeface="Arial"/>
            </a:endParaRPr>
          </a:p>
        </p:txBody>
      </p:sp>
      <p:sp>
        <p:nvSpPr>
          <p:cNvPr id="746" name="Google Shape;746;p16"/>
          <p:cNvSpPr txBox="1"/>
          <p:nvPr/>
        </p:nvSpPr>
        <p:spPr>
          <a:xfrm>
            <a:off x="6355080" y="5486400"/>
            <a:ext cx="18288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40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747" name="Google Shape;747;p16"/>
          <p:cNvSpPr txBox="1"/>
          <p:nvPr/>
        </p:nvSpPr>
        <p:spPr>
          <a:xfrm>
            <a:off x="6583680" y="5486400"/>
            <a:ext cx="507492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500" u="none" cap="none" strike="noStrike">
                <a:solidFill>
                  <a:srgbClr val="FFFFFF"/>
                </a:solidFill>
                <a:latin typeface="Inter"/>
                <a:ea typeface="Inter"/>
                <a:cs typeface="Inter"/>
                <a:sym typeface="Inter"/>
              </a:rPr>
              <a:t>Cancel/confirm options always visible</a:t>
            </a:r>
            <a:endParaRPr b="0" i="0" sz="1400" u="none" cap="none" strike="noStrike">
              <a:solidFill>
                <a:srgbClr val="000000"/>
              </a:solidFill>
              <a:latin typeface="Arial"/>
              <a:ea typeface="Arial"/>
              <a:cs typeface="Arial"/>
              <a:sym typeface="Arial"/>
            </a:endParaRPr>
          </a:p>
        </p:txBody>
      </p:sp>
      <p:sp>
        <p:nvSpPr>
          <p:cNvPr id="748" name="Google Shape;748;p16"/>
          <p:cNvSpPr txBox="1"/>
          <p:nvPr/>
        </p:nvSpPr>
        <p:spPr>
          <a:xfrm>
            <a:off x="6355080" y="5852160"/>
            <a:ext cx="18288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40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749" name="Google Shape;749;p16"/>
          <p:cNvSpPr txBox="1"/>
          <p:nvPr/>
        </p:nvSpPr>
        <p:spPr>
          <a:xfrm>
            <a:off x="6583680" y="5852160"/>
            <a:ext cx="507492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500" u="none" cap="none" strike="noStrike">
                <a:solidFill>
                  <a:srgbClr val="FFFFFF"/>
                </a:solidFill>
                <a:latin typeface="Inter"/>
                <a:ea typeface="Inter"/>
                <a:cs typeface="Inter"/>
                <a:sym typeface="Inter"/>
              </a:rPr>
              <a:t>Telegraphic mode for severe motor fatigue</a:t>
            </a:r>
            <a:endParaRPr b="0" i="0" sz="1400" u="none" cap="none" strike="noStrike">
              <a:solidFill>
                <a:srgbClr val="000000"/>
              </a:solidFill>
              <a:latin typeface="Arial"/>
              <a:ea typeface="Arial"/>
              <a:cs typeface="Arial"/>
              <a:sym typeface="Arial"/>
            </a:endParaRPr>
          </a:p>
        </p:txBody>
      </p:sp>
    </p:spTree>
  </p:cSld>
  <p:clrMapOvr>
    <a:masterClrMapping/>
  </p:clrMapOvr>
  <p:transition spd="med">
    <p:fade/>
  </p:transition>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53"/>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755" name="Google Shape;755;p53"/>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6" name="Google Shape;756;p53"/>
          <p:cNvSpPr/>
          <p:nvPr/>
        </p:nvSpPr>
        <p:spPr>
          <a:xfrm>
            <a:off x="502920" y="1280160"/>
            <a:ext cx="109728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3600"/>
              <a:buFont typeface="Arial"/>
              <a:buNone/>
            </a:pPr>
            <a:r>
              <a:rPr b="1" i="0" lang="en-US" sz="3400" u="none" cap="none" strike="noStrike">
                <a:solidFill>
                  <a:srgbClr val="FFFFFF"/>
                </a:solidFill>
                <a:latin typeface="Inter"/>
                <a:ea typeface="Inter"/>
                <a:cs typeface="Inter"/>
                <a:sym typeface="Inter"/>
              </a:rPr>
              <a:t>Control room lights with a blink. Always connected.</a:t>
            </a:r>
            <a:endParaRPr b="0" i="0" sz="3600" u="none" cap="none" strike="noStrike">
              <a:solidFill>
                <a:schemeClr val="dk1"/>
              </a:solidFill>
              <a:latin typeface="Calibri"/>
              <a:ea typeface="Calibri"/>
              <a:cs typeface="Calibri"/>
              <a:sym typeface="Calibri"/>
            </a:endParaRPr>
          </a:p>
        </p:txBody>
      </p:sp>
      <p:sp>
        <p:nvSpPr>
          <p:cNvPr id="757" name="Google Shape;757;p53"/>
          <p:cNvSpPr/>
          <p:nvPr/>
        </p:nvSpPr>
        <p:spPr>
          <a:xfrm>
            <a:off x="502920" y="2111430"/>
            <a:ext cx="1051560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C5D6"/>
              </a:buClr>
              <a:buSzPts val="1800"/>
              <a:buFont typeface="Calibri"/>
              <a:buNone/>
            </a:pPr>
            <a:r>
              <a:rPr b="0" i="1" lang="en-US" sz="1750" u="none" cap="none" strike="noStrike">
                <a:solidFill>
                  <a:srgbClr val="B7C5D6"/>
                </a:solidFill>
                <a:latin typeface="Inter"/>
                <a:ea typeface="Inter"/>
                <a:cs typeface="Inter"/>
                <a:sym typeface="Inter"/>
              </a:rPr>
              <a:t>IRIS operates as a full IoT device — connecting over both Bluetooth and Wi-Fi for smart-room agency.</a:t>
            </a:r>
            <a:endParaRPr b="0" i="0" sz="1800" u="none" cap="none" strike="noStrike">
              <a:solidFill>
                <a:schemeClr val="dk1"/>
              </a:solidFill>
              <a:latin typeface="Calibri"/>
              <a:ea typeface="Calibri"/>
              <a:cs typeface="Calibri"/>
              <a:sym typeface="Calibri"/>
            </a:endParaRPr>
          </a:p>
        </p:txBody>
      </p:sp>
      <p:sp>
        <p:nvSpPr>
          <p:cNvPr id="758" name="Google Shape;758;p53"/>
          <p:cNvSpPr/>
          <p:nvPr/>
        </p:nvSpPr>
        <p:spPr>
          <a:xfrm>
            <a:off x="472288" y="2926080"/>
            <a:ext cx="5440680" cy="3474720"/>
          </a:xfrm>
          <a:prstGeom prst="roundRect">
            <a:avLst>
              <a:gd fmla="val 2105"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9" name="Google Shape;759;p53"/>
          <p:cNvSpPr/>
          <p:nvPr/>
        </p:nvSpPr>
        <p:spPr>
          <a:xfrm>
            <a:off x="792328" y="3246120"/>
            <a:ext cx="685800" cy="685800"/>
          </a:xfrm>
          <a:prstGeom prst="ellipse">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60" name="Google Shape;760;p53"/>
          <p:cNvSpPr/>
          <p:nvPr/>
        </p:nvSpPr>
        <p:spPr>
          <a:xfrm>
            <a:off x="792328" y="3246120"/>
            <a:ext cx="6858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61" name="Google Shape;761;p53"/>
          <p:cNvSpPr/>
          <p:nvPr/>
        </p:nvSpPr>
        <p:spPr>
          <a:xfrm>
            <a:off x="1661008" y="3291840"/>
            <a:ext cx="4069080"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300" u="none" cap="none" strike="noStrike">
                <a:solidFill>
                  <a:srgbClr val="22D3EE"/>
                </a:solidFill>
                <a:latin typeface="Inter"/>
                <a:ea typeface="Inter"/>
                <a:cs typeface="Inter"/>
                <a:sym typeface="Inter"/>
              </a:rPr>
              <a:t>IOT CLOUD &amp; SMART ROOM SIMULATION</a:t>
            </a:r>
            <a:endParaRPr b="0" i="0" sz="1100" u="none" cap="none" strike="noStrike">
              <a:solidFill>
                <a:schemeClr val="dk1"/>
              </a:solidFill>
              <a:latin typeface="Calibri"/>
              <a:ea typeface="Calibri"/>
              <a:cs typeface="Calibri"/>
              <a:sym typeface="Calibri"/>
            </a:endParaRPr>
          </a:p>
        </p:txBody>
      </p:sp>
      <p:sp>
        <p:nvSpPr>
          <p:cNvPr id="762" name="Google Shape;762;p53"/>
          <p:cNvSpPr/>
          <p:nvPr/>
        </p:nvSpPr>
        <p:spPr>
          <a:xfrm>
            <a:off x="1661008" y="3566160"/>
            <a:ext cx="4114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1900" u="none" cap="none" strike="noStrike">
                <a:solidFill>
                  <a:srgbClr val="FFFFFF"/>
                </a:solidFill>
                <a:latin typeface="Inter"/>
                <a:ea typeface="Inter"/>
                <a:cs typeface="Inter"/>
                <a:sym typeface="Inter"/>
              </a:rPr>
              <a:t>Turn on lights and fans from blink.</a:t>
            </a:r>
            <a:endParaRPr b="0" i="0" sz="2000" u="none" cap="none" strike="noStrike">
              <a:solidFill>
                <a:schemeClr val="dk1"/>
              </a:solidFill>
              <a:latin typeface="Calibri"/>
              <a:ea typeface="Calibri"/>
              <a:cs typeface="Calibri"/>
              <a:sym typeface="Calibri"/>
            </a:endParaRPr>
          </a:p>
        </p:txBody>
      </p:sp>
      <p:sp>
        <p:nvSpPr>
          <p:cNvPr id="763" name="Google Shape;763;p53"/>
          <p:cNvSpPr/>
          <p:nvPr/>
        </p:nvSpPr>
        <p:spPr>
          <a:xfrm>
            <a:off x="792328" y="4133087"/>
            <a:ext cx="5010912" cy="160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800"/>
              <a:buFont typeface="Calibri"/>
              <a:buNone/>
            </a:pPr>
            <a:r>
              <a:rPr b="0" i="0" lang="en-US" sz="1450" u="none" cap="none" strike="noStrike">
                <a:solidFill>
                  <a:srgbClr val="B4C3DC"/>
                </a:solidFill>
                <a:latin typeface="Inter"/>
                <a:ea typeface="Inter"/>
                <a:cs typeface="Inter"/>
                <a:sym typeface="Inter"/>
              </a:rPr>
              <a:t>•  Connects to Wi-Fi IoT relays for room control.</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Toggle bedroom lights &amp; fans via blink tiles.</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Includes live virtual smart-room simulator.</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Restores room independence without a nurse.</a:t>
            </a:r>
            <a:endParaRPr/>
          </a:p>
        </p:txBody>
      </p:sp>
      <p:sp>
        <p:nvSpPr>
          <p:cNvPr id="764" name="Google Shape;764;p53"/>
          <p:cNvSpPr/>
          <p:nvPr/>
        </p:nvSpPr>
        <p:spPr>
          <a:xfrm>
            <a:off x="792328" y="5897880"/>
            <a:ext cx="4663440" cy="347472"/>
          </a:xfrm>
          <a:prstGeom prst="roundRect">
            <a:avLst>
              <a:gd fmla="val 142857" name="adj"/>
            </a:avLst>
          </a:prstGeom>
          <a:solidFill>
            <a:srgbClr val="0B25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765" name="Google Shape;765;p53"/>
          <p:cNvSpPr/>
          <p:nvPr/>
        </p:nvSpPr>
        <p:spPr>
          <a:xfrm>
            <a:off x="792328" y="5897880"/>
            <a:ext cx="466344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200"/>
              <a:buFont typeface="Calibri"/>
              <a:buNone/>
            </a:pPr>
            <a:r>
              <a:rPr b="1" i="0" lang="en-US" sz="1300" u="none" cap="none" strike="noStrike">
                <a:solidFill>
                  <a:srgbClr val="22D3EE"/>
                </a:solidFill>
                <a:latin typeface="Inter"/>
                <a:ea typeface="Inter"/>
                <a:cs typeface="Inter"/>
                <a:sym typeface="Inter"/>
              </a:rPr>
              <a:t>Wi-Fi IoT Cloud · Live Room Simulator</a:t>
            </a:r>
            <a:endParaRPr b="0" i="0" sz="1100" u="none" cap="none" strike="noStrike">
              <a:solidFill>
                <a:schemeClr val="dk1"/>
              </a:solidFill>
              <a:latin typeface="Calibri"/>
              <a:ea typeface="Calibri"/>
              <a:cs typeface="Calibri"/>
              <a:sym typeface="Calibri"/>
            </a:endParaRPr>
          </a:p>
        </p:txBody>
      </p:sp>
      <p:sp>
        <p:nvSpPr>
          <p:cNvPr id="766" name="Google Shape;766;p53"/>
          <p:cNvSpPr/>
          <p:nvPr/>
        </p:nvSpPr>
        <p:spPr>
          <a:xfrm>
            <a:off x="6278728" y="2926080"/>
            <a:ext cx="5440680" cy="3474720"/>
          </a:xfrm>
          <a:prstGeom prst="roundRect">
            <a:avLst>
              <a:gd fmla="val 2105"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67" name="Google Shape;767;p53"/>
          <p:cNvSpPr/>
          <p:nvPr/>
        </p:nvSpPr>
        <p:spPr>
          <a:xfrm>
            <a:off x="6598768" y="3246120"/>
            <a:ext cx="685800" cy="685800"/>
          </a:xfrm>
          <a:prstGeom prst="ellipse">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68" name="Google Shape;768;p53"/>
          <p:cNvSpPr/>
          <p:nvPr/>
        </p:nvSpPr>
        <p:spPr>
          <a:xfrm>
            <a:off x="6598768" y="3246120"/>
            <a:ext cx="6858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B02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69" name="Google Shape;769;p53"/>
          <p:cNvSpPr/>
          <p:nvPr/>
        </p:nvSpPr>
        <p:spPr>
          <a:xfrm>
            <a:off x="7467448" y="3291840"/>
            <a:ext cx="4069080"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B020"/>
              </a:buClr>
              <a:buSzPts val="1100"/>
              <a:buFont typeface="Calibri"/>
              <a:buNone/>
            </a:pPr>
            <a:r>
              <a:rPr b="1" i="0" lang="en-US" sz="1300" u="none" cap="none" strike="noStrike">
                <a:solidFill>
                  <a:srgbClr val="FFB020"/>
                </a:solidFill>
                <a:latin typeface="Inter"/>
                <a:ea typeface="Inter"/>
                <a:cs typeface="Inter"/>
                <a:sym typeface="Inter"/>
              </a:rPr>
              <a:t>AUTOMATIC WI-FI FAILOVER &amp; DEEP SLEEP</a:t>
            </a:r>
            <a:endParaRPr b="0" i="0" sz="1100" u="none" cap="none" strike="noStrike">
              <a:solidFill>
                <a:schemeClr val="dk1"/>
              </a:solidFill>
              <a:latin typeface="Calibri"/>
              <a:ea typeface="Calibri"/>
              <a:cs typeface="Calibri"/>
              <a:sym typeface="Calibri"/>
            </a:endParaRPr>
          </a:p>
        </p:txBody>
      </p:sp>
      <p:sp>
        <p:nvSpPr>
          <p:cNvPr id="770" name="Google Shape;770;p53"/>
          <p:cNvSpPr/>
          <p:nvPr/>
        </p:nvSpPr>
        <p:spPr>
          <a:xfrm>
            <a:off x="7467448" y="3566160"/>
            <a:ext cx="4114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1900" u="none" cap="none" strike="noStrike">
                <a:solidFill>
                  <a:srgbClr val="FFFFFF"/>
                </a:solidFill>
                <a:latin typeface="Inter"/>
                <a:ea typeface="Inter"/>
                <a:cs typeface="Inter"/>
                <a:sym typeface="Inter"/>
              </a:rPr>
              <a:t>If Bluetooth drops, Wi-Fi takes over.</a:t>
            </a:r>
            <a:endParaRPr b="0" i="0" sz="2000" u="none" cap="none" strike="noStrike">
              <a:solidFill>
                <a:schemeClr val="dk1"/>
              </a:solidFill>
              <a:latin typeface="Calibri"/>
              <a:ea typeface="Calibri"/>
              <a:cs typeface="Calibri"/>
              <a:sym typeface="Calibri"/>
            </a:endParaRPr>
          </a:p>
        </p:txBody>
      </p:sp>
      <p:sp>
        <p:nvSpPr>
          <p:cNvPr id="771" name="Google Shape;771;p53"/>
          <p:cNvSpPr/>
          <p:nvPr/>
        </p:nvSpPr>
        <p:spPr>
          <a:xfrm>
            <a:off x="6598768" y="4133087"/>
            <a:ext cx="5010912" cy="160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2000"/>
              <a:buFont typeface="Calibri"/>
              <a:buNone/>
            </a:pPr>
            <a:r>
              <a:rPr b="0" i="0" lang="en-US" sz="1450" u="none" cap="none" strike="noStrike">
                <a:solidFill>
                  <a:srgbClr val="B4C3DC"/>
                </a:solidFill>
                <a:latin typeface="Inter"/>
                <a:ea typeface="Inter"/>
                <a:cs typeface="Inter"/>
                <a:sym typeface="Inter"/>
              </a:rPr>
              <a:t>•  Low-energy Bluetooth (BLE 5.0) primary link.</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Auto-switches to Wi-Fi if BLE disconnects.</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Cursor and SOS alerts never drop mid-use.</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Deep Sleep mode extends battery to 12 hours.</a:t>
            </a:r>
            <a:endParaRPr/>
          </a:p>
        </p:txBody>
      </p:sp>
      <p:sp>
        <p:nvSpPr>
          <p:cNvPr id="772" name="Google Shape;772;p53"/>
          <p:cNvSpPr/>
          <p:nvPr/>
        </p:nvSpPr>
        <p:spPr>
          <a:xfrm>
            <a:off x="6598768" y="5897880"/>
            <a:ext cx="4663440" cy="347472"/>
          </a:xfrm>
          <a:prstGeom prst="roundRect">
            <a:avLst>
              <a:gd fmla="val 142857" name="adj"/>
            </a:avLst>
          </a:prstGeom>
          <a:solidFill>
            <a:srgbClr val="2A1F0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773" name="Google Shape;773;p53"/>
          <p:cNvSpPr/>
          <p:nvPr/>
        </p:nvSpPr>
        <p:spPr>
          <a:xfrm>
            <a:off x="6598768" y="5897880"/>
            <a:ext cx="466344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B020"/>
              </a:buClr>
              <a:buSzPts val="1050"/>
              <a:buFont typeface="Calibri"/>
              <a:buNone/>
            </a:pPr>
            <a:r>
              <a:rPr b="1" i="0" lang="en-US" sz="1300" u="none" cap="none" strike="noStrike">
                <a:solidFill>
                  <a:srgbClr val="FFB020"/>
                </a:solidFill>
                <a:latin typeface="Inter"/>
                <a:ea typeface="Inter"/>
                <a:cs typeface="Inter"/>
                <a:sym typeface="Inter"/>
              </a:rPr>
              <a:t>BLE + Wi-Fi Failover · 12h Deep Sleep</a:t>
            </a:r>
            <a:endParaRPr b="0" i="0" sz="1050" u="none" cap="none" strike="noStrike">
              <a:solidFill>
                <a:schemeClr val="dk1"/>
              </a:solidFill>
              <a:latin typeface="Calibri"/>
              <a:ea typeface="Calibri"/>
              <a:cs typeface="Calibri"/>
              <a:sym typeface="Calibri"/>
            </a:endParaRPr>
          </a:p>
        </p:txBody>
      </p:sp>
      <p:pic>
        <p:nvPicPr>
          <p:cNvPr descr="icon_wifi.png" id="774" name="Google Shape;774;p53"/>
          <p:cNvPicPr preferRelativeResize="0"/>
          <p:nvPr/>
        </p:nvPicPr>
        <p:blipFill rotWithShape="1">
          <a:blip r:embed="rId3">
            <a:alphaModFix/>
          </a:blip>
          <a:srcRect b="0" l="0" r="0" t="0"/>
          <a:stretch/>
        </p:blipFill>
        <p:spPr>
          <a:xfrm>
            <a:off x="792328" y="3246120"/>
            <a:ext cx="685800" cy="685800"/>
          </a:xfrm>
          <a:prstGeom prst="rect">
            <a:avLst/>
          </a:prstGeom>
          <a:noFill/>
          <a:ln>
            <a:noFill/>
          </a:ln>
        </p:spPr>
      </p:pic>
      <p:pic>
        <p:nvPicPr>
          <p:cNvPr descr="icon_chip.png" id="775" name="Google Shape;775;p53"/>
          <p:cNvPicPr preferRelativeResize="0"/>
          <p:nvPr/>
        </p:nvPicPr>
        <p:blipFill rotWithShape="1">
          <a:blip r:embed="rId4">
            <a:alphaModFix/>
          </a:blip>
          <a:srcRect b="0" l="0" r="0" t="0"/>
          <a:stretch/>
        </p:blipFill>
        <p:spPr>
          <a:xfrm>
            <a:off x="6598768" y="3246120"/>
            <a:ext cx="685800" cy="685800"/>
          </a:xfrm>
          <a:prstGeom prst="rect">
            <a:avLst/>
          </a:prstGeom>
          <a:noFill/>
          <a:ln>
            <a:noFill/>
          </a:ln>
        </p:spPr>
      </p:pic>
    </p:spTree>
  </p:cSld>
  <p:clrMapOvr>
    <a:masterClrMapping/>
  </p:clrMapOvr>
  <p:transition spd="med">
    <p:fade/>
  </p:transition>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A2E"/>
        </a:solidFill>
      </p:bgPr>
    </p:bg>
    <p:spTree>
      <p:nvGrpSpPr>
        <p:cNvPr id="779" name="Shape 779"/>
        <p:cNvGrpSpPr/>
        <p:nvPr/>
      </p:nvGrpSpPr>
      <p:grpSpPr>
        <a:xfrm>
          <a:off x="0" y="0"/>
          <a:ext cx="0" cy="0"/>
          <a:chOff x="0" y="0"/>
          <a:chExt cx="0" cy="0"/>
        </a:xfrm>
      </p:grpSpPr>
      <p:sp>
        <p:nvSpPr>
          <p:cNvPr id="780" name="Google Shape;780;p27"/>
          <p:cNvSpPr txBox="1"/>
          <p:nvPr/>
        </p:nvSpPr>
        <p:spPr>
          <a:xfrm>
            <a:off x="502920" y="274320"/>
            <a:ext cx="18288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5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781" name="Google Shape;781;p27"/>
          <p:cNvSpPr txBox="1"/>
          <p:nvPr/>
        </p:nvSpPr>
        <p:spPr>
          <a:xfrm>
            <a:off x="685800" y="274320"/>
            <a:ext cx="36576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1150" u="none" cap="none" strike="noStrike">
                <a:solidFill>
                  <a:srgbClr val="CDD5E2"/>
                </a:solidFill>
                <a:latin typeface="Inter"/>
                <a:ea typeface="Inter"/>
                <a:cs typeface="Inter"/>
                <a:sym typeface="Inter"/>
              </a:rPr>
              <a:t>IRIS</a:t>
            </a:r>
            <a:endParaRPr b="0" i="0" sz="1400" u="none" cap="none" strike="noStrike">
              <a:solidFill>
                <a:srgbClr val="000000"/>
              </a:solidFill>
              <a:latin typeface="Arial"/>
              <a:ea typeface="Arial"/>
              <a:cs typeface="Arial"/>
              <a:sym typeface="Arial"/>
            </a:endParaRPr>
          </a:p>
        </p:txBody>
      </p:sp>
      <p:sp>
        <p:nvSpPr>
          <p:cNvPr id="782" name="Google Shape;782;p27"/>
          <p:cNvSpPr txBox="1"/>
          <p:nvPr/>
        </p:nvSpPr>
        <p:spPr>
          <a:xfrm>
            <a:off x="502920" y="1114579"/>
            <a:ext cx="109728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3200" u="none" cap="none" strike="noStrike">
                <a:solidFill>
                  <a:srgbClr val="FFFFFF"/>
                </a:solidFill>
                <a:latin typeface="Inter"/>
                <a:ea typeface="Inter"/>
                <a:cs typeface="Inter"/>
                <a:sym typeface="Inter"/>
              </a:rPr>
              <a:t>When the patient blinks, the caretaker's phone rings.</a:t>
            </a:r>
            <a:endParaRPr b="0" i="0" sz="1400" u="none" cap="none" strike="noStrike">
              <a:solidFill>
                <a:srgbClr val="000000"/>
              </a:solidFill>
              <a:latin typeface="Arial"/>
              <a:ea typeface="Arial"/>
              <a:cs typeface="Arial"/>
              <a:sym typeface="Arial"/>
            </a:endParaRPr>
          </a:p>
        </p:txBody>
      </p:sp>
      <p:sp>
        <p:nvSpPr>
          <p:cNvPr id="783" name="Google Shape;783;p27"/>
          <p:cNvSpPr txBox="1"/>
          <p:nvPr/>
        </p:nvSpPr>
        <p:spPr>
          <a:xfrm>
            <a:off x="502920" y="1781844"/>
            <a:ext cx="105156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1" lang="en-US" sz="1700" u="none" cap="none" strike="noStrike">
                <a:solidFill>
                  <a:srgbClr val="CDD5E2"/>
                </a:solidFill>
                <a:latin typeface="Inter"/>
                <a:ea typeface="Inter"/>
                <a:cs typeface="Inter"/>
                <a:sym typeface="Inter"/>
              </a:rPr>
              <a:t>Two-tier push notification pipeline via ntfy.sh — sub-300ms delivery.</a:t>
            </a:r>
            <a:endParaRPr b="0" i="0" sz="1400" u="none" cap="none" strike="noStrike">
              <a:solidFill>
                <a:srgbClr val="000000"/>
              </a:solidFill>
              <a:latin typeface="Arial"/>
              <a:ea typeface="Arial"/>
              <a:cs typeface="Arial"/>
              <a:sym typeface="Arial"/>
            </a:endParaRPr>
          </a:p>
        </p:txBody>
      </p:sp>
      <p:sp>
        <p:nvSpPr>
          <p:cNvPr id="784" name="Google Shape;784;p27"/>
          <p:cNvSpPr txBox="1"/>
          <p:nvPr/>
        </p:nvSpPr>
        <p:spPr>
          <a:xfrm>
            <a:off x="502920" y="2476294"/>
            <a:ext cx="109728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400" u="none" cap="none" strike="noStrike">
                <a:solidFill>
                  <a:srgbClr val="22D3EE"/>
                </a:solidFill>
                <a:latin typeface="Inter"/>
                <a:ea typeface="Inter"/>
                <a:cs typeface="Inter"/>
                <a:sym typeface="Inter"/>
              </a:rPr>
              <a:t>TWO-TIER DELIVERY PIPELINE</a:t>
            </a:r>
            <a:endParaRPr b="0" i="0" sz="1500" u="none" cap="none" strike="noStrike">
              <a:solidFill>
                <a:srgbClr val="000000"/>
              </a:solidFill>
              <a:latin typeface="Arial"/>
              <a:ea typeface="Arial"/>
              <a:cs typeface="Arial"/>
              <a:sym typeface="Arial"/>
            </a:endParaRPr>
          </a:p>
        </p:txBody>
      </p:sp>
      <p:sp>
        <p:nvSpPr>
          <p:cNvPr id="785" name="Google Shape;785;p27"/>
          <p:cNvSpPr/>
          <p:nvPr/>
        </p:nvSpPr>
        <p:spPr>
          <a:xfrm>
            <a:off x="502920" y="2842054"/>
            <a:ext cx="5394900" cy="1554600"/>
          </a:xfrm>
          <a:prstGeom prst="roundRect">
            <a:avLst>
              <a:gd fmla="val 16667" name="adj"/>
            </a:avLst>
          </a:prstGeom>
          <a:solidFill>
            <a:srgbClr val="0F2440"/>
          </a:solidFill>
          <a:ln cap="flat" cmpd="sng" w="9525">
            <a:solidFill>
              <a:srgbClr val="0E7490"/>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900" u="none" cap="none" strike="noStrike">
              <a:solidFill>
                <a:schemeClr val="lt1"/>
              </a:solidFill>
              <a:latin typeface="Calibri"/>
              <a:ea typeface="Calibri"/>
              <a:cs typeface="Calibri"/>
              <a:sym typeface="Calibri"/>
            </a:endParaRPr>
          </a:p>
        </p:txBody>
      </p:sp>
      <p:sp>
        <p:nvSpPr>
          <p:cNvPr id="786" name="Google Shape;786;p27"/>
          <p:cNvSpPr txBox="1"/>
          <p:nvPr/>
        </p:nvSpPr>
        <p:spPr>
          <a:xfrm>
            <a:off x="731520" y="2933494"/>
            <a:ext cx="49377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400" u="none" cap="none" strike="noStrike">
                <a:solidFill>
                  <a:srgbClr val="22D3EE"/>
                </a:solidFill>
                <a:latin typeface="Inter"/>
                <a:ea typeface="Inter"/>
                <a:cs typeface="Inter"/>
                <a:sym typeface="Inter"/>
              </a:rPr>
              <a:t> INTERNAL SERVER PROXY</a:t>
            </a:r>
            <a:endParaRPr b="0" i="0" sz="1500" u="none" cap="none" strike="noStrike">
              <a:solidFill>
                <a:srgbClr val="000000"/>
              </a:solidFill>
              <a:latin typeface="Arial"/>
              <a:ea typeface="Arial"/>
              <a:cs typeface="Arial"/>
              <a:sym typeface="Arial"/>
            </a:endParaRPr>
          </a:p>
        </p:txBody>
      </p:sp>
      <p:sp>
        <p:nvSpPr>
          <p:cNvPr id="787" name="Google Shape;787;p27"/>
          <p:cNvSpPr txBox="1"/>
          <p:nvPr/>
        </p:nvSpPr>
        <p:spPr>
          <a:xfrm>
            <a:off x="731520" y="3253534"/>
            <a:ext cx="49377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0" lang="en-US" sz="1500" u="none" cap="none" strike="noStrike">
                <a:solidFill>
                  <a:srgbClr val="FFFFFF"/>
                </a:solidFill>
                <a:latin typeface="Inter"/>
                <a:ea typeface="Inter"/>
                <a:cs typeface="Inter"/>
                <a:sym typeface="Inter"/>
              </a:rPr>
              <a:t>Same-origin JSON POST → /api/care/ntfy</a:t>
            </a:r>
            <a:endParaRPr b="0" i="0" sz="1500" u="none" cap="none" strike="noStrike">
              <a:solidFill>
                <a:srgbClr val="000000"/>
              </a:solidFill>
              <a:latin typeface="Arial"/>
              <a:ea typeface="Arial"/>
              <a:cs typeface="Arial"/>
              <a:sym typeface="Arial"/>
            </a:endParaRPr>
          </a:p>
        </p:txBody>
      </p:sp>
      <p:sp>
        <p:nvSpPr>
          <p:cNvPr id="788" name="Google Shape;788;p27"/>
          <p:cNvSpPr txBox="1"/>
          <p:nvPr/>
        </p:nvSpPr>
        <p:spPr>
          <a:xfrm>
            <a:off x="731520" y="3573574"/>
            <a:ext cx="4937700" cy="8686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Next.js server forwards JSON alert to ntfy.sh</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4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Bypasses browser ByteString emoji header limits</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300"/>
              </a:spcAft>
              <a:buClr>
                <a:srgbClr val="000000"/>
              </a:buClr>
              <a:buSzPts val="14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Prevents client adblockers from blocking SOS alerts</a:t>
            </a:r>
            <a:endParaRPr b="0" i="0" sz="1500" u="none" cap="none" strike="noStrike">
              <a:solidFill>
                <a:srgbClr val="000000"/>
              </a:solidFill>
              <a:latin typeface="Arial"/>
              <a:ea typeface="Arial"/>
              <a:cs typeface="Arial"/>
              <a:sym typeface="Arial"/>
            </a:endParaRPr>
          </a:p>
        </p:txBody>
      </p:sp>
      <p:sp>
        <p:nvSpPr>
          <p:cNvPr id="789" name="Google Shape;789;p27"/>
          <p:cNvSpPr/>
          <p:nvPr/>
        </p:nvSpPr>
        <p:spPr>
          <a:xfrm>
            <a:off x="6309360" y="2842054"/>
            <a:ext cx="5394900" cy="1554600"/>
          </a:xfrm>
          <a:prstGeom prst="roundRect">
            <a:avLst>
              <a:gd fmla="val 16667" name="adj"/>
            </a:avLst>
          </a:prstGeom>
          <a:solidFill>
            <a:srgbClr val="0F2440"/>
          </a:solidFill>
          <a:ln cap="flat" cmpd="sng" w="9525">
            <a:solidFill>
              <a:srgbClr val="92400E"/>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900" u="none" cap="none" strike="noStrike">
              <a:solidFill>
                <a:schemeClr val="lt1"/>
              </a:solidFill>
              <a:latin typeface="Calibri"/>
              <a:ea typeface="Calibri"/>
              <a:cs typeface="Calibri"/>
              <a:sym typeface="Calibri"/>
            </a:endParaRPr>
          </a:p>
        </p:txBody>
      </p:sp>
      <p:sp>
        <p:nvSpPr>
          <p:cNvPr id="790" name="Google Shape;790;p27"/>
          <p:cNvSpPr txBox="1"/>
          <p:nvPr/>
        </p:nvSpPr>
        <p:spPr>
          <a:xfrm>
            <a:off x="6537960" y="2933494"/>
            <a:ext cx="49377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400" u="none" cap="none" strike="noStrike">
                <a:solidFill>
                  <a:srgbClr val="FFB020"/>
                </a:solidFill>
                <a:latin typeface="Inter"/>
                <a:ea typeface="Inter"/>
                <a:cs typeface="Inter"/>
                <a:sym typeface="Inter"/>
              </a:rPr>
              <a:t>DIRECT CLIENT FALLBACK</a:t>
            </a:r>
            <a:endParaRPr b="0" i="0" sz="1500" u="none" cap="none" strike="noStrike">
              <a:solidFill>
                <a:srgbClr val="000000"/>
              </a:solidFill>
              <a:latin typeface="Arial"/>
              <a:ea typeface="Arial"/>
              <a:cs typeface="Arial"/>
              <a:sym typeface="Arial"/>
            </a:endParaRPr>
          </a:p>
        </p:txBody>
      </p:sp>
      <p:sp>
        <p:nvSpPr>
          <p:cNvPr id="791" name="Google Shape;791;p27"/>
          <p:cNvSpPr txBox="1"/>
          <p:nvPr/>
        </p:nvSpPr>
        <p:spPr>
          <a:xfrm>
            <a:off x="6537960" y="3253534"/>
            <a:ext cx="49377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0" lang="en-US" sz="1500" u="none" cap="none" strike="noStrike">
                <a:solidFill>
                  <a:srgbClr val="FFFFFF"/>
                </a:solidFill>
                <a:latin typeface="Inter"/>
                <a:ea typeface="Inter"/>
                <a:cs typeface="Inter"/>
                <a:sym typeface="Inter"/>
              </a:rPr>
              <a:t>Direct JSON POST → ntfy.sh</a:t>
            </a:r>
            <a:endParaRPr b="0" i="0" sz="1500" u="none" cap="none" strike="noStrike">
              <a:solidFill>
                <a:srgbClr val="000000"/>
              </a:solidFill>
              <a:latin typeface="Arial"/>
              <a:ea typeface="Arial"/>
              <a:cs typeface="Arial"/>
              <a:sym typeface="Arial"/>
            </a:endParaRPr>
          </a:p>
        </p:txBody>
      </p:sp>
      <p:sp>
        <p:nvSpPr>
          <p:cNvPr id="792" name="Google Shape;792;p27"/>
          <p:cNvSpPr txBox="1"/>
          <p:nvPr/>
        </p:nvSpPr>
        <p:spPr>
          <a:xfrm>
            <a:off x="6537960" y="3573574"/>
            <a:ext cx="4937700" cy="8686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Fires directly to ntfy.sh if local proxy is offline</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4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Triggers instant HTML5 desktop &amp; mobile notifications</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300"/>
              </a:spcAft>
              <a:buClr>
                <a:srgbClr val="000000"/>
              </a:buClr>
              <a:buSzPts val="14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Guarantees alert delivery across Wi-Fi &amp; cellular</a:t>
            </a:r>
            <a:endParaRPr b="0" i="0" sz="1500" u="none" cap="none" strike="noStrike">
              <a:solidFill>
                <a:srgbClr val="000000"/>
              </a:solidFill>
              <a:latin typeface="Arial"/>
              <a:ea typeface="Arial"/>
              <a:cs typeface="Arial"/>
              <a:sym typeface="Arial"/>
            </a:endParaRPr>
          </a:p>
        </p:txBody>
      </p:sp>
      <p:sp>
        <p:nvSpPr>
          <p:cNvPr id="793" name="Google Shape;793;p27"/>
          <p:cNvSpPr/>
          <p:nvPr/>
        </p:nvSpPr>
        <p:spPr>
          <a:xfrm>
            <a:off x="502920" y="4579414"/>
            <a:ext cx="11155800" cy="1828800"/>
          </a:xfrm>
          <a:prstGeom prst="roundRect">
            <a:avLst>
              <a:gd fmla="val 16667" name="adj"/>
            </a:avLst>
          </a:prstGeom>
          <a:solidFill>
            <a:srgbClr val="0F2440"/>
          </a:solidFill>
          <a:ln cap="flat" cmpd="sng" w="9525">
            <a:solidFill>
              <a:srgbClr val="22D3EE"/>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900" u="none" cap="none" strike="noStrike">
              <a:solidFill>
                <a:schemeClr val="lt1"/>
              </a:solidFill>
              <a:latin typeface="Calibri"/>
              <a:ea typeface="Calibri"/>
              <a:cs typeface="Calibri"/>
              <a:sym typeface="Calibri"/>
            </a:endParaRPr>
          </a:p>
        </p:txBody>
      </p:sp>
      <p:sp>
        <p:nvSpPr>
          <p:cNvPr id="794" name="Google Shape;794;p27"/>
          <p:cNvSpPr txBox="1"/>
          <p:nvPr/>
        </p:nvSpPr>
        <p:spPr>
          <a:xfrm>
            <a:off x="731520" y="4683211"/>
            <a:ext cx="106986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400" u="none" cap="none" strike="noStrike">
                <a:solidFill>
                  <a:srgbClr val="22D3EE"/>
                </a:solidFill>
                <a:latin typeface="Inter"/>
                <a:ea typeface="Inter"/>
                <a:cs typeface="Inter"/>
                <a:sym typeface="Inter"/>
              </a:rPr>
              <a:t>CAREGIVER RECEPTION</a:t>
            </a:r>
            <a:endParaRPr b="0" i="0" sz="1500" u="none" cap="none" strike="noStrike">
              <a:solidFill>
                <a:srgbClr val="000000"/>
              </a:solidFill>
              <a:latin typeface="Arial"/>
              <a:ea typeface="Arial"/>
              <a:cs typeface="Arial"/>
              <a:sym typeface="Arial"/>
            </a:endParaRPr>
          </a:p>
        </p:txBody>
      </p:sp>
      <p:sp>
        <p:nvSpPr>
          <p:cNvPr id="795" name="Google Shape;795;p27"/>
          <p:cNvSpPr txBox="1"/>
          <p:nvPr/>
        </p:nvSpPr>
        <p:spPr>
          <a:xfrm>
            <a:off x="731520" y="4990894"/>
            <a:ext cx="106986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750" u="none" cap="none" strike="noStrike">
                <a:solidFill>
                  <a:srgbClr val="FFFFFF"/>
                </a:solidFill>
                <a:latin typeface="Inter"/>
                <a:ea typeface="Inter"/>
                <a:cs typeface="Inter"/>
                <a:sym typeface="Inter"/>
              </a:rPr>
              <a:t>Phone rings with high-priority alarm bypass</a:t>
            </a:r>
            <a:endParaRPr b="0" i="0" sz="1500" u="none" cap="none" strike="noStrike">
              <a:solidFill>
                <a:srgbClr val="000000"/>
              </a:solidFill>
              <a:latin typeface="Arial"/>
              <a:ea typeface="Arial"/>
              <a:cs typeface="Arial"/>
              <a:sym typeface="Arial"/>
            </a:endParaRPr>
          </a:p>
        </p:txBody>
      </p:sp>
      <p:sp>
        <p:nvSpPr>
          <p:cNvPr id="796" name="Google Shape;796;p27"/>
          <p:cNvSpPr txBox="1"/>
          <p:nvPr/>
        </p:nvSpPr>
        <p:spPr>
          <a:xfrm>
            <a:off x="777240" y="5402374"/>
            <a:ext cx="18300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350" u="none" cap="none" strike="noStrike">
                <a:solidFill>
                  <a:srgbClr val="22D3EE"/>
                </a:solidFill>
                <a:latin typeface="Inter"/>
                <a:ea typeface="Inter"/>
                <a:cs typeface="Inter"/>
                <a:sym typeface="Inter"/>
              </a:rPr>
              <a:t>●</a:t>
            </a:r>
            <a:endParaRPr b="0" i="0" sz="1500" u="none" cap="none" strike="noStrike">
              <a:solidFill>
                <a:srgbClr val="000000"/>
              </a:solidFill>
              <a:latin typeface="Arial"/>
              <a:ea typeface="Arial"/>
              <a:cs typeface="Arial"/>
              <a:sym typeface="Arial"/>
            </a:endParaRPr>
          </a:p>
        </p:txBody>
      </p:sp>
      <p:sp>
        <p:nvSpPr>
          <p:cNvPr id="797" name="Google Shape;797;p27"/>
          <p:cNvSpPr txBox="1"/>
          <p:nvPr/>
        </p:nvSpPr>
        <p:spPr>
          <a:xfrm>
            <a:off x="1005840" y="5402374"/>
            <a:ext cx="507492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450" u="none" cap="none" strike="noStrike">
                <a:solidFill>
                  <a:srgbClr val="FFFFFF"/>
                </a:solidFill>
                <a:latin typeface="Inter"/>
                <a:ea typeface="Inter"/>
                <a:cs typeface="Inter"/>
                <a:sym typeface="Inter"/>
              </a:rPr>
              <a:t>Caretaker installs ntfy app (Android/iPhone/Watch)</a:t>
            </a:r>
            <a:endParaRPr b="0" i="0" sz="1500" u="none" cap="none" strike="noStrike">
              <a:solidFill>
                <a:srgbClr val="000000"/>
              </a:solidFill>
              <a:latin typeface="Arial"/>
              <a:ea typeface="Arial"/>
              <a:cs typeface="Arial"/>
              <a:sym typeface="Arial"/>
            </a:endParaRPr>
          </a:p>
        </p:txBody>
      </p:sp>
      <p:sp>
        <p:nvSpPr>
          <p:cNvPr id="798" name="Google Shape;798;p27"/>
          <p:cNvSpPr txBox="1"/>
          <p:nvPr/>
        </p:nvSpPr>
        <p:spPr>
          <a:xfrm>
            <a:off x="777240" y="5649262"/>
            <a:ext cx="18300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350" u="none" cap="none" strike="noStrike">
                <a:solidFill>
                  <a:srgbClr val="22D3EE"/>
                </a:solidFill>
                <a:latin typeface="Inter"/>
                <a:ea typeface="Inter"/>
                <a:cs typeface="Inter"/>
                <a:sym typeface="Inter"/>
              </a:rPr>
              <a:t>●</a:t>
            </a:r>
            <a:endParaRPr b="0" i="0" sz="1500" u="none" cap="none" strike="noStrike">
              <a:solidFill>
                <a:srgbClr val="000000"/>
              </a:solidFill>
              <a:latin typeface="Arial"/>
              <a:ea typeface="Arial"/>
              <a:cs typeface="Arial"/>
              <a:sym typeface="Arial"/>
            </a:endParaRPr>
          </a:p>
        </p:txBody>
      </p:sp>
      <p:sp>
        <p:nvSpPr>
          <p:cNvPr id="799" name="Google Shape;799;p27"/>
          <p:cNvSpPr txBox="1"/>
          <p:nvPr/>
        </p:nvSpPr>
        <p:spPr>
          <a:xfrm>
            <a:off x="1005840" y="5649262"/>
            <a:ext cx="507492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450" u="none" cap="none" strike="noStrike">
                <a:solidFill>
                  <a:srgbClr val="FFFFFF"/>
                </a:solidFill>
                <a:latin typeface="Inter"/>
                <a:ea typeface="Inter"/>
                <a:cs typeface="Inter"/>
                <a:sym typeface="Inter"/>
              </a:rPr>
              <a:t>Subscribes to unique topic (e.g. iris-care-alert)</a:t>
            </a:r>
            <a:endParaRPr b="0" i="0" sz="1500" u="none" cap="none" strike="noStrike">
              <a:solidFill>
                <a:srgbClr val="000000"/>
              </a:solidFill>
              <a:latin typeface="Arial"/>
              <a:ea typeface="Arial"/>
              <a:cs typeface="Arial"/>
              <a:sym typeface="Arial"/>
            </a:endParaRPr>
          </a:p>
        </p:txBody>
      </p:sp>
      <p:sp>
        <p:nvSpPr>
          <p:cNvPr id="800" name="Google Shape;800;p27"/>
          <p:cNvSpPr txBox="1"/>
          <p:nvPr/>
        </p:nvSpPr>
        <p:spPr>
          <a:xfrm>
            <a:off x="777240" y="5896150"/>
            <a:ext cx="18300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350" u="none" cap="none" strike="noStrike">
                <a:solidFill>
                  <a:srgbClr val="22D3EE"/>
                </a:solidFill>
                <a:latin typeface="Inter"/>
                <a:ea typeface="Inter"/>
                <a:cs typeface="Inter"/>
                <a:sym typeface="Inter"/>
              </a:rPr>
              <a:t>●</a:t>
            </a:r>
            <a:endParaRPr b="0" i="0" sz="1500" u="none" cap="none" strike="noStrike">
              <a:solidFill>
                <a:srgbClr val="000000"/>
              </a:solidFill>
              <a:latin typeface="Arial"/>
              <a:ea typeface="Arial"/>
              <a:cs typeface="Arial"/>
              <a:sym typeface="Arial"/>
            </a:endParaRPr>
          </a:p>
        </p:txBody>
      </p:sp>
      <p:sp>
        <p:nvSpPr>
          <p:cNvPr id="801" name="Google Shape;801;p27"/>
          <p:cNvSpPr txBox="1"/>
          <p:nvPr/>
        </p:nvSpPr>
        <p:spPr>
          <a:xfrm>
            <a:off x="1005840" y="5896150"/>
            <a:ext cx="507492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450" u="none" cap="none" strike="noStrike">
                <a:solidFill>
                  <a:srgbClr val="FFFFFF"/>
                </a:solidFill>
                <a:latin typeface="Inter"/>
                <a:ea typeface="Inter"/>
                <a:cs typeface="Inter"/>
                <a:sym typeface="Inter"/>
              </a:rPr>
              <a:t>Emergency sirens + interactive deep-links</a:t>
            </a:r>
            <a:endParaRPr b="0" i="0" sz="1500" u="none" cap="none" strike="noStrike">
              <a:solidFill>
                <a:srgbClr val="000000"/>
              </a:solidFill>
              <a:latin typeface="Arial"/>
              <a:ea typeface="Arial"/>
              <a:cs typeface="Arial"/>
              <a:sym typeface="Arial"/>
            </a:endParaRPr>
          </a:p>
        </p:txBody>
      </p:sp>
      <p:sp>
        <p:nvSpPr>
          <p:cNvPr id="802" name="Google Shape;802;p27"/>
          <p:cNvSpPr txBox="1"/>
          <p:nvPr/>
        </p:nvSpPr>
        <p:spPr>
          <a:xfrm>
            <a:off x="777240" y="6143037"/>
            <a:ext cx="18300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350" u="none" cap="none" strike="noStrike">
                <a:solidFill>
                  <a:srgbClr val="22D3EE"/>
                </a:solidFill>
                <a:latin typeface="Inter"/>
                <a:ea typeface="Inter"/>
                <a:cs typeface="Inter"/>
                <a:sym typeface="Inter"/>
              </a:rPr>
              <a:t>●</a:t>
            </a:r>
            <a:endParaRPr b="0" i="0" sz="1500" u="none" cap="none" strike="noStrike">
              <a:solidFill>
                <a:srgbClr val="000000"/>
              </a:solidFill>
              <a:latin typeface="Arial"/>
              <a:ea typeface="Arial"/>
              <a:cs typeface="Arial"/>
              <a:sym typeface="Arial"/>
            </a:endParaRPr>
          </a:p>
        </p:txBody>
      </p:sp>
      <p:sp>
        <p:nvSpPr>
          <p:cNvPr id="803" name="Google Shape;803;p27"/>
          <p:cNvSpPr txBox="1"/>
          <p:nvPr/>
        </p:nvSpPr>
        <p:spPr>
          <a:xfrm>
            <a:off x="1005840" y="6143037"/>
            <a:ext cx="507492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450" u="none" cap="none" strike="noStrike">
                <a:solidFill>
                  <a:srgbClr val="FFFFFF"/>
                </a:solidFill>
                <a:latin typeface="Inter"/>
                <a:ea typeface="Inter"/>
                <a:cs typeface="Inter"/>
                <a:sym typeface="Inter"/>
              </a:rPr>
              <a:t>Deep-link opens IRIS Caregiver Live Portal</a:t>
            </a:r>
            <a:endParaRPr b="0" i="0" sz="1500" u="none" cap="none" strike="noStrike">
              <a:solidFill>
                <a:srgbClr val="000000"/>
              </a:solidFill>
              <a:latin typeface="Arial"/>
              <a:ea typeface="Arial"/>
              <a:cs typeface="Arial"/>
              <a:sym typeface="Arial"/>
            </a:endParaRPr>
          </a:p>
        </p:txBody>
      </p:sp>
      <p:sp>
        <p:nvSpPr>
          <p:cNvPr id="804" name="Google Shape;804;p27"/>
          <p:cNvSpPr txBox="1"/>
          <p:nvPr/>
        </p:nvSpPr>
        <p:spPr>
          <a:xfrm>
            <a:off x="6355080" y="5402374"/>
            <a:ext cx="18300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350" u="none" cap="none" strike="noStrike">
                <a:solidFill>
                  <a:srgbClr val="22D3EE"/>
                </a:solidFill>
                <a:latin typeface="Inter"/>
                <a:ea typeface="Inter"/>
                <a:cs typeface="Inter"/>
                <a:sym typeface="Inter"/>
              </a:rPr>
              <a:t>●</a:t>
            </a:r>
            <a:endParaRPr b="0" i="0" sz="1500" u="none" cap="none" strike="noStrike">
              <a:solidFill>
                <a:srgbClr val="000000"/>
              </a:solidFill>
              <a:latin typeface="Arial"/>
              <a:ea typeface="Arial"/>
              <a:cs typeface="Arial"/>
              <a:sym typeface="Arial"/>
            </a:endParaRPr>
          </a:p>
        </p:txBody>
      </p:sp>
      <p:sp>
        <p:nvSpPr>
          <p:cNvPr id="805" name="Google Shape;805;p27"/>
          <p:cNvSpPr txBox="1"/>
          <p:nvPr/>
        </p:nvSpPr>
        <p:spPr>
          <a:xfrm>
            <a:off x="6583680" y="5402374"/>
            <a:ext cx="507492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450" u="none" cap="none" strike="noStrike">
                <a:solidFill>
                  <a:srgbClr val="FFFFFF"/>
                </a:solidFill>
                <a:latin typeface="Inter"/>
                <a:ea typeface="Inter"/>
                <a:cs typeface="Inter"/>
                <a:sym typeface="Inter"/>
              </a:rPr>
              <a:t>Mean latency: 280ms over cellular</a:t>
            </a:r>
            <a:endParaRPr b="0" i="0" sz="1500" u="none" cap="none" strike="noStrike">
              <a:solidFill>
                <a:srgbClr val="000000"/>
              </a:solidFill>
              <a:latin typeface="Arial"/>
              <a:ea typeface="Arial"/>
              <a:cs typeface="Arial"/>
              <a:sym typeface="Arial"/>
            </a:endParaRPr>
          </a:p>
        </p:txBody>
      </p:sp>
      <p:sp>
        <p:nvSpPr>
          <p:cNvPr id="806" name="Google Shape;806;p27"/>
          <p:cNvSpPr txBox="1"/>
          <p:nvPr/>
        </p:nvSpPr>
        <p:spPr>
          <a:xfrm>
            <a:off x="6355080" y="5649262"/>
            <a:ext cx="18300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350" u="none" cap="none" strike="noStrike">
                <a:solidFill>
                  <a:srgbClr val="22D3EE"/>
                </a:solidFill>
                <a:latin typeface="Inter"/>
                <a:ea typeface="Inter"/>
                <a:cs typeface="Inter"/>
                <a:sym typeface="Inter"/>
              </a:rPr>
              <a:t>●</a:t>
            </a:r>
            <a:endParaRPr b="0" i="0" sz="1500" u="none" cap="none" strike="noStrike">
              <a:solidFill>
                <a:srgbClr val="000000"/>
              </a:solidFill>
              <a:latin typeface="Arial"/>
              <a:ea typeface="Arial"/>
              <a:cs typeface="Arial"/>
              <a:sym typeface="Arial"/>
            </a:endParaRPr>
          </a:p>
        </p:txBody>
      </p:sp>
      <p:sp>
        <p:nvSpPr>
          <p:cNvPr id="807" name="Google Shape;807;p27"/>
          <p:cNvSpPr txBox="1"/>
          <p:nvPr/>
        </p:nvSpPr>
        <p:spPr>
          <a:xfrm>
            <a:off x="6583680" y="5649262"/>
            <a:ext cx="507492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450" u="none" cap="none" strike="noStrike">
                <a:solidFill>
                  <a:srgbClr val="FFFFFF"/>
                </a:solidFill>
                <a:latin typeface="Inter"/>
                <a:ea typeface="Inter"/>
                <a:cs typeface="Inter"/>
                <a:sym typeface="Inter"/>
              </a:rPr>
              <a:t>Mean latency: 145ms over WiFi</a:t>
            </a:r>
            <a:endParaRPr b="0" i="0" sz="1500" u="none" cap="none" strike="noStrike">
              <a:solidFill>
                <a:srgbClr val="000000"/>
              </a:solidFill>
              <a:latin typeface="Arial"/>
              <a:ea typeface="Arial"/>
              <a:cs typeface="Arial"/>
              <a:sym typeface="Arial"/>
            </a:endParaRPr>
          </a:p>
        </p:txBody>
      </p:sp>
      <p:sp>
        <p:nvSpPr>
          <p:cNvPr id="808" name="Google Shape;808;p27"/>
          <p:cNvSpPr txBox="1"/>
          <p:nvPr/>
        </p:nvSpPr>
        <p:spPr>
          <a:xfrm>
            <a:off x="6355080" y="5896150"/>
            <a:ext cx="18300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350" u="none" cap="none" strike="noStrike">
                <a:solidFill>
                  <a:srgbClr val="22D3EE"/>
                </a:solidFill>
                <a:latin typeface="Inter"/>
                <a:ea typeface="Inter"/>
                <a:cs typeface="Inter"/>
                <a:sym typeface="Inter"/>
              </a:rPr>
              <a:t>●</a:t>
            </a:r>
            <a:endParaRPr b="0" i="0" sz="1500" u="none" cap="none" strike="noStrike">
              <a:solidFill>
                <a:srgbClr val="000000"/>
              </a:solidFill>
              <a:latin typeface="Arial"/>
              <a:ea typeface="Arial"/>
              <a:cs typeface="Arial"/>
              <a:sym typeface="Arial"/>
            </a:endParaRPr>
          </a:p>
        </p:txBody>
      </p:sp>
      <p:sp>
        <p:nvSpPr>
          <p:cNvPr id="809" name="Google Shape;809;p27"/>
          <p:cNvSpPr txBox="1"/>
          <p:nvPr/>
        </p:nvSpPr>
        <p:spPr>
          <a:xfrm>
            <a:off x="6583680" y="5896150"/>
            <a:ext cx="507492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450" u="none" cap="none" strike="noStrike">
                <a:solidFill>
                  <a:srgbClr val="FFFFFF"/>
                </a:solidFill>
                <a:latin typeface="Inter"/>
                <a:ea typeface="Inter"/>
                <a:cs typeface="Inter"/>
                <a:sym typeface="Inter"/>
              </a:rPr>
              <a:t>87.2% faster caregiver response</a:t>
            </a:r>
            <a:endParaRPr b="0" i="0" sz="1500" u="none" cap="none" strike="noStrike">
              <a:solidFill>
                <a:srgbClr val="000000"/>
              </a:solidFill>
              <a:latin typeface="Arial"/>
              <a:ea typeface="Arial"/>
              <a:cs typeface="Arial"/>
              <a:sym typeface="Arial"/>
            </a:endParaRPr>
          </a:p>
        </p:txBody>
      </p:sp>
      <p:sp>
        <p:nvSpPr>
          <p:cNvPr id="810" name="Google Shape;810;p27"/>
          <p:cNvSpPr txBox="1"/>
          <p:nvPr/>
        </p:nvSpPr>
        <p:spPr>
          <a:xfrm>
            <a:off x="6355080" y="6143037"/>
            <a:ext cx="18300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350" u="none" cap="none" strike="noStrike">
                <a:solidFill>
                  <a:srgbClr val="22D3EE"/>
                </a:solidFill>
                <a:latin typeface="Inter"/>
                <a:ea typeface="Inter"/>
                <a:cs typeface="Inter"/>
                <a:sym typeface="Inter"/>
              </a:rPr>
              <a:t>●</a:t>
            </a:r>
            <a:endParaRPr b="0" i="0" sz="1500" u="none" cap="none" strike="noStrike">
              <a:solidFill>
                <a:srgbClr val="000000"/>
              </a:solidFill>
              <a:latin typeface="Arial"/>
              <a:ea typeface="Arial"/>
              <a:cs typeface="Arial"/>
              <a:sym typeface="Arial"/>
            </a:endParaRPr>
          </a:p>
        </p:txBody>
      </p:sp>
      <p:sp>
        <p:nvSpPr>
          <p:cNvPr id="811" name="Google Shape;811;p27"/>
          <p:cNvSpPr txBox="1"/>
          <p:nvPr/>
        </p:nvSpPr>
        <p:spPr>
          <a:xfrm>
            <a:off x="6583680" y="6143037"/>
            <a:ext cx="507492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450" u="none" cap="none" strike="noStrike">
                <a:solidFill>
                  <a:srgbClr val="FFFFFF"/>
                </a:solidFill>
                <a:latin typeface="Inter"/>
                <a:ea typeface="Inter"/>
                <a:cs typeface="Inter"/>
                <a:sym typeface="Inter"/>
              </a:rPr>
              <a:t>Works on Android, iPhone, Apple Watch</a:t>
            </a:r>
            <a:endParaRPr b="0" i="0" sz="1500" u="none" cap="none" strike="noStrike">
              <a:solidFill>
                <a:srgbClr val="000000"/>
              </a:solidFill>
              <a:latin typeface="Arial"/>
              <a:ea typeface="Arial"/>
              <a:cs typeface="Arial"/>
              <a:sym typeface="Arial"/>
            </a:endParaRPr>
          </a:p>
        </p:txBody>
      </p:sp>
    </p:spTree>
  </p:cSld>
  <p:clrMapOvr>
    <a:masterClrMapping/>
  </p:clrMapOvr>
  <p:transition spd="med">
    <p:fade/>
  </p:transition>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sp>
        <p:nvSpPr>
          <p:cNvPr id="816" name="Google Shape;816;p52"/>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817" name="Google Shape;817;p52"/>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18" name="Google Shape;818;p52"/>
          <p:cNvSpPr/>
          <p:nvPr/>
        </p:nvSpPr>
        <p:spPr>
          <a:xfrm>
            <a:off x="502920" y="1280160"/>
            <a:ext cx="109728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3600"/>
              <a:buFont typeface="Arial"/>
              <a:buNone/>
            </a:pPr>
            <a:r>
              <a:rPr b="1" i="0" lang="en-US" sz="3300" u="none" cap="none" strike="noStrike">
                <a:solidFill>
                  <a:srgbClr val="FFFFFF"/>
                </a:solidFill>
                <a:latin typeface="Inter"/>
                <a:ea typeface="Inter"/>
                <a:cs typeface="Inter"/>
                <a:sym typeface="Inter"/>
              </a:rPr>
              <a:t>Challenges faced &amp; how </a:t>
            </a:r>
            <a:r>
              <a:rPr b="1" lang="en-US" sz="3300">
                <a:solidFill>
                  <a:srgbClr val="FFFFFF"/>
                </a:solidFill>
                <a:latin typeface="Inter"/>
                <a:ea typeface="Inter"/>
                <a:cs typeface="Inter"/>
                <a:sym typeface="Inter"/>
              </a:rPr>
              <a:t>I </a:t>
            </a:r>
            <a:r>
              <a:rPr b="1" i="0" lang="en-US" sz="3300" u="none" cap="none" strike="noStrike">
                <a:solidFill>
                  <a:srgbClr val="FFFFFF"/>
                </a:solidFill>
                <a:latin typeface="Inter"/>
                <a:ea typeface="Inter"/>
                <a:cs typeface="Inter"/>
                <a:sym typeface="Inter"/>
              </a:rPr>
              <a:t>solved them.</a:t>
            </a:r>
            <a:endParaRPr b="0" i="0" sz="3600" u="none" cap="none" strike="noStrike">
              <a:solidFill>
                <a:schemeClr val="dk1"/>
              </a:solidFill>
              <a:latin typeface="Calibri"/>
              <a:ea typeface="Calibri"/>
              <a:cs typeface="Calibri"/>
              <a:sym typeface="Calibri"/>
            </a:endParaRPr>
          </a:p>
        </p:txBody>
      </p:sp>
      <p:sp>
        <p:nvSpPr>
          <p:cNvPr id="819" name="Google Shape;819;p52"/>
          <p:cNvSpPr/>
          <p:nvPr/>
        </p:nvSpPr>
        <p:spPr>
          <a:xfrm>
            <a:off x="502920" y="2194560"/>
            <a:ext cx="1051560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C5D6"/>
              </a:buClr>
              <a:buSzPts val="1400"/>
              <a:buFont typeface="Calibri"/>
              <a:buNone/>
            </a:pPr>
            <a:r>
              <a:rPr b="0" i="1" lang="en-US" sz="1750" u="none" cap="none" strike="noStrike">
                <a:solidFill>
                  <a:srgbClr val="B7C5D6"/>
                </a:solidFill>
                <a:latin typeface="Inter"/>
                <a:ea typeface="Inter"/>
                <a:cs typeface="Inter"/>
                <a:sym typeface="Inter"/>
              </a:rPr>
              <a:t>Building a reliable ₹885 blink-and-tilt interface required solving false positives, false negatives, and sensor drift.</a:t>
            </a:r>
            <a:endParaRPr b="0" i="0" sz="1400" u="none" cap="none" strike="noStrike">
              <a:solidFill>
                <a:schemeClr val="dk1"/>
              </a:solidFill>
              <a:latin typeface="Calibri"/>
              <a:ea typeface="Calibri"/>
              <a:cs typeface="Calibri"/>
              <a:sym typeface="Calibri"/>
            </a:endParaRPr>
          </a:p>
        </p:txBody>
      </p:sp>
      <p:sp>
        <p:nvSpPr>
          <p:cNvPr id="820" name="Google Shape;820;p52"/>
          <p:cNvSpPr/>
          <p:nvPr/>
        </p:nvSpPr>
        <p:spPr>
          <a:xfrm>
            <a:off x="472288" y="2880360"/>
            <a:ext cx="5440680" cy="1691640"/>
          </a:xfrm>
          <a:prstGeom prst="roundRect">
            <a:avLst>
              <a:gd fmla="val 4324"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1" name="Google Shape;821;p52"/>
          <p:cNvSpPr/>
          <p:nvPr/>
        </p:nvSpPr>
        <p:spPr>
          <a:xfrm>
            <a:off x="700888" y="3154680"/>
            <a:ext cx="777240" cy="777240"/>
          </a:xfrm>
          <a:prstGeom prst="rect">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2" name="Google Shape;822;p52"/>
          <p:cNvSpPr/>
          <p:nvPr/>
        </p:nvSpPr>
        <p:spPr>
          <a:xfrm>
            <a:off x="700888" y="3154680"/>
            <a:ext cx="777240" cy="7772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A2E"/>
              </a:buClr>
              <a:buSzPts val="2400"/>
              <a:buFont typeface="Arial"/>
              <a:buNone/>
            </a:pPr>
            <a:r>
              <a:rPr b="1" i="0" lang="en-US" sz="2000" u="none" cap="none" strike="noStrike">
                <a:solidFill>
                  <a:srgbClr val="0B1A2E"/>
                </a:solidFill>
                <a:latin typeface="Inter"/>
                <a:ea typeface="Inter"/>
                <a:cs typeface="Inter"/>
                <a:sym typeface="Inter"/>
              </a:rPr>
              <a:t>01</a:t>
            </a:r>
            <a:endParaRPr b="0" i="0" sz="2400" u="none" cap="none" strike="noStrike">
              <a:solidFill>
                <a:schemeClr val="dk1"/>
              </a:solidFill>
              <a:latin typeface="Calibri"/>
              <a:ea typeface="Calibri"/>
              <a:cs typeface="Calibri"/>
              <a:sym typeface="Calibri"/>
            </a:endParaRPr>
          </a:p>
        </p:txBody>
      </p:sp>
      <p:sp>
        <p:nvSpPr>
          <p:cNvPr id="823" name="Google Shape;823;p52"/>
          <p:cNvSpPr/>
          <p:nvPr/>
        </p:nvSpPr>
        <p:spPr>
          <a:xfrm>
            <a:off x="1615288" y="3154680"/>
            <a:ext cx="429768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500" u="none" cap="none" strike="noStrike">
                <a:solidFill>
                  <a:srgbClr val="22D3EE"/>
                </a:solidFill>
                <a:latin typeface="Inter"/>
                <a:ea typeface="Inter"/>
                <a:cs typeface="Inter"/>
                <a:sym typeface="Inter"/>
              </a:rPr>
              <a:t>FALSE POSITIVES (UNINTENDED CLICKS)</a:t>
            </a:r>
            <a:endParaRPr b="0" i="0" sz="1100" u="none" cap="none" strike="noStrike">
              <a:solidFill>
                <a:schemeClr val="dk1"/>
              </a:solidFill>
              <a:latin typeface="Calibri"/>
              <a:ea typeface="Calibri"/>
              <a:cs typeface="Calibri"/>
              <a:sym typeface="Calibri"/>
            </a:endParaRPr>
          </a:p>
        </p:txBody>
      </p:sp>
      <p:sp>
        <p:nvSpPr>
          <p:cNvPr id="824" name="Google Shape;824;p52"/>
          <p:cNvSpPr/>
          <p:nvPr/>
        </p:nvSpPr>
        <p:spPr>
          <a:xfrm>
            <a:off x="1615288" y="3438144"/>
            <a:ext cx="4315968" cy="11155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600"/>
              <a:buFont typeface="Calibri"/>
              <a:buNone/>
            </a:pPr>
            <a:r>
              <a:rPr b="0" i="0" lang="en-US" sz="1400" u="none" cap="none" strike="noStrike">
                <a:solidFill>
                  <a:srgbClr val="B4C3DC"/>
                </a:solidFill>
                <a:latin typeface="Inter"/>
                <a:ea typeface="Inter"/>
                <a:cs typeface="Inter"/>
                <a:sym typeface="Inter"/>
              </a:rPr>
              <a:t>•  Issue: Reflex blinks (&lt;200ms) fired clicks</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Fix: LM393 chip + 200–500ms timing gate</a:t>
            </a:r>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Result: Natural blinks ignored (0 misfires)</a:t>
            </a:r>
            <a:endParaRPr/>
          </a:p>
        </p:txBody>
      </p:sp>
      <p:sp>
        <p:nvSpPr>
          <p:cNvPr id="825" name="Google Shape;825;p52"/>
          <p:cNvSpPr/>
          <p:nvPr/>
        </p:nvSpPr>
        <p:spPr>
          <a:xfrm>
            <a:off x="6278728" y="2880360"/>
            <a:ext cx="5440680" cy="1691640"/>
          </a:xfrm>
          <a:prstGeom prst="roundRect">
            <a:avLst>
              <a:gd fmla="val 4324"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6" name="Google Shape;826;p52"/>
          <p:cNvSpPr/>
          <p:nvPr/>
        </p:nvSpPr>
        <p:spPr>
          <a:xfrm>
            <a:off x="6507328" y="3154680"/>
            <a:ext cx="777240" cy="777240"/>
          </a:xfrm>
          <a:prstGeom prst="rect">
            <a:avLst/>
          </a:prstGeom>
          <a:solidFill>
            <a:srgbClr val="FFB02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7" name="Google Shape;827;p52"/>
          <p:cNvSpPr/>
          <p:nvPr/>
        </p:nvSpPr>
        <p:spPr>
          <a:xfrm>
            <a:off x="6507328" y="3154680"/>
            <a:ext cx="777240" cy="7772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A2E"/>
              </a:buClr>
              <a:buSzPts val="2400"/>
              <a:buFont typeface="Arial"/>
              <a:buNone/>
            </a:pPr>
            <a:r>
              <a:rPr b="1" i="0" lang="en-US" sz="2000" u="none" cap="none" strike="noStrike">
                <a:solidFill>
                  <a:srgbClr val="0B1A2E"/>
                </a:solidFill>
                <a:latin typeface="Inter"/>
                <a:ea typeface="Inter"/>
                <a:cs typeface="Inter"/>
                <a:sym typeface="Inter"/>
              </a:rPr>
              <a:t>02</a:t>
            </a:r>
            <a:endParaRPr b="0" i="0" sz="2400" u="none" cap="none" strike="noStrike">
              <a:solidFill>
                <a:schemeClr val="dk1"/>
              </a:solidFill>
              <a:latin typeface="Calibri"/>
              <a:ea typeface="Calibri"/>
              <a:cs typeface="Calibri"/>
              <a:sym typeface="Calibri"/>
            </a:endParaRPr>
          </a:p>
        </p:txBody>
      </p:sp>
      <p:sp>
        <p:nvSpPr>
          <p:cNvPr id="828" name="Google Shape;828;p52"/>
          <p:cNvSpPr/>
          <p:nvPr/>
        </p:nvSpPr>
        <p:spPr>
          <a:xfrm>
            <a:off x="7421728" y="3154680"/>
            <a:ext cx="429768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B020"/>
              </a:buClr>
              <a:buSzPts val="1100"/>
              <a:buFont typeface="Calibri"/>
              <a:buNone/>
            </a:pPr>
            <a:r>
              <a:rPr b="1" i="0" lang="en-US" sz="1500" u="none" cap="none" strike="noStrike">
                <a:solidFill>
                  <a:srgbClr val="FFB020"/>
                </a:solidFill>
                <a:latin typeface="Inter"/>
                <a:ea typeface="Inter"/>
                <a:cs typeface="Inter"/>
                <a:sym typeface="Inter"/>
              </a:rPr>
              <a:t>FALSE NEGATIVES (MISSED WEAK BLINKS)</a:t>
            </a:r>
            <a:endParaRPr b="0" i="0" sz="1100" u="none" cap="none" strike="noStrike">
              <a:solidFill>
                <a:schemeClr val="dk1"/>
              </a:solidFill>
              <a:latin typeface="Calibri"/>
              <a:ea typeface="Calibri"/>
              <a:cs typeface="Calibri"/>
              <a:sym typeface="Calibri"/>
            </a:endParaRPr>
          </a:p>
        </p:txBody>
      </p:sp>
      <p:sp>
        <p:nvSpPr>
          <p:cNvPr id="829" name="Google Shape;829;p52"/>
          <p:cNvSpPr/>
          <p:nvPr/>
        </p:nvSpPr>
        <p:spPr>
          <a:xfrm>
            <a:off x="7421728" y="3438144"/>
            <a:ext cx="4315968" cy="11155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600"/>
              <a:buFont typeface="Calibri"/>
              <a:buNone/>
            </a:pPr>
            <a:r>
              <a:rPr b="0" i="0" lang="en-US" sz="1400" u="none" cap="none" strike="noStrike">
                <a:solidFill>
                  <a:srgbClr val="B4C3DC"/>
                </a:solidFill>
                <a:latin typeface="Inter"/>
                <a:ea typeface="Inter"/>
                <a:cs typeface="Inter"/>
                <a:sym typeface="Inter"/>
              </a:rPr>
              <a:t>•  Issue: Rx frame slip missed weak blinks</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Fix: Multi-beam IR + 2–3s setup + Magnet</a:t>
            </a:r>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Result: 98.4% accuracy &amp; 99.6% back-hit</a:t>
            </a:r>
            <a:endParaRPr/>
          </a:p>
        </p:txBody>
      </p:sp>
      <p:sp>
        <p:nvSpPr>
          <p:cNvPr id="830" name="Google Shape;830;p52"/>
          <p:cNvSpPr/>
          <p:nvPr/>
        </p:nvSpPr>
        <p:spPr>
          <a:xfrm>
            <a:off x="472288" y="4800600"/>
            <a:ext cx="5440680" cy="1691640"/>
          </a:xfrm>
          <a:prstGeom prst="roundRect">
            <a:avLst>
              <a:gd fmla="val 4324"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1" name="Google Shape;831;p52"/>
          <p:cNvSpPr/>
          <p:nvPr/>
        </p:nvSpPr>
        <p:spPr>
          <a:xfrm>
            <a:off x="700888" y="5074920"/>
            <a:ext cx="777240" cy="777240"/>
          </a:xfrm>
          <a:prstGeom prst="rect">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2" name="Google Shape;832;p52"/>
          <p:cNvSpPr/>
          <p:nvPr/>
        </p:nvSpPr>
        <p:spPr>
          <a:xfrm>
            <a:off x="700888" y="5074920"/>
            <a:ext cx="777240" cy="7772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A2E"/>
              </a:buClr>
              <a:buSzPts val="2400"/>
              <a:buFont typeface="Arial"/>
              <a:buNone/>
            </a:pPr>
            <a:r>
              <a:rPr b="1" i="0" lang="en-US" sz="2000" u="none" cap="none" strike="noStrike">
                <a:solidFill>
                  <a:srgbClr val="0B1A2E"/>
                </a:solidFill>
                <a:latin typeface="Inter"/>
                <a:ea typeface="Inter"/>
                <a:cs typeface="Inter"/>
                <a:sym typeface="Inter"/>
              </a:rPr>
              <a:t>03</a:t>
            </a:r>
            <a:endParaRPr b="0" i="0" sz="2400" u="none" cap="none" strike="noStrike">
              <a:solidFill>
                <a:schemeClr val="dk1"/>
              </a:solidFill>
              <a:latin typeface="Calibri"/>
              <a:ea typeface="Calibri"/>
              <a:cs typeface="Calibri"/>
              <a:sym typeface="Calibri"/>
            </a:endParaRPr>
          </a:p>
        </p:txBody>
      </p:sp>
      <p:sp>
        <p:nvSpPr>
          <p:cNvPr id="833" name="Google Shape;833;p52"/>
          <p:cNvSpPr/>
          <p:nvPr/>
        </p:nvSpPr>
        <p:spPr>
          <a:xfrm>
            <a:off x="1615288" y="5074920"/>
            <a:ext cx="429768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500" u="none" cap="none" strike="noStrike">
                <a:solidFill>
                  <a:srgbClr val="22D3EE"/>
                </a:solidFill>
                <a:latin typeface="Inter"/>
                <a:ea typeface="Inter"/>
                <a:cs typeface="Inter"/>
                <a:sym typeface="Inter"/>
              </a:rPr>
              <a:t>AMBIENT SUNLIGHT &amp; IR SENSOR NOISE</a:t>
            </a:r>
            <a:endParaRPr b="0" i="0" sz="1100" u="none" cap="none" strike="noStrike">
              <a:solidFill>
                <a:schemeClr val="dk1"/>
              </a:solidFill>
              <a:latin typeface="Calibri"/>
              <a:ea typeface="Calibri"/>
              <a:cs typeface="Calibri"/>
              <a:sym typeface="Calibri"/>
            </a:endParaRPr>
          </a:p>
        </p:txBody>
      </p:sp>
      <p:sp>
        <p:nvSpPr>
          <p:cNvPr id="834" name="Google Shape;834;p52"/>
          <p:cNvSpPr/>
          <p:nvPr/>
        </p:nvSpPr>
        <p:spPr>
          <a:xfrm>
            <a:off x="1615288" y="5358384"/>
            <a:ext cx="4315968" cy="11155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600"/>
              <a:buFont typeface="Calibri"/>
              <a:buNone/>
            </a:pPr>
            <a:r>
              <a:rPr b="0" i="0" lang="en-US" sz="1400" u="none" cap="none" strike="noStrike">
                <a:solidFill>
                  <a:srgbClr val="B4C3DC"/>
                </a:solidFill>
                <a:latin typeface="Inter"/>
                <a:ea typeface="Inter"/>
                <a:cs typeface="Inter"/>
                <a:sym typeface="Inter"/>
              </a:rPr>
              <a:t>•  Issue: Daylight &amp; room bulbs flooded IR</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Fix: Python + TensorFlow denoiser &amp; Twin</a:t>
            </a:r>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Result: Works in dark, LEDs &amp; daylight</a:t>
            </a:r>
            <a:endParaRPr/>
          </a:p>
        </p:txBody>
      </p:sp>
      <p:sp>
        <p:nvSpPr>
          <p:cNvPr id="835" name="Google Shape;835;p52"/>
          <p:cNvSpPr/>
          <p:nvPr/>
        </p:nvSpPr>
        <p:spPr>
          <a:xfrm>
            <a:off x="6278728" y="4800600"/>
            <a:ext cx="5440680" cy="1691640"/>
          </a:xfrm>
          <a:prstGeom prst="roundRect">
            <a:avLst>
              <a:gd fmla="val 4324"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6" name="Google Shape;836;p52"/>
          <p:cNvSpPr/>
          <p:nvPr/>
        </p:nvSpPr>
        <p:spPr>
          <a:xfrm>
            <a:off x="6507328" y="5074920"/>
            <a:ext cx="777240" cy="777240"/>
          </a:xfrm>
          <a:prstGeom prst="rect">
            <a:avLst/>
          </a:prstGeom>
          <a:solidFill>
            <a:srgbClr val="FFB02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7" name="Google Shape;837;p52"/>
          <p:cNvSpPr/>
          <p:nvPr/>
        </p:nvSpPr>
        <p:spPr>
          <a:xfrm>
            <a:off x="6507328" y="5074920"/>
            <a:ext cx="777240" cy="7772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A2E"/>
              </a:buClr>
              <a:buSzPts val="2400"/>
              <a:buFont typeface="Arial"/>
              <a:buNone/>
            </a:pPr>
            <a:r>
              <a:rPr b="1" i="0" lang="en-US" sz="2000" u="none" cap="none" strike="noStrike">
                <a:solidFill>
                  <a:srgbClr val="0B1A2E"/>
                </a:solidFill>
                <a:latin typeface="Inter"/>
                <a:ea typeface="Inter"/>
                <a:cs typeface="Inter"/>
                <a:sym typeface="Inter"/>
              </a:rPr>
              <a:t>04</a:t>
            </a:r>
            <a:endParaRPr b="0" i="0" sz="2400" u="none" cap="none" strike="noStrike">
              <a:solidFill>
                <a:schemeClr val="dk1"/>
              </a:solidFill>
              <a:latin typeface="Calibri"/>
              <a:ea typeface="Calibri"/>
              <a:cs typeface="Calibri"/>
              <a:sym typeface="Calibri"/>
            </a:endParaRPr>
          </a:p>
        </p:txBody>
      </p:sp>
      <p:sp>
        <p:nvSpPr>
          <p:cNvPr id="838" name="Google Shape;838;p52"/>
          <p:cNvSpPr/>
          <p:nvPr/>
        </p:nvSpPr>
        <p:spPr>
          <a:xfrm>
            <a:off x="7421728" y="5074920"/>
            <a:ext cx="429768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B020"/>
              </a:buClr>
              <a:buSzPts val="1100"/>
              <a:buFont typeface="Calibri"/>
              <a:buNone/>
            </a:pPr>
            <a:r>
              <a:rPr b="1" i="0" lang="en-US" sz="1500" u="none" cap="none" strike="noStrike">
                <a:solidFill>
                  <a:srgbClr val="FFB020"/>
                </a:solidFill>
                <a:latin typeface="Inter"/>
                <a:ea typeface="Inter"/>
                <a:cs typeface="Inter"/>
                <a:sym typeface="Inter"/>
              </a:rPr>
              <a:t>HEAD DRIFT, NECK FATIGUE &amp; HEAT</a:t>
            </a:r>
            <a:endParaRPr b="0" i="0" sz="1100" u="none" cap="none" strike="noStrike">
              <a:solidFill>
                <a:schemeClr val="dk1"/>
              </a:solidFill>
              <a:latin typeface="Calibri"/>
              <a:ea typeface="Calibri"/>
              <a:cs typeface="Calibri"/>
              <a:sym typeface="Calibri"/>
            </a:endParaRPr>
          </a:p>
        </p:txBody>
      </p:sp>
      <p:sp>
        <p:nvSpPr>
          <p:cNvPr id="839" name="Google Shape;839;p52"/>
          <p:cNvSpPr/>
          <p:nvPr/>
        </p:nvSpPr>
        <p:spPr>
          <a:xfrm>
            <a:off x="7421728" y="5358384"/>
            <a:ext cx="4315968" cy="11155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600"/>
              <a:buFont typeface="Calibri"/>
              <a:buNone/>
            </a:pPr>
            <a:r>
              <a:rPr b="0" i="0" lang="en-US" sz="1400" u="none" cap="none" strike="noStrike">
                <a:solidFill>
                  <a:srgbClr val="B4C3DC"/>
                </a:solidFill>
                <a:latin typeface="Inter"/>
                <a:ea typeface="Inter"/>
                <a:cs typeface="Inter"/>
                <a:sym typeface="Inter"/>
              </a:rPr>
              <a:t>•  Issue: Gyro drift + buck converter heat</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Fix: Direct Li-Po on XIAO, Velcro &amp; clutch</a:t>
            </a:r>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Result: Cool all-day wear &amp; 12h Deep Sleep</a:t>
            </a:r>
            <a:endParaRPr/>
          </a:p>
        </p:txBody>
      </p:sp>
    </p:spTree>
  </p:cSld>
  <p:clrMapOvr>
    <a:masterClrMapping/>
  </p:clrMapOvr>
  <p:transition spd="med">
    <p:fade/>
  </p:transition>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33"/>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846" name="Google Shape;846;p33"/>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47" name="Google Shape;847;p33"/>
          <p:cNvSpPr/>
          <p:nvPr/>
        </p:nvSpPr>
        <p:spPr>
          <a:xfrm>
            <a:off x="502920" y="1280160"/>
            <a:ext cx="109728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3200"/>
              <a:buFont typeface="Arial"/>
              <a:buNone/>
            </a:pPr>
            <a:r>
              <a:rPr b="1" i="0" lang="en-US" sz="3200" u="none" cap="none" strike="noStrike">
                <a:solidFill>
                  <a:srgbClr val="FFFFFF"/>
                </a:solidFill>
                <a:latin typeface="Inter"/>
                <a:ea typeface="Inter"/>
                <a:cs typeface="Inter"/>
                <a:sym typeface="Inter"/>
              </a:rPr>
              <a:t>Will be available in future &amp; open-sourced for the public.</a:t>
            </a:r>
            <a:endParaRPr b="0" i="0" sz="3200" u="none" cap="none" strike="noStrike">
              <a:solidFill>
                <a:schemeClr val="dk1"/>
              </a:solidFill>
              <a:latin typeface="Calibri"/>
              <a:ea typeface="Calibri"/>
              <a:cs typeface="Calibri"/>
              <a:sym typeface="Calibri"/>
            </a:endParaRPr>
          </a:p>
        </p:txBody>
      </p:sp>
      <p:sp>
        <p:nvSpPr>
          <p:cNvPr id="848" name="Google Shape;848;p33"/>
          <p:cNvSpPr/>
          <p:nvPr/>
        </p:nvSpPr>
        <p:spPr>
          <a:xfrm>
            <a:off x="449428" y="2468880"/>
            <a:ext cx="5440680" cy="3931920"/>
          </a:xfrm>
          <a:prstGeom prst="roundRect">
            <a:avLst>
              <a:gd fmla="val 1860"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849" name="Google Shape;849;p33"/>
          <p:cNvSpPr/>
          <p:nvPr/>
        </p:nvSpPr>
        <p:spPr>
          <a:xfrm>
            <a:off x="815188" y="2834640"/>
            <a:ext cx="777240" cy="777240"/>
          </a:xfrm>
          <a:prstGeom prst="ellipse">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0" name="Google Shape;850;p33"/>
          <p:cNvSpPr/>
          <p:nvPr/>
        </p:nvSpPr>
        <p:spPr>
          <a:xfrm>
            <a:off x="815188" y="2834640"/>
            <a:ext cx="777240" cy="7772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1" name="Google Shape;851;p33"/>
          <p:cNvSpPr/>
          <p:nvPr/>
        </p:nvSpPr>
        <p:spPr>
          <a:xfrm>
            <a:off x="1775308" y="2880360"/>
            <a:ext cx="397764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350" u="none" cap="none" strike="noStrike">
                <a:solidFill>
                  <a:srgbClr val="22D3EE"/>
                </a:solidFill>
                <a:latin typeface="Inter"/>
                <a:ea typeface="Inter"/>
                <a:cs typeface="Inter"/>
                <a:sym typeface="Inter"/>
              </a:rPr>
              <a:t>GITHUB  ·  OPEN-SOURCE REPOSITORY</a:t>
            </a:r>
            <a:endParaRPr b="0" i="0" sz="1100" u="none" cap="none" strike="noStrike">
              <a:solidFill>
                <a:schemeClr val="dk1"/>
              </a:solidFill>
              <a:latin typeface="Calibri"/>
              <a:ea typeface="Calibri"/>
              <a:cs typeface="Calibri"/>
              <a:sym typeface="Calibri"/>
            </a:endParaRPr>
          </a:p>
        </p:txBody>
      </p:sp>
      <p:sp>
        <p:nvSpPr>
          <p:cNvPr id="852" name="Google Shape;852;p33"/>
          <p:cNvSpPr/>
          <p:nvPr/>
        </p:nvSpPr>
        <p:spPr>
          <a:xfrm>
            <a:off x="1775308" y="3246120"/>
            <a:ext cx="39776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800"/>
              <a:buFont typeface="Arial"/>
              <a:buNone/>
            </a:pPr>
            <a:r>
              <a:rPr b="1" i="0" lang="en-US" sz="2000" u="none" cap="none" strike="noStrike">
                <a:solidFill>
                  <a:srgbClr val="FFFFFF"/>
                </a:solidFill>
                <a:latin typeface="Inter"/>
                <a:ea typeface="Inter"/>
                <a:cs typeface="Inter"/>
                <a:sym typeface="Inter"/>
              </a:rPr>
              <a:t>Public. Forkable. Free.</a:t>
            </a:r>
            <a:endParaRPr b="0" i="0" sz="2800" u="none" cap="none" strike="noStrike">
              <a:solidFill>
                <a:schemeClr val="dk1"/>
              </a:solidFill>
              <a:latin typeface="Calibri"/>
              <a:ea typeface="Calibri"/>
              <a:cs typeface="Calibri"/>
              <a:sym typeface="Calibri"/>
            </a:endParaRPr>
          </a:p>
        </p:txBody>
      </p:sp>
      <p:sp>
        <p:nvSpPr>
          <p:cNvPr id="853" name="Google Shape;853;p33"/>
          <p:cNvSpPr/>
          <p:nvPr/>
        </p:nvSpPr>
        <p:spPr>
          <a:xfrm>
            <a:off x="815188" y="3840480"/>
            <a:ext cx="4892040" cy="1508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800"/>
              <a:buFont typeface="Calibri"/>
              <a:buNone/>
            </a:pPr>
            <a:r>
              <a:rPr b="0" i="0" lang="en-US" sz="1500" u="none" cap="none" strike="noStrike">
                <a:solidFill>
                  <a:srgbClr val="B4C3DC"/>
                </a:solidFill>
                <a:latin typeface="Inter"/>
                <a:ea typeface="Inter"/>
                <a:cs typeface="Inter"/>
                <a:sym typeface="Inter"/>
              </a:rPr>
              <a:t>•  Full Python cursor, setup &amp; eye-twin code is public.</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600"/>
              </a:spcBef>
              <a:spcAft>
                <a:spcPts val="0"/>
              </a:spcAft>
              <a:buNone/>
            </a:pPr>
            <a:r>
              <a:rPr b="0" i="0" lang="en-US" sz="1500" u="none" cap="none" strike="noStrike">
                <a:solidFill>
                  <a:srgbClr val="B4C3DC"/>
                </a:solidFill>
                <a:latin typeface="Inter"/>
                <a:ea typeface="Inter"/>
                <a:cs typeface="Inter"/>
                <a:sym typeface="Inter"/>
              </a:rPr>
              <a:t>•  Includes XIAO C3 firmware, schematics &amp; 3D STLs.</a:t>
            </a:r>
            <a:endParaRPr/>
          </a:p>
          <a:p>
            <a:pPr indent="0" lvl="0" marL="0" marR="0" rtl="0" algn="l">
              <a:lnSpc>
                <a:spcPct val="100000"/>
              </a:lnSpc>
              <a:spcBef>
                <a:spcPts val="600"/>
              </a:spcBef>
              <a:spcAft>
                <a:spcPts val="0"/>
              </a:spcAft>
              <a:buNone/>
            </a:pPr>
            <a:r>
              <a:rPr b="0" i="0" lang="en-US" sz="1500" u="none" cap="none" strike="noStrike">
                <a:solidFill>
                  <a:srgbClr val="B4C3DC"/>
                </a:solidFill>
                <a:latin typeface="Inter"/>
                <a:ea typeface="Inter"/>
                <a:cs typeface="Inter"/>
                <a:sym typeface="Inter"/>
              </a:rPr>
              <a:t>•  Anyone with a laptop can build IRIS for ₹885.</a:t>
            </a:r>
            <a:endParaRPr/>
          </a:p>
        </p:txBody>
      </p:sp>
      <p:sp>
        <p:nvSpPr>
          <p:cNvPr id="854" name="Google Shape;854;p33"/>
          <p:cNvSpPr/>
          <p:nvPr/>
        </p:nvSpPr>
        <p:spPr>
          <a:xfrm>
            <a:off x="815188" y="5623560"/>
            <a:ext cx="4709160" cy="502920"/>
          </a:xfrm>
          <a:prstGeom prst="roundRect">
            <a:avLst>
              <a:gd fmla="val 10909" name="adj"/>
            </a:avLst>
          </a:prstGeom>
          <a:solidFill>
            <a:srgbClr val="050E1C"/>
          </a:solidFill>
          <a:ln cap="flat" cmpd="sng" w="9525">
            <a:solidFill>
              <a:srgbClr val="0E7490">
                <a:alpha val="5019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855" name="Google Shape;855;p33"/>
          <p:cNvSpPr/>
          <p:nvPr/>
        </p:nvSpPr>
        <p:spPr>
          <a:xfrm>
            <a:off x="998068" y="5760720"/>
            <a:ext cx="434340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2D3EE"/>
              </a:buClr>
              <a:buSzPts val="1000"/>
              <a:buFont typeface="Courier New"/>
              <a:buNone/>
            </a:pPr>
            <a:r>
              <a:rPr b="1" i="0" lang="en-US" sz="1300" u="none" cap="none" strike="noStrike">
                <a:solidFill>
                  <a:srgbClr val="22D3EE"/>
                </a:solidFill>
                <a:latin typeface="Courier New"/>
                <a:ea typeface="Courier New"/>
                <a:cs typeface="Courier New"/>
                <a:sym typeface="Courier New"/>
              </a:rPr>
              <a:t>git clone github.com/project-iris/iris</a:t>
            </a:r>
            <a:endParaRPr b="0" i="0" sz="1000" u="none" cap="none" strike="noStrike">
              <a:solidFill>
                <a:schemeClr val="dk1"/>
              </a:solidFill>
              <a:latin typeface="Calibri"/>
              <a:ea typeface="Calibri"/>
              <a:cs typeface="Calibri"/>
              <a:sym typeface="Calibri"/>
            </a:endParaRPr>
          </a:p>
        </p:txBody>
      </p:sp>
      <p:sp>
        <p:nvSpPr>
          <p:cNvPr id="856" name="Google Shape;856;p33"/>
          <p:cNvSpPr/>
          <p:nvPr/>
        </p:nvSpPr>
        <p:spPr>
          <a:xfrm>
            <a:off x="6301588" y="2468880"/>
            <a:ext cx="5440680" cy="3931920"/>
          </a:xfrm>
          <a:prstGeom prst="roundRect">
            <a:avLst>
              <a:gd fmla="val 1860"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857" name="Google Shape;857;p33"/>
          <p:cNvSpPr/>
          <p:nvPr/>
        </p:nvSpPr>
        <p:spPr>
          <a:xfrm>
            <a:off x="6667348" y="2834640"/>
            <a:ext cx="777240" cy="777240"/>
          </a:xfrm>
          <a:prstGeom prst="ellipse">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8" name="Google Shape;858;p33"/>
          <p:cNvSpPr/>
          <p:nvPr/>
        </p:nvSpPr>
        <p:spPr>
          <a:xfrm>
            <a:off x="6667348" y="2834640"/>
            <a:ext cx="777240" cy="7772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B02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9" name="Google Shape;859;p33"/>
          <p:cNvSpPr/>
          <p:nvPr/>
        </p:nvSpPr>
        <p:spPr>
          <a:xfrm>
            <a:off x="7604608" y="2754630"/>
            <a:ext cx="397764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B020"/>
              </a:buClr>
              <a:buSzPts val="1100"/>
              <a:buFont typeface="Calibri"/>
              <a:buNone/>
            </a:pPr>
            <a:r>
              <a:rPr b="1" i="0" lang="en-US" sz="1350" u="none" cap="none" strike="noStrike">
                <a:solidFill>
                  <a:srgbClr val="FFB020"/>
                </a:solidFill>
                <a:latin typeface="Inter"/>
                <a:ea typeface="Inter"/>
                <a:cs typeface="Inter"/>
                <a:sym typeface="Inter"/>
              </a:rPr>
              <a:t>WEBSITE  ·  PROJECT HOMEPAGE</a:t>
            </a:r>
            <a:endParaRPr b="0" i="0" sz="1100" u="none" cap="none" strike="noStrike">
              <a:solidFill>
                <a:schemeClr val="dk1"/>
              </a:solidFill>
              <a:latin typeface="Calibri"/>
              <a:ea typeface="Calibri"/>
              <a:cs typeface="Calibri"/>
              <a:sym typeface="Calibri"/>
            </a:endParaRPr>
          </a:p>
        </p:txBody>
      </p:sp>
      <p:sp>
        <p:nvSpPr>
          <p:cNvPr id="860" name="Google Shape;860;p33"/>
          <p:cNvSpPr/>
          <p:nvPr/>
        </p:nvSpPr>
        <p:spPr>
          <a:xfrm>
            <a:off x="7627468" y="3246120"/>
            <a:ext cx="39776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800"/>
              <a:buFont typeface="Arial"/>
              <a:buNone/>
            </a:pPr>
            <a:r>
              <a:rPr b="1" i="0" lang="en-US" sz="2000" u="none" cap="none" strike="noStrike">
                <a:solidFill>
                  <a:srgbClr val="FFFFFF"/>
                </a:solidFill>
                <a:latin typeface="Inter"/>
                <a:ea typeface="Inter"/>
                <a:cs typeface="Inter"/>
                <a:sym typeface="Inter"/>
              </a:rPr>
              <a:t>Read. Replicate. Support.</a:t>
            </a:r>
            <a:endParaRPr b="0" i="0" sz="2800" u="none" cap="none" strike="noStrike">
              <a:solidFill>
                <a:schemeClr val="dk1"/>
              </a:solidFill>
              <a:latin typeface="Calibri"/>
              <a:ea typeface="Calibri"/>
              <a:cs typeface="Calibri"/>
              <a:sym typeface="Calibri"/>
            </a:endParaRPr>
          </a:p>
        </p:txBody>
      </p:sp>
      <p:sp>
        <p:nvSpPr>
          <p:cNvPr id="861" name="Google Shape;861;p33"/>
          <p:cNvSpPr/>
          <p:nvPr/>
        </p:nvSpPr>
        <p:spPr>
          <a:xfrm>
            <a:off x="6667348" y="3954782"/>
            <a:ext cx="4892040" cy="1508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800"/>
              <a:buFont typeface="Calibri"/>
              <a:buNone/>
            </a:pPr>
            <a:r>
              <a:rPr b="0" i="0" lang="en-US" sz="1500" u="none" cap="none" strike="noStrike">
                <a:solidFill>
                  <a:srgbClr val="B4C3DC"/>
                </a:solidFill>
                <a:latin typeface="Inter"/>
                <a:ea typeface="Inter"/>
                <a:cs typeface="Inter"/>
                <a:sym typeface="Inter"/>
              </a:rPr>
              <a:t>•  Hosts browser-native IRIS App &amp; Caregiver Portal.</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600"/>
              </a:spcBef>
              <a:spcAft>
                <a:spcPts val="0"/>
              </a:spcAft>
              <a:buNone/>
            </a:pPr>
            <a:r>
              <a:rPr b="0" i="0" lang="en-US" sz="1500" u="none" cap="none" strike="noStrike">
                <a:solidFill>
                  <a:srgbClr val="B4C3DC"/>
                </a:solidFill>
                <a:latin typeface="Inter"/>
                <a:ea typeface="Inter"/>
                <a:cs typeface="Inter"/>
                <a:sym typeface="Inter"/>
              </a:rPr>
              <a:t>•  Step-by-step assembly guides &amp; setup tutorials.</a:t>
            </a:r>
            <a:endParaRPr/>
          </a:p>
          <a:p>
            <a:pPr indent="0" lvl="0" marL="0" marR="0" rtl="0" algn="l">
              <a:lnSpc>
                <a:spcPct val="100000"/>
              </a:lnSpc>
              <a:spcBef>
                <a:spcPts val="600"/>
              </a:spcBef>
              <a:spcAft>
                <a:spcPts val="0"/>
              </a:spcAft>
              <a:buNone/>
            </a:pPr>
            <a:r>
              <a:rPr b="0" i="0" lang="en-US" sz="1500" u="none" cap="none" strike="noStrike">
                <a:solidFill>
                  <a:srgbClr val="B4C3DC"/>
                </a:solidFill>
                <a:latin typeface="Inter"/>
                <a:ea typeface="Inter"/>
                <a:cs typeface="Inter"/>
                <a:sym typeface="Inter"/>
              </a:rPr>
              <a:t>•  Connects hospitals, NGOs &amp; makers across India.</a:t>
            </a:r>
            <a:endParaRPr/>
          </a:p>
        </p:txBody>
      </p:sp>
      <p:sp>
        <p:nvSpPr>
          <p:cNvPr id="862" name="Google Shape;862;p33"/>
          <p:cNvSpPr/>
          <p:nvPr/>
        </p:nvSpPr>
        <p:spPr>
          <a:xfrm>
            <a:off x="6667348" y="5623560"/>
            <a:ext cx="4709160" cy="502920"/>
          </a:xfrm>
          <a:prstGeom prst="roundRect">
            <a:avLst>
              <a:gd fmla="val 10909" name="adj"/>
            </a:avLst>
          </a:prstGeom>
          <a:solidFill>
            <a:srgbClr val="050E1C"/>
          </a:solidFill>
          <a:ln cap="flat" cmpd="sng" w="9525">
            <a:solidFill>
              <a:srgbClr val="0E7490">
                <a:alpha val="5019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863" name="Google Shape;863;p33"/>
          <p:cNvSpPr/>
          <p:nvPr/>
        </p:nvSpPr>
        <p:spPr>
          <a:xfrm>
            <a:off x="6850228" y="5760720"/>
            <a:ext cx="434340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ourier New"/>
              <a:buNone/>
            </a:pPr>
            <a:r>
              <a:rPr b="1" i="0" lang="en-US" sz="1300" u="none" cap="none" strike="noStrike">
                <a:solidFill>
                  <a:srgbClr val="22D3EE"/>
                </a:solidFill>
                <a:latin typeface="Courier New"/>
                <a:ea typeface="Courier New"/>
                <a:cs typeface="Courier New"/>
                <a:sym typeface="Courier New"/>
              </a:rPr>
              <a:t>projectiris.dev</a:t>
            </a:r>
            <a:endParaRPr b="0" i="0" sz="1100" u="none" cap="none" strike="noStrike">
              <a:solidFill>
                <a:schemeClr val="dk1"/>
              </a:solidFill>
              <a:latin typeface="Calibri"/>
              <a:ea typeface="Calibri"/>
              <a:cs typeface="Calibri"/>
              <a:sym typeface="Calibri"/>
            </a:endParaRPr>
          </a:p>
        </p:txBody>
      </p:sp>
      <p:pic>
        <p:nvPicPr>
          <p:cNvPr descr="icon_code.png" id="864" name="Google Shape;864;p33"/>
          <p:cNvPicPr preferRelativeResize="0"/>
          <p:nvPr/>
        </p:nvPicPr>
        <p:blipFill rotWithShape="1">
          <a:blip r:embed="rId3">
            <a:alphaModFix/>
          </a:blip>
          <a:srcRect b="0" l="0" r="0" t="0"/>
          <a:stretch/>
        </p:blipFill>
        <p:spPr>
          <a:xfrm>
            <a:off x="815188" y="2834640"/>
            <a:ext cx="731520" cy="731520"/>
          </a:xfrm>
          <a:prstGeom prst="rect">
            <a:avLst/>
          </a:prstGeom>
          <a:noFill/>
          <a:ln>
            <a:noFill/>
          </a:ln>
        </p:spPr>
      </p:pic>
      <p:pic>
        <p:nvPicPr>
          <p:cNvPr descr="icon_globe.png" id="865" name="Google Shape;865;p33"/>
          <p:cNvPicPr preferRelativeResize="0"/>
          <p:nvPr/>
        </p:nvPicPr>
        <p:blipFill rotWithShape="1">
          <a:blip r:embed="rId4">
            <a:alphaModFix/>
          </a:blip>
          <a:srcRect b="0" l="0" r="0" t="0"/>
          <a:stretch/>
        </p:blipFill>
        <p:spPr>
          <a:xfrm>
            <a:off x="6667348" y="2834640"/>
            <a:ext cx="731520" cy="731520"/>
          </a:xfrm>
          <a:prstGeom prst="rect">
            <a:avLst/>
          </a:prstGeom>
          <a:noFill/>
          <a:ln>
            <a:noFill/>
          </a:ln>
        </p:spPr>
      </p:pic>
    </p:spTree>
  </p:cSld>
  <p:clrMapOvr>
    <a:masterClrMapping/>
  </p:clrMapOvr>
  <p:transition spd="med">
    <p:fade/>
  </p:transition>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9" name="Shape 869"/>
        <p:cNvGrpSpPr/>
        <p:nvPr/>
      </p:nvGrpSpPr>
      <p:grpSpPr>
        <a:xfrm>
          <a:off x="0" y="0"/>
          <a:ext cx="0" cy="0"/>
          <a:chOff x="0" y="0"/>
          <a:chExt cx="0" cy="0"/>
        </a:xfrm>
      </p:grpSpPr>
      <p:sp>
        <p:nvSpPr>
          <p:cNvPr id="870" name="Google Shape;870;p54"/>
          <p:cNvSpPr/>
          <p:nvPr/>
        </p:nvSpPr>
        <p:spPr>
          <a:xfrm>
            <a:off x="0" y="0"/>
            <a:ext cx="12191695" cy="6858000"/>
          </a:xfrm>
          <a:prstGeom prst="rect">
            <a:avLst/>
          </a:prstGeom>
          <a:solidFill>
            <a:srgbClr val="070B1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71" name="Google Shape;871;p54"/>
          <p:cNvSpPr txBox="1"/>
          <p:nvPr/>
        </p:nvSpPr>
        <p:spPr>
          <a:xfrm>
            <a:off x="502920" y="274320"/>
            <a:ext cx="4572000" cy="329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00E5FF"/>
                </a:solidFill>
                <a:latin typeface="Inter"/>
                <a:ea typeface="Inter"/>
                <a:cs typeface="Inter"/>
                <a:sym typeface="Inter"/>
              </a:rPr>
              <a:t>●  IRIS   ·   SECTION 03 OF 06</a:t>
            </a:r>
            <a:endParaRPr/>
          </a:p>
        </p:txBody>
      </p:sp>
      <p:sp>
        <p:nvSpPr>
          <p:cNvPr id="872" name="Google Shape;872;p54"/>
          <p:cNvSpPr/>
          <p:nvPr/>
        </p:nvSpPr>
        <p:spPr>
          <a:xfrm>
            <a:off x="502920" y="658368"/>
            <a:ext cx="11183112" cy="18288"/>
          </a:xfrm>
          <a:prstGeom prst="rect">
            <a:avLst/>
          </a:prstGeom>
          <a:solidFill>
            <a:srgbClr val="1E305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73" name="Google Shape;873;p54"/>
          <p:cNvSpPr txBox="1"/>
          <p:nvPr/>
        </p:nvSpPr>
        <p:spPr>
          <a:xfrm>
            <a:off x="502920" y="2305342"/>
            <a:ext cx="11183100" cy="2247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7000" u="none" cap="none" strike="noStrike">
                <a:solidFill>
                  <a:srgbClr val="F5F8FF"/>
                </a:solidFill>
                <a:latin typeface="Inter"/>
                <a:ea typeface="Inter"/>
                <a:cs typeface="Inter"/>
                <a:sym typeface="Inter"/>
              </a:rPr>
              <a:t>TECH FOR GOOD SECTION</a:t>
            </a:r>
            <a:endParaRPr sz="70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sp>
        <p:nvSpPr>
          <p:cNvPr id="878" name="Google Shape;878;p55"/>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879" name="Google Shape;879;p55"/>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0" name="Google Shape;880;p55"/>
          <p:cNvSpPr/>
          <p:nvPr/>
        </p:nvSpPr>
        <p:spPr>
          <a:xfrm>
            <a:off x="502920" y="868680"/>
            <a:ext cx="1051560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400" u="none" cap="none" strike="noStrike">
                <a:solidFill>
                  <a:srgbClr val="22D3EE"/>
                </a:solidFill>
                <a:latin typeface="Inter"/>
                <a:ea typeface="Inter"/>
                <a:cs typeface="Inter"/>
                <a:sym typeface="Inter"/>
              </a:rPr>
              <a:t>TECH FOR GOOD  ·  TECHNOLOGY AS A HUMAN RIGHT</a:t>
            </a:r>
            <a:endParaRPr b="0" i="0" sz="1200" u="none" cap="none" strike="noStrike">
              <a:solidFill>
                <a:schemeClr val="dk1"/>
              </a:solidFill>
              <a:latin typeface="Calibri"/>
              <a:ea typeface="Calibri"/>
              <a:cs typeface="Calibri"/>
              <a:sym typeface="Calibri"/>
            </a:endParaRPr>
          </a:p>
        </p:txBody>
      </p:sp>
      <p:sp>
        <p:nvSpPr>
          <p:cNvPr id="881" name="Google Shape;881;p55"/>
          <p:cNvSpPr/>
          <p:nvPr/>
        </p:nvSpPr>
        <p:spPr>
          <a:xfrm>
            <a:off x="502920" y="1280160"/>
            <a:ext cx="109728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3600"/>
              <a:buFont typeface="Arial"/>
              <a:buNone/>
            </a:pPr>
            <a:r>
              <a:rPr b="1" i="0" lang="en-US" sz="3400" u="none" cap="none" strike="noStrike">
                <a:solidFill>
                  <a:srgbClr val="FFFFFF"/>
                </a:solidFill>
                <a:latin typeface="Inter"/>
                <a:ea typeface="Inter"/>
                <a:cs typeface="Inter"/>
                <a:sym typeface="Inter"/>
              </a:rPr>
              <a:t>Technology that serves people, not monopolies.</a:t>
            </a:r>
            <a:endParaRPr b="0" i="0" sz="3600" u="none" cap="none" strike="noStrike">
              <a:solidFill>
                <a:schemeClr val="dk1"/>
              </a:solidFill>
              <a:latin typeface="Calibri"/>
              <a:ea typeface="Calibri"/>
              <a:cs typeface="Calibri"/>
              <a:sym typeface="Calibri"/>
            </a:endParaRPr>
          </a:p>
        </p:txBody>
      </p:sp>
      <p:sp>
        <p:nvSpPr>
          <p:cNvPr id="882" name="Google Shape;882;p55"/>
          <p:cNvSpPr/>
          <p:nvPr/>
        </p:nvSpPr>
        <p:spPr>
          <a:xfrm>
            <a:off x="502920" y="2111430"/>
            <a:ext cx="1051560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C5D6"/>
              </a:buClr>
              <a:buSzPts val="1800"/>
              <a:buFont typeface="Calibri"/>
              <a:buNone/>
            </a:pPr>
            <a:r>
              <a:rPr b="0" i="1" lang="en-US" sz="1750" u="none" cap="none" strike="noStrike">
                <a:solidFill>
                  <a:srgbClr val="B7C5D6"/>
                </a:solidFill>
                <a:latin typeface="Inter"/>
                <a:ea typeface="Inter"/>
                <a:cs typeface="Inter"/>
                <a:sym typeface="Inter"/>
              </a:rPr>
              <a:t>IRIS proves life-changing medical technology doesn't require ₹25 Lakh — just empathy and open engineering.</a:t>
            </a:r>
            <a:endParaRPr b="0" i="0" sz="1800" u="none" cap="none" strike="noStrike">
              <a:solidFill>
                <a:schemeClr val="dk1"/>
              </a:solidFill>
              <a:latin typeface="Calibri"/>
              <a:ea typeface="Calibri"/>
              <a:cs typeface="Calibri"/>
              <a:sym typeface="Calibri"/>
            </a:endParaRPr>
          </a:p>
        </p:txBody>
      </p:sp>
      <p:sp>
        <p:nvSpPr>
          <p:cNvPr id="883" name="Google Shape;883;p55"/>
          <p:cNvSpPr/>
          <p:nvPr/>
        </p:nvSpPr>
        <p:spPr>
          <a:xfrm>
            <a:off x="472288" y="2926080"/>
            <a:ext cx="5440680" cy="3474720"/>
          </a:xfrm>
          <a:prstGeom prst="roundRect">
            <a:avLst>
              <a:gd fmla="val 2105"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4" name="Google Shape;884;p55"/>
          <p:cNvSpPr/>
          <p:nvPr/>
        </p:nvSpPr>
        <p:spPr>
          <a:xfrm>
            <a:off x="792328" y="3246120"/>
            <a:ext cx="685800" cy="685800"/>
          </a:xfrm>
          <a:prstGeom prst="ellipse">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5" name="Google Shape;885;p55"/>
          <p:cNvSpPr/>
          <p:nvPr/>
        </p:nvSpPr>
        <p:spPr>
          <a:xfrm>
            <a:off x="792328" y="3246120"/>
            <a:ext cx="6858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6" name="Google Shape;886;p55"/>
          <p:cNvSpPr/>
          <p:nvPr/>
        </p:nvSpPr>
        <p:spPr>
          <a:xfrm>
            <a:off x="1661008" y="3291840"/>
            <a:ext cx="4069080"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300" u="none" cap="none" strike="noStrike">
                <a:solidFill>
                  <a:srgbClr val="22D3EE"/>
                </a:solidFill>
                <a:latin typeface="Inter"/>
                <a:ea typeface="Inter"/>
                <a:cs typeface="Inter"/>
                <a:sym typeface="Inter"/>
              </a:rPr>
              <a:t>DEMOCRATIZING ASSISTIVE HEALTHCARE</a:t>
            </a:r>
            <a:endParaRPr b="0" i="0" sz="1100" u="none" cap="none" strike="noStrike">
              <a:solidFill>
                <a:schemeClr val="dk1"/>
              </a:solidFill>
              <a:latin typeface="Calibri"/>
              <a:ea typeface="Calibri"/>
              <a:cs typeface="Calibri"/>
              <a:sym typeface="Calibri"/>
            </a:endParaRPr>
          </a:p>
        </p:txBody>
      </p:sp>
      <p:sp>
        <p:nvSpPr>
          <p:cNvPr id="887" name="Google Shape;887;p55"/>
          <p:cNvSpPr/>
          <p:nvPr/>
        </p:nvSpPr>
        <p:spPr>
          <a:xfrm>
            <a:off x="1661008" y="3566160"/>
            <a:ext cx="4114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1900" u="none" cap="none" strike="noStrike">
                <a:solidFill>
                  <a:srgbClr val="FFFFFF"/>
                </a:solidFill>
                <a:latin typeface="Inter"/>
                <a:ea typeface="Inter"/>
                <a:cs typeface="Inter"/>
                <a:sym typeface="Inter"/>
              </a:rPr>
              <a:t>Access decided by need, never by wealth.</a:t>
            </a:r>
            <a:endParaRPr b="0" i="0" sz="2000" u="none" cap="none" strike="noStrike">
              <a:solidFill>
                <a:schemeClr val="dk1"/>
              </a:solidFill>
              <a:latin typeface="Calibri"/>
              <a:ea typeface="Calibri"/>
              <a:cs typeface="Calibri"/>
              <a:sym typeface="Calibri"/>
            </a:endParaRPr>
          </a:p>
        </p:txBody>
      </p:sp>
      <p:sp>
        <p:nvSpPr>
          <p:cNvPr id="888" name="Google Shape;888;p55"/>
          <p:cNvSpPr/>
          <p:nvPr/>
        </p:nvSpPr>
        <p:spPr>
          <a:xfrm>
            <a:off x="792328" y="4133087"/>
            <a:ext cx="5010912" cy="160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800"/>
              <a:buFont typeface="Calibri"/>
              <a:buNone/>
            </a:pPr>
            <a:r>
              <a:rPr b="0" i="0" lang="en-US" sz="1450" u="none" cap="none" strike="noStrike">
                <a:solidFill>
                  <a:srgbClr val="B4C3DC"/>
                </a:solidFill>
                <a:latin typeface="Inter"/>
                <a:ea typeface="Inter"/>
                <a:cs typeface="Inter"/>
                <a:sym typeface="Inter"/>
              </a:rPr>
              <a:t>•  Replaces ₹25L+ monopolies with ₹885 prototype.</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Planned complete product kit at ₹2,500–₹3,500.</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100% open-source firmware, PCB &amp; 3D files.</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Subsidized rollout via hospitals &amp; NGOs.</a:t>
            </a:r>
            <a:endParaRPr/>
          </a:p>
        </p:txBody>
      </p:sp>
      <p:sp>
        <p:nvSpPr>
          <p:cNvPr id="889" name="Google Shape;889;p55"/>
          <p:cNvSpPr/>
          <p:nvPr/>
        </p:nvSpPr>
        <p:spPr>
          <a:xfrm>
            <a:off x="792328" y="5897880"/>
            <a:ext cx="4663440" cy="347472"/>
          </a:xfrm>
          <a:prstGeom prst="roundRect">
            <a:avLst>
              <a:gd fmla="val 142857" name="adj"/>
            </a:avLst>
          </a:prstGeom>
          <a:solidFill>
            <a:srgbClr val="0B25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890" name="Google Shape;890;p55"/>
          <p:cNvSpPr/>
          <p:nvPr/>
        </p:nvSpPr>
        <p:spPr>
          <a:xfrm>
            <a:off x="792328" y="5897880"/>
            <a:ext cx="466344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200"/>
              <a:buFont typeface="Calibri"/>
              <a:buNone/>
            </a:pPr>
            <a:r>
              <a:rPr b="1" i="0" lang="en-US" sz="1300" u="none" cap="none" strike="noStrike">
                <a:solidFill>
                  <a:srgbClr val="22D3EE"/>
                </a:solidFill>
                <a:latin typeface="Inter"/>
                <a:ea typeface="Inter"/>
                <a:cs typeface="Inter"/>
                <a:sym typeface="Inter"/>
              </a:rPr>
              <a:t>₹885 Open Hardware · Zero Gatekeeping</a:t>
            </a:r>
            <a:endParaRPr b="0" i="0" sz="1100" u="none" cap="none" strike="noStrike">
              <a:solidFill>
                <a:schemeClr val="dk1"/>
              </a:solidFill>
              <a:latin typeface="Calibri"/>
              <a:ea typeface="Calibri"/>
              <a:cs typeface="Calibri"/>
              <a:sym typeface="Calibri"/>
            </a:endParaRPr>
          </a:p>
        </p:txBody>
      </p:sp>
      <p:sp>
        <p:nvSpPr>
          <p:cNvPr id="891" name="Google Shape;891;p55"/>
          <p:cNvSpPr/>
          <p:nvPr/>
        </p:nvSpPr>
        <p:spPr>
          <a:xfrm>
            <a:off x="6278728" y="2926080"/>
            <a:ext cx="5440680" cy="3474720"/>
          </a:xfrm>
          <a:prstGeom prst="roundRect">
            <a:avLst>
              <a:gd fmla="val 2105"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2" name="Google Shape;892;p55"/>
          <p:cNvSpPr/>
          <p:nvPr/>
        </p:nvSpPr>
        <p:spPr>
          <a:xfrm>
            <a:off x="6598768" y="3246120"/>
            <a:ext cx="685800" cy="685800"/>
          </a:xfrm>
          <a:prstGeom prst="ellipse">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3" name="Google Shape;893;p55"/>
          <p:cNvSpPr/>
          <p:nvPr/>
        </p:nvSpPr>
        <p:spPr>
          <a:xfrm>
            <a:off x="6598768" y="3246120"/>
            <a:ext cx="6858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B02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4" name="Google Shape;894;p55"/>
          <p:cNvSpPr/>
          <p:nvPr/>
        </p:nvSpPr>
        <p:spPr>
          <a:xfrm>
            <a:off x="7467448" y="3291840"/>
            <a:ext cx="4069080"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B020"/>
              </a:buClr>
              <a:buSzPts val="1100"/>
              <a:buFont typeface="Calibri"/>
              <a:buNone/>
            </a:pPr>
            <a:r>
              <a:rPr b="1" i="0" lang="en-US" sz="1300" u="none" cap="none" strike="noStrike">
                <a:solidFill>
                  <a:srgbClr val="FFB020"/>
                </a:solidFill>
                <a:latin typeface="Inter"/>
                <a:ea typeface="Inter"/>
                <a:cs typeface="Inter"/>
                <a:sym typeface="Inter"/>
              </a:rPr>
              <a:t>RESTORING HUMAN VOICE, AGENCY &amp; DIGNITY</a:t>
            </a:r>
            <a:endParaRPr b="0" i="0" sz="1100" u="none" cap="none" strike="noStrike">
              <a:solidFill>
                <a:schemeClr val="dk1"/>
              </a:solidFill>
              <a:latin typeface="Calibri"/>
              <a:ea typeface="Calibri"/>
              <a:cs typeface="Calibri"/>
              <a:sym typeface="Calibri"/>
            </a:endParaRPr>
          </a:p>
        </p:txBody>
      </p:sp>
      <p:sp>
        <p:nvSpPr>
          <p:cNvPr id="895" name="Google Shape;895;p55"/>
          <p:cNvSpPr/>
          <p:nvPr/>
        </p:nvSpPr>
        <p:spPr>
          <a:xfrm>
            <a:off x="7467448" y="3566160"/>
            <a:ext cx="4114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1900" u="none" cap="none" strike="noStrike">
                <a:solidFill>
                  <a:srgbClr val="FFFFFF"/>
                </a:solidFill>
                <a:latin typeface="Inter"/>
                <a:ea typeface="Inter"/>
                <a:cs typeface="Inter"/>
                <a:sym typeface="Inter"/>
              </a:rPr>
              <a:t>Turning a single blink into independence.</a:t>
            </a:r>
            <a:endParaRPr b="0" i="0" sz="2000" u="none" cap="none" strike="noStrike">
              <a:solidFill>
                <a:schemeClr val="dk1"/>
              </a:solidFill>
              <a:latin typeface="Calibri"/>
              <a:ea typeface="Calibri"/>
              <a:cs typeface="Calibri"/>
              <a:sym typeface="Calibri"/>
            </a:endParaRPr>
          </a:p>
        </p:txBody>
      </p:sp>
      <p:sp>
        <p:nvSpPr>
          <p:cNvPr id="896" name="Google Shape;896;p55"/>
          <p:cNvSpPr/>
          <p:nvPr/>
        </p:nvSpPr>
        <p:spPr>
          <a:xfrm>
            <a:off x="6598768" y="4133087"/>
            <a:ext cx="5010912" cy="160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2000"/>
              <a:buFont typeface="Calibri"/>
              <a:buNone/>
            </a:pPr>
            <a:r>
              <a:rPr b="0" i="0" lang="en-US" sz="1450" u="none" cap="none" strike="noStrike">
                <a:solidFill>
                  <a:srgbClr val="B4C3DC"/>
                </a:solidFill>
                <a:latin typeface="Inter"/>
                <a:ea typeface="Inter"/>
                <a:cs typeface="Inter"/>
                <a:sym typeface="Inter"/>
              </a:rPr>
              <a:t>•  Gives non-verbal ALS patients an AI voice.</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Controls bedroom lights &amp; fans via Wi-Fi IoT.</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Sends 280ms emergency alerts to phones.</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Processes eye data locally for total privacy.</a:t>
            </a:r>
            <a:endParaRPr/>
          </a:p>
        </p:txBody>
      </p:sp>
      <p:sp>
        <p:nvSpPr>
          <p:cNvPr id="897" name="Google Shape;897;p55"/>
          <p:cNvSpPr/>
          <p:nvPr/>
        </p:nvSpPr>
        <p:spPr>
          <a:xfrm>
            <a:off x="6598768" y="5897880"/>
            <a:ext cx="4663440" cy="347472"/>
          </a:xfrm>
          <a:prstGeom prst="roundRect">
            <a:avLst>
              <a:gd fmla="val 142857" name="adj"/>
            </a:avLst>
          </a:prstGeom>
          <a:solidFill>
            <a:srgbClr val="2A1F0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898" name="Google Shape;898;p55"/>
          <p:cNvSpPr/>
          <p:nvPr/>
        </p:nvSpPr>
        <p:spPr>
          <a:xfrm>
            <a:off x="6598768" y="5897880"/>
            <a:ext cx="466344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B020"/>
              </a:buClr>
              <a:buSzPts val="1050"/>
              <a:buFont typeface="Calibri"/>
              <a:buNone/>
            </a:pPr>
            <a:r>
              <a:rPr b="1" i="0" lang="en-US" sz="1300" u="none" cap="none" strike="noStrike">
                <a:solidFill>
                  <a:srgbClr val="FFB020"/>
                </a:solidFill>
                <a:latin typeface="Inter"/>
                <a:ea typeface="Inter"/>
                <a:cs typeface="Inter"/>
                <a:sym typeface="Inter"/>
              </a:rPr>
              <a:t>Voice · Room Control · Local-First Privacy</a:t>
            </a:r>
            <a:endParaRPr b="0" i="0" sz="1050" u="none" cap="none" strike="noStrike">
              <a:solidFill>
                <a:schemeClr val="dk1"/>
              </a:solidFill>
              <a:latin typeface="Calibri"/>
              <a:ea typeface="Calibri"/>
              <a:cs typeface="Calibri"/>
              <a:sym typeface="Calibri"/>
            </a:endParaRPr>
          </a:p>
        </p:txBody>
      </p:sp>
      <p:pic>
        <p:nvPicPr>
          <p:cNvPr descr="icon_users.png" id="899" name="Google Shape;899;p55"/>
          <p:cNvPicPr preferRelativeResize="0"/>
          <p:nvPr/>
        </p:nvPicPr>
        <p:blipFill rotWithShape="1">
          <a:blip r:embed="rId3">
            <a:alphaModFix/>
          </a:blip>
          <a:srcRect b="0" l="0" r="0" t="0"/>
          <a:stretch/>
        </p:blipFill>
        <p:spPr>
          <a:xfrm>
            <a:off x="792328" y="3246120"/>
            <a:ext cx="685800" cy="685800"/>
          </a:xfrm>
          <a:prstGeom prst="rect">
            <a:avLst/>
          </a:prstGeom>
          <a:noFill/>
          <a:ln>
            <a:noFill/>
          </a:ln>
        </p:spPr>
      </p:pic>
      <p:pic>
        <p:nvPicPr>
          <p:cNvPr descr="icon_voice.png" id="900" name="Google Shape;900;p55"/>
          <p:cNvPicPr preferRelativeResize="0"/>
          <p:nvPr/>
        </p:nvPicPr>
        <p:blipFill rotWithShape="1">
          <a:blip r:embed="rId4">
            <a:alphaModFix/>
          </a:blip>
          <a:srcRect b="0" l="0" r="0" t="0"/>
          <a:stretch/>
        </p:blipFill>
        <p:spPr>
          <a:xfrm>
            <a:off x="6598768" y="3246120"/>
            <a:ext cx="685800" cy="685800"/>
          </a:xfrm>
          <a:prstGeom prst="rect">
            <a:avLst/>
          </a:prstGeom>
          <a:noFill/>
          <a:ln>
            <a:noFill/>
          </a:ln>
        </p:spPr>
      </p:pic>
    </p:spTree>
  </p:cSld>
  <p:clrMapOvr>
    <a:masterClrMapping/>
  </p:clrMapOvr>
  <p:transition spd="med">
    <p:fade/>
  </p:transition>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sp>
        <p:nvSpPr>
          <p:cNvPr id="906" name="Google Shape;906;p39"/>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907" name="Google Shape;907;p39"/>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08" name="Google Shape;908;p39"/>
          <p:cNvSpPr/>
          <p:nvPr/>
        </p:nvSpPr>
        <p:spPr>
          <a:xfrm>
            <a:off x="502920" y="868680"/>
            <a:ext cx="1051560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400" u="none" cap="none" strike="noStrike">
                <a:solidFill>
                  <a:srgbClr val="22D3EE"/>
                </a:solidFill>
                <a:latin typeface="Inter"/>
                <a:ea typeface="Inter"/>
                <a:cs typeface="Inter"/>
                <a:sym typeface="Inter"/>
              </a:rPr>
              <a:t>SOCIAL IMPACT</a:t>
            </a:r>
            <a:endParaRPr b="0" i="0" sz="1100" u="none" cap="none" strike="noStrike">
              <a:solidFill>
                <a:schemeClr val="dk1"/>
              </a:solidFill>
              <a:latin typeface="Calibri"/>
              <a:ea typeface="Calibri"/>
              <a:cs typeface="Calibri"/>
              <a:sym typeface="Calibri"/>
            </a:endParaRPr>
          </a:p>
        </p:txBody>
      </p:sp>
      <p:sp>
        <p:nvSpPr>
          <p:cNvPr id="909" name="Google Shape;909;p39"/>
          <p:cNvSpPr/>
          <p:nvPr/>
        </p:nvSpPr>
        <p:spPr>
          <a:xfrm>
            <a:off x="502920" y="1280160"/>
            <a:ext cx="109728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4000"/>
              <a:buFont typeface="Arial"/>
              <a:buNone/>
            </a:pPr>
            <a:r>
              <a:rPr b="1" i="0" lang="en-US" sz="4000" u="none" cap="none" strike="noStrike">
                <a:solidFill>
                  <a:srgbClr val="FFFFFF"/>
                </a:solidFill>
                <a:latin typeface="Inter"/>
                <a:ea typeface="Inter"/>
                <a:cs typeface="Inter"/>
                <a:sym typeface="Inter"/>
              </a:rPr>
              <a:t>Dignity. Voice. Independence.</a:t>
            </a:r>
            <a:endParaRPr b="0" i="0" sz="4000" u="none" cap="none" strike="noStrike">
              <a:solidFill>
                <a:schemeClr val="dk1"/>
              </a:solidFill>
              <a:latin typeface="Calibri"/>
              <a:ea typeface="Calibri"/>
              <a:cs typeface="Calibri"/>
              <a:sym typeface="Calibri"/>
            </a:endParaRPr>
          </a:p>
        </p:txBody>
      </p:sp>
      <p:sp>
        <p:nvSpPr>
          <p:cNvPr id="910" name="Google Shape;910;p39"/>
          <p:cNvSpPr/>
          <p:nvPr/>
        </p:nvSpPr>
        <p:spPr>
          <a:xfrm>
            <a:off x="449425" y="2377452"/>
            <a:ext cx="5440800" cy="1920300"/>
          </a:xfrm>
          <a:prstGeom prst="roundRect">
            <a:avLst>
              <a:gd fmla="val 4848"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1" name="Google Shape;911;p39"/>
          <p:cNvSpPr/>
          <p:nvPr/>
        </p:nvSpPr>
        <p:spPr>
          <a:xfrm>
            <a:off x="723745" y="2842962"/>
            <a:ext cx="548700" cy="698400"/>
          </a:xfrm>
          <a:prstGeom prst="ellipse">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2" name="Google Shape;912;p39"/>
          <p:cNvSpPr/>
          <p:nvPr/>
        </p:nvSpPr>
        <p:spPr>
          <a:xfrm>
            <a:off x="723745" y="2842962"/>
            <a:ext cx="548700" cy="698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3" name="Google Shape;913;p39"/>
          <p:cNvSpPr/>
          <p:nvPr/>
        </p:nvSpPr>
        <p:spPr>
          <a:xfrm>
            <a:off x="1409546" y="2703309"/>
            <a:ext cx="4251900" cy="465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600"/>
              <a:buFont typeface="Arial"/>
              <a:buNone/>
            </a:pPr>
            <a:r>
              <a:rPr b="1" i="0" lang="en-US" sz="1950" u="none" cap="none" strike="noStrike">
                <a:solidFill>
                  <a:srgbClr val="FFFFFF"/>
                </a:solidFill>
                <a:latin typeface="Inter"/>
                <a:ea typeface="Inter"/>
                <a:cs typeface="Inter"/>
                <a:sym typeface="Inter"/>
              </a:rPr>
              <a:t>Restores independence</a:t>
            </a:r>
            <a:endParaRPr b="0" i="0" sz="1600" u="none" cap="none" strike="noStrike">
              <a:solidFill>
                <a:schemeClr val="dk1"/>
              </a:solidFill>
              <a:latin typeface="Calibri"/>
              <a:ea typeface="Calibri"/>
              <a:cs typeface="Calibri"/>
              <a:sym typeface="Calibri"/>
            </a:endParaRPr>
          </a:p>
        </p:txBody>
      </p:sp>
      <p:sp>
        <p:nvSpPr>
          <p:cNvPr id="914" name="Google Shape;914;p39"/>
          <p:cNvSpPr/>
          <p:nvPr/>
        </p:nvSpPr>
        <p:spPr>
          <a:xfrm>
            <a:off x="1409546" y="3215369"/>
            <a:ext cx="4343400" cy="11155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100"/>
              <a:buFont typeface="Calibri"/>
              <a:buNone/>
            </a:pPr>
            <a:r>
              <a:rPr b="1" i="0" lang="en-US" sz="1500" u="none" cap="none" strike="noStrike">
                <a:solidFill>
                  <a:srgbClr val="22D3EE"/>
                </a:solidFill>
                <a:latin typeface="Inter"/>
                <a:ea typeface="Inter"/>
                <a:cs typeface="Inter"/>
                <a:sym typeface="Inter"/>
              </a:rPr>
              <a:t>•  </a:t>
            </a:r>
            <a:r>
              <a:rPr b="0" i="0" lang="en-US" sz="1500" u="none" cap="none" strike="noStrike">
                <a:solidFill>
                  <a:srgbClr val="CDD5E2"/>
                </a:solidFill>
                <a:latin typeface="Inter"/>
                <a:ea typeface="Inter"/>
                <a:cs typeface="Inter"/>
                <a:sym typeface="Inter"/>
              </a:rPr>
              <a:t>Restores independent communication for non-verbal patients</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300"/>
              </a:spcAft>
              <a:buClr>
                <a:srgbClr val="000000"/>
              </a:buClr>
              <a:buSzPts val="1500"/>
              <a:buFont typeface="Arial"/>
              <a:buNone/>
            </a:pPr>
            <a:r>
              <a:rPr b="1" i="0" lang="en-US" sz="1500" u="none" cap="none" strike="noStrike">
                <a:solidFill>
                  <a:srgbClr val="22D3EE"/>
                </a:solidFill>
                <a:latin typeface="Inter"/>
                <a:ea typeface="Inter"/>
                <a:cs typeface="Inter"/>
                <a:sym typeface="Inter"/>
              </a:rPr>
              <a:t>•  </a:t>
            </a:r>
            <a:r>
              <a:rPr b="0" i="0" lang="en-US" sz="1500" u="none" cap="none" strike="noStrike">
                <a:solidFill>
                  <a:srgbClr val="CDD5E2"/>
                </a:solidFill>
                <a:latin typeface="Inter"/>
                <a:ea typeface="Inter"/>
                <a:cs typeface="Inter"/>
                <a:sym typeface="Inter"/>
              </a:rPr>
              <a:t>Gives bedridden users control over their room &amp; digital life</a:t>
            </a:r>
            <a:endParaRPr b="0" i="0" sz="1400" u="none" cap="none" strike="noStrike">
              <a:solidFill>
                <a:srgbClr val="000000"/>
              </a:solidFill>
              <a:latin typeface="Arial"/>
              <a:ea typeface="Arial"/>
              <a:cs typeface="Arial"/>
              <a:sym typeface="Arial"/>
            </a:endParaRPr>
          </a:p>
        </p:txBody>
      </p:sp>
      <p:sp>
        <p:nvSpPr>
          <p:cNvPr id="915" name="Google Shape;915;p39"/>
          <p:cNvSpPr/>
          <p:nvPr/>
        </p:nvSpPr>
        <p:spPr>
          <a:xfrm>
            <a:off x="6301590" y="2377452"/>
            <a:ext cx="5440800" cy="1920300"/>
          </a:xfrm>
          <a:prstGeom prst="roundRect">
            <a:avLst>
              <a:gd fmla="val 4848"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6" name="Google Shape;916;p39"/>
          <p:cNvSpPr/>
          <p:nvPr/>
        </p:nvSpPr>
        <p:spPr>
          <a:xfrm>
            <a:off x="6575910" y="2842962"/>
            <a:ext cx="548700" cy="698400"/>
          </a:xfrm>
          <a:prstGeom prst="ellipse">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7" name="Google Shape;917;p39"/>
          <p:cNvSpPr/>
          <p:nvPr/>
        </p:nvSpPr>
        <p:spPr>
          <a:xfrm>
            <a:off x="6575910" y="2842962"/>
            <a:ext cx="548700" cy="698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8" name="Google Shape;918;p39"/>
          <p:cNvSpPr/>
          <p:nvPr/>
        </p:nvSpPr>
        <p:spPr>
          <a:xfrm>
            <a:off x="7261711" y="2703309"/>
            <a:ext cx="4251900" cy="465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600"/>
              <a:buFont typeface="Arial"/>
              <a:buNone/>
            </a:pPr>
            <a:r>
              <a:rPr b="1" i="0" lang="en-US" sz="1950" u="none" cap="none" strike="noStrike">
                <a:solidFill>
                  <a:srgbClr val="FFFFFF"/>
                </a:solidFill>
                <a:latin typeface="Inter"/>
                <a:ea typeface="Inter"/>
                <a:cs typeface="Inter"/>
                <a:sym typeface="Inter"/>
              </a:rPr>
              <a:t>Bridges the digital divide</a:t>
            </a:r>
            <a:endParaRPr b="0" i="0" sz="1600" u="none" cap="none" strike="noStrike">
              <a:solidFill>
                <a:schemeClr val="dk1"/>
              </a:solidFill>
              <a:latin typeface="Calibri"/>
              <a:ea typeface="Calibri"/>
              <a:cs typeface="Calibri"/>
              <a:sym typeface="Calibri"/>
            </a:endParaRPr>
          </a:p>
        </p:txBody>
      </p:sp>
      <p:sp>
        <p:nvSpPr>
          <p:cNvPr id="919" name="Google Shape;919;p39"/>
          <p:cNvSpPr/>
          <p:nvPr/>
        </p:nvSpPr>
        <p:spPr>
          <a:xfrm>
            <a:off x="7261711" y="3215369"/>
            <a:ext cx="4343400" cy="11155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100"/>
              <a:buFont typeface="Calibri"/>
              <a:buNone/>
            </a:pPr>
            <a:r>
              <a:rPr b="1" i="0" lang="en-US" sz="1500" u="none" cap="none" strike="noStrike">
                <a:solidFill>
                  <a:srgbClr val="22D3EE"/>
                </a:solidFill>
                <a:latin typeface="Inter"/>
                <a:ea typeface="Inter"/>
                <a:cs typeface="Inter"/>
                <a:sym typeface="Inter"/>
              </a:rPr>
              <a:t>•  </a:t>
            </a:r>
            <a:r>
              <a:rPr b="0" i="0" lang="en-US" sz="1500" u="none" cap="none" strike="noStrike">
                <a:solidFill>
                  <a:srgbClr val="CDD5E2"/>
                </a:solidFill>
                <a:latin typeface="Inter"/>
                <a:ea typeface="Inter"/>
                <a:cs typeface="Inter"/>
                <a:sym typeface="Inter"/>
              </a:rPr>
              <a:t>Replaces ₹25L+ imports with an ₹885 prototype architecture</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300"/>
              </a:spcAft>
              <a:buClr>
                <a:srgbClr val="000000"/>
              </a:buClr>
              <a:buSzPts val="1500"/>
              <a:buFont typeface="Arial"/>
              <a:buNone/>
            </a:pPr>
            <a:r>
              <a:rPr b="1" i="0" lang="en-US" sz="1500" u="none" cap="none" strike="noStrike">
                <a:solidFill>
                  <a:srgbClr val="22D3EE"/>
                </a:solidFill>
                <a:latin typeface="Inter"/>
                <a:ea typeface="Inter"/>
                <a:cs typeface="Inter"/>
                <a:sym typeface="Inter"/>
              </a:rPr>
              <a:t>•  </a:t>
            </a:r>
            <a:r>
              <a:rPr b="0" i="0" lang="en-US" sz="1500" u="none" cap="none" strike="noStrike">
                <a:solidFill>
                  <a:srgbClr val="CDD5E2"/>
                </a:solidFill>
                <a:latin typeface="Inter"/>
                <a:ea typeface="Inter"/>
                <a:cs typeface="Inter"/>
                <a:sym typeface="Inter"/>
              </a:rPr>
              <a:t>Ensures assistive technology access doesn't depend on wealth</a:t>
            </a:r>
            <a:endParaRPr b="0" i="0" sz="1400" u="none" cap="none" strike="noStrike">
              <a:solidFill>
                <a:srgbClr val="000000"/>
              </a:solidFill>
              <a:latin typeface="Arial"/>
              <a:ea typeface="Arial"/>
              <a:cs typeface="Arial"/>
              <a:sym typeface="Arial"/>
            </a:endParaRPr>
          </a:p>
        </p:txBody>
      </p:sp>
      <p:sp>
        <p:nvSpPr>
          <p:cNvPr id="920" name="Google Shape;920;p39"/>
          <p:cNvSpPr/>
          <p:nvPr/>
        </p:nvSpPr>
        <p:spPr>
          <a:xfrm>
            <a:off x="502920" y="4853734"/>
            <a:ext cx="11185800" cy="128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3600"/>
              <a:buFont typeface="Arial"/>
              <a:buNone/>
            </a:pPr>
            <a:r>
              <a:rPr b="1" i="1" lang="en-US" sz="3600" u="none" cap="none" strike="noStrike">
                <a:solidFill>
                  <a:srgbClr val="22D3EE"/>
                </a:solidFill>
                <a:latin typeface="Inter"/>
                <a:ea typeface="Inter"/>
                <a:cs typeface="Inter"/>
                <a:sym typeface="Inter"/>
              </a:rPr>
              <a:t>For someone who can't lift a finger, this is freedom.</a:t>
            </a:r>
            <a:endParaRPr b="0" i="0" sz="3600" u="none" cap="none" strike="noStrike">
              <a:solidFill>
                <a:schemeClr val="dk1"/>
              </a:solidFill>
              <a:latin typeface="Calibri"/>
              <a:ea typeface="Calibri"/>
              <a:cs typeface="Calibri"/>
              <a:sym typeface="Calibri"/>
            </a:endParaRPr>
          </a:p>
        </p:txBody>
      </p:sp>
      <p:pic>
        <p:nvPicPr>
          <p:cNvPr descr="icon_eye.png" id="921" name="Google Shape;921;p39"/>
          <p:cNvPicPr preferRelativeResize="0"/>
          <p:nvPr/>
        </p:nvPicPr>
        <p:blipFill rotWithShape="1">
          <a:blip r:embed="rId3">
            <a:alphaModFix/>
          </a:blip>
          <a:srcRect b="0" l="0" r="0" t="0"/>
          <a:stretch/>
        </p:blipFill>
        <p:spPr>
          <a:xfrm>
            <a:off x="574122" y="2842962"/>
            <a:ext cx="698264" cy="698264"/>
          </a:xfrm>
          <a:prstGeom prst="rect">
            <a:avLst/>
          </a:prstGeom>
          <a:noFill/>
          <a:ln>
            <a:noFill/>
          </a:ln>
        </p:spPr>
      </p:pic>
      <p:pic>
        <p:nvPicPr>
          <p:cNvPr descr="icon_shield.png" id="922" name="Google Shape;922;p39"/>
          <p:cNvPicPr preferRelativeResize="0"/>
          <p:nvPr/>
        </p:nvPicPr>
        <p:blipFill rotWithShape="1">
          <a:blip r:embed="rId4">
            <a:alphaModFix/>
          </a:blip>
          <a:srcRect b="0" l="0" r="0" t="0"/>
          <a:stretch/>
        </p:blipFill>
        <p:spPr>
          <a:xfrm>
            <a:off x="6426287" y="2842962"/>
            <a:ext cx="698264" cy="698264"/>
          </a:xfrm>
          <a:prstGeom prst="rect">
            <a:avLst/>
          </a:prstGeom>
          <a:noFill/>
          <a:ln>
            <a:noFill/>
          </a:ln>
        </p:spPr>
      </p:pic>
    </p:spTree>
  </p:cSld>
  <p:clrMapOvr>
    <a:masterClrMapping/>
  </p:clrMapOvr>
  <p:transition spd="med">
    <p:fade/>
  </p:transition>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36"/>
          <p:cNvSpPr txBox="1"/>
          <p:nvPr/>
        </p:nvSpPr>
        <p:spPr>
          <a:xfrm>
            <a:off x="502920" y="274320"/>
            <a:ext cx="18288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5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928" name="Google Shape;928;p36"/>
          <p:cNvSpPr txBox="1"/>
          <p:nvPr/>
        </p:nvSpPr>
        <p:spPr>
          <a:xfrm>
            <a:off x="685800" y="274320"/>
            <a:ext cx="36576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1150" u="none" cap="none" strike="noStrike">
                <a:solidFill>
                  <a:srgbClr val="CDD5E2"/>
                </a:solidFill>
                <a:latin typeface="Inter"/>
                <a:ea typeface="Inter"/>
                <a:cs typeface="Inter"/>
                <a:sym typeface="Inter"/>
              </a:rPr>
              <a:t>IRIS</a:t>
            </a:r>
            <a:endParaRPr b="0" i="0" sz="1400" u="none" cap="none" strike="noStrike">
              <a:solidFill>
                <a:srgbClr val="000000"/>
              </a:solidFill>
              <a:latin typeface="Arial"/>
              <a:ea typeface="Arial"/>
              <a:cs typeface="Arial"/>
              <a:sym typeface="Arial"/>
            </a:endParaRPr>
          </a:p>
        </p:txBody>
      </p:sp>
      <p:sp>
        <p:nvSpPr>
          <p:cNvPr id="929" name="Google Shape;929;p36"/>
          <p:cNvSpPr txBox="1"/>
          <p:nvPr/>
        </p:nvSpPr>
        <p:spPr>
          <a:xfrm>
            <a:off x="502920" y="777240"/>
            <a:ext cx="10515600"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400" u="none" cap="none" strike="noStrike">
                <a:solidFill>
                  <a:srgbClr val="22D3EE"/>
                </a:solidFill>
                <a:latin typeface="Inter"/>
                <a:ea typeface="Inter"/>
                <a:cs typeface="Inter"/>
                <a:sym typeface="Inter"/>
              </a:rPr>
              <a:t>SDG ALIGNMENT + DISTRIBUTION</a:t>
            </a:r>
            <a:endParaRPr b="0" i="0" sz="1400" u="none" cap="none" strike="noStrike">
              <a:solidFill>
                <a:srgbClr val="000000"/>
              </a:solidFill>
              <a:latin typeface="Arial"/>
              <a:ea typeface="Arial"/>
              <a:cs typeface="Arial"/>
              <a:sym typeface="Arial"/>
            </a:endParaRPr>
          </a:p>
        </p:txBody>
      </p:sp>
      <p:sp>
        <p:nvSpPr>
          <p:cNvPr id="930" name="Google Shape;930;p36"/>
          <p:cNvSpPr txBox="1"/>
          <p:nvPr/>
        </p:nvSpPr>
        <p:spPr>
          <a:xfrm>
            <a:off x="502920" y="1188720"/>
            <a:ext cx="10972800" cy="914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Inter"/>
                <a:ea typeface="Inter"/>
                <a:cs typeface="Inter"/>
                <a:sym typeface="Inter"/>
              </a:rPr>
              <a:t>UN Sustainable Development Goals.</a:t>
            </a:r>
            <a:endParaRPr b="0" i="0" sz="1400" u="none" cap="none" strike="noStrike">
              <a:solidFill>
                <a:srgbClr val="000000"/>
              </a:solidFill>
              <a:latin typeface="Arial"/>
              <a:ea typeface="Arial"/>
              <a:cs typeface="Arial"/>
              <a:sym typeface="Arial"/>
            </a:endParaRPr>
          </a:p>
        </p:txBody>
      </p:sp>
      <p:sp>
        <p:nvSpPr>
          <p:cNvPr id="931" name="Google Shape;931;p36"/>
          <p:cNvSpPr/>
          <p:nvPr/>
        </p:nvSpPr>
        <p:spPr>
          <a:xfrm>
            <a:off x="502920" y="2194560"/>
            <a:ext cx="2606040" cy="2194560"/>
          </a:xfrm>
          <a:prstGeom prst="roundRect">
            <a:avLst>
              <a:gd fmla="val 16667" name="adj"/>
            </a:avLst>
          </a:prstGeom>
          <a:solidFill>
            <a:srgbClr val="4CAF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32" name="Google Shape;932;p36"/>
          <p:cNvSpPr txBox="1"/>
          <p:nvPr/>
        </p:nvSpPr>
        <p:spPr>
          <a:xfrm>
            <a:off x="502920" y="2331720"/>
            <a:ext cx="2606040" cy="7315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1" i="0" lang="en-US" sz="4800" u="none" cap="none" strike="noStrike">
                <a:solidFill>
                  <a:srgbClr val="FFFFFF"/>
                </a:solidFill>
                <a:latin typeface="Inter"/>
                <a:ea typeface="Inter"/>
                <a:cs typeface="Inter"/>
                <a:sym typeface="Inter"/>
              </a:rPr>
              <a:t>03</a:t>
            </a:r>
            <a:endParaRPr b="0" i="0" sz="1400" u="none" cap="none" strike="noStrike">
              <a:solidFill>
                <a:srgbClr val="000000"/>
              </a:solidFill>
              <a:latin typeface="Arial"/>
              <a:ea typeface="Arial"/>
              <a:cs typeface="Arial"/>
              <a:sym typeface="Arial"/>
            </a:endParaRPr>
          </a:p>
        </p:txBody>
      </p:sp>
      <p:sp>
        <p:nvSpPr>
          <p:cNvPr id="933" name="Google Shape;933;p36"/>
          <p:cNvSpPr txBox="1"/>
          <p:nvPr/>
        </p:nvSpPr>
        <p:spPr>
          <a:xfrm>
            <a:off x="640080" y="3108960"/>
            <a:ext cx="2331720" cy="5486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450" u="none" cap="none" strike="noStrike">
                <a:solidFill>
                  <a:srgbClr val="FFFFFF"/>
                </a:solidFill>
                <a:latin typeface="Inter"/>
                <a:ea typeface="Inter"/>
                <a:cs typeface="Inter"/>
                <a:sym typeface="Inter"/>
              </a:rPr>
              <a:t>GOOD HEALTH</a:t>
            </a:r>
            <a:endParaRPr b="0" i="0" sz="1400" u="none" cap="none" strike="noStrike">
              <a:solidFill>
                <a:srgbClr val="000000"/>
              </a:solidFill>
              <a:latin typeface="Arial"/>
              <a:ea typeface="Arial"/>
              <a:cs typeface="Arial"/>
              <a:sym typeface="Arial"/>
            </a:endParaRPr>
          </a:p>
        </p:txBody>
      </p:sp>
      <p:sp>
        <p:nvSpPr>
          <p:cNvPr id="934" name="Google Shape;934;p36"/>
          <p:cNvSpPr txBox="1"/>
          <p:nvPr/>
        </p:nvSpPr>
        <p:spPr>
          <a:xfrm>
            <a:off x="640080" y="3657600"/>
            <a:ext cx="2423160" cy="7772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400" u="none" cap="none" strike="noStrike">
                <a:solidFill>
                  <a:srgbClr val="FFFFFF"/>
                </a:solidFill>
                <a:latin typeface="Inter"/>
                <a:ea typeface="Inter"/>
                <a:cs typeface="Inter"/>
                <a:sym typeface="Inter"/>
              </a:rPr>
              <a:t>Restores communication</a:t>
            </a:r>
            <a:br>
              <a:rPr b="0" i="0" lang="en-US" sz="1000" u="none" cap="none" strike="noStrike">
                <a:solidFill>
                  <a:srgbClr val="FFFFFF"/>
                </a:solidFill>
                <a:latin typeface="Arial"/>
                <a:ea typeface="Arial"/>
                <a:cs typeface="Arial"/>
                <a:sym typeface="Arial"/>
              </a:rPr>
            </a:br>
            <a:r>
              <a:rPr b="0" i="0" lang="en-US" sz="1400" u="none" cap="none" strike="noStrike">
                <a:solidFill>
                  <a:srgbClr val="FFFFFF"/>
                </a:solidFill>
                <a:latin typeface="Inter"/>
                <a:ea typeface="Inter"/>
                <a:cs typeface="Inter"/>
                <a:sym typeface="Inter"/>
              </a:rPr>
              <a:t>for severe motor disability</a:t>
            </a:r>
            <a:endParaRPr b="0" i="0" sz="1400" u="none" cap="none" strike="noStrike">
              <a:solidFill>
                <a:srgbClr val="000000"/>
              </a:solidFill>
              <a:latin typeface="Arial"/>
              <a:ea typeface="Arial"/>
              <a:cs typeface="Arial"/>
              <a:sym typeface="Arial"/>
            </a:endParaRPr>
          </a:p>
        </p:txBody>
      </p:sp>
      <p:sp>
        <p:nvSpPr>
          <p:cNvPr id="935" name="Google Shape;935;p36"/>
          <p:cNvSpPr/>
          <p:nvPr/>
        </p:nvSpPr>
        <p:spPr>
          <a:xfrm>
            <a:off x="3291839" y="2194560"/>
            <a:ext cx="2606040" cy="2194560"/>
          </a:xfrm>
          <a:prstGeom prst="roundRect">
            <a:avLst>
              <a:gd fmla="val 16667" name="adj"/>
            </a:avLst>
          </a:prstGeom>
          <a:solidFill>
            <a:srgbClr val="FD3C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36" name="Google Shape;936;p36"/>
          <p:cNvSpPr txBox="1"/>
          <p:nvPr/>
        </p:nvSpPr>
        <p:spPr>
          <a:xfrm>
            <a:off x="3291839" y="2331720"/>
            <a:ext cx="2606040" cy="7315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1" i="0" lang="en-US" sz="4800" u="none" cap="none" strike="noStrike">
                <a:solidFill>
                  <a:srgbClr val="FFFFFF"/>
                </a:solidFill>
                <a:latin typeface="Inter"/>
                <a:ea typeface="Inter"/>
                <a:cs typeface="Inter"/>
                <a:sym typeface="Inter"/>
              </a:rPr>
              <a:t>09</a:t>
            </a:r>
            <a:endParaRPr b="0" i="0" sz="1400" u="none" cap="none" strike="noStrike">
              <a:solidFill>
                <a:srgbClr val="000000"/>
              </a:solidFill>
              <a:latin typeface="Arial"/>
              <a:ea typeface="Arial"/>
              <a:cs typeface="Arial"/>
              <a:sym typeface="Arial"/>
            </a:endParaRPr>
          </a:p>
        </p:txBody>
      </p:sp>
      <p:sp>
        <p:nvSpPr>
          <p:cNvPr id="937" name="Google Shape;937;p36"/>
          <p:cNvSpPr txBox="1"/>
          <p:nvPr/>
        </p:nvSpPr>
        <p:spPr>
          <a:xfrm>
            <a:off x="3428999" y="3108960"/>
            <a:ext cx="2331720" cy="5486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450" u="none" cap="none" strike="noStrike">
                <a:solidFill>
                  <a:srgbClr val="FFFFFF"/>
                </a:solidFill>
                <a:latin typeface="Inter"/>
                <a:ea typeface="Inter"/>
                <a:cs typeface="Inter"/>
                <a:sym typeface="Inter"/>
              </a:rPr>
              <a:t>INDUSTRY &amp; INNOVATION</a:t>
            </a:r>
            <a:endParaRPr b="0" i="0" sz="1400" u="none" cap="none" strike="noStrike">
              <a:solidFill>
                <a:srgbClr val="000000"/>
              </a:solidFill>
              <a:latin typeface="Arial"/>
              <a:ea typeface="Arial"/>
              <a:cs typeface="Arial"/>
              <a:sym typeface="Arial"/>
            </a:endParaRPr>
          </a:p>
        </p:txBody>
      </p:sp>
      <p:sp>
        <p:nvSpPr>
          <p:cNvPr id="938" name="Google Shape;938;p36"/>
          <p:cNvSpPr txBox="1"/>
          <p:nvPr/>
        </p:nvSpPr>
        <p:spPr>
          <a:xfrm>
            <a:off x="3428999" y="3657600"/>
            <a:ext cx="2423160" cy="7772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br>
              <a:rPr b="0" i="0" lang="en-US" sz="1000" u="none" cap="none" strike="noStrike">
                <a:solidFill>
                  <a:srgbClr val="FFFFFF"/>
                </a:solidFill>
                <a:latin typeface="Arial"/>
                <a:ea typeface="Arial"/>
                <a:cs typeface="Arial"/>
                <a:sym typeface="Arial"/>
              </a:rPr>
            </a:br>
            <a:r>
              <a:rPr b="0" i="0" lang="en-US" sz="1400" u="none" cap="none" strike="noStrike">
                <a:solidFill>
                  <a:srgbClr val="FFFFFF"/>
                </a:solidFill>
                <a:latin typeface="Inter"/>
                <a:ea typeface="Inter"/>
                <a:cs typeface="Inter"/>
                <a:sym typeface="Inter"/>
              </a:rPr>
              <a:t>Open hardware from</a:t>
            </a:r>
            <a:br>
              <a:rPr b="0" i="0" lang="en-US" sz="1000" u="none" cap="none" strike="noStrike">
                <a:solidFill>
                  <a:srgbClr val="FFFFFF"/>
                </a:solidFill>
                <a:latin typeface="Inter"/>
                <a:ea typeface="Inter"/>
                <a:cs typeface="Inter"/>
                <a:sym typeface="Inter"/>
              </a:rPr>
            </a:br>
            <a:r>
              <a:rPr b="0" i="0" lang="en-US" sz="1400" u="none" cap="none" strike="noStrike">
                <a:solidFill>
                  <a:srgbClr val="FFFFFF"/>
                </a:solidFill>
                <a:latin typeface="Inter"/>
                <a:ea typeface="Inter"/>
                <a:cs typeface="Inter"/>
                <a:sym typeface="Inter"/>
              </a:rPr>
              <a:t>₹885 of components</a:t>
            </a:r>
            <a:endParaRPr b="0" i="0" sz="1800" u="none" cap="none" strike="noStrike">
              <a:solidFill>
                <a:schemeClr val="dk1"/>
              </a:solidFill>
              <a:latin typeface="Calibri"/>
              <a:ea typeface="Calibri"/>
              <a:cs typeface="Calibri"/>
              <a:sym typeface="Calibri"/>
            </a:endParaRPr>
          </a:p>
        </p:txBody>
      </p:sp>
      <p:sp>
        <p:nvSpPr>
          <p:cNvPr id="939" name="Google Shape;939;p36"/>
          <p:cNvSpPr/>
          <p:nvPr/>
        </p:nvSpPr>
        <p:spPr>
          <a:xfrm>
            <a:off x="6080759" y="2194560"/>
            <a:ext cx="2606040" cy="2194560"/>
          </a:xfrm>
          <a:prstGeom prst="roundRect">
            <a:avLst>
              <a:gd fmla="val 16667" name="adj"/>
            </a:avLst>
          </a:prstGeom>
          <a:solidFill>
            <a:srgbClr val="DD136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40" name="Google Shape;940;p36"/>
          <p:cNvSpPr txBox="1"/>
          <p:nvPr/>
        </p:nvSpPr>
        <p:spPr>
          <a:xfrm>
            <a:off x="6080759" y="2331720"/>
            <a:ext cx="2606040" cy="7315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1" i="0" lang="en-US" sz="4800" u="none" cap="none" strike="noStrike">
                <a:solidFill>
                  <a:srgbClr val="FFFFFF"/>
                </a:solidFill>
                <a:latin typeface="Inter"/>
                <a:ea typeface="Inter"/>
                <a:cs typeface="Inter"/>
                <a:sym typeface="Inter"/>
              </a:rPr>
              <a:t>10</a:t>
            </a:r>
            <a:endParaRPr b="0" i="0" sz="1400" u="none" cap="none" strike="noStrike">
              <a:solidFill>
                <a:srgbClr val="000000"/>
              </a:solidFill>
              <a:latin typeface="Arial"/>
              <a:ea typeface="Arial"/>
              <a:cs typeface="Arial"/>
              <a:sym typeface="Arial"/>
            </a:endParaRPr>
          </a:p>
        </p:txBody>
      </p:sp>
      <p:sp>
        <p:nvSpPr>
          <p:cNvPr id="941" name="Google Shape;941;p36"/>
          <p:cNvSpPr txBox="1"/>
          <p:nvPr/>
        </p:nvSpPr>
        <p:spPr>
          <a:xfrm>
            <a:off x="6217920" y="3108960"/>
            <a:ext cx="2331720" cy="5486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450" u="none" cap="none" strike="noStrike">
                <a:solidFill>
                  <a:srgbClr val="FFFFFF"/>
                </a:solidFill>
                <a:latin typeface="Inter"/>
                <a:ea typeface="Inter"/>
                <a:cs typeface="Inter"/>
                <a:sym typeface="Inter"/>
              </a:rPr>
              <a:t>REDUCED INEQUALITIES</a:t>
            </a:r>
            <a:endParaRPr b="0" i="0" sz="1400" u="none" cap="none" strike="noStrike">
              <a:solidFill>
                <a:srgbClr val="000000"/>
              </a:solidFill>
              <a:latin typeface="Arial"/>
              <a:ea typeface="Arial"/>
              <a:cs typeface="Arial"/>
              <a:sym typeface="Arial"/>
            </a:endParaRPr>
          </a:p>
        </p:txBody>
      </p:sp>
      <p:sp>
        <p:nvSpPr>
          <p:cNvPr id="942" name="Google Shape;942;p36"/>
          <p:cNvSpPr txBox="1"/>
          <p:nvPr/>
        </p:nvSpPr>
        <p:spPr>
          <a:xfrm>
            <a:off x="6217920" y="3657600"/>
            <a:ext cx="2423160" cy="7772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400" u="none" cap="none" strike="noStrike">
                <a:solidFill>
                  <a:srgbClr val="FFFFFF"/>
                </a:solidFill>
                <a:latin typeface="Inter"/>
                <a:ea typeface="Inter"/>
                <a:cs typeface="Inter"/>
                <a:sym typeface="Inter"/>
              </a:rPr>
              <a:t>Bridges the digital divide</a:t>
            </a:r>
            <a:br>
              <a:rPr b="0" i="0" lang="en-US" sz="1000" u="none" cap="none" strike="noStrike">
                <a:solidFill>
                  <a:srgbClr val="FFFFFF"/>
                </a:solidFill>
                <a:latin typeface="Arial"/>
                <a:ea typeface="Arial"/>
                <a:cs typeface="Arial"/>
                <a:sym typeface="Arial"/>
              </a:rPr>
            </a:br>
            <a:r>
              <a:rPr b="0" i="0" lang="en-US" sz="1400" u="none" cap="none" strike="noStrike">
                <a:solidFill>
                  <a:srgbClr val="FFFFFF"/>
                </a:solidFill>
                <a:latin typeface="Inter"/>
                <a:ea typeface="Inter"/>
                <a:cs typeface="Inter"/>
                <a:sym typeface="Inter"/>
              </a:rPr>
              <a:t>for low-income families</a:t>
            </a:r>
            <a:endParaRPr b="0" i="0" sz="1400" u="none" cap="none" strike="noStrike">
              <a:solidFill>
                <a:srgbClr val="000000"/>
              </a:solidFill>
              <a:latin typeface="Arial"/>
              <a:ea typeface="Arial"/>
              <a:cs typeface="Arial"/>
              <a:sym typeface="Arial"/>
            </a:endParaRPr>
          </a:p>
        </p:txBody>
      </p:sp>
      <p:sp>
        <p:nvSpPr>
          <p:cNvPr id="943" name="Google Shape;943;p36"/>
          <p:cNvSpPr/>
          <p:nvPr/>
        </p:nvSpPr>
        <p:spPr>
          <a:xfrm>
            <a:off x="8869680" y="2194560"/>
            <a:ext cx="2606040" cy="2194560"/>
          </a:xfrm>
          <a:prstGeom prst="roundRect">
            <a:avLst>
              <a:gd fmla="val 16667" name="adj"/>
            </a:avLst>
          </a:prstGeom>
          <a:solidFill>
            <a:srgbClr val="133A8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44" name="Google Shape;944;p36"/>
          <p:cNvSpPr txBox="1"/>
          <p:nvPr/>
        </p:nvSpPr>
        <p:spPr>
          <a:xfrm>
            <a:off x="8869680" y="2331720"/>
            <a:ext cx="2606040" cy="7315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1" i="0" lang="en-US" sz="4800" u="none" cap="none" strike="noStrike">
                <a:solidFill>
                  <a:srgbClr val="FFFFFF"/>
                </a:solidFill>
                <a:latin typeface="Inter"/>
                <a:ea typeface="Inter"/>
                <a:cs typeface="Inter"/>
                <a:sym typeface="Inter"/>
              </a:rPr>
              <a:t>17</a:t>
            </a:r>
            <a:endParaRPr b="0" i="0" sz="1400" u="none" cap="none" strike="noStrike">
              <a:solidFill>
                <a:srgbClr val="000000"/>
              </a:solidFill>
              <a:latin typeface="Arial"/>
              <a:ea typeface="Arial"/>
              <a:cs typeface="Arial"/>
              <a:sym typeface="Arial"/>
            </a:endParaRPr>
          </a:p>
        </p:txBody>
      </p:sp>
      <p:sp>
        <p:nvSpPr>
          <p:cNvPr id="945" name="Google Shape;945;p36"/>
          <p:cNvSpPr txBox="1"/>
          <p:nvPr/>
        </p:nvSpPr>
        <p:spPr>
          <a:xfrm>
            <a:off x="9006840" y="3108960"/>
            <a:ext cx="2331720" cy="5486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450" u="none" cap="none" strike="noStrike">
                <a:solidFill>
                  <a:srgbClr val="FFFFFF"/>
                </a:solidFill>
                <a:latin typeface="Inter"/>
                <a:ea typeface="Inter"/>
                <a:cs typeface="Inter"/>
                <a:sym typeface="Inter"/>
              </a:rPr>
              <a:t>PARTNERSHIPS</a:t>
            </a:r>
            <a:endParaRPr b="0" i="0" sz="1400" u="none" cap="none" strike="noStrike">
              <a:solidFill>
                <a:srgbClr val="000000"/>
              </a:solidFill>
              <a:latin typeface="Arial"/>
              <a:ea typeface="Arial"/>
              <a:cs typeface="Arial"/>
              <a:sym typeface="Arial"/>
            </a:endParaRPr>
          </a:p>
        </p:txBody>
      </p:sp>
      <p:sp>
        <p:nvSpPr>
          <p:cNvPr id="946" name="Google Shape;946;p36"/>
          <p:cNvSpPr txBox="1"/>
          <p:nvPr/>
        </p:nvSpPr>
        <p:spPr>
          <a:xfrm>
            <a:off x="9006840" y="3657600"/>
            <a:ext cx="2423160" cy="7772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400" u="none" cap="none" strike="noStrike">
                <a:solidFill>
                  <a:srgbClr val="FFFFFF"/>
                </a:solidFill>
                <a:latin typeface="Inter"/>
                <a:ea typeface="Inter"/>
                <a:cs typeface="Inter"/>
                <a:sym typeface="Inter"/>
              </a:rPr>
              <a:t>Distributed via hospitals</a:t>
            </a:r>
            <a:br>
              <a:rPr b="0" i="0" lang="en-US" sz="1000" u="none" cap="none" strike="noStrike">
                <a:solidFill>
                  <a:srgbClr val="FFFFFF"/>
                </a:solidFill>
                <a:latin typeface="Arial"/>
                <a:ea typeface="Arial"/>
                <a:cs typeface="Arial"/>
                <a:sym typeface="Arial"/>
              </a:rPr>
            </a:br>
            <a:r>
              <a:rPr b="0" i="0" lang="en-US" sz="1400" u="none" cap="none" strike="noStrike">
                <a:solidFill>
                  <a:srgbClr val="FFFFFF"/>
                </a:solidFill>
                <a:latin typeface="Inter"/>
                <a:ea typeface="Inter"/>
                <a:cs typeface="Inter"/>
                <a:sym typeface="Inter"/>
              </a:rPr>
              <a:t>and NGOs at near-cost</a:t>
            </a:r>
            <a:endParaRPr b="0" i="0" sz="1400" u="none" cap="none" strike="noStrike">
              <a:solidFill>
                <a:srgbClr val="000000"/>
              </a:solidFill>
              <a:latin typeface="Arial"/>
              <a:ea typeface="Arial"/>
              <a:cs typeface="Arial"/>
              <a:sym typeface="Arial"/>
            </a:endParaRPr>
          </a:p>
        </p:txBody>
      </p:sp>
      <p:sp>
        <p:nvSpPr>
          <p:cNvPr id="947" name="Google Shape;947;p36"/>
          <p:cNvSpPr txBox="1"/>
          <p:nvPr/>
        </p:nvSpPr>
        <p:spPr>
          <a:xfrm>
            <a:off x="502920" y="4663440"/>
            <a:ext cx="10972800"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350" u="none" cap="none" strike="noStrike">
                <a:solidFill>
                  <a:srgbClr val="22D3EE"/>
                </a:solidFill>
                <a:latin typeface="Inter"/>
                <a:ea typeface="Inter"/>
                <a:cs typeface="Inter"/>
                <a:sym typeface="Inter"/>
              </a:rPr>
              <a:t>DISTRIBUTION PARTNERS PLAN</a:t>
            </a:r>
            <a:endParaRPr b="0" i="0" sz="1800" u="none" cap="none" strike="noStrike">
              <a:solidFill>
                <a:schemeClr val="dk1"/>
              </a:solidFill>
              <a:latin typeface="Calibri"/>
              <a:ea typeface="Calibri"/>
              <a:cs typeface="Calibri"/>
              <a:sym typeface="Calibri"/>
            </a:endParaRPr>
          </a:p>
        </p:txBody>
      </p:sp>
      <p:pic>
        <p:nvPicPr>
          <p:cNvPr descr="aiims.jpg" id="948" name="Google Shape;948;p36"/>
          <p:cNvPicPr preferRelativeResize="0"/>
          <p:nvPr/>
        </p:nvPicPr>
        <p:blipFill rotWithShape="1">
          <a:blip r:embed="rId3">
            <a:alphaModFix/>
          </a:blip>
          <a:srcRect b="0" l="0" r="0" t="0"/>
          <a:stretch/>
        </p:blipFill>
        <p:spPr>
          <a:xfrm>
            <a:off x="502920" y="5029200"/>
            <a:ext cx="2011680" cy="1371600"/>
          </a:xfrm>
          <a:prstGeom prst="rect">
            <a:avLst/>
          </a:prstGeom>
          <a:noFill/>
          <a:ln>
            <a:noFill/>
          </a:ln>
        </p:spPr>
      </p:pic>
      <p:sp>
        <p:nvSpPr>
          <p:cNvPr id="949" name="Google Shape;949;p36"/>
          <p:cNvSpPr txBox="1"/>
          <p:nvPr/>
        </p:nvSpPr>
        <p:spPr>
          <a:xfrm>
            <a:off x="502920" y="6446520"/>
            <a:ext cx="2011680" cy="274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400" u="none" cap="none" strike="noStrike">
                <a:solidFill>
                  <a:srgbClr val="FFFFFF"/>
                </a:solidFill>
                <a:latin typeface="Inter"/>
                <a:ea typeface="Inter"/>
                <a:cs typeface="Inter"/>
                <a:sym typeface="Inter"/>
              </a:rPr>
              <a:t>AIIMS Delhi</a:t>
            </a:r>
            <a:endParaRPr b="0" i="0" sz="1400" u="none" cap="none" strike="noStrike">
              <a:solidFill>
                <a:srgbClr val="000000"/>
              </a:solidFill>
              <a:latin typeface="Arial"/>
              <a:ea typeface="Arial"/>
              <a:cs typeface="Arial"/>
              <a:sym typeface="Arial"/>
            </a:endParaRPr>
          </a:p>
        </p:txBody>
      </p:sp>
      <p:sp>
        <p:nvSpPr>
          <p:cNvPr id="950" name="Google Shape;950;p36"/>
          <p:cNvSpPr txBox="1"/>
          <p:nvPr/>
        </p:nvSpPr>
        <p:spPr>
          <a:xfrm>
            <a:off x="502920" y="6629400"/>
            <a:ext cx="2011680" cy="1828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1200" u="none" cap="none" strike="noStrike">
                <a:solidFill>
                  <a:srgbClr val="CDD5E2"/>
                </a:solidFill>
                <a:latin typeface="Inter"/>
                <a:ea typeface="Inter"/>
                <a:cs typeface="Inter"/>
                <a:sym typeface="Inter"/>
              </a:rPr>
              <a:t>Neurology + Rehab Wards</a:t>
            </a:r>
            <a:endParaRPr b="0" i="0" sz="1400" u="none" cap="none" strike="noStrike">
              <a:solidFill>
                <a:srgbClr val="000000"/>
              </a:solidFill>
              <a:latin typeface="Arial"/>
              <a:ea typeface="Arial"/>
              <a:cs typeface="Arial"/>
              <a:sym typeface="Arial"/>
            </a:endParaRPr>
          </a:p>
        </p:txBody>
      </p:sp>
      <p:pic>
        <p:nvPicPr>
          <p:cNvPr descr="nimhans.jpg" id="951" name="Google Shape;951;p36"/>
          <p:cNvPicPr preferRelativeResize="0"/>
          <p:nvPr/>
        </p:nvPicPr>
        <p:blipFill rotWithShape="1">
          <a:blip r:embed="rId4">
            <a:alphaModFix/>
          </a:blip>
          <a:srcRect b="0" l="0" r="0" t="0"/>
          <a:stretch/>
        </p:blipFill>
        <p:spPr>
          <a:xfrm>
            <a:off x="2743200" y="5029200"/>
            <a:ext cx="2011680" cy="1371600"/>
          </a:xfrm>
          <a:prstGeom prst="rect">
            <a:avLst/>
          </a:prstGeom>
          <a:noFill/>
          <a:ln>
            <a:noFill/>
          </a:ln>
        </p:spPr>
      </p:pic>
      <p:sp>
        <p:nvSpPr>
          <p:cNvPr id="952" name="Google Shape;952;p36"/>
          <p:cNvSpPr txBox="1"/>
          <p:nvPr/>
        </p:nvSpPr>
        <p:spPr>
          <a:xfrm>
            <a:off x="2743200" y="6446520"/>
            <a:ext cx="2011680" cy="274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400" u="none" cap="none" strike="noStrike">
                <a:solidFill>
                  <a:srgbClr val="FFFFFF"/>
                </a:solidFill>
                <a:latin typeface="Inter"/>
                <a:ea typeface="Inter"/>
                <a:cs typeface="Inter"/>
                <a:sym typeface="Inter"/>
              </a:rPr>
              <a:t>NIMHANS Bangalore</a:t>
            </a:r>
            <a:endParaRPr b="0" i="0" sz="1400" u="none" cap="none" strike="noStrike">
              <a:solidFill>
                <a:srgbClr val="000000"/>
              </a:solidFill>
              <a:latin typeface="Arial"/>
              <a:ea typeface="Arial"/>
              <a:cs typeface="Arial"/>
              <a:sym typeface="Arial"/>
            </a:endParaRPr>
          </a:p>
        </p:txBody>
      </p:sp>
      <p:sp>
        <p:nvSpPr>
          <p:cNvPr id="953" name="Google Shape;953;p36"/>
          <p:cNvSpPr txBox="1"/>
          <p:nvPr/>
        </p:nvSpPr>
        <p:spPr>
          <a:xfrm>
            <a:off x="2743200" y="6629400"/>
            <a:ext cx="2011680" cy="1828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1200" u="none" cap="none" strike="noStrike">
                <a:solidFill>
                  <a:srgbClr val="CDD5E2"/>
                </a:solidFill>
                <a:latin typeface="Inter"/>
                <a:ea typeface="Inter"/>
                <a:cs typeface="Inter"/>
                <a:sym typeface="Inter"/>
              </a:rPr>
              <a:t>Neurosciences + Mental Health</a:t>
            </a:r>
            <a:endParaRPr b="0" i="0" sz="1400" u="none" cap="none" strike="noStrike">
              <a:solidFill>
                <a:srgbClr val="000000"/>
              </a:solidFill>
              <a:latin typeface="Arial"/>
              <a:ea typeface="Arial"/>
              <a:cs typeface="Arial"/>
              <a:sym typeface="Arial"/>
            </a:endParaRPr>
          </a:p>
        </p:txBody>
      </p:sp>
      <p:sp>
        <p:nvSpPr>
          <p:cNvPr id="954" name="Google Shape;954;p36"/>
          <p:cNvSpPr/>
          <p:nvPr/>
        </p:nvSpPr>
        <p:spPr>
          <a:xfrm>
            <a:off x="5029200" y="4782076"/>
            <a:ext cx="6675000" cy="1847400"/>
          </a:xfrm>
          <a:prstGeom prst="roundRect">
            <a:avLst>
              <a:gd fmla="val 16667" name="adj"/>
            </a:avLst>
          </a:prstGeom>
          <a:solidFill>
            <a:srgbClr val="0F2440"/>
          </a:solidFill>
          <a:ln cap="flat" cmpd="sng" w="9525">
            <a:solidFill>
              <a:srgbClr val="0E7490"/>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55" name="Google Shape;955;p36"/>
          <p:cNvSpPr txBox="1"/>
          <p:nvPr/>
        </p:nvSpPr>
        <p:spPr>
          <a:xfrm>
            <a:off x="5212080" y="4873505"/>
            <a:ext cx="63093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350" u="none" cap="none" strike="noStrike">
                <a:solidFill>
                  <a:srgbClr val="22D3EE"/>
                </a:solidFill>
                <a:latin typeface="Inter"/>
                <a:ea typeface="Inter"/>
                <a:cs typeface="Inter"/>
                <a:sym typeface="Inter"/>
              </a:rPr>
              <a:t>PLANNED HOSPITAL &amp; NGO VALIDATION PARTNERS</a:t>
            </a:r>
            <a:endParaRPr b="0" i="0" sz="1400" u="none" cap="none" strike="noStrike">
              <a:solidFill>
                <a:srgbClr val="000000"/>
              </a:solidFill>
              <a:latin typeface="Arial"/>
              <a:ea typeface="Arial"/>
              <a:cs typeface="Arial"/>
              <a:sym typeface="Arial"/>
            </a:endParaRPr>
          </a:p>
        </p:txBody>
      </p:sp>
      <p:sp>
        <p:nvSpPr>
          <p:cNvPr id="956" name="Google Shape;956;p36"/>
          <p:cNvSpPr txBox="1"/>
          <p:nvPr/>
        </p:nvSpPr>
        <p:spPr>
          <a:xfrm>
            <a:off x="5212080" y="5147825"/>
            <a:ext cx="63093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0" lang="en-US" sz="1550" u="none" cap="none" strike="noStrike">
                <a:solidFill>
                  <a:srgbClr val="FFFFFF"/>
                </a:solidFill>
                <a:latin typeface="Inter"/>
                <a:ea typeface="Inter"/>
                <a:cs typeface="Inter"/>
                <a:sym typeface="Inter"/>
              </a:rPr>
              <a:t>AIIMS Delhi · NIMHANS Bangalore · APD India · Amar Seva Sangam · The Spinal Foundation</a:t>
            </a:r>
            <a:endParaRPr b="0" i="0" sz="1400" u="none" cap="none" strike="noStrike">
              <a:solidFill>
                <a:srgbClr val="000000"/>
              </a:solidFill>
              <a:latin typeface="Arial"/>
              <a:ea typeface="Arial"/>
              <a:cs typeface="Arial"/>
              <a:sym typeface="Arial"/>
            </a:endParaRPr>
          </a:p>
        </p:txBody>
      </p:sp>
      <p:sp>
        <p:nvSpPr>
          <p:cNvPr id="957" name="Google Shape;957;p36"/>
          <p:cNvSpPr txBox="1"/>
          <p:nvPr/>
        </p:nvSpPr>
        <p:spPr>
          <a:xfrm>
            <a:off x="5212080" y="5649509"/>
            <a:ext cx="6309300" cy="10058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Will partner with AIIMS Delhi &amp; NIMHANS Bangalore neurology wards for clinical pilot validation.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300"/>
              </a:spcAft>
              <a:buClr>
                <a:srgbClr val="000000"/>
              </a:buClr>
              <a:buSzPts val="14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Will collaborate with APD India, Amar Seva Sangam &amp; The Spinal Foundation for patient trials and subsidized rollout.</a:t>
            </a:r>
            <a:endParaRPr b="0" i="0" sz="1400" u="none" cap="none" strike="noStrike">
              <a:solidFill>
                <a:srgbClr val="000000"/>
              </a:solidFill>
              <a:latin typeface="Arial"/>
              <a:ea typeface="Arial"/>
              <a:cs typeface="Arial"/>
              <a:sym typeface="Arial"/>
            </a:endParaRPr>
          </a:p>
        </p:txBody>
      </p:sp>
      <p:pic>
        <p:nvPicPr>
          <p:cNvPr descr="sdg_03.png" id="958" name="Google Shape;958;p36"/>
          <p:cNvPicPr preferRelativeResize="0"/>
          <p:nvPr/>
        </p:nvPicPr>
        <p:blipFill rotWithShape="1">
          <a:blip r:embed="rId5">
            <a:alphaModFix/>
          </a:blip>
          <a:srcRect b="0" l="0" r="0" t="0"/>
          <a:stretch/>
        </p:blipFill>
        <p:spPr>
          <a:xfrm>
            <a:off x="2423160" y="2377440"/>
            <a:ext cx="594360" cy="594360"/>
          </a:xfrm>
          <a:prstGeom prst="rect">
            <a:avLst/>
          </a:prstGeom>
          <a:noFill/>
          <a:ln>
            <a:noFill/>
          </a:ln>
        </p:spPr>
      </p:pic>
      <p:pic>
        <p:nvPicPr>
          <p:cNvPr descr="sdg_09.png" id="959" name="Google Shape;959;p36"/>
          <p:cNvPicPr preferRelativeResize="0"/>
          <p:nvPr/>
        </p:nvPicPr>
        <p:blipFill rotWithShape="1">
          <a:blip r:embed="rId6">
            <a:alphaModFix/>
          </a:blip>
          <a:srcRect b="0" l="0" r="0" t="0"/>
          <a:stretch/>
        </p:blipFill>
        <p:spPr>
          <a:xfrm>
            <a:off x="5212080" y="2377440"/>
            <a:ext cx="594360" cy="594360"/>
          </a:xfrm>
          <a:prstGeom prst="rect">
            <a:avLst/>
          </a:prstGeom>
          <a:noFill/>
          <a:ln>
            <a:noFill/>
          </a:ln>
        </p:spPr>
      </p:pic>
      <p:pic>
        <p:nvPicPr>
          <p:cNvPr descr="sdg_10.png" id="960" name="Google Shape;960;p36"/>
          <p:cNvPicPr preferRelativeResize="0"/>
          <p:nvPr/>
        </p:nvPicPr>
        <p:blipFill rotWithShape="1">
          <a:blip r:embed="rId7">
            <a:alphaModFix/>
          </a:blip>
          <a:srcRect b="0" l="0" r="0" t="0"/>
          <a:stretch/>
        </p:blipFill>
        <p:spPr>
          <a:xfrm>
            <a:off x="8001000" y="2377440"/>
            <a:ext cx="594360" cy="594360"/>
          </a:xfrm>
          <a:prstGeom prst="rect">
            <a:avLst/>
          </a:prstGeom>
          <a:noFill/>
          <a:ln>
            <a:noFill/>
          </a:ln>
        </p:spPr>
      </p:pic>
      <p:pic>
        <p:nvPicPr>
          <p:cNvPr descr="sdg_17.png" id="961" name="Google Shape;961;p36"/>
          <p:cNvPicPr preferRelativeResize="0"/>
          <p:nvPr/>
        </p:nvPicPr>
        <p:blipFill rotWithShape="1">
          <a:blip r:embed="rId8">
            <a:alphaModFix/>
          </a:blip>
          <a:srcRect b="0" l="0" r="0" t="0"/>
          <a:stretch/>
        </p:blipFill>
        <p:spPr>
          <a:xfrm>
            <a:off x="10789920" y="2377440"/>
            <a:ext cx="594360" cy="594360"/>
          </a:xfrm>
          <a:prstGeom prst="rect">
            <a:avLst/>
          </a:prstGeom>
          <a:noFill/>
          <a:ln>
            <a:noFill/>
          </a:ln>
        </p:spPr>
      </p:pic>
    </p:spTree>
  </p:cSld>
  <p:clrMapOvr>
    <a:masterClrMapping/>
  </p:clrMapOvr>
  <p:transition spd="med">
    <p:fade/>
  </p:transition>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5" name="Shape 965"/>
        <p:cNvGrpSpPr/>
        <p:nvPr/>
      </p:nvGrpSpPr>
      <p:grpSpPr>
        <a:xfrm>
          <a:off x="0" y="0"/>
          <a:ext cx="0" cy="0"/>
          <a:chOff x="0" y="0"/>
          <a:chExt cx="0" cy="0"/>
        </a:xfrm>
      </p:grpSpPr>
      <p:sp>
        <p:nvSpPr>
          <p:cNvPr id="966" name="Google Shape;966;p58"/>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967" name="Google Shape;967;p58"/>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68" name="Google Shape;968;p58"/>
          <p:cNvSpPr/>
          <p:nvPr/>
        </p:nvSpPr>
        <p:spPr>
          <a:xfrm>
            <a:off x="502920" y="868680"/>
            <a:ext cx="1051560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400" u="none" cap="none" strike="noStrike">
                <a:solidFill>
                  <a:srgbClr val="22D3EE"/>
                </a:solidFill>
                <a:latin typeface="Inter"/>
                <a:ea typeface="Inter"/>
                <a:cs typeface="Inter"/>
                <a:sym typeface="Inter"/>
              </a:rPr>
              <a:t>THE PRICE GAP EXPLAINED</a:t>
            </a:r>
            <a:endParaRPr b="0" i="0" sz="1100" u="none" cap="none" strike="noStrike">
              <a:solidFill>
                <a:schemeClr val="dk1"/>
              </a:solidFill>
              <a:latin typeface="Calibri"/>
              <a:ea typeface="Calibri"/>
              <a:cs typeface="Calibri"/>
              <a:sym typeface="Calibri"/>
            </a:endParaRPr>
          </a:p>
        </p:txBody>
      </p:sp>
      <p:sp>
        <p:nvSpPr>
          <p:cNvPr id="969" name="Google Shape;969;p58"/>
          <p:cNvSpPr/>
          <p:nvPr/>
        </p:nvSpPr>
        <p:spPr>
          <a:xfrm>
            <a:off x="502920" y="1280160"/>
            <a:ext cx="109728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3600"/>
              <a:buFont typeface="Arial"/>
              <a:buNone/>
            </a:pPr>
            <a:r>
              <a:rPr b="1" i="0" lang="en-US" sz="3300" u="none" cap="none" strike="noStrike">
                <a:solidFill>
                  <a:srgbClr val="FFFFFF"/>
                </a:solidFill>
                <a:latin typeface="Inter"/>
                <a:ea typeface="Inter"/>
                <a:cs typeface="Inter"/>
                <a:sym typeface="Inter"/>
              </a:rPr>
              <a:t>Why ₹25–30 Lakh vs. ₹885? Breaking the monopoly.</a:t>
            </a:r>
            <a:endParaRPr b="0" i="0" sz="3600" u="none" cap="none" strike="noStrike">
              <a:solidFill>
                <a:schemeClr val="dk1"/>
              </a:solidFill>
              <a:latin typeface="Calibri"/>
              <a:ea typeface="Calibri"/>
              <a:cs typeface="Calibri"/>
              <a:sym typeface="Calibri"/>
            </a:endParaRPr>
          </a:p>
        </p:txBody>
      </p:sp>
      <p:sp>
        <p:nvSpPr>
          <p:cNvPr id="970" name="Google Shape;970;p58"/>
          <p:cNvSpPr/>
          <p:nvPr/>
        </p:nvSpPr>
        <p:spPr>
          <a:xfrm>
            <a:off x="502920" y="2194560"/>
            <a:ext cx="1051560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C5D6"/>
              </a:buClr>
              <a:buSzPts val="1400"/>
              <a:buFont typeface="Calibri"/>
              <a:buNone/>
            </a:pPr>
            <a:r>
              <a:rPr b="0" i="1" lang="en-US" sz="1750" u="none" cap="none" strike="noStrike">
                <a:solidFill>
                  <a:srgbClr val="B7C5D6"/>
                </a:solidFill>
                <a:latin typeface="Inter"/>
                <a:ea typeface="Inter"/>
                <a:cs typeface="Inter"/>
                <a:sym typeface="Inter"/>
              </a:rPr>
              <a:t>Commercial eye-trackers aren't expensive because of their sensors — they're expensive because of how they're sold.</a:t>
            </a:r>
            <a:endParaRPr b="0" i="0" sz="1400" u="none" cap="none" strike="noStrike">
              <a:solidFill>
                <a:schemeClr val="dk1"/>
              </a:solidFill>
              <a:latin typeface="Calibri"/>
              <a:ea typeface="Calibri"/>
              <a:cs typeface="Calibri"/>
              <a:sym typeface="Calibri"/>
            </a:endParaRPr>
          </a:p>
        </p:txBody>
      </p:sp>
      <p:sp>
        <p:nvSpPr>
          <p:cNvPr id="971" name="Google Shape;971;p58"/>
          <p:cNvSpPr/>
          <p:nvPr/>
        </p:nvSpPr>
        <p:spPr>
          <a:xfrm>
            <a:off x="472288" y="2880360"/>
            <a:ext cx="5440680" cy="1691640"/>
          </a:xfrm>
          <a:prstGeom prst="roundRect">
            <a:avLst>
              <a:gd fmla="val 4324"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2" name="Google Shape;972;p58"/>
          <p:cNvSpPr/>
          <p:nvPr/>
        </p:nvSpPr>
        <p:spPr>
          <a:xfrm>
            <a:off x="700888" y="3154680"/>
            <a:ext cx="777240" cy="777240"/>
          </a:xfrm>
          <a:prstGeom prst="rect">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3" name="Google Shape;973;p58"/>
          <p:cNvSpPr/>
          <p:nvPr/>
        </p:nvSpPr>
        <p:spPr>
          <a:xfrm>
            <a:off x="700888" y="3154680"/>
            <a:ext cx="777240" cy="7772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A2E"/>
              </a:buClr>
              <a:buSzPts val="2400"/>
              <a:buFont typeface="Arial"/>
              <a:buNone/>
            </a:pPr>
            <a:r>
              <a:rPr b="1" i="0" lang="en-US" sz="2000" u="none" cap="none" strike="noStrike">
                <a:solidFill>
                  <a:srgbClr val="0B1A2E"/>
                </a:solidFill>
                <a:latin typeface="Inter"/>
                <a:ea typeface="Inter"/>
                <a:cs typeface="Inter"/>
                <a:sym typeface="Inter"/>
              </a:rPr>
              <a:t>01</a:t>
            </a:r>
            <a:endParaRPr b="0" i="0" sz="2400" u="none" cap="none" strike="noStrike">
              <a:solidFill>
                <a:schemeClr val="dk1"/>
              </a:solidFill>
              <a:latin typeface="Calibri"/>
              <a:ea typeface="Calibri"/>
              <a:cs typeface="Calibri"/>
              <a:sym typeface="Calibri"/>
            </a:endParaRPr>
          </a:p>
        </p:txBody>
      </p:sp>
      <p:sp>
        <p:nvSpPr>
          <p:cNvPr id="974" name="Google Shape;974;p58"/>
          <p:cNvSpPr/>
          <p:nvPr/>
        </p:nvSpPr>
        <p:spPr>
          <a:xfrm>
            <a:off x="1615288" y="3154680"/>
            <a:ext cx="429768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500" u="none" cap="none" strike="noStrike">
                <a:solidFill>
                  <a:srgbClr val="22D3EE"/>
                </a:solidFill>
                <a:latin typeface="Inter"/>
                <a:ea typeface="Inter"/>
                <a:cs typeface="Inter"/>
                <a:sym typeface="Inter"/>
              </a:rPr>
              <a:t>GLOBAL PATENT &amp; MARKET MONOPOLY</a:t>
            </a:r>
            <a:endParaRPr b="0" i="0" sz="1100" u="none" cap="none" strike="noStrike">
              <a:solidFill>
                <a:schemeClr val="dk1"/>
              </a:solidFill>
              <a:latin typeface="Calibri"/>
              <a:ea typeface="Calibri"/>
              <a:cs typeface="Calibri"/>
              <a:sym typeface="Calibri"/>
            </a:endParaRPr>
          </a:p>
        </p:txBody>
      </p:sp>
      <p:sp>
        <p:nvSpPr>
          <p:cNvPr id="975" name="Google Shape;975;p58"/>
          <p:cNvSpPr/>
          <p:nvPr/>
        </p:nvSpPr>
        <p:spPr>
          <a:xfrm>
            <a:off x="1615288" y="3438144"/>
            <a:ext cx="4315968" cy="11155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600"/>
              <a:buFont typeface="Calibri"/>
              <a:buNone/>
            </a:pPr>
            <a:r>
              <a:rPr b="0" i="0" lang="en-US" sz="1400" u="none" cap="none" strike="noStrike">
                <a:solidFill>
                  <a:srgbClr val="B4C3DC"/>
                </a:solidFill>
                <a:latin typeface="Inter"/>
                <a:ea typeface="Inter"/>
                <a:cs typeface="Inter"/>
                <a:sym typeface="Inter"/>
              </a:rPr>
              <a:t>•  2–3 Western firms control clinical market</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Zero low-cost competition keeps monopoly</a:t>
            </a:r>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Priced for Western insurance, not India</a:t>
            </a:r>
            <a:endParaRPr/>
          </a:p>
        </p:txBody>
      </p:sp>
      <p:sp>
        <p:nvSpPr>
          <p:cNvPr id="976" name="Google Shape;976;p58"/>
          <p:cNvSpPr/>
          <p:nvPr/>
        </p:nvSpPr>
        <p:spPr>
          <a:xfrm>
            <a:off x="6278728" y="2880360"/>
            <a:ext cx="5440680" cy="1691640"/>
          </a:xfrm>
          <a:prstGeom prst="roundRect">
            <a:avLst>
              <a:gd fmla="val 4324"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7" name="Google Shape;977;p58"/>
          <p:cNvSpPr/>
          <p:nvPr/>
        </p:nvSpPr>
        <p:spPr>
          <a:xfrm>
            <a:off x="6507328" y="3154680"/>
            <a:ext cx="777240" cy="777240"/>
          </a:xfrm>
          <a:prstGeom prst="rect">
            <a:avLst/>
          </a:prstGeom>
          <a:solidFill>
            <a:srgbClr val="FFB02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8" name="Google Shape;978;p58"/>
          <p:cNvSpPr/>
          <p:nvPr/>
        </p:nvSpPr>
        <p:spPr>
          <a:xfrm>
            <a:off x="6507328" y="3154680"/>
            <a:ext cx="777240" cy="7772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A2E"/>
              </a:buClr>
              <a:buSzPts val="2400"/>
              <a:buFont typeface="Arial"/>
              <a:buNone/>
            </a:pPr>
            <a:r>
              <a:rPr b="1" i="0" lang="en-US" sz="2000" u="none" cap="none" strike="noStrike">
                <a:solidFill>
                  <a:srgbClr val="0B1A2E"/>
                </a:solidFill>
                <a:latin typeface="Inter"/>
                <a:ea typeface="Inter"/>
                <a:cs typeface="Inter"/>
                <a:sym typeface="Inter"/>
              </a:rPr>
              <a:t>02</a:t>
            </a:r>
            <a:endParaRPr b="0" i="0" sz="2400" u="none" cap="none" strike="noStrike">
              <a:solidFill>
                <a:schemeClr val="dk1"/>
              </a:solidFill>
              <a:latin typeface="Calibri"/>
              <a:ea typeface="Calibri"/>
              <a:cs typeface="Calibri"/>
              <a:sym typeface="Calibri"/>
            </a:endParaRPr>
          </a:p>
        </p:txBody>
      </p:sp>
      <p:sp>
        <p:nvSpPr>
          <p:cNvPr id="979" name="Google Shape;979;p58"/>
          <p:cNvSpPr/>
          <p:nvPr/>
        </p:nvSpPr>
        <p:spPr>
          <a:xfrm>
            <a:off x="7421728" y="3154680"/>
            <a:ext cx="429768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B020"/>
              </a:buClr>
              <a:buSzPts val="1100"/>
              <a:buFont typeface="Calibri"/>
              <a:buNone/>
            </a:pPr>
            <a:r>
              <a:rPr b="1" i="0" lang="en-US" sz="1500" u="none" cap="none" strike="noStrike">
                <a:solidFill>
                  <a:srgbClr val="FFB020"/>
                </a:solidFill>
                <a:latin typeface="Inter"/>
                <a:ea typeface="Inter"/>
                <a:cs typeface="Inter"/>
                <a:sym typeface="Inter"/>
              </a:rPr>
              <a:t>40–60% IMPORT DUTIES &amp; MIDDLEMEN</a:t>
            </a:r>
            <a:endParaRPr b="0" i="0" sz="1100" u="none" cap="none" strike="noStrike">
              <a:solidFill>
                <a:schemeClr val="dk1"/>
              </a:solidFill>
              <a:latin typeface="Calibri"/>
              <a:ea typeface="Calibri"/>
              <a:cs typeface="Calibri"/>
              <a:sym typeface="Calibri"/>
            </a:endParaRPr>
          </a:p>
        </p:txBody>
      </p:sp>
      <p:sp>
        <p:nvSpPr>
          <p:cNvPr id="980" name="Google Shape;980;p58"/>
          <p:cNvSpPr/>
          <p:nvPr/>
        </p:nvSpPr>
        <p:spPr>
          <a:xfrm>
            <a:off x="7421728" y="3438144"/>
            <a:ext cx="4315968" cy="11155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600"/>
              <a:buFont typeface="Calibri"/>
              <a:buNone/>
            </a:pPr>
            <a:r>
              <a:rPr b="0" i="0" lang="en-US" sz="1400" u="none" cap="none" strike="noStrike">
                <a:solidFill>
                  <a:srgbClr val="B4C3DC"/>
                </a:solidFill>
                <a:latin typeface="Inter"/>
                <a:ea typeface="Inter"/>
                <a:cs typeface="Inter"/>
                <a:sym typeface="Inter"/>
              </a:rPr>
              <a:t>•  Imported as specialized medical hardware</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40–60% customs tariffs &amp; dealer markups</a:t>
            </a:r>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Proprietary mounts add ₹1L+ surcharges</a:t>
            </a:r>
            <a:endParaRPr/>
          </a:p>
        </p:txBody>
      </p:sp>
      <p:sp>
        <p:nvSpPr>
          <p:cNvPr id="981" name="Google Shape;981;p58"/>
          <p:cNvSpPr/>
          <p:nvPr/>
        </p:nvSpPr>
        <p:spPr>
          <a:xfrm>
            <a:off x="472288" y="4800600"/>
            <a:ext cx="5440680" cy="1691640"/>
          </a:xfrm>
          <a:prstGeom prst="roundRect">
            <a:avLst>
              <a:gd fmla="val 4324"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2" name="Google Shape;982;p58"/>
          <p:cNvSpPr/>
          <p:nvPr/>
        </p:nvSpPr>
        <p:spPr>
          <a:xfrm>
            <a:off x="700888" y="5074920"/>
            <a:ext cx="777240" cy="777240"/>
          </a:xfrm>
          <a:prstGeom prst="rect">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3" name="Google Shape;983;p58"/>
          <p:cNvSpPr/>
          <p:nvPr/>
        </p:nvSpPr>
        <p:spPr>
          <a:xfrm>
            <a:off x="700888" y="5074920"/>
            <a:ext cx="777240" cy="7772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A2E"/>
              </a:buClr>
              <a:buSzPts val="2400"/>
              <a:buFont typeface="Arial"/>
              <a:buNone/>
            </a:pPr>
            <a:r>
              <a:rPr b="1" i="0" lang="en-US" sz="2000" u="none" cap="none" strike="noStrike">
                <a:solidFill>
                  <a:srgbClr val="0B1A2E"/>
                </a:solidFill>
                <a:latin typeface="Inter"/>
                <a:ea typeface="Inter"/>
                <a:cs typeface="Inter"/>
                <a:sym typeface="Inter"/>
              </a:rPr>
              <a:t>03</a:t>
            </a:r>
            <a:endParaRPr b="0" i="0" sz="2400" u="none" cap="none" strike="noStrike">
              <a:solidFill>
                <a:schemeClr val="dk1"/>
              </a:solidFill>
              <a:latin typeface="Calibri"/>
              <a:ea typeface="Calibri"/>
              <a:cs typeface="Calibri"/>
              <a:sym typeface="Calibri"/>
            </a:endParaRPr>
          </a:p>
        </p:txBody>
      </p:sp>
      <p:sp>
        <p:nvSpPr>
          <p:cNvPr id="984" name="Google Shape;984;p58"/>
          <p:cNvSpPr/>
          <p:nvPr/>
        </p:nvSpPr>
        <p:spPr>
          <a:xfrm>
            <a:off x="1615288" y="5074920"/>
            <a:ext cx="429768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500" u="none" cap="none" strike="noStrike">
                <a:solidFill>
                  <a:srgbClr val="22D3EE"/>
                </a:solidFill>
                <a:latin typeface="Inter"/>
                <a:ea typeface="Inter"/>
                <a:cs typeface="Inter"/>
                <a:sym typeface="Inter"/>
              </a:rPr>
              <a:t>FORCED BUNDLED TABLETS &amp; CAMERAS</a:t>
            </a:r>
            <a:endParaRPr b="0" i="0" sz="1100" u="none" cap="none" strike="noStrike">
              <a:solidFill>
                <a:schemeClr val="dk1"/>
              </a:solidFill>
              <a:latin typeface="Calibri"/>
              <a:ea typeface="Calibri"/>
              <a:cs typeface="Calibri"/>
              <a:sym typeface="Calibri"/>
            </a:endParaRPr>
          </a:p>
        </p:txBody>
      </p:sp>
      <p:sp>
        <p:nvSpPr>
          <p:cNvPr id="985" name="Google Shape;985;p58"/>
          <p:cNvSpPr/>
          <p:nvPr/>
        </p:nvSpPr>
        <p:spPr>
          <a:xfrm>
            <a:off x="1615288" y="5358384"/>
            <a:ext cx="4315968" cy="11155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600"/>
              <a:buFont typeface="Calibri"/>
              <a:buNone/>
            </a:pPr>
            <a:r>
              <a:rPr b="0" i="0" lang="en-US" sz="1400" u="none" cap="none" strike="noStrike">
                <a:solidFill>
                  <a:srgbClr val="B4C3DC"/>
                </a:solidFill>
                <a:latin typeface="Inter"/>
                <a:ea typeface="Inter"/>
                <a:cs typeface="Inter"/>
                <a:sym typeface="Inter"/>
              </a:rPr>
              <a:t>•  Forces buyers to buy ₹8L+ rugged tablets</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Uses costly 120Hz camera bars &amp; setup</a:t>
            </a:r>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IRIS runs on any existing laptop or phone</a:t>
            </a:r>
            <a:endParaRPr/>
          </a:p>
        </p:txBody>
      </p:sp>
      <p:sp>
        <p:nvSpPr>
          <p:cNvPr id="986" name="Google Shape;986;p58"/>
          <p:cNvSpPr/>
          <p:nvPr/>
        </p:nvSpPr>
        <p:spPr>
          <a:xfrm>
            <a:off x="6278728" y="4800600"/>
            <a:ext cx="5440680" cy="1691640"/>
          </a:xfrm>
          <a:prstGeom prst="roundRect">
            <a:avLst>
              <a:gd fmla="val 4324"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7" name="Google Shape;987;p58"/>
          <p:cNvSpPr/>
          <p:nvPr/>
        </p:nvSpPr>
        <p:spPr>
          <a:xfrm>
            <a:off x="6507328" y="5074920"/>
            <a:ext cx="777240" cy="777240"/>
          </a:xfrm>
          <a:prstGeom prst="rect">
            <a:avLst/>
          </a:prstGeom>
          <a:solidFill>
            <a:srgbClr val="FFB02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8" name="Google Shape;988;p58"/>
          <p:cNvSpPr/>
          <p:nvPr/>
        </p:nvSpPr>
        <p:spPr>
          <a:xfrm>
            <a:off x="6507328" y="5074920"/>
            <a:ext cx="777240" cy="7772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A2E"/>
              </a:buClr>
              <a:buSzPts val="2400"/>
              <a:buFont typeface="Arial"/>
              <a:buNone/>
            </a:pPr>
            <a:r>
              <a:rPr b="1" i="0" lang="en-US" sz="2000" u="none" cap="none" strike="noStrike">
                <a:solidFill>
                  <a:srgbClr val="0B1A2E"/>
                </a:solidFill>
                <a:latin typeface="Inter"/>
                <a:ea typeface="Inter"/>
                <a:cs typeface="Inter"/>
                <a:sym typeface="Inter"/>
              </a:rPr>
              <a:t>04</a:t>
            </a:r>
            <a:endParaRPr b="0" i="0" sz="2400" u="none" cap="none" strike="noStrike">
              <a:solidFill>
                <a:schemeClr val="dk1"/>
              </a:solidFill>
              <a:latin typeface="Calibri"/>
              <a:ea typeface="Calibri"/>
              <a:cs typeface="Calibri"/>
              <a:sym typeface="Calibri"/>
            </a:endParaRPr>
          </a:p>
        </p:txBody>
      </p:sp>
      <p:sp>
        <p:nvSpPr>
          <p:cNvPr id="989" name="Google Shape;989;p58"/>
          <p:cNvSpPr/>
          <p:nvPr/>
        </p:nvSpPr>
        <p:spPr>
          <a:xfrm>
            <a:off x="7421728" y="5074920"/>
            <a:ext cx="429768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B020"/>
              </a:buClr>
              <a:buSzPts val="1100"/>
              <a:buFont typeface="Calibri"/>
              <a:buNone/>
            </a:pPr>
            <a:r>
              <a:rPr b="1" i="0" lang="en-US" sz="1500" u="none" cap="none" strike="noStrike">
                <a:solidFill>
                  <a:srgbClr val="FFB020"/>
                </a:solidFill>
                <a:latin typeface="Inter"/>
                <a:ea typeface="Inter"/>
                <a:cs typeface="Inter"/>
                <a:sym typeface="Inter"/>
              </a:rPr>
              <a:t>MULTI-CRORE VALIDATION OVERHEAD</a:t>
            </a:r>
            <a:endParaRPr b="0" i="0" sz="1100" u="none" cap="none" strike="noStrike">
              <a:solidFill>
                <a:schemeClr val="dk1"/>
              </a:solidFill>
              <a:latin typeface="Calibri"/>
              <a:ea typeface="Calibri"/>
              <a:cs typeface="Calibri"/>
              <a:sym typeface="Calibri"/>
            </a:endParaRPr>
          </a:p>
        </p:txBody>
      </p:sp>
      <p:sp>
        <p:nvSpPr>
          <p:cNvPr id="990" name="Google Shape;990;p58"/>
          <p:cNvSpPr/>
          <p:nvPr/>
        </p:nvSpPr>
        <p:spPr>
          <a:xfrm>
            <a:off x="7421728" y="5358384"/>
            <a:ext cx="4315968" cy="11155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600"/>
              <a:buFont typeface="Calibri"/>
              <a:buNone/>
            </a:pPr>
            <a:r>
              <a:rPr b="0" i="0" lang="en-US" sz="1400" u="none" cap="none" strike="noStrike">
                <a:solidFill>
                  <a:srgbClr val="B4C3DC"/>
                </a:solidFill>
                <a:latin typeface="Inter"/>
                <a:ea typeface="Inter"/>
                <a:cs typeface="Inter"/>
                <a:sym typeface="Inter"/>
              </a:rPr>
              <a:t>•  Corporate overhead amortized per unit</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IRIS uses ₹885 of open hardware parts</a:t>
            </a:r>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Validated via Indian hospitals &amp; NGOs</a:t>
            </a:r>
            <a:endParaRPr/>
          </a:p>
        </p:txBody>
      </p:sp>
    </p:spTree>
  </p:cSld>
  <p:clrMapOvr>
    <a:masterClrMapping/>
  </p:clrMapOvr>
  <p:transition spd="med">
    <p:fade/>
  </p:transition>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5" name="Shape 995"/>
        <p:cNvGrpSpPr/>
        <p:nvPr/>
      </p:nvGrpSpPr>
      <p:grpSpPr>
        <a:xfrm>
          <a:off x="0" y="0"/>
          <a:ext cx="0" cy="0"/>
          <a:chOff x="0" y="0"/>
          <a:chExt cx="0" cy="0"/>
        </a:xfrm>
      </p:grpSpPr>
      <p:sp>
        <p:nvSpPr>
          <p:cNvPr id="996" name="Google Shape;996;p29"/>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997" name="Google Shape;997;p29"/>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8" name="Google Shape;998;p29"/>
          <p:cNvSpPr/>
          <p:nvPr/>
        </p:nvSpPr>
        <p:spPr>
          <a:xfrm>
            <a:off x="502920" y="868680"/>
            <a:ext cx="1051560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400" u="none" cap="none" strike="noStrike">
                <a:solidFill>
                  <a:srgbClr val="22D3EE"/>
                </a:solidFill>
                <a:latin typeface="Inter"/>
                <a:ea typeface="Inter"/>
                <a:cs typeface="Inter"/>
                <a:sym typeface="Inter"/>
              </a:rPr>
              <a:t>FUTURE SCOPE</a:t>
            </a:r>
            <a:endParaRPr b="0" i="0" sz="1100" u="none" cap="none" strike="noStrike">
              <a:solidFill>
                <a:schemeClr val="dk1"/>
              </a:solidFill>
              <a:latin typeface="Calibri"/>
              <a:ea typeface="Calibri"/>
              <a:cs typeface="Calibri"/>
              <a:sym typeface="Calibri"/>
            </a:endParaRPr>
          </a:p>
        </p:txBody>
      </p:sp>
      <p:sp>
        <p:nvSpPr>
          <p:cNvPr id="999" name="Google Shape;999;p29"/>
          <p:cNvSpPr/>
          <p:nvPr/>
        </p:nvSpPr>
        <p:spPr>
          <a:xfrm>
            <a:off x="502920" y="1280160"/>
            <a:ext cx="109728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3600"/>
              <a:buFont typeface="Arial"/>
              <a:buNone/>
            </a:pPr>
            <a:r>
              <a:rPr b="1" i="0" lang="en-US" sz="3600" u="none" cap="none" strike="noStrike">
                <a:solidFill>
                  <a:srgbClr val="FFFFFF"/>
                </a:solidFill>
                <a:latin typeface="Inter"/>
                <a:ea typeface="Inter"/>
                <a:cs typeface="Inter"/>
                <a:sym typeface="Inter"/>
              </a:rPr>
              <a:t>What IRIS will become.</a:t>
            </a:r>
            <a:endParaRPr b="0" i="0" sz="3600" u="none" cap="none" strike="noStrike">
              <a:solidFill>
                <a:schemeClr val="dk1"/>
              </a:solidFill>
              <a:latin typeface="Calibri"/>
              <a:ea typeface="Calibri"/>
              <a:cs typeface="Calibri"/>
              <a:sym typeface="Calibri"/>
            </a:endParaRPr>
          </a:p>
        </p:txBody>
      </p:sp>
      <p:sp>
        <p:nvSpPr>
          <p:cNvPr id="1000" name="Google Shape;1000;p29"/>
          <p:cNvSpPr/>
          <p:nvPr/>
        </p:nvSpPr>
        <p:spPr>
          <a:xfrm>
            <a:off x="502920" y="2194560"/>
            <a:ext cx="1051560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C5D6"/>
              </a:buClr>
              <a:buSzPts val="1400"/>
              <a:buFont typeface="Calibri"/>
              <a:buNone/>
            </a:pPr>
            <a:r>
              <a:rPr b="0" i="1" lang="en-US" sz="1750" u="none" cap="none" strike="noStrike">
                <a:solidFill>
                  <a:srgbClr val="B7C5D6"/>
                </a:solidFill>
                <a:latin typeface="Inter"/>
                <a:ea typeface="Inter"/>
                <a:cs typeface="Inter"/>
                <a:sym typeface="Inter"/>
              </a:rPr>
              <a:t>Each current prototype limitation has a concrete engineering upgrade in our future roadmap.</a:t>
            </a:r>
            <a:endParaRPr b="0" i="0" sz="1400" u="none" cap="none" strike="noStrike">
              <a:solidFill>
                <a:schemeClr val="dk1"/>
              </a:solidFill>
              <a:latin typeface="Calibri"/>
              <a:ea typeface="Calibri"/>
              <a:cs typeface="Calibri"/>
              <a:sym typeface="Calibri"/>
            </a:endParaRPr>
          </a:p>
        </p:txBody>
      </p:sp>
      <p:sp>
        <p:nvSpPr>
          <p:cNvPr id="1001" name="Google Shape;1001;p29"/>
          <p:cNvSpPr/>
          <p:nvPr/>
        </p:nvSpPr>
        <p:spPr>
          <a:xfrm>
            <a:off x="472288" y="2759820"/>
            <a:ext cx="5440680" cy="1828800"/>
          </a:xfrm>
          <a:prstGeom prst="roundRect">
            <a:avLst>
              <a:gd fmla="val 4000"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02" name="Google Shape;1002;p29"/>
          <p:cNvSpPr/>
          <p:nvPr/>
        </p:nvSpPr>
        <p:spPr>
          <a:xfrm>
            <a:off x="746608" y="3079860"/>
            <a:ext cx="640080" cy="640080"/>
          </a:xfrm>
          <a:prstGeom prst="ellipse">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03" name="Google Shape;1003;p29"/>
          <p:cNvSpPr/>
          <p:nvPr/>
        </p:nvSpPr>
        <p:spPr>
          <a:xfrm>
            <a:off x="746608" y="3079860"/>
            <a:ext cx="640080"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04" name="Google Shape;1004;p29"/>
          <p:cNvSpPr/>
          <p:nvPr/>
        </p:nvSpPr>
        <p:spPr>
          <a:xfrm>
            <a:off x="1569568" y="3052428"/>
            <a:ext cx="41605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900"/>
              <a:buFont typeface="Calibri"/>
              <a:buNone/>
            </a:pPr>
            <a:r>
              <a:rPr b="1" i="0" lang="en-US" sz="1250" u="none" cap="none" strike="noStrike">
                <a:solidFill>
                  <a:srgbClr val="22D3EE"/>
                </a:solidFill>
                <a:latin typeface="Inter"/>
                <a:ea typeface="Inter"/>
                <a:cs typeface="Inter"/>
                <a:sym typeface="Inter"/>
              </a:rPr>
              <a:t>MULTI-USER</a:t>
            </a:r>
            <a:endParaRPr b="0" i="0" sz="900" u="none" cap="none" strike="noStrike">
              <a:solidFill>
                <a:schemeClr val="dk1"/>
              </a:solidFill>
              <a:latin typeface="Calibri"/>
              <a:ea typeface="Calibri"/>
              <a:cs typeface="Calibri"/>
              <a:sym typeface="Calibri"/>
            </a:endParaRPr>
          </a:p>
        </p:txBody>
      </p:sp>
      <p:sp>
        <p:nvSpPr>
          <p:cNvPr id="1005" name="Google Shape;1005;p29"/>
          <p:cNvSpPr/>
          <p:nvPr/>
        </p:nvSpPr>
        <p:spPr>
          <a:xfrm>
            <a:off x="1569568" y="3326748"/>
            <a:ext cx="41605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Arial"/>
              <a:buNone/>
            </a:pPr>
            <a:r>
              <a:rPr b="1" i="0" lang="en-US" sz="1750" u="none" cap="none" strike="noStrike">
                <a:solidFill>
                  <a:srgbClr val="FFFFFF"/>
                </a:solidFill>
                <a:latin typeface="Inter"/>
                <a:ea typeface="Inter"/>
                <a:cs typeface="Inter"/>
                <a:sym typeface="Inter"/>
              </a:rPr>
              <a:t>Profiles for the whole household</a:t>
            </a:r>
            <a:endParaRPr b="0" i="0" sz="1500" u="none" cap="none" strike="noStrike">
              <a:solidFill>
                <a:schemeClr val="dk1"/>
              </a:solidFill>
              <a:latin typeface="Calibri"/>
              <a:ea typeface="Calibri"/>
              <a:cs typeface="Calibri"/>
              <a:sym typeface="Calibri"/>
            </a:endParaRPr>
          </a:p>
        </p:txBody>
      </p:sp>
      <p:sp>
        <p:nvSpPr>
          <p:cNvPr id="1006" name="Google Shape;1006;p29"/>
          <p:cNvSpPr/>
          <p:nvPr/>
        </p:nvSpPr>
        <p:spPr>
          <a:xfrm>
            <a:off x="746608" y="3765660"/>
            <a:ext cx="4937760"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400"/>
              <a:buFont typeface="Calibri"/>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Per-user calibration profiles saved on laptop/cloud</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300"/>
              </a:spcAft>
              <a:buClr>
                <a:srgbClr val="000000"/>
              </a:buClr>
              <a:buSzPts val="14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Instant household switching in under 5 seconds</a:t>
            </a:r>
            <a:endParaRPr b="0" i="0" sz="1400" u="none" cap="none" strike="noStrike">
              <a:solidFill>
                <a:srgbClr val="000000"/>
              </a:solidFill>
              <a:latin typeface="Arial"/>
              <a:ea typeface="Arial"/>
              <a:cs typeface="Arial"/>
              <a:sym typeface="Arial"/>
            </a:endParaRPr>
          </a:p>
        </p:txBody>
      </p:sp>
      <p:sp>
        <p:nvSpPr>
          <p:cNvPr id="1007" name="Google Shape;1007;p29"/>
          <p:cNvSpPr/>
          <p:nvPr/>
        </p:nvSpPr>
        <p:spPr>
          <a:xfrm>
            <a:off x="6278728" y="2759820"/>
            <a:ext cx="5440680" cy="1828800"/>
          </a:xfrm>
          <a:prstGeom prst="roundRect">
            <a:avLst>
              <a:gd fmla="val 4000"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08" name="Google Shape;1008;p29"/>
          <p:cNvSpPr/>
          <p:nvPr/>
        </p:nvSpPr>
        <p:spPr>
          <a:xfrm>
            <a:off x="6553048" y="3079860"/>
            <a:ext cx="640080" cy="640080"/>
          </a:xfrm>
          <a:prstGeom prst="ellipse">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09" name="Google Shape;1009;p29"/>
          <p:cNvSpPr/>
          <p:nvPr/>
        </p:nvSpPr>
        <p:spPr>
          <a:xfrm>
            <a:off x="6553048" y="3079860"/>
            <a:ext cx="640080"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10" name="Google Shape;1010;p29"/>
          <p:cNvSpPr/>
          <p:nvPr/>
        </p:nvSpPr>
        <p:spPr>
          <a:xfrm>
            <a:off x="7376008" y="3052428"/>
            <a:ext cx="41605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900"/>
              <a:buFont typeface="Calibri"/>
              <a:buNone/>
            </a:pPr>
            <a:r>
              <a:rPr b="1" i="0" lang="en-US" sz="1250" u="none" cap="none" strike="noStrike">
                <a:solidFill>
                  <a:srgbClr val="22D3EE"/>
                </a:solidFill>
                <a:latin typeface="Inter"/>
                <a:ea typeface="Inter"/>
                <a:cs typeface="Inter"/>
                <a:sym typeface="Inter"/>
              </a:rPr>
              <a:t>PREDICTIVE TEXT</a:t>
            </a:r>
            <a:endParaRPr b="0" i="0" sz="900" u="none" cap="none" strike="noStrike">
              <a:solidFill>
                <a:schemeClr val="dk1"/>
              </a:solidFill>
              <a:latin typeface="Calibri"/>
              <a:ea typeface="Calibri"/>
              <a:cs typeface="Calibri"/>
              <a:sym typeface="Calibri"/>
            </a:endParaRPr>
          </a:p>
        </p:txBody>
      </p:sp>
      <p:sp>
        <p:nvSpPr>
          <p:cNvPr id="1011" name="Google Shape;1011;p29"/>
          <p:cNvSpPr/>
          <p:nvPr/>
        </p:nvSpPr>
        <p:spPr>
          <a:xfrm>
            <a:off x="7376008" y="3326748"/>
            <a:ext cx="41605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Arial"/>
              <a:buNone/>
            </a:pPr>
            <a:r>
              <a:rPr b="1" i="0" lang="en-US" sz="1750" u="none" cap="none" strike="noStrike">
                <a:solidFill>
                  <a:srgbClr val="FFFFFF"/>
                </a:solidFill>
                <a:latin typeface="Inter"/>
                <a:ea typeface="Inter"/>
                <a:cs typeface="Inter"/>
                <a:sym typeface="Inter"/>
              </a:rPr>
              <a:t>AI-powered autocomplete</a:t>
            </a:r>
            <a:endParaRPr b="0" i="0" sz="1500" u="none" cap="none" strike="noStrike">
              <a:solidFill>
                <a:schemeClr val="dk1"/>
              </a:solidFill>
              <a:latin typeface="Calibri"/>
              <a:ea typeface="Calibri"/>
              <a:cs typeface="Calibri"/>
              <a:sym typeface="Calibri"/>
            </a:endParaRPr>
          </a:p>
        </p:txBody>
      </p:sp>
      <p:sp>
        <p:nvSpPr>
          <p:cNvPr id="1012" name="Google Shape;1012;p29"/>
          <p:cNvSpPr/>
          <p:nvPr/>
        </p:nvSpPr>
        <p:spPr>
          <a:xfrm>
            <a:off x="6553048" y="3765660"/>
            <a:ext cx="4937760"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400"/>
              <a:buFont typeface="Calibri"/>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On-screen keyboard with AI next-word autocomplete</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300"/>
              </a:spcAft>
              <a:buClr>
                <a:srgbClr val="000000"/>
              </a:buClr>
              <a:buSzPts val="14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Will cut blink-typing effort and time by over 60%</a:t>
            </a:r>
            <a:endParaRPr b="0" i="0" sz="1400" u="none" cap="none" strike="noStrike">
              <a:solidFill>
                <a:srgbClr val="000000"/>
              </a:solidFill>
              <a:latin typeface="Arial"/>
              <a:ea typeface="Arial"/>
              <a:cs typeface="Arial"/>
              <a:sym typeface="Arial"/>
            </a:endParaRPr>
          </a:p>
        </p:txBody>
      </p:sp>
      <p:sp>
        <p:nvSpPr>
          <p:cNvPr id="1013" name="Google Shape;1013;p29"/>
          <p:cNvSpPr/>
          <p:nvPr/>
        </p:nvSpPr>
        <p:spPr>
          <a:xfrm>
            <a:off x="472288" y="4771500"/>
            <a:ext cx="5440680" cy="1828800"/>
          </a:xfrm>
          <a:prstGeom prst="roundRect">
            <a:avLst>
              <a:gd fmla="val 4000"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14" name="Google Shape;1014;p29"/>
          <p:cNvSpPr/>
          <p:nvPr/>
        </p:nvSpPr>
        <p:spPr>
          <a:xfrm>
            <a:off x="746608" y="5091540"/>
            <a:ext cx="640080" cy="640080"/>
          </a:xfrm>
          <a:prstGeom prst="ellipse">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15" name="Google Shape;1015;p29"/>
          <p:cNvSpPr/>
          <p:nvPr/>
        </p:nvSpPr>
        <p:spPr>
          <a:xfrm>
            <a:off x="746608" y="5091540"/>
            <a:ext cx="640080"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16" name="Google Shape;1016;p29"/>
          <p:cNvSpPr/>
          <p:nvPr/>
        </p:nvSpPr>
        <p:spPr>
          <a:xfrm>
            <a:off x="1569568" y="5064108"/>
            <a:ext cx="41605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900"/>
              <a:buFont typeface="Calibri"/>
              <a:buNone/>
            </a:pPr>
            <a:r>
              <a:rPr b="1" i="0" lang="en-US" sz="1250" u="none" cap="none" strike="noStrike">
                <a:solidFill>
                  <a:srgbClr val="22D3EE"/>
                </a:solidFill>
                <a:latin typeface="Inter"/>
                <a:ea typeface="Inter"/>
                <a:cs typeface="Inter"/>
                <a:sym typeface="Inter"/>
              </a:rPr>
              <a:t>VOICE SYNTHESIS</a:t>
            </a:r>
            <a:endParaRPr b="0" i="0" sz="900" u="none" cap="none" strike="noStrike">
              <a:solidFill>
                <a:schemeClr val="dk1"/>
              </a:solidFill>
              <a:latin typeface="Calibri"/>
              <a:ea typeface="Calibri"/>
              <a:cs typeface="Calibri"/>
              <a:sym typeface="Calibri"/>
            </a:endParaRPr>
          </a:p>
        </p:txBody>
      </p:sp>
      <p:sp>
        <p:nvSpPr>
          <p:cNvPr id="1017" name="Google Shape;1017;p29"/>
          <p:cNvSpPr/>
          <p:nvPr/>
        </p:nvSpPr>
        <p:spPr>
          <a:xfrm>
            <a:off x="1569568" y="5338428"/>
            <a:ext cx="41605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Arial"/>
              <a:buNone/>
            </a:pPr>
            <a:r>
              <a:rPr b="1" i="0" lang="en-US" sz="1750" u="none" cap="none" strike="noStrike">
                <a:solidFill>
                  <a:srgbClr val="FFFFFF"/>
                </a:solidFill>
                <a:latin typeface="Inter"/>
                <a:ea typeface="Inter"/>
                <a:cs typeface="Inter"/>
                <a:sym typeface="Inter"/>
              </a:rPr>
              <a:t>Speech for non-verbal users</a:t>
            </a:r>
            <a:endParaRPr b="0" i="0" sz="1500" u="none" cap="none" strike="noStrike">
              <a:solidFill>
                <a:schemeClr val="dk1"/>
              </a:solidFill>
              <a:latin typeface="Calibri"/>
              <a:ea typeface="Calibri"/>
              <a:cs typeface="Calibri"/>
              <a:sym typeface="Calibri"/>
            </a:endParaRPr>
          </a:p>
        </p:txBody>
      </p:sp>
      <p:sp>
        <p:nvSpPr>
          <p:cNvPr id="1018" name="Google Shape;1018;p29"/>
          <p:cNvSpPr/>
          <p:nvPr/>
        </p:nvSpPr>
        <p:spPr>
          <a:xfrm>
            <a:off x="746608" y="5777340"/>
            <a:ext cx="4937760"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400"/>
              <a:buFont typeface="Calibri"/>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Converts telegraphic blinks into natural spoken voice</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300"/>
              </a:spcAft>
              <a:buClr>
                <a:srgbClr val="000000"/>
              </a:buClr>
              <a:buSzPts val="14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Will support regional Indian languages for calls</a:t>
            </a:r>
            <a:endParaRPr b="0" i="0" sz="1400" u="none" cap="none" strike="noStrike">
              <a:solidFill>
                <a:srgbClr val="000000"/>
              </a:solidFill>
              <a:latin typeface="Arial"/>
              <a:ea typeface="Arial"/>
              <a:cs typeface="Arial"/>
              <a:sym typeface="Arial"/>
            </a:endParaRPr>
          </a:p>
        </p:txBody>
      </p:sp>
      <p:sp>
        <p:nvSpPr>
          <p:cNvPr id="1019" name="Google Shape;1019;p29"/>
          <p:cNvSpPr/>
          <p:nvPr/>
        </p:nvSpPr>
        <p:spPr>
          <a:xfrm>
            <a:off x="6278728" y="4771500"/>
            <a:ext cx="5440680" cy="1828800"/>
          </a:xfrm>
          <a:prstGeom prst="roundRect">
            <a:avLst>
              <a:gd fmla="val 4000"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20" name="Google Shape;1020;p29"/>
          <p:cNvSpPr/>
          <p:nvPr/>
        </p:nvSpPr>
        <p:spPr>
          <a:xfrm>
            <a:off x="6553048" y="5091540"/>
            <a:ext cx="640080" cy="640080"/>
          </a:xfrm>
          <a:prstGeom prst="ellipse">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21" name="Google Shape;1021;p29"/>
          <p:cNvSpPr/>
          <p:nvPr/>
        </p:nvSpPr>
        <p:spPr>
          <a:xfrm>
            <a:off x="6553048" y="5091540"/>
            <a:ext cx="640080"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22" name="Google Shape;1022;p29"/>
          <p:cNvSpPr/>
          <p:nvPr/>
        </p:nvSpPr>
        <p:spPr>
          <a:xfrm>
            <a:off x="7376008" y="5064108"/>
            <a:ext cx="41605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900"/>
              <a:buFont typeface="Calibri"/>
              <a:buNone/>
            </a:pPr>
            <a:r>
              <a:rPr b="1" i="0" lang="en-US" sz="1250" u="none" cap="none" strike="noStrike">
                <a:solidFill>
                  <a:srgbClr val="22D3EE"/>
                </a:solidFill>
                <a:latin typeface="Inter"/>
                <a:ea typeface="Inter"/>
                <a:cs typeface="Inter"/>
                <a:sym typeface="Inter"/>
              </a:rPr>
              <a:t>CLINICAL PILOT</a:t>
            </a:r>
            <a:endParaRPr b="0" i="0" sz="900" u="none" cap="none" strike="noStrike">
              <a:solidFill>
                <a:schemeClr val="dk1"/>
              </a:solidFill>
              <a:latin typeface="Calibri"/>
              <a:ea typeface="Calibri"/>
              <a:cs typeface="Calibri"/>
              <a:sym typeface="Calibri"/>
            </a:endParaRPr>
          </a:p>
        </p:txBody>
      </p:sp>
      <p:sp>
        <p:nvSpPr>
          <p:cNvPr id="1023" name="Google Shape;1023;p29"/>
          <p:cNvSpPr/>
          <p:nvPr/>
        </p:nvSpPr>
        <p:spPr>
          <a:xfrm>
            <a:off x="7376008" y="5338428"/>
            <a:ext cx="41605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Arial"/>
              <a:buNone/>
            </a:pPr>
            <a:r>
              <a:rPr b="1" i="0" lang="en-US" sz="1750" u="none" cap="none" strike="noStrike">
                <a:solidFill>
                  <a:srgbClr val="FFFFFF"/>
                </a:solidFill>
                <a:latin typeface="Inter"/>
                <a:ea typeface="Inter"/>
                <a:cs typeface="Inter"/>
                <a:sym typeface="Inter"/>
              </a:rPr>
              <a:t>Hospital validation program</a:t>
            </a:r>
            <a:endParaRPr b="0" i="0" sz="1500" u="none" cap="none" strike="noStrike">
              <a:solidFill>
                <a:schemeClr val="dk1"/>
              </a:solidFill>
              <a:latin typeface="Calibri"/>
              <a:ea typeface="Calibri"/>
              <a:cs typeface="Calibri"/>
              <a:sym typeface="Calibri"/>
            </a:endParaRPr>
          </a:p>
        </p:txBody>
      </p:sp>
      <p:sp>
        <p:nvSpPr>
          <p:cNvPr id="1024" name="Google Shape;1024;p29"/>
          <p:cNvSpPr/>
          <p:nvPr/>
        </p:nvSpPr>
        <p:spPr>
          <a:xfrm>
            <a:off x="6553048" y="5777340"/>
            <a:ext cx="4937760"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400"/>
              <a:buFont typeface="Calibri"/>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Upcoming pilot trials with neurology wards &amp; NGOs</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300"/>
              </a:spcAft>
              <a:buClr>
                <a:srgbClr val="000000"/>
              </a:buClr>
              <a:buSzPts val="1450"/>
              <a:buFont typeface="Arial"/>
              <a:buNone/>
            </a:pPr>
            <a:r>
              <a:rPr b="1" i="0" lang="en-US" sz="1450" u="none" cap="none" strike="noStrike">
                <a:solidFill>
                  <a:srgbClr val="22D3EE"/>
                </a:solidFill>
                <a:latin typeface="Inter"/>
                <a:ea typeface="Inter"/>
                <a:cs typeface="Inter"/>
                <a:sym typeface="Inter"/>
              </a:rPr>
              <a:t>•  </a:t>
            </a:r>
            <a:r>
              <a:rPr b="0" i="0" lang="en-US" sz="1450" u="none" cap="none" strike="noStrike">
                <a:solidFill>
                  <a:srgbClr val="CDD5E2"/>
                </a:solidFill>
                <a:latin typeface="Inter"/>
                <a:ea typeface="Inter"/>
                <a:cs typeface="Inter"/>
                <a:sym typeface="Inter"/>
              </a:rPr>
              <a:t>Real-patient telemetry will refine blink thresholds</a:t>
            </a:r>
            <a:endParaRPr b="0" i="0" sz="1400" u="none" cap="none" strike="noStrike">
              <a:solidFill>
                <a:srgbClr val="000000"/>
              </a:solidFill>
              <a:latin typeface="Arial"/>
              <a:ea typeface="Arial"/>
              <a:cs typeface="Arial"/>
              <a:sym typeface="Arial"/>
            </a:endParaRPr>
          </a:p>
        </p:txBody>
      </p:sp>
      <p:pic>
        <p:nvPicPr>
          <p:cNvPr descr="icon_users.png" id="1025" name="Google Shape;1025;p29"/>
          <p:cNvPicPr preferRelativeResize="0"/>
          <p:nvPr/>
        </p:nvPicPr>
        <p:blipFill rotWithShape="1">
          <a:blip r:embed="rId3">
            <a:alphaModFix/>
          </a:blip>
          <a:srcRect b="0" l="0" r="0" t="0"/>
          <a:stretch/>
        </p:blipFill>
        <p:spPr>
          <a:xfrm>
            <a:off x="746608" y="3079860"/>
            <a:ext cx="640080" cy="640080"/>
          </a:xfrm>
          <a:prstGeom prst="rect">
            <a:avLst/>
          </a:prstGeom>
          <a:noFill/>
          <a:ln>
            <a:noFill/>
          </a:ln>
        </p:spPr>
      </p:pic>
      <p:pic>
        <p:nvPicPr>
          <p:cNvPr descr="icon_spark.png" id="1026" name="Google Shape;1026;p29"/>
          <p:cNvPicPr preferRelativeResize="0"/>
          <p:nvPr/>
        </p:nvPicPr>
        <p:blipFill rotWithShape="1">
          <a:blip r:embed="rId4">
            <a:alphaModFix/>
          </a:blip>
          <a:srcRect b="0" l="0" r="0" t="0"/>
          <a:stretch/>
        </p:blipFill>
        <p:spPr>
          <a:xfrm>
            <a:off x="6553048" y="3079860"/>
            <a:ext cx="640080" cy="640080"/>
          </a:xfrm>
          <a:prstGeom prst="rect">
            <a:avLst/>
          </a:prstGeom>
          <a:noFill/>
          <a:ln>
            <a:noFill/>
          </a:ln>
        </p:spPr>
      </p:pic>
      <p:pic>
        <p:nvPicPr>
          <p:cNvPr descr="icon_voice.png" id="1027" name="Google Shape;1027;p29"/>
          <p:cNvPicPr preferRelativeResize="0"/>
          <p:nvPr/>
        </p:nvPicPr>
        <p:blipFill rotWithShape="1">
          <a:blip r:embed="rId5">
            <a:alphaModFix/>
          </a:blip>
          <a:srcRect b="0" l="0" r="0" t="0"/>
          <a:stretch/>
        </p:blipFill>
        <p:spPr>
          <a:xfrm>
            <a:off x="746608" y="5091540"/>
            <a:ext cx="640080" cy="640080"/>
          </a:xfrm>
          <a:prstGeom prst="rect">
            <a:avLst/>
          </a:prstGeom>
          <a:noFill/>
          <a:ln>
            <a:noFill/>
          </a:ln>
        </p:spPr>
      </p:pic>
      <p:pic>
        <p:nvPicPr>
          <p:cNvPr descr="icon_hospital.png" id="1028" name="Google Shape;1028;p29"/>
          <p:cNvPicPr preferRelativeResize="0"/>
          <p:nvPr/>
        </p:nvPicPr>
        <p:blipFill rotWithShape="1">
          <a:blip r:embed="rId6">
            <a:alphaModFix/>
          </a:blip>
          <a:srcRect b="0" l="0" r="0" t="0"/>
          <a:stretch/>
        </p:blipFill>
        <p:spPr>
          <a:xfrm>
            <a:off x="6553048" y="5091540"/>
            <a:ext cx="640080" cy="640080"/>
          </a:xfrm>
          <a:prstGeom prst="rect">
            <a:avLst/>
          </a:prstGeom>
          <a:noFill/>
          <a:ln>
            <a:noFill/>
          </a:ln>
        </p:spPr>
      </p:pic>
    </p:spTree>
  </p:cSld>
  <p:clrMapOvr>
    <a:masterClrMapping/>
  </p:clrMapOvr>
  <p:transition spd="med">
    <p:fade/>
  </p:transition>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A2E"/>
        </a:solidFill>
      </p:bgPr>
    </p:bg>
    <p:spTree>
      <p:nvGrpSpPr>
        <p:cNvPr id="1032" name="Shape 1032"/>
        <p:cNvGrpSpPr/>
        <p:nvPr/>
      </p:nvGrpSpPr>
      <p:grpSpPr>
        <a:xfrm>
          <a:off x="0" y="0"/>
          <a:ext cx="0" cy="0"/>
          <a:chOff x="0" y="0"/>
          <a:chExt cx="0" cy="0"/>
        </a:xfrm>
      </p:grpSpPr>
      <p:sp>
        <p:nvSpPr>
          <p:cNvPr id="1033" name="Google Shape;1033;p34"/>
          <p:cNvSpPr txBox="1"/>
          <p:nvPr/>
        </p:nvSpPr>
        <p:spPr>
          <a:xfrm>
            <a:off x="502920" y="274320"/>
            <a:ext cx="18288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5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034" name="Google Shape;1034;p34"/>
          <p:cNvSpPr txBox="1"/>
          <p:nvPr/>
        </p:nvSpPr>
        <p:spPr>
          <a:xfrm>
            <a:off x="685800" y="274320"/>
            <a:ext cx="36576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1150" u="none" cap="none" strike="noStrike">
                <a:solidFill>
                  <a:srgbClr val="CDD5E2"/>
                </a:solidFill>
                <a:latin typeface="Inter"/>
                <a:ea typeface="Inter"/>
                <a:cs typeface="Inter"/>
                <a:sym typeface="Inter"/>
              </a:rPr>
              <a:t>IRIS</a:t>
            </a:r>
            <a:endParaRPr b="0" i="0" sz="1400" u="none" cap="none" strike="noStrike">
              <a:solidFill>
                <a:srgbClr val="000000"/>
              </a:solidFill>
              <a:latin typeface="Arial"/>
              <a:ea typeface="Arial"/>
              <a:cs typeface="Arial"/>
              <a:sym typeface="Arial"/>
            </a:endParaRPr>
          </a:p>
        </p:txBody>
      </p:sp>
      <p:sp>
        <p:nvSpPr>
          <p:cNvPr id="1035" name="Google Shape;1035;p34"/>
          <p:cNvSpPr txBox="1"/>
          <p:nvPr/>
        </p:nvSpPr>
        <p:spPr>
          <a:xfrm>
            <a:off x="502920" y="777240"/>
            <a:ext cx="10515600"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400" u="none" cap="none" strike="noStrike">
                <a:solidFill>
                  <a:srgbClr val="22D3EE"/>
                </a:solidFill>
                <a:latin typeface="Inter"/>
                <a:ea typeface="Inter"/>
                <a:cs typeface="Inter"/>
                <a:sym typeface="Inter"/>
              </a:rPr>
              <a:t>SAFETY &amp; RESPONSIBILITY</a:t>
            </a:r>
            <a:endParaRPr b="0" i="0" sz="1400" u="none" cap="none" strike="noStrike">
              <a:solidFill>
                <a:srgbClr val="000000"/>
              </a:solidFill>
              <a:latin typeface="Arial"/>
              <a:ea typeface="Arial"/>
              <a:cs typeface="Arial"/>
              <a:sym typeface="Arial"/>
            </a:endParaRPr>
          </a:p>
        </p:txBody>
      </p:sp>
      <p:sp>
        <p:nvSpPr>
          <p:cNvPr id="1036" name="Google Shape;1036;p34"/>
          <p:cNvSpPr txBox="1"/>
          <p:nvPr/>
        </p:nvSpPr>
        <p:spPr>
          <a:xfrm>
            <a:off x="502920" y="1188720"/>
            <a:ext cx="10972800" cy="914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FFFFFF"/>
                </a:solidFill>
                <a:latin typeface="Inter"/>
                <a:ea typeface="Inter"/>
                <a:cs typeface="Inter"/>
                <a:sym typeface="Inter"/>
              </a:rPr>
              <a:t>Safety is non-negotiable.</a:t>
            </a:r>
            <a:endParaRPr b="0" i="0" sz="1400" u="none" cap="none" strike="noStrike">
              <a:solidFill>
                <a:srgbClr val="000000"/>
              </a:solidFill>
              <a:latin typeface="Arial"/>
              <a:ea typeface="Arial"/>
              <a:cs typeface="Arial"/>
              <a:sym typeface="Arial"/>
            </a:endParaRPr>
          </a:p>
        </p:txBody>
      </p:sp>
      <p:sp>
        <p:nvSpPr>
          <p:cNvPr id="1037" name="Google Shape;1037;p34"/>
          <p:cNvSpPr txBox="1"/>
          <p:nvPr/>
        </p:nvSpPr>
        <p:spPr>
          <a:xfrm>
            <a:off x="502920" y="2103120"/>
            <a:ext cx="105156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1" lang="en-US" sz="1750" u="none" cap="none" strike="noStrike">
                <a:solidFill>
                  <a:srgbClr val="CDD5E2"/>
                </a:solidFill>
                <a:latin typeface="Inter"/>
                <a:ea typeface="Inter"/>
                <a:cs typeface="Inter"/>
                <a:sym typeface="Inter"/>
              </a:rPr>
              <a:t>IRIS handles medical-grade data and sits on real patients. Every layer is designed with responsibility and sensitivity.</a:t>
            </a:r>
            <a:endParaRPr b="0" i="0" sz="1400" u="none" cap="none" strike="noStrike">
              <a:solidFill>
                <a:srgbClr val="000000"/>
              </a:solidFill>
              <a:latin typeface="Arial"/>
              <a:ea typeface="Arial"/>
              <a:cs typeface="Arial"/>
              <a:sym typeface="Arial"/>
            </a:endParaRPr>
          </a:p>
        </p:txBody>
      </p:sp>
      <p:sp>
        <p:nvSpPr>
          <p:cNvPr id="1038" name="Google Shape;1038;p34"/>
          <p:cNvSpPr/>
          <p:nvPr/>
        </p:nvSpPr>
        <p:spPr>
          <a:xfrm>
            <a:off x="502920" y="2834640"/>
            <a:ext cx="5394960" cy="3383280"/>
          </a:xfrm>
          <a:prstGeom prst="roundRect">
            <a:avLst>
              <a:gd fmla="val 16667" name="adj"/>
            </a:avLst>
          </a:prstGeom>
          <a:solidFill>
            <a:srgbClr val="0F2440"/>
          </a:solidFill>
          <a:ln cap="flat" cmpd="sng" w="9525">
            <a:solidFill>
              <a:srgbClr val="0E7490"/>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Calibri"/>
              <a:ea typeface="Calibri"/>
              <a:cs typeface="Calibri"/>
              <a:sym typeface="Calibri"/>
            </a:endParaRPr>
          </a:p>
        </p:txBody>
      </p:sp>
      <p:sp>
        <p:nvSpPr>
          <p:cNvPr id="1039" name="Google Shape;1039;p34"/>
          <p:cNvSpPr txBox="1"/>
          <p:nvPr/>
        </p:nvSpPr>
        <p:spPr>
          <a:xfrm>
            <a:off x="731520" y="2971800"/>
            <a:ext cx="493776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850" u="none" cap="none" strike="noStrike">
                <a:solidFill>
                  <a:srgbClr val="22D3EE"/>
                </a:solidFill>
                <a:latin typeface="Inter"/>
                <a:ea typeface="Inter"/>
                <a:cs typeface="Inter"/>
                <a:sym typeface="Inter"/>
              </a:rPr>
              <a:t>HARDWARE SAFETY</a:t>
            </a:r>
            <a:endParaRPr b="0" i="0" sz="1400" u="none" cap="none" strike="noStrike">
              <a:solidFill>
                <a:srgbClr val="000000"/>
              </a:solidFill>
              <a:latin typeface="Arial"/>
              <a:ea typeface="Arial"/>
              <a:cs typeface="Arial"/>
              <a:sym typeface="Arial"/>
            </a:endParaRPr>
          </a:p>
        </p:txBody>
      </p:sp>
      <p:sp>
        <p:nvSpPr>
          <p:cNvPr id="1040" name="Google Shape;1040;p34"/>
          <p:cNvSpPr txBox="1"/>
          <p:nvPr/>
        </p:nvSpPr>
        <p:spPr>
          <a:xfrm>
            <a:off x="777240" y="3383280"/>
            <a:ext cx="18288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45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041" name="Google Shape;1041;p34"/>
          <p:cNvSpPr txBox="1"/>
          <p:nvPr/>
        </p:nvSpPr>
        <p:spPr>
          <a:xfrm>
            <a:off x="1005840" y="3383280"/>
            <a:ext cx="484632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450" u="none" cap="none" strike="noStrike">
                <a:solidFill>
                  <a:srgbClr val="FFFFFF"/>
                </a:solidFill>
                <a:latin typeface="Inter"/>
                <a:ea typeface="Inter"/>
                <a:cs typeface="Inter"/>
                <a:sym typeface="Inter"/>
              </a:rPr>
              <a:t>2A fast-blow fuse on the battery input</a:t>
            </a:r>
            <a:endParaRPr b="0" i="0" sz="1400" u="none" cap="none" strike="noStrike">
              <a:solidFill>
                <a:srgbClr val="000000"/>
              </a:solidFill>
              <a:latin typeface="Arial"/>
              <a:ea typeface="Arial"/>
              <a:cs typeface="Arial"/>
              <a:sym typeface="Arial"/>
            </a:endParaRPr>
          </a:p>
        </p:txBody>
      </p:sp>
      <p:sp>
        <p:nvSpPr>
          <p:cNvPr id="1042" name="Google Shape;1042;p34"/>
          <p:cNvSpPr txBox="1"/>
          <p:nvPr/>
        </p:nvSpPr>
        <p:spPr>
          <a:xfrm>
            <a:off x="777240" y="3721608"/>
            <a:ext cx="18288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45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043" name="Google Shape;1043;p34"/>
          <p:cNvSpPr txBox="1"/>
          <p:nvPr/>
        </p:nvSpPr>
        <p:spPr>
          <a:xfrm>
            <a:off x="1005840" y="3721608"/>
            <a:ext cx="4846200" cy="47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50" u="none" cap="none" strike="noStrike">
                <a:solidFill>
                  <a:srgbClr val="FFFFFF"/>
                </a:solidFill>
                <a:latin typeface="Inter"/>
                <a:ea typeface="Inter"/>
                <a:cs typeface="Inter"/>
                <a:sym typeface="Inter"/>
              </a:rPr>
              <a:t>XIAO ESP32C3 onboard battery management &amp; overcharge cutoff</a:t>
            </a:r>
            <a:endParaRPr b="0" i="0" sz="1200" u="none" cap="none" strike="noStrike">
              <a:solidFill>
                <a:srgbClr val="000000"/>
              </a:solidFill>
              <a:latin typeface="Arial"/>
              <a:ea typeface="Arial"/>
              <a:cs typeface="Arial"/>
              <a:sym typeface="Arial"/>
            </a:endParaRPr>
          </a:p>
        </p:txBody>
      </p:sp>
      <p:sp>
        <p:nvSpPr>
          <p:cNvPr id="1044" name="Google Shape;1044;p34"/>
          <p:cNvSpPr txBox="1"/>
          <p:nvPr/>
        </p:nvSpPr>
        <p:spPr>
          <a:xfrm>
            <a:off x="777240" y="4059936"/>
            <a:ext cx="18288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45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045" name="Google Shape;1045;p34"/>
          <p:cNvSpPr txBox="1"/>
          <p:nvPr/>
        </p:nvSpPr>
        <p:spPr>
          <a:xfrm>
            <a:off x="1005840" y="4092593"/>
            <a:ext cx="4846200" cy="284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50" u="none" cap="none" strike="noStrike">
                <a:solidFill>
                  <a:srgbClr val="FFFFFF"/>
                </a:solidFill>
                <a:latin typeface="Inter"/>
                <a:ea typeface="Inter"/>
                <a:cs typeface="Inter"/>
                <a:sym typeface="Inter"/>
              </a:rPr>
              <a:t>3.7V Li-Po over-discharge and short-circuit protection</a:t>
            </a:r>
            <a:endParaRPr b="0" i="0" sz="1200" u="none" cap="none" strike="noStrike">
              <a:solidFill>
                <a:srgbClr val="000000"/>
              </a:solidFill>
              <a:latin typeface="Arial"/>
              <a:ea typeface="Arial"/>
              <a:cs typeface="Arial"/>
              <a:sym typeface="Arial"/>
            </a:endParaRPr>
          </a:p>
        </p:txBody>
      </p:sp>
      <p:sp>
        <p:nvSpPr>
          <p:cNvPr id="1046" name="Google Shape;1046;p34"/>
          <p:cNvSpPr txBox="1"/>
          <p:nvPr/>
        </p:nvSpPr>
        <p:spPr>
          <a:xfrm>
            <a:off x="777240" y="4398264"/>
            <a:ext cx="18288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45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047" name="Google Shape;1047;p34"/>
          <p:cNvSpPr txBox="1"/>
          <p:nvPr/>
        </p:nvSpPr>
        <p:spPr>
          <a:xfrm>
            <a:off x="1005840" y="4398264"/>
            <a:ext cx="4846200" cy="284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50" u="none" cap="none" strike="noStrike">
                <a:solidFill>
                  <a:srgbClr val="FFFFFF"/>
                </a:solidFill>
                <a:latin typeface="Inter"/>
                <a:ea typeface="Inter"/>
                <a:cs typeface="Inter"/>
                <a:sym typeface="Inter"/>
              </a:rPr>
              <a:t>Internal XIAO voltage regulator — zero external buck heat</a:t>
            </a:r>
            <a:endParaRPr b="0" i="0" sz="1200" u="none" cap="none" strike="noStrike">
              <a:solidFill>
                <a:srgbClr val="000000"/>
              </a:solidFill>
              <a:latin typeface="Arial"/>
              <a:ea typeface="Arial"/>
              <a:cs typeface="Arial"/>
              <a:sym typeface="Arial"/>
            </a:endParaRPr>
          </a:p>
        </p:txBody>
      </p:sp>
      <p:sp>
        <p:nvSpPr>
          <p:cNvPr id="1048" name="Google Shape;1048;p34"/>
          <p:cNvSpPr txBox="1"/>
          <p:nvPr/>
        </p:nvSpPr>
        <p:spPr>
          <a:xfrm>
            <a:off x="777240" y="4720263"/>
            <a:ext cx="183000" cy="3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45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049" name="Google Shape;1049;p34"/>
          <p:cNvSpPr txBox="1"/>
          <p:nvPr/>
        </p:nvSpPr>
        <p:spPr>
          <a:xfrm>
            <a:off x="1005840" y="4720263"/>
            <a:ext cx="4846200" cy="47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50" u="none" cap="none" strike="noStrike">
                <a:solidFill>
                  <a:srgbClr val="FFFFFF"/>
                </a:solidFill>
                <a:latin typeface="Inter"/>
                <a:ea typeface="Inter"/>
                <a:cs typeface="Inter"/>
                <a:sym typeface="Inter"/>
              </a:rPr>
              <a:t>950nm IR sensor is 20× below IEC 62471 eye-safety limit (zero harm)</a:t>
            </a:r>
            <a:endParaRPr b="0" i="0" sz="1200" u="none" cap="none" strike="noStrike">
              <a:solidFill>
                <a:srgbClr val="000000"/>
              </a:solidFill>
              <a:latin typeface="Arial"/>
              <a:ea typeface="Arial"/>
              <a:cs typeface="Arial"/>
              <a:sym typeface="Arial"/>
            </a:endParaRPr>
          </a:p>
        </p:txBody>
      </p:sp>
      <p:sp>
        <p:nvSpPr>
          <p:cNvPr id="1050" name="Google Shape;1050;p34"/>
          <p:cNvSpPr txBox="1"/>
          <p:nvPr/>
        </p:nvSpPr>
        <p:spPr>
          <a:xfrm>
            <a:off x="777240" y="5123906"/>
            <a:ext cx="183000" cy="3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45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051" name="Google Shape;1051;p34"/>
          <p:cNvSpPr txBox="1"/>
          <p:nvPr/>
        </p:nvSpPr>
        <p:spPr>
          <a:xfrm>
            <a:off x="1005840" y="5123906"/>
            <a:ext cx="4846200" cy="3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450" u="none" cap="none" strike="noStrike">
                <a:solidFill>
                  <a:srgbClr val="FFFFFF"/>
                </a:solidFill>
                <a:latin typeface="Inter"/>
                <a:ea typeface="Inter"/>
                <a:cs typeface="Inter"/>
                <a:sym typeface="Inter"/>
              </a:rPr>
              <a:t>Reverse polarity protection on USB-C input</a:t>
            </a:r>
            <a:endParaRPr b="0" i="0" sz="1400" u="none" cap="none" strike="noStrike">
              <a:solidFill>
                <a:srgbClr val="000000"/>
              </a:solidFill>
              <a:latin typeface="Arial"/>
              <a:ea typeface="Arial"/>
              <a:cs typeface="Arial"/>
              <a:sym typeface="Arial"/>
            </a:endParaRPr>
          </a:p>
        </p:txBody>
      </p:sp>
      <p:sp>
        <p:nvSpPr>
          <p:cNvPr id="1052" name="Google Shape;1052;p34"/>
          <p:cNvSpPr txBox="1"/>
          <p:nvPr/>
        </p:nvSpPr>
        <p:spPr>
          <a:xfrm>
            <a:off x="777240" y="5462234"/>
            <a:ext cx="183000" cy="3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45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053" name="Google Shape;1053;p34"/>
          <p:cNvSpPr txBox="1"/>
          <p:nvPr/>
        </p:nvSpPr>
        <p:spPr>
          <a:xfrm>
            <a:off x="1005840" y="5462234"/>
            <a:ext cx="4846200" cy="3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450" u="none" cap="none" strike="noStrike">
                <a:solidFill>
                  <a:srgbClr val="FFFFFF"/>
                </a:solidFill>
                <a:latin typeface="Inter"/>
                <a:ea typeface="Inter"/>
                <a:cs typeface="Inter"/>
                <a:sym typeface="Inter"/>
              </a:rPr>
              <a:t>All components rated for continuous duty</a:t>
            </a:r>
            <a:endParaRPr b="0" i="0" sz="1400" u="none" cap="none" strike="noStrike">
              <a:solidFill>
                <a:srgbClr val="000000"/>
              </a:solidFill>
              <a:latin typeface="Arial"/>
              <a:ea typeface="Arial"/>
              <a:cs typeface="Arial"/>
              <a:sym typeface="Arial"/>
            </a:endParaRPr>
          </a:p>
        </p:txBody>
      </p:sp>
      <p:sp>
        <p:nvSpPr>
          <p:cNvPr id="1054" name="Google Shape;1054;p34"/>
          <p:cNvSpPr txBox="1"/>
          <p:nvPr/>
        </p:nvSpPr>
        <p:spPr>
          <a:xfrm>
            <a:off x="777240" y="5800562"/>
            <a:ext cx="183000" cy="3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45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055" name="Google Shape;1055;p34"/>
          <p:cNvSpPr txBox="1"/>
          <p:nvPr/>
        </p:nvSpPr>
        <p:spPr>
          <a:xfrm>
            <a:off x="1005840" y="5800562"/>
            <a:ext cx="4846200" cy="538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450" u="none" cap="none" strike="noStrike">
                <a:solidFill>
                  <a:srgbClr val="FFFFFF"/>
                </a:solidFill>
                <a:latin typeface="Inter"/>
                <a:ea typeface="Inter"/>
                <a:cs typeface="Inter"/>
                <a:sym typeface="Inter"/>
              </a:rPr>
              <a:t>Breathable perforated Velcro belt maintains continuous airflow</a:t>
            </a:r>
            <a:endParaRPr b="0" i="0" sz="1400" u="none" cap="none" strike="noStrike">
              <a:solidFill>
                <a:srgbClr val="000000"/>
              </a:solidFill>
              <a:latin typeface="Arial"/>
              <a:ea typeface="Arial"/>
              <a:cs typeface="Arial"/>
              <a:sym typeface="Arial"/>
            </a:endParaRPr>
          </a:p>
        </p:txBody>
      </p:sp>
      <p:sp>
        <p:nvSpPr>
          <p:cNvPr id="1056" name="Google Shape;1056;p34"/>
          <p:cNvSpPr/>
          <p:nvPr/>
        </p:nvSpPr>
        <p:spPr>
          <a:xfrm>
            <a:off x="6309360" y="2834640"/>
            <a:ext cx="5394960" cy="3383280"/>
          </a:xfrm>
          <a:prstGeom prst="roundRect">
            <a:avLst>
              <a:gd fmla="val 16667" name="adj"/>
            </a:avLst>
          </a:prstGeom>
          <a:solidFill>
            <a:srgbClr val="0F2440"/>
          </a:solidFill>
          <a:ln cap="flat" cmpd="sng" w="9525">
            <a:solidFill>
              <a:srgbClr val="92400E"/>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Calibri"/>
              <a:ea typeface="Calibri"/>
              <a:cs typeface="Calibri"/>
              <a:sym typeface="Calibri"/>
            </a:endParaRPr>
          </a:p>
        </p:txBody>
      </p:sp>
      <p:sp>
        <p:nvSpPr>
          <p:cNvPr id="1057" name="Google Shape;1057;p34"/>
          <p:cNvSpPr txBox="1"/>
          <p:nvPr/>
        </p:nvSpPr>
        <p:spPr>
          <a:xfrm>
            <a:off x="6537960" y="2971800"/>
            <a:ext cx="493776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850" u="none" cap="none" strike="noStrike">
                <a:solidFill>
                  <a:srgbClr val="FFB020"/>
                </a:solidFill>
                <a:latin typeface="Inter"/>
                <a:ea typeface="Inter"/>
                <a:cs typeface="Inter"/>
                <a:sym typeface="Inter"/>
              </a:rPr>
              <a:t>DATA SAFETY &amp; PRIVACY</a:t>
            </a:r>
            <a:endParaRPr b="0" i="0" sz="1400" u="none" cap="none" strike="noStrike">
              <a:solidFill>
                <a:srgbClr val="000000"/>
              </a:solidFill>
              <a:latin typeface="Arial"/>
              <a:ea typeface="Arial"/>
              <a:cs typeface="Arial"/>
              <a:sym typeface="Arial"/>
            </a:endParaRPr>
          </a:p>
        </p:txBody>
      </p:sp>
      <p:sp>
        <p:nvSpPr>
          <p:cNvPr id="1058" name="Google Shape;1058;p34"/>
          <p:cNvSpPr txBox="1"/>
          <p:nvPr/>
        </p:nvSpPr>
        <p:spPr>
          <a:xfrm>
            <a:off x="6583680" y="3383280"/>
            <a:ext cx="18288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450" u="none" cap="none" strike="noStrike">
                <a:solidFill>
                  <a:srgbClr val="FFB020"/>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059" name="Google Shape;1059;p34"/>
          <p:cNvSpPr txBox="1"/>
          <p:nvPr/>
        </p:nvSpPr>
        <p:spPr>
          <a:xfrm>
            <a:off x="6795946" y="3383275"/>
            <a:ext cx="5394900" cy="3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450" u="none" cap="none" strike="noStrike">
                <a:solidFill>
                  <a:srgbClr val="FFFFFF"/>
                </a:solidFill>
                <a:latin typeface="Inter"/>
                <a:ea typeface="Inter"/>
                <a:cs typeface="Inter"/>
                <a:sym typeface="Inter"/>
              </a:rPr>
              <a:t>All camera frames processed locally — never uploaded</a:t>
            </a:r>
            <a:endParaRPr b="0" i="0" sz="1400" u="none" cap="none" strike="noStrike">
              <a:solidFill>
                <a:srgbClr val="000000"/>
              </a:solidFill>
              <a:latin typeface="Arial"/>
              <a:ea typeface="Arial"/>
              <a:cs typeface="Arial"/>
              <a:sym typeface="Arial"/>
            </a:endParaRPr>
          </a:p>
        </p:txBody>
      </p:sp>
      <p:sp>
        <p:nvSpPr>
          <p:cNvPr id="1060" name="Google Shape;1060;p34"/>
          <p:cNvSpPr txBox="1"/>
          <p:nvPr/>
        </p:nvSpPr>
        <p:spPr>
          <a:xfrm>
            <a:off x="6583680" y="3721608"/>
            <a:ext cx="18288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450" u="none" cap="none" strike="noStrike">
                <a:solidFill>
                  <a:srgbClr val="FFB020"/>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061" name="Google Shape;1061;p34"/>
          <p:cNvSpPr txBox="1"/>
          <p:nvPr/>
        </p:nvSpPr>
        <p:spPr>
          <a:xfrm>
            <a:off x="6812280" y="3721608"/>
            <a:ext cx="484632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450" u="none" cap="none" strike="noStrike">
                <a:solidFill>
                  <a:srgbClr val="FFFFFF"/>
                </a:solidFill>
                <a:latin typeface="Inter"/>
                <a:ea typeface="Inter"/>
                <a:cs typeface="Inter"/>
                <a:sym typeface="Inter"/>
              </a:rPr>
              <a:t>No video is ever recorded or transmitted</a:t>
            </a:r>
            <a:endParaRPr b="0" i="0" sz="1400" u="none" cap="none" strike="noStrike">
              <a:solidFill>
                <a:srgbClr val="000000"/>
              </a:solidFill>
              <a:latin typeface="Arial"/>
              <a:ea typeface="Arial"/>
              <a:cs typeface="Arial"/>
              <a:sym typeface="Arial"/>
            </a:endParaRPr>
          </a:p>
        </p:txBody>
      </p:sp>
      <p:sp>
        <p:nvSpPr>
          <p:cNvPr id="1062" name="Google Shape;1062;p34"/>
          <p:cNvSpPr txBox="1"/>
          <p:nvPr/>
        </p:nvSpPr>
        <p:spPr>
          <a:xfrm>
            <a:off x="6583680" y="4059936"/>
            <a:ext cx="18288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450" u="none" cap="none" strike="noStrike">
                <a:solidFill>
                  <a:srgbClr val="FFB020"/>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063" name="Google Shape;1063;p34"/>
          <p:cNvSpPr txBox="1"/>
          <p:nvPr/>
        </p:nvSpPr>
        <p:spPr>
          <a:xfrm>
            <a:off x="6812280" y="4059936"/>
            <a:ext cx="484632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450" u="none" cap="none" strike="noStrike">
                <a:solidFill>
                  <a:srgbClr val="FFFFFF"/>
                </a:solidFill>
                <a:latin typeface="Inter"/>
                <a:ea typeface="Inter"/>
                <a:cs typeface="Inter"/>
                <a:sym typeface="Inter"/>
              </a:rPr>
              <a:t>Eye-tracking data stays in browser memory</a:t>
            </a:r>
            <a:endParaRPr b="0" i="0" sz="1400" u="none" cap="none" strike="noStrike">
              <a:solidFill>
                <a:srgbClr val="000000"/>
              </a:solidFill>
              <a:latin typeface="Arial"/>
              <a:ea typeface="Arial"/>
              <a:cs typeface="Arial"/>
              <a:sym typeface="Arial"/>
            </a:endParaRPr>
          </a:p>
        </p:txBody>
      </p:sp>
      <p:sp>
        <p:nvSpPr>
          <p:cNvPr id="1064" name="Google Shape;1064;p34"/>
          <p:cNvSpPr txBox="1"/>
          <p:nvPr/>
        </p:nvSpPr>
        <p:spPr>
          <a:xfrm>
            <a:off x="6583680" y="4398264"/>
            <a:ext cx="18288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450" u="none" cap="none" strike="noStrike">
                <a:solidFill>
                  <a:srgbClr val="FFB020"/>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065" name="Google Shape;1065;p34"/>
          <p:cNvSpPr txBox="1"/>
          <p:nvPr/>
        </p:nvSpPr>
        <p:spPr>
          <a:xfrm>
            <a:off x="6812280" y="4398264"/>
            <a:ext cx="484632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450" u="none" cap="none" strike="noStrike">
                <a:solidFill>
                  <a:srgbClr val="FFFFFF"/>
                </a:solidFill>
                <a:latin typeface="Inter"/>
                <a:ea typeface="Inter"/>
                <a:cs typeface="Inter"/>
                <a:sym typeface="Inter"/>
              </a:rPr>
              <a:t>ntfy.sh notifications carry only text labels, no PII</a:t>
            </a:r>
            <a:endParaRPr b="0" i="0" sz="1400" u="none" cap="none" strike="noStrike">
              <a:solidFill>
                <a:srgbClr val="000000"/>
              </a:solidFill>
              <a:latin typeface="Arial"/>
              <a:ea typeface="Arial"/>
              <a:cs typeface="Arial"/>
              <a:sym typeface="Arial"/>
            </a:endParaRPr>
          </a:p>
        </p:txBody>
      </p:sp>
      <p:sp>
        <p:nvSpPr>
          <p:cNvPr id="1066" name="Google Shape;1066;p34"/>
          <p:cNvSpPr txBox="1"/>
          <p:nvPr/>
        </p:nvSpPr>
        <p:spPr>
          <a:xfrm>
            <a:off x="6583680" y="4736592"/>
            <a:ext cx="18288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450" u="none" cap="none" strike="noStrike">
                <a:solidFill>
                  <a:srgbClr val="FFB020"/>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067" name="Google Shape;1067;p34"/>
          <p:cNvSpPr txBox="1"/>
          <p:nvPr/>
        </p:nvSpPr>
        <p:spPr>
          <a:xfrm>
            <a:off x="6812280" y="4736592"/>
            <a:ext cx="484632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450" u="none" cap="none" strike="noStrike">
                <a:solidFill>
                  <a:srgbClr val="FFFFFF"/>
                </a:solidFill>
                <a:latin typeface="Inter"/>
                <a:ea typeface="Inter"/>
                <a:cs typeface="Inter"/>
                <a:sym typeface="Inter"/>
              </a:rPr>
              <a:t>No advertising SDKs, no behavioral analytics</a:t>
            </a:r>
            <a:endParaRPr b="0" i="0" sz="1400" u="none" cap="none" strike="noStrike">
              <a:solidFill>
                <a:srgbClr val="000000"/>
              </a:solidFill>
              <a:latin typeface="Arial"/>
              <a:ea typeface="Arial"/>
              <a:cs typeface="Arial"/>
              <a:sym typeface="Arial"/>
            </a:endParaRPr>
          </a:p>
        </p:txBody>
      </p:sp>
      <p:sp>
        <p:nvSpPr>
          <p:cNvPr id="1068" name="Google Shape;1068;p34"/>
          <p:cNvSpPr txBox="1"/>
          <p:nvPr/>
        </p:nvSpPr>
        <p:spPr>
          <a:xfrm>
            <a:off x="6583680" y="5074920"/>
            <a:ext cx="18288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450" u="none" cap="none" strike="noStrike">
                <a:solidFill>
                  <a:srgbClr val="FFB020"/>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069" name="Google Shape;1069;p34"/>
          <p:cNvSpPr txBox="1"/>
          <p:nvPr/>
        </p:nvSpPr>
        <p:spPr>
          <a:xfrm>
            <a:off x="6812280" y="5074920"/>
            <a:ext cx="484632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450" u="none" cap="none" strike="noStrike">
                <a:solidFill>
                  <a:srgbClr val="FFFFFF"/>
                </a:solidFill>
                <a:latin typeface="Inter"/>
                <a:ea typeface="Inter"/>
                <a:cs typeface="Inter"/>
                <a:sym typeface="Inter"/>
              </a:rPr>
              <a:t>No third-party tracking scripts</a:t>
            </a:r>
            <a:endParaRPr b="0" i="0" sz="1400" u="none" cap="none" strike="noStrike">
              <a:solidFill>
                <a:srgbClr val="000000"/>
              </a:solidFill>
              <a:latin typeface="Arial"/>
              <a:ea typeface="Arial"/>
              <a:cs typeface="Arial"/>
              <a:sym typeface="Arial"/>
            </a:endParaRPr>
          </a:p>
        </p:txBody>
      </p:sp>
      <p:sp>
        <p:nvSpPr>
          <p:cNvPr id="1070" name="Google Shape;1070;p34"/>
          <p:cNvSpPr txBox="1"/>
          <p:nvPr/>
        </p:nvSpPr>
        <p:spPr>
          <a:xfrm>
            <a:off x="6583680" y="5413248"/>
            <a:ext cx="18288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450" u="none" cap="none" strike="noStrike">
                <a:solidFill>
                  <a:srgbClr val="FFB020"/>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071" name="Google Shape;1071;p34"/>
          <p:cNvSpPr txBox="1"/>
          <p:nvPr/>
        </p:nvSpPr>
        <p:spPr>
          <a:xfrm>
            <a:off x="6812280" y="5413248"/>
            <a:ext cx="484632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450" u="none" cap="none" strike="noStrike">
                <a:solidFill>
                  <a:srgbClr val="FFFFFF"/>
                </a:solidFill>
                <a:latin typeface="Inter"/>
                <a:ea typeface="Inter"/>
                <a:cs typeface="Inter"/>
                <a:sym typeface="Inter"/>
              </a:rPr>
              <a:t>Open-source — anyone can audit the code</a:t>
            </a:r>
            <a:endParaRPr b="0" i="0" sz="1400" u="none" cap="none" strike="noStrike">
              <a:solidFill>
                <a:srgbClr val="000000"/>
              </a:solidFill>
              <a:latin typeface="Arial"/>
              <a:ea typeface="Arial"/>
              <a:cs typeface="Arial"/>
              <a:sym typeface="Arial"/>
            </a:endParaRPr>
          </a:p>
        </p:txBody>
      </p:sp>
      <p:sp>
        <p:nvSpPr>
          <p:cNvPr id="1072" name="Google Shape;1072;p34"/>
          <p:cNvSpPr txBox="1"/>
          <p:nvPr/>
        </p:nvSpPr>
        <p:spPr>
          <a:xfrm>
            <a:off x="6583680" y="5751576"/>
            <a:ext cx="18288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450" u="none" cap="none" strike="noStrike">
                <a:solidFill>
                  <a:srgbClr val="FFB020"/>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073" name="Google Shape;1073;p34"/>
          <p:cNvSpPr txBox="1"/>
          <p:nvPr/>
        </p:nvSpPr>
        <p:spPr>
          <a:xfrm>
            <a:off x="6812280" y="5751576"/>
            <a:ext cx="484632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450" u="none" cap="none" strike="noStrike">
                <a:solidFill>
                  <a:srgbClr val="FFFFFF"/>
                </a:solidFill>
                <a:latin typeface="Inter"/>
                <a:ea typeface="Inter"/>
                <a:cs typeface="Inter"/>
                <a:sym typeface="Inter"/>
              </a:rPr>
              <a:t>Patient owns their data. Always. Period.</a:t>
            </a:r>
            <a:endParaRPr b="0" i="0" sz="1400" u="none" cap="none" strike="noStrike">
              <a:solidFill>
                <a:srgbClr val="000000"/>
              </a:solidFill>
              <a:latin typeface="Arial"/>
              <a:ea typeface="Arial"/>
              <a:cs typeface="Arial"/>
              <a:sym typeface="Arial"/>
            </a:endParaRPr>
          </a:p>
        </p:txBody>
      </p:sp>
      <p:sp>
        <p:nvSpPr>
          <p:cNvPr id="1074" name="Google Shape;1074;p34"/>
          <p:cNvSpPr/>
          <p:nvPr/>
        </p:nvSpPr>
        <p:spPr>
          <a:xfrm>
            <a:off x="502920" y="6355080"/>
            <a:ext cx="11155680" cy="411480"/>
          </a:xfrm>
          <a:prstGeom prst="roundRect">
            <a:avLst>
              <a:gd fmla="val 16667" name="adj"/>
            </a:avLst>
          </a:prstGeom>
          <a:solidFill>
            <a:srgbClr val="0F2440"/>
          </a:solidFill>
          <a:ln cap="flat" cmpd="sng" w="9525">
            <a:solidFill>
              <a:srgbClr val="22D3EE"/>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75" name="Google Shape;1075;p34"/>
          <p:cNvSpPr txBox="1"/>
          <p:nvPr/>
        </p:nvSpPr>
        <p:spPr>
          <a:xfrm>
            <a:off x="685800" y="6382512"/>
            <a:ext cx="10789920" cy="36576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450" u="none" cap="none" strike="noStrike">
                <a:solidFill>
                  <a:srgbClr val="FFFFFF"/>
                </a:solidFill>
                <a:latin typeface="Inter"/>
                <a:ea typeface="Inter"/>
                <a:cs typeface="Inter"/>
                <a:sym typeface="Inter"/>
              </a:rPr>
              <a:t>RESPONSIBILITY  ·  Building for vulnerable users means holding ourselves to medical-grade ethical standards — even as a student project.</a:t>
            </a:r>
            <a:endParaRPr b="0" i="0" sz="1400" u="none" cap="none" strike="noStrike">
              <a:solidFill>
                <a:srgbClr val="000000"/>
              </a:solidFill>
              <a:latin typeface="Arial"/>
              <a:ea typeface="Arial"/>
              <a:cs typeface="Arial"/>
              <a:sym typeface="Arial"/>
            </a:endParaRPr>
          </a:p>
        </p:txBody>
      </p:sp>
    </p:spTree>
  </p:cSld>
  <p:clrMapOvr>
    <a:masterClrMapping/>
  </p:clrMapOvr>
  <p:transition spd="med">
    <p:fade/>
  </p:transition>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9" name="Shape 1079"/>
        <p:cNvGrpSpPr/>
        <p:nvPr/>
      </p:nvGrpSpPr>
      <p:grpSpPr>
        <a:xfrm>
          <a:off x="0" y="0"/>
          <a:ext cx="0" cy="0"/>
          <a:chOff x="0" y="0"/>
          <a:chExt cx="0" cy="0"/>
        </a:xfrm>
      </p:grpSpPr>
      <p:sp>
        <p:nvSpPr>
          <p:cNvPr id="1080" name="Google Shape;1080;p60"/>
          <p:cNvSpPr/>
          <p:nvPr/>
        </p:nvSpPr>
        <p:spPr>
          <a:xfrm>
            <a:off x="0" y="0"/>
            <a:ext cx="12191695" cy="6858000"/>
          </a:xfrm>
          <a:prstGeom prst="rect">
            <a:avLst/>
          </a:prstGeom>
          <a:solidFill>
            <a:srgbClr val="070B1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81" name="Google Shape;1081;p60"/>
          <p:cNvSpPr txBox="1"/>
          <p:nvPr/>
        </p:nvSpPr>
        <p:spPr>
          <a:xfrm>
            <a:off x="502920" y="274320"/>
            <a:ext cx="4572000"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00E5FF"/>
                </a:solidFill>
                <a:latin typeface="Inter"/>
                <a:ea typeface="Inter"/>
                <a:cs typeface="Inter"/>
                <a:sym typeface="Inter"/>
              </a:rPr>
              <a:t>●  IRIS   ·   SECTION 04 OF 06</a:t>
            </a:r>
            <a:endParaRPr/>
          </a:p>
        </p:txBody>
      </p:sp>
      <p:sp>
        <p:nvSpPr>
          <p:cNvPr id="1082" name="Google Shape;1082;p60"/>
          <p:cNvSpPr/>
          <p:nvPr/>
        </p:nvSpPr>
        <p:spPr>
          <a:xfrm>
            <a:off x="502920" y="658368"/>
            <a:ext cx="11183112" cy="18288"/>
          </a:xfrm>
          <a:prstGeom prst="rect">
            <a:avLst/>
          </a:prstGeom>
          <a:solidFill>
            <a:srgbClr val="1E305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83" name="Google Shape;1083;p60"/>
          <p:cNvSpPr txBox="1"/>
          <p:nvPr/>
        </p:nvSpPr>
        <p:spPr>
          <a:xfrm>
            <a:off x="633545" y="2026056"/>
            <a:ext cx="11183100" cy="2247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7000" u="none" cap="none" strike="noStrike">
                <a:solidFill>
                  <a:srgbClr val="F5F8FF"/>
                </a:solidFill>
                <a:latin typeface="Inter"/>
                <a:ea typeface="Inter"/>
                <a:cs typeface="Inter"/>
                <a:sym typeface="Inter"/>
              </a:rPr>
              <a:t>COMPARATIVE ANALYSIS: TOBII VS. IRIS</a:t>
            </a:r>
            <a:endParaRPr sz="7000"/>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7" name="Shape 1087"/>
        <p:cNvGrpSpPr/>
        <p:nvPr/>
      </p:nvGrpSpPr>
      <p:grpSpPr>
        <a:xfrm>
          <a:off x="0" y="0"/>
          <a:ext cx="0" cy="0"/>
          <a:chOff x="0" y="0"/>
          <a:chExt cx="0" cy="0"/>
        </a:xfrm>
      </p:grpSpPr>
      <p:sp>
        <p:nvSpPr>
          <p:cNvPr id="1088" name="Google Shape;1088;p25"/>
          <p:cNvSpPr txBox="1"/>
          <p:nvPr/>
        </p:nvSpPr>
        <p:spPr>
          <a:xfrm>
            <a:off x="502920" y="274320"/>
            <a:ext cx="36576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1150" u="none" cap="none" strike="noStrike">
                <a:solidFill>
                  <a:srgbClr val="CDD5E2"/>
                </a:solidFill>
                <a:latin typeface="Inter"/>
                <a:ea typeface="Inter"/>
                <a:cs typeface="Inter"/>
                <a:sym typeface="Inter"/>
              </a:rPr>
              <a:t>● IRIS</a:t>
            </a:r>
            <a:endParaRPr b="0" i="0" sz="1400" u="none" cap="none" strike="noStrike">
              <a:solidFill>
                <a:srgbClr val="000000"/>
              </a:solidFill>
              <a:latin typeface="Arial"/>
              <a:ea typeface="Arial"/>
              <a:cs typeface="Arial"/>
              <a:sym typeface="Arial"/>
            </a:endParaRPr>
          </a:p>
        </p:txBody>
      </p:sp>
      <p:sp>
        <p:nvSpPr>
          <p:cNvPr id="1089" name="Google Shape;1089;p25"/>
          <p:cNvSpPr txBox="1"/>
          <p:nvPr/>
        </p:nvSpPr>
        <p:spPr>
          <a:xfrm>
            <a:off x="502920" y="274320"/>
            <a:ext cx="18288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0" name="Google Shape;1090;p25"/>
          <p:cNvSpPr txBox="1"/>
          <p:nvPr/>
        </p:nvSpPr>
        <p:spPr>
          <a:xfrm>
            <a:off x="502920" y="827115"/>
            <a:ext cx="10515600"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400" u="none" cap="none" strike="noStrike">
                <a:solidFill>
                  <a:srgbClr val="22D3EE"/>
                </a:solidFill>
                <a:latin typeface="Inter"/>
                <a:ea typeface="Inter"/>
                <a:cs typeface="Inter"/>
                <a:sym typeface="Inter"/>
              </a:rPr>
              <a:t>HEAD-TO-HEAD</a:t>
            </a:r>
            <a:endParaRPr b="0" i="0" sz="1400" u="none" cap="none" strike="noStrike">
              <a:solidFill>
                <a:srgbClr val="000000"/>
              </a:solidFill>
              <a:latin typeface="Arial"/>
              <a:ea typeface="Arial"/>
              <a:cs typeface="Arial"/>
              <a:sym typeface="Arial"/>
            </a:endParaRPr>
          </a:p>
        </p:txBody>
      </p:sp>
      <p:sp>
        <p:nvSpPr>
          <p:cNvPr id="1091" name="Google Shape;1091;p25"/>
          <p:cNvSpPr txBox="1"/>
          <p:nvPr/>
        </p:nvSpPr>
        <p:spPr>
          <a:xfrm>
            <a:off x="502920" y="1169320"/>
            <a:ext cx="10972800"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1" i="0" lang="en-US" sz="4800" u="none" cap="none" strike="noStrike">
                <a:solidFill>
                  <a:srgbClr val="FFFFFF"/>
                </a:solidFill>
                <a:latin typeface="Inter"/>
                <a:ea typeface="Inter"/>
                <a:cs typeface="Inter"/>
                <a:sym typeface="Inter"/>
              </a:rPr>
              <a:t>Tobii vs IRIS.</a:t>
            </a:r>
            <a:endParaRPr b="0" i="0" sz="1400" u="none" cap="none" strike="noStrike">
              <a:solidFill>
                <a:srgbClr val="000000"/>
              </a:solidFill>
              <a:latin typeface="Arial"/>
              <a:ea typeface="Arial"/>
              <a:cs typeface="Arial"/>
              <a:sym typeface="Arial"/>
            </a:endParaRPr>
          </a:p>
        </p:txBody>
      </p:sp>
      <p:sp>
        <p:nvSpPr>
          <p:cNvPr id="1092" name="Google Shape;1092;p25"/>
          <p:cNvSpPr txBox="1"/>
          <p:nvPr/>
        </p:nvSpPr>
        <p:spPr>
          <a:xfrm>
            <a:off x="502920" y="1945171"/>
            <a:ext cx="1051560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1" lang="en-US" sz="2000" u="none" cap="none" strike="noStrike">
                <a:solidFill>
                  <a:srgbClr val="CDD5E2"/>
                </a:solidFill>
                <a:latin typeface="Inter"/>
                <a:ea typeface="Inter"/>
                <a:cs typeface="Inter"/>
                <a:sym typeface="Inter"/>
              </a:rPr>
              <a:t>Same core function. Radically different approach.</a:t>
            </a:r>
            <a:endParaRPr b="0" i="0" sz="1400" u="none" cap="none" strike="noStrike">
              <a:solidFill>
                <a:srgbClr val="000000"/>
              </a:solidFill>
              <a:latin typeface="Arial"/>
              <a:ea typeface="Arial"/>
              <a:cs typeface="Arial"/>
              <a:sym typeface="Arial"/>
            </a:endParaRPr>
          </a:p>
        </p:txBody>
      </p:sp>
      <p:graphicFrame>
        <p:nvGraphicFramePr>
          <p:cNvPr id="1093" name="Google Shape;1093;p25"/>
          <p:cNvGraphicFramePr/>
          <p:nvPr/>
        </p:nvGraphicFramePr>
        <p:xfrm>
          <a:off x="548640" y="2586367"/>
          <a:ext cx="3000000" cy="3000000"/>
        </p:xfrm>
        <a:graphic>
          <a:graphicData uri="http://schemas.openxmlformats.org/drawingml/2006/table">
            <a:tbl>
              <a:tblPr bandRow="1" firstRow="1">
                <a:noFill/>
                <a:tableStyleId>{FF6A089E-0E2F-413F-AAF4-4182F4D1E65C}</a:tableStyleId>
              </a:tblPr>
              <a:tblGrid>
                <a:gridCol w="2743200"/>
                <a:gridCol w="4206250"/>
                <a:gridCol w="4206250"/>
              </a:tblGrid>
              <a:tr h="580875">
                <a:tc>
                  <a:txBody>
                    <a:bodyPr/>
                    <a:lstStyle/>
                    <a:p>
                      <a:pPr indent="0" lvl="0" marL="0" marR="0" rtl="0" algn="l">
                        <a:lnSpc>
                          <a:spcPct val="100000"/>
                        </a:lnSpc>
                        <a:spcBef>
                          <a:spcPts val="0"/>
                        </a:spcBef>
                        <a:spcAft>
                          <a:spcPts val="0"/>
                        </a:spcAft>
                        <a:buClr>
                          <a:srgbClr val="000000"/>
                        </a:buClr>
                        <a:buSzPts val="1350"/>
                        <a:buFont typeface="Arial"/>
                        <a:buNone/>
                      </a:pPr>
                      <a:r>
                        <a:rPr lang="en-US" sz="2200" u="none" cap="none" strike="noStrike"/>
                        <a:t>Feature</a:t>
                      </a:r>
                      <a:endParaRPr sz="22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350"/>
                        <a:buFont typeface="Arial"/>
                        <a:buNone/>
                      </a:pPr>
                      <a:r>
                        <a:rPr lang="en-US" sz="1800" u="none" cap="none" strike="noStrike"/>
                        <a:t>Tobii Dynavox I-Series</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350"/>
                        <a:buFont typeface="Arial"/>
                        <a:buNone/>
                      </a:pPr>
                      <a:r>
                        <a:rPr lang="en-US" sz="1800" u="none" cap="none" strike="noStrike"/>
                        <a:t>IRIS</a:t>
                      </a:r>
                      <a:endParaRPr sz="1800" u="none" cap="none" strike="noStrike"/>
                    </a:p>
                  </a:txBody>
                  <a:tcPr marT="45725" marB="45725" marR="91450" marL="91450"/>
                </a:tc>
              </a:tr>
              <a:tr h="427225">
                <a:tc>
                  <a:txBody>
                    <a:bodyPr/>
                    <a:lstStyle/>
                    <a:p>
                      <a:pPr indent="0" lvl="0" marL="0" marR="0" rtl="0" algn="l">
                        <a:lnSpc>
                          <a:spcPct val="100000"/>
                        </a:lnSpc>
                        <a:spcBef>
                          <a:spcPts val="0"/>
                        </a:spcBef>
                        <a:spcAft>
                          <a:spcPts val="0"/>
                        </a:spcAft>
                        <a:buClr>
                          <a:srgbClr val="000000"/>
                        </a:buClr>
                        <a:buSzPts val="1300"/>
                        <a:buFont typeface="Arial"/>
                        <a:buNone/>
                      </a:pPr>
                      <a:r>
                        <a:rPr lang="en-US" sz="1800" u="none" cap="none" strike="noStrike"/>
                        <a:t>Price</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300"/>
                        <a:buFont typeface="Arial"/>
                        <a:buNone/>
                      </a:pPr>
                      <a:r>
                        <a:rPr lang="en-US" sz="1800" u="none" cap="none" strike="noStrike"/>
                        <a:t>₹25,00,000+</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300"/>
                        <a:buFont typeface="Arial"/>
                        <a:buNone/>
                      </a:pPr>
                      <a:r>
                        <a:rPr lang="en-US" sz="1800" u="none" cap="none" strike="noStrike"/>
                        <a:t>₹885</a:t>
                      </a:r>
                      <a:endParaRPr sz="1800" u="none" cap="none" strike="noStrike"/>
                    </a:p>
                  </a:txBody>
                  <a:tcPr marT="45725" marB="45725" marR="91450" marL="91450"/>
                </a:tc>
              </a:tr>
              <a:tr h="427225">
                <a:tc>
                  <a:txBody>
                    <a:bodyPr/>
                    <a:lstStyle/>
                    <a:p>
                      <a:pPr indent="0" lvl="0" marL="0" marR="0" rtl="0" algn="l">
                        <a:lnSpc>
                          <a:spcPct val="100000"/>
                        </a:lnSpc>
                        <a:spcBef>
                          <a:spcPts val="0"/>
                        </a:spcBef>
                        <a:spcAft>
                          <a:spcPts val="0"/>
                        </a:spcAft>
                        <a:buClr>
                          <a:srgbClr val="000000"/>
                        </a:buClr>
                        <a:buSzPts val="1300"/>
                        <a:buFont typeface="Arial"/>
                        <a:buNone/>
                      </a:pPr>
                      <a:r>
                        <a:rPr lang="en-US" sz="1800" u="none" cap="none" strike="noStrike"/>
                        <a:t>Technology</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300"/>
                        <a:buFont typeface="Arial"/>
                        <a:buNone/>
                      </a:pPr>
                      <a:r>
                        <a:rPr lang="en-US" sz="1800" u="none" cap="none" strike="noStrike"/>
                        <a:t>Camera-based eye tracking</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300"/>
                        <a:buFont typeface="Arial"/>
                        <a:buNone/>
                      </a:pPr>
                      <a:r>
                        <a:rPr lang="en-US" sz="1800" u="none" cap="none" strike="noStrike"/>
                        <a:t>IR reflectance + IMU</a:t>
                      </a:r>
                      <a:endParaRPr sz="1800" u="none" cap="none" strike="noStrike"/>
                    </a:p>
                  </a:txBody>
                  <a:tcPr marT="45725" marB="45725" marR="91450" marL="91450"/>
                </a:tc>
              </a:tr>
              <a:tr h="427225">
                <a:tc>
                  <a:txBody>
                    <a:bodyPr/>
                    <a:lstStyle/>
                    <a:p>
                      <a:pPr indent="0" lvl="0" marL="0" marR="0" rtl="0" algn="l">
                        <a:lnSpc>
                          <a:spcPct val="100000"/>
                        </a:lnSpc>
                        <a:spcBef>
                          <a:spcPts val="0"/>
                        </a:spcBef>
                        <a:spcAft>
                          <a:spcPts val="0"/>
                        </a:spcAft>
                        <a:buClr>
                          <a:srgbClr val="000000"/>
                        </a:buClr>
                        <a:buSzPts val="1300"/>
                        <a:buFont typeface="Arial"/>
                        <a:buNone/>
                      </a:pPr>
                      <a:r>
                        <a:rPr lang="en-US" sz="1800" u="none" cap="none" strike="noStrike"/>
                        <a:t>Lighting</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300"/>
                        <a:buFont typeface="Arial"/>
                        <a:buNone/>
                      </a:pPr>
                      <a:r>
                        <a:rPr lang="en-US" sz="1800" u="none" cap="none" strike="noStrike"/>
                        <a:t>Requires controlled lighting</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300"/>
                        <a:buFont typeface="Arial"/>
                        <a:buNone/>
                      </a:pPr>
                      <a:r>
                        <a:rPr lang="en-US" sz="1800" u="none" cap="none" strike="noStrike"/>
                        <a:t>Works in any lighting</a:t>
                      </a:r>
                      <a:endParaRPr sz="1800" u="none" cap="none" strike="noStrike"/>
                    </a:p>
                  </a:txBody>
                  <a:tcPr marT="45725" marB="45725" marR="91450" marL="91450"/>
                </a:tc>
              </a:tr>
              <a:tr h="427225">
                <a:tc>
                  <a:txBody>
                    <a:bodyPr/>
                    <a:lstStyle/>
                    <a:p>
                      <a:pPr indent="0" lvl="0" marL="0" marR="0" rtl="0" algn="l">
                        <a:lnSpc>
                          <a:spcPct val="100000"/>
                        </a:lnSpc>
                        <a:spcBef>
                          <a:spcPts val="0"/>
                        </a:spcBef>
                        <a:spcAft>
                          <a:spcPts val="0"/>
                        </a:spcAft>
                        <a:buClr>
                          <a:srgbClr val="000000"/>
                        </a:buClr>
                        <a:buSzPts val="1300"/>
                        <a:buFont typeface="Arial"/>
                        <a:buNone/>
                      </a:pPr>
                      <a:r>
                        <a:rPr lang="en-US" sz="1800" u="none" cap="none" strike="noStrike"/>
                        <a:t>Setup</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300"/>
                        <a:buFont typeface="Arial"/>
                        <a:buNone/>
                      </a:pPr>
                      <a:r>
                        <a:rPr lang="en-US" sz="1800" u="none" cap="none" strike="noStrike"/>
                        <a:t>30+ min, specialist needed</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300"/>
                        <a:buFont typeface="Arial"/>
                        <a:buNone/>
                      </a:pPr>
                      <a:r>
                        <a:rPr lang="en-US" sz="1800" u="none" cap="none" strike="noStrike"/>
                        <a:t>2–3 sec, self-calibrating</a:t>
                      </a:r>
                      <a:endParaRPr sz="1800" u="none" cap="none" strike="noStrike"/>
                    </a:p>
                  </a:txBody>
                  <a:tcPr marT="45725" marB="45725" marR="91450" marL="91450"/>
                </a:tc>
              </a:tr>
              <a:tr h="427225">
                <a:tc>
                  <a:txBody>
                    <a:bodyPr/>
                    <a:lstStyle/>
                    <a:p>
                      <a:pPr indent="0" lvl="0" marL="0" marR="0" rtl="0" algn="l">
                        <a:lnSpc>
                          <a:spcPct val="100000"/>
                        </a:lnSpc>
                        <a:spcBef>
                          <a:spcPts val="0"/>
                        </a:spcBef>
                        <a:spcAft>
                          <a:spcPts val="0"/>
                        </a:spcAft>
                        <a:buClr>
                          <a:srgbClr val="000000"/>
                        </a:buClr>
                        <a:buSzPts val="1300"/>
                        <a:buFont typeface="Arial"/>
                        <a:buNone/>
                      </a:pPr>
                      <a:r>
                        <a:rPr lang="en-US" sz="1800" u="none" cap="none" strike="noStrike"/>
                        <a:t>Portability</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300"/>
                        <a:buFont typeface="Arial"/>
                        <a:buNone/>
                      </a:pPr>
                      <a:r>
                        <a:rPr lang="en-US" sz="1800" u="none" cap="none" strike="noStrike"/>
                        <a:t>Dedicated tablet device</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300"/>
                        <a:buFont typeface="Arial"/>
                        <a:buNone/>
                      </a:pPr>
                      <a:r>
                        <a:rPr lang="en-US" sz="1800" u="none" cap="none" strike="noStrike"/>
                        <a:t>Works with any laptop/phone</a:t>
                      </a:r>
                      <a:endParaRPr sz="1800" u="none" cap="none" strike="noStrike"/>
                    </a:p>
                  </a:txBody>
                  <a:tcPr marT="45725" marB="45725" marR="91450" marL="91450"/>
                </a:tc>
              </a:tr>
              <a:tr h="427250">
                <a:tc>
                  <a:txBody>
                    <a:bodyPr/>
                    <a:lstStyle/>
                    <a:p>
                      <a:pPr indent="0" lvl="0" marL="0" marR="0" rtl="0" algn="l">
                        <a:lnSpc>
                          <a:spcPct val="100000"/>
                        </a:lnSpc>
                        <a:spcBef>
                          <a:spcPts val="0"/>
                        </a:spcBef>
                        <a:spcAft>
                          <a:spcPts val="0"/>
                        </a:spcAft>
                        <a:buClr>
                          <a:srgbClr val="000000"/>
                        </a:buClr>
                        <a:buSzPts val="1300"/>
                        <a:buFont typeface="Arial"/>
                        <a:buNone/>
                      </a:pPr>
                      <a:r>
                        <a:rPr lang="en-US" sz="1800" u="none" cap="none" strike="noStrike"/>
                        <a:t>Open Source</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300"/>
                        <a:buFont typeface="Arial"/>
                        <a:buNone/>
                      </a:pPr>
                      <a:r>
                        <a:rPr lang="en-US" sz="1800" u="none" cap="none" strike="noStrike"/>
                        <a:t>Closed proprietary</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300"/>
                        <a:buFont typeface="Arial"/>
                        <a:buNone/>
                      </a:pPr>
                      <a:r>
                        <a:rPr lang="en-US" sz="1800" u="none" cap="none" strike="noStrike"/>
                        <a:t>Will be Fully open-source</a:t>
                      </a:r>
                      <a:endParaRPr sz="1800" u="none" cap="none" strike="noStrike"/>
                    </a:p>
                  </a:txBody>
                  <a:tcPr marT="45725" marB="45725" marR="91450" marL="91450"/>
                </a:tc>
              </a:tr>
            </a:tbl>
          </a:graphicData>
        </a:graphic>
      </p:graphicFrame>
      <p:sp>
        <p:nvSpPr>
          <p:cNvPr id="1094" name="Google Shape;1094;p25"/>
          <p:cNvSpPr/>
          <p:nvPr/>
        </p:nvSpPr>
        <p:spPr>
          <a:xfrm>
            <a:off x="502920" y="5943600"/>
            <a:ext cx="11155680" cy="594360"/>
          </a:xfrm>
          <a:prstGeom prst="roundRect">
            <a:avLst>
              <a:gd fmla="val 16667" name="adj"/>
            </a:avLst>
          </a:prstGeom>
          <a:solidFill>
            <a:srgbClr val="0F2440"/>
          </a:solidFill>
          <a:ln cap="flat" cmpd="sng" w="9525">
            <a:solidFill>
              <a:srgbClr val="22D3EE"/>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95" name="Google Shape;1095;p25"/>
          <p:cNvSpPr txBox="1"/>
          <p:nvPr/>
        </p:nvSpPr>
        <p:spPr>
          <a:xfrm>
            <a:off x="685800" y="6044738"/>
            <a:ext cx="10789920"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Inter"/>
                <a:ea typeface="Inter"/>
                <a:cs typeface="Inter"/>
                <a:sym typeface="Inter"/>
              </a:rPr>
              <a:t>99.96% cheaper. Works anywhere. Open for anyone to build.</a:t>
            </a:r>
            <a:endParaRPr b="0" i="0" sz="1400" u="none" cap="none" strike="noStrike">
              <a:solidFill>
                <a:srgbClr val="000000"/>
              </a:solidFill>
              <a:latin typeface="Arial"/>
              <a:ea typeface="Arial"/>
              <a:cs typeface="Arial"/>
              <a:sym typeface="Arial"/>
            </a:endParaRPr>
          </a:p>
        </p:txBody>
      </p:sp>
      <p:sp>
        <p:nvSpPr>
          <p:cNvPr id="1096" name="Google Shape;1096;p25"/>
          <p:cNvSpPr txBox="1"/>
          <p:nvPr/>
        </p:nvSpPr>
        <p:spPr>
          <a:xfrm>
            <a:off x="502920" y="6529650"/>
            <a:ext cx="11155680" cy="25391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1" lang="en-US" sz="1300" u="none" cap="none" strike="noStrike">
                <a:solidFill>
                  <a:srgbClr val="94A3B8"/>
                </a:solidFill>
                <a:latin typeface="Inter"/>
                <a:ea typeface="Inter"/>
                <a:cs typeface="Inter"/>
                <a:sym typeface="Inter"/>
              </a:rPr>
              <a:t>Source: Tobii Dynavox I-Series retail pricing India, 2024 (incl. import duties); tobii-dynavox.com</a:t>
            </a:r>
            <a:endParaRPr b="0" i="0" sz="1400" u="none" cap="none" strike="noStrike">
              <a:solidFill>
                <a:srgbClr val="000000"/>
              </a:solidFill>
              <a:latin typeface="Arial"/>
              <a:ea typeface="Arial"/>
              <a:cs typeface="Arial"/>
              <a:sym typeface="Arial"/>
            </a:endParaRPr>
          </a:p>
        </p:txBody>
      </p:sp>
    </p:spTree>
  </p:cSld>
  <p:clrMapOvr>
    <a:masterClrMapping/>
  </p:clrMapOvr>
  <p:transition spd="med">
    <p:fade/>
  </p:transition>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A2E"/>
        </a:solidFill>
      </p:bgPr>
    </p:bg>
    <p:spTree>
      <p:nvGrpSpPr>
        <p:cNvPr id="1100" name="Shape 1100"/>
        <p:cNvGrpSpPr/>
        <p:nvPr/>
      </p:nvGrpSpPr>
      <p:grpSpPr>
        <a:xfrm>
          <a:off x="0" y="0"/>
          <a:ext cx="0" cy="0"/>
          <a:chOff x="0" y="0"/>
          <a:chExt cx="0" cy="0"/>
        </a:xfrm>
      </p:grpSpPr>
      <p:sp>
        <p:nvSpPr>
          <p:cNvPr id="1101" name="Google Shape;1101;p41"/>
          <p:cNvSpPr txBox="1"/>
          <p:nvPr/>
        </p:nvSpPr>
        <p:spPr>
          <a:xfrm>
            <a:off x="502920" y="274320"/>
            <a:ext cx="18288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5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102" name="Google Shape;1102;p41"/>
          <p:cNvSpPr txBox="1"/>
          <p:nvPr/>
        </p:nvSpPr>
        <p:spPr>
          <a:xfrm>
            <a:off x="685800" y="274320"/>
            <a:ext cx="36576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1150" u="none" cap="none" strike="noStrike">
                <a:solidFill>
                  <a:srgbClr val="CDD5E2"/>
                </a:solidFill>
                <a:latin typeface="Inter"/>
                <a:ea typeface="Inter"/>
                <a:cs typeface="Inter"/>
                <a:sym typeface="Inter"/>
              </a:rPr>
              <a:t>IRIS</a:t>
            </a:r>
            <a:endParaRPr b="0" i="0" sz="1400" u="none" cap="none" strike="noStrike">
              <a:solidFill>
                <a:srgbClr val="000000"/>
              </a:solidFill>
              <a:latin typeface="Arial"/>
              <a:ea typeface="Arial"/>
              <a:cs typeface="Arial"/>
              <a:sym typeface="Arial"/>
            </a:endParaRPr>
          </a:p>
        </p:txBody>
      </p:sp>
      <p:sp>
        <p:nvSpPr>
          <p:cNvPr id="1103" name="Google Shape;1103;p41"/>
          <p:cNvSpPr txBox="1"/>
          <p:nvPr/>
        </p:nvSpPr>
        <p:spPr>
          <a:xfrm>
            <a:off x="502920" y="777240"/>
            <a:ext cx="10515600"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400" u="none" cap="none" strike="noStrike">
                <a:solidFill>
                  <a:srgbClr val="22D3EE"/>
                </a:solidFill>
                <a:latin typeface="Inter"/>
                <a:ea typeface="Inter"/>
                <a:cs typeface="Inter"/>
                <a:sym typeface="Inter"/>
              </a:rPr>
              <a:t>WHERE TOBII WINS</a:t>
            </a:r>
            <a:endParaRPr b="0" i="0" sz="1400" u="none" cap="none" strike="noStrike">
              <a:solidFill>
                <a:srgbClr val="000000"/>
              </a:solidFill>
              <a:latin typeface="Arial"/>
              <a:ea typeface="Arial"/>
              <a:cs typeface="Arial"/>
              <a:sym typeface="Arial"/>
            </a:endParaRPr>
          </a:p>
        </p:txBody>
      </p:sp>
      <p:sp>
        <p:nvSpPr>
          <p:cNvPr id="1104" name="Google Shape;1104;p41"/>
          <p:cNvSpPr txBox="1"/>
          <p:nvPr/>
        </p:nvSpPr>
        <p:spPr>
          <a:xfrm>
            <a:off x="502920" y="1188720"/>
            <a:ext cx="10972800" cy="914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FFFFFF"/>
                </a:solidFill>
                <a:latin typeface="Inter"/>
                <a:ea typeface="Inter"/>
                <a:cs typeface="Inter"/>
                <a:sym typeface="Inter"/>
              </a:rPr>
              <a:t>Where Tobii still wins.</a:t>
            </a:r>
            <a:endParaRPr b="0" i="0" sz="1400" u="none" cap="none" strike="noStrike">
              <a:solidFill>
                <a:srgbClr val="000000"/>
              </a:solidFill>
              <a:latin typeface="Arial"/>
              <a:ea typeface="Arial"/>
              <a:cs typeface="Arial"/>
              <a:sym typeface="Arial"/>
            </a:endParaRPr>
          </a:p>
        </p:txBody>
      </p:sp>
      <p:sp>
        <p:nvSpPr>
          <p:cNvPr id="1105" name="Google Shape;1105;p41"/>
          <p:cNvSpPr txBox="1"/>
          <p:nvPr/>
        </p:nvSpPr>
        <p:spPr>
          <a:xfrm>
            <a:off x="502920" y="2103120"/>
            <a:ext cx="105156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1" lang="en-US" sz="1750" u="none" cap="none" strike="noStrike">
                <a:solidFill>
                  <a:srgbClr val="CDD5E2"/>
                </a:solidFill>
                <a:latin typeface="Inter"/>
                <a:ea typeface="Inter"/>
                <a:cs typeface="Inter"/>
                <a:sym typeface="Inter"/>
              </a:rPr>
              <a:t>Being honest matters. Here's where commercial eye-trackers still have an edge over IRIS.</a:t>
            </a:r>
            <a:endParaRPr b="0" i="0" sz="1400" u="none" cap="none" strike="noStrike">
              <a:solidFill>
                <a:srgbClr val="000000"/>
              </a:solidFill>
              <a:latin typeface="Arial"/>
              <a:ea typeface="Arial"/>
              <a:cs typeface="Arial"/>
              <a:sym typeface="Arial"/>
            </a:endParaRPr>
          </a:p>
        </p:txBody>
      </p:sp>
      <p:sp>
        <p:nvSpPr>
          <p:cNvPr id="1106" name="Google Shape;1106;p41"/>
          <p:cNvSpPr txBox="1"/>
          <p:nvPr/>
        </p:nvSpPr>
        <p:spPr>
          <a:xfrm>
            <a:off x="502920" y="2736669"/>
            <a:ext cx="274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800" u="none" cap="none" strike="noStrike">
                <a:solidFill>
                  <a:srgbClr val="FFB020"/>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107" name="Google Shape;1107;p41"/>
          <p:cNvSpPr txBox="1"/>
          <p:nvPr/>
        </p:nvSpPr>
        <p:spPr>
          <a:xfrm>
            <a:off x="822960" y="2736669"/>
            <a:ext cx="10515600" cy="361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750" u="none" cap="none" strike="noStrike">
                <a:solidFill>
                  <a:srgbClr val="FFB020"/>
                </a:solidFill>
                <a:latin typeface="Inter"/>
                <a:ea typeface="Inter"/>
                <a:cs typeface="Inter"/>
                <a:sym typeface="Inter"/>
              </a:rPr>
              <a:t>Medical-grade certifications</a:t>
            </a:r>
            <a:endParaRPr b="0" i="0" sz="1400" u="none" cap="none" strike="noStrike">
              <a:solidFill>
                <a:srgbClr val="000000"/>
              </a:solidFill>
              <a:latin typeface="Arial"/>
              <a:ea typeface="Arial"/>
              <a:cs typeface="Arial"/>
              <a:sym typeface="Arial"/>
            </a:endParaRPr>
          </a:p>
        </p:txBody>
      </p:sp>
      <p:sp>
        <p:nvSpPr>
          <p:cNvPr id="1108" name="Google Shape;1108;p41"/>
          <p:cNvSpPr txBox="1"/>
          <p:nvPr/>
        </p:nvSpPr>
        <p:spPr>
          <a:xfrm>
            <a:off x="822960" y="3029277"/>
            <a:ext cx="105156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500" u="none" cap="none" strike="noStrike">
                <a:solidFill>
                  <a:srgbClr val="CDD5E2"/>
                </a:solidFill>
                <a:latin typeface="Inter"/>
                <a:ea typeface="Inter"/>
                <a:cs typeface="Inter"/>
                <a:sym typeface="Inter"/>
              </a:rPr>
              <a:t>• FDA-cleared and CE-marked for hospital billing; IRIS is currently a prototype preparing for NGO &amp; clinical trials.</a:t>
            </a:r>
            <a:endParaRPr b="0" i="0" sz="1400" u="none" cap="none" strike="noStrike">
              <a:solidFill>
                <a:srgbClr val="000000"/>
              </a:solidFill>
              <a:latin typeface="Arial"/>
              <a:ea typeface="Arial"/>
              <a:cs typeface="Arial"/>
              <a:sym typeface="Arial"/>
            </a:endParaRPr>
          </a:p>
        </p:txBody>
      </p:sp>
      <p:sp>
        <p:nvSpPr>
          <p:cNvPr id="1109" name="Google Shape;1109;p41"/>
          <p:cNvSpPr txBox="1"/>
          <p:nvPr/>
        </p:nvSpPr>
        <p:spPr>
          <a:xfrm>
            <a:off x="502920" y="3513909"/>
            <a:ext cx="274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800" u="none" cap="none" strike="noStrike">
                <a:solidFill>
                  <a:srgbClr val="FFB020"/>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110" name="Google Shape;1110;p41"/>
          <p:cNvSpPr txBox="1"/>
          <p:nvPr/>
        </p:nvSpPr>
        <p:spPr>
          <a:xfrm>
            <a:off x="822960" y="3513909"/>
            <a:ext cx="10515600" cy="361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750" u="none" cap="none" strike="noStrike">
                <a:solidFill>
                  <a:srgbClr val="FFB020"/>
                </a:solidFill>
                <a:latin typeface="Inter"/>
                <a:ea typeface="Inter"/>
                <a:cs typeface="Inter"/>
                <a:sym typeface="Inter"/>
              </a:rPr>
              <a:t>Decades of validation</a:t>
            </a:r>
            <a:endParaRPr b="0" i="0" sz="1400" u="none" cap="none" strike="noStrike">
              <a:solidFill>
                <a:srgbClr val="000000"/>
              </a:solidFill>
              <a:latin typeface="Arial"/>
              <a:ea typeface="Arial"/>
              <a:cs typeface="Arial"/>
              <a:sym typeface="Arial"/>
            </a:endParaRPr>
          </a:p>
        </p:txBody>
      </p:sp>
      <p:sp>
        <p:nvSpPr>
          <p:cNvPr id="1111" name="Google Shape;1111;p41"/>
          <p:cNvSpPr txBox="1"/>
          <p:nvPr/>
        </p:nvSpPr>
        <p:spPr>
          <a:xfrm>
            <a:off x="822960" y="3806517"/>
            <a:ext cx="105156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500" u="none" cap="none" strike="noStrike">
                <a:solidFill>
                  <a:srgbClr val="CDD5E2"/>
                </a:solidFill>
                <a:latin typeface="Inter"/>
                <a:ea typeface="Inter"/>
                <a:cs typeface="Inter"/>
                <a:sym typeface="Inter"/>
              </a:rPr>
              <a:t>• Backed by 20+ years of published clinical studies; IRIS is currently validated on bench &amp; pilot trials.</a:t>
            </a:r>
            <a:endParaRPr b="0" i="0" sz="1400" u="none" cap="none" strike="noStrike">
              <a:solidFill>
                <a:srgbClr val="000000"/>
              </a:solidFill>
              <a:latin typeface="Arial"/>
              <a:ea typeface="Arial"/>
              <a:cs typeface="Arial"/>
              <a:sym typeface="Arial"/>
            </a:endParaRPr>
          </a:p>
        </p:txBody>
      </p:sp>
      <p:sp>
        <p:nvSpPr>
          <p:cNvPr id="1112" name="Google Shape;1112;p41"/>
          <p:cNvSpPr txBox="1"/>
          <p:nvPr/>
        </p:nvSpPr>
        <p:spPr>
          <a:xfrm>
            <a:off x="502920" y="4291149"/>
            <a:ext cx="274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800" u="none" cap="none" strike="noStrike">
                <a:solidFill>
                  <a:srgbClr val="FFB020"/>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113" name="Google Shape;1113;p41"/>
          <p:cNvSpPr txBox="1"/>
          <p:nvPr/>
        </p:nvSpPr>
        <p:spPr>
          <a:xfrm>
            <a:off x="822960" y="4291149"/>
            <a:ext cx="10515600" cy="361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750" u="none" cap="none" strike="noStrike">
                <a:solidFill>
                  <a:srgbClr val="FFB020"/>
                </a:solidFill>
                <a:latin typeface="Inter"/>
                <a:ea typeface="Inter"/>
                <a:cs typeface="Inter"/>
                <a:sym typeface="Inter"/>
              </a:rPr>
              <a:t>Dedicated hardware form factor</a:t>
            </a:r>
            <a:endParaRPr b="0" i="0" sz="1400" u="none" cap="none" strike="noStrike">
              <a:solidFill>
                <a:srgbClr val="000000"/>
              </a:solidFill>
              <a:latin typeface="Arial"/>
              <a:ea typeface="Arial"/>
              <a:cs typeface="Arial"/>
              <a:sym typeface="Arial"/>
            </a:endParaRPr>
          </a:p>
        </p:txBody>
      </p:sp>
      <p:sp>
        <p:nvSpPr>
          <p:cNvPr id="1114" name="Google Shape;1114;p41"/>
          <p:cNvSpPr txBox="1"/>
          <p:nvPr/>
        </p:nvSpPr>
        <p:spPr>
          <a:xfrm>
            <a:off x="822960" y="4583757"/>
            <a:ext cx="105156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500" u="none" cap="none" strike="noStrike">
                <a:solidFill>
                  <a:srgbClr val="CDD5E2"/>
                </a:solidFill>
                <a:latin typeface="Inter"/>
                <a:ea typeface="Inter"/>
                <a:cs typeface="Inter"/>
                <a:sym typeface="Inter"/>
              </a:rPr>
              <a:t>• Ships as an all-in-one ruggedized tablet with mounts; IRIS connects to the user's existing laptop or phone.</a:t>
            </a:r>
            <a:endParaRPr b="0" i="0" sz="1400" u="none" cap="none" strike="noStrike">
              <a:solidFill>
                <a:srgbClr val="000000"/>
              </a:solidFill>
              <a:latin typeface="Arial"/>
              <a:ea typeface="Arial"/>
              <a:cs typeface="Arial"/>
              <a:sym typeface="Arial"/>
            </a:endParaRPr>
          </a:p>
        </p:txBody>
      </p:sp>
      <p:sp>
        <p:nvSpPr>
          <p:cNvPr id="1115" name="Google Shape;1115;p41"/>
          <p:cNvSpPr txBox="1"/>
          <p:nvPr/>
        </p:nvSpPr>
        <p:spPr>
          <a:xfrm>
            <a:off x="502920" y="5068388"/>
            <a:ext cx="274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800" u="none" cap="none" strike="noStrike">
                <a:solidFill>
                  <a:srgbClr val="FFB020"/>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116" name="Google Shape;1116;p41"/>
          <p:cNvSpPr txBox="1"/>
          <p:nvPr/>
        </p:nvSpPr>
        <p:spPr>
          <a:xfrm>
            <a:off x="822960" y="5068388"/>
            <a:ext cx="10515600" cy="361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750" u="none" cap="none" strike="noStrike">
                <a:solidFill>
                  <a:srgbClr val="FFB020"/>
                </a:solidFill>
                <a:latin typeface="Inter"/>
                <a:ea typeface="Inter"/>
                <a:cs typeface="Inter"/>
                <a:sym typeface="Inter"/>
              </a:rPr>
              <a:t>Professional support ecosystem</a:t>
            </a:r>
            <a:endParaRPr b="0" i="0" sz="1400" u="none" cap="none" strike="noStrike">
              <a:solidFill>
                <a:srgbClr val="000000"/>
              </a:solidFill>
              <a:latin typeface="Arial"/>
              <a:ea typeface="Arial"/>
              <a:cs typeface="Arial"/>
              <a:sym typeface="Arial"/>
            </a:endParaRPr>
          </a:p>
        </p:txBody>
      </p:sp>
      <p:sp>
        <p:nvSpPr>
          <p:cNvPr id="1117" name="Google Shape;1117;p41"/>
          <p:cNvSpPr txBox="1"/>
          <p:nvPr/>
        </p:nvSpPr>
        <p:spPr>
          <a:xfrm>
            <a:off x="822960" y="5360996"/>
            <a:ext cx="105156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500" u="none" cap="none" strike="noStrike">
                <a:solidFill>
                  <a:srgbClr val="CDD5E2"/>
                </a:solidFill>
                <a:latin typeface="Inter"/>
                <a:ea typeface="Inter"/>
                <a:cs typeface="Inter"/>
                <a:sym typeface="Inter"/>
              </a:rPr>
              <a:t>• Includes dedicated clinical field-support staff; IRIS will grow through open-source &amp; NGO support networks.</a:t>
            </a:r>
            <a:endParaRPr b="0" i="0" sz="1400" u="none" cap="none" strike="noStrike">
              <a:solidFill>
                <a:srgbClr val="000000"/>
              </a:solidFill>
              <a:latin typeface="Arial"/>
              <a:ea typeface="Arial"/>
              <a:cs typeface="Arial"/>
              <a:sym typeface="Arial"/>
            </a:endParaRPr>
          </a:p>
        </p:txBody>
      </p:sp>
      <p:sp>
        <p:nvSpPr>
          <p:cNvPr id="1118" name="Google Shape;1118;p41"/>
          <p:cNvSpPr txBox="1"/>
          <p:nvPr/>
        </p:nvSpPr>
        <p:spPr>
          <a:xfrm>
            <a:off x="502920" y="5845628"/>
            <a:ext cx="274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800" u="none" cap="none" strike="noStrike">
                <a:solidFill>
                  <a:srgbClr val="FFB020"/>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119" name="Google Shape;1119;p41"/>
          <p:cNvSpPr txBox="1"/>
          <p:nvPr/>
        </p:nvSpPr>
        <p:spPr>
          <a:xfrm>
            <a:off x="822960" y="5845628"/>
            <a:ext cx="10515600" cy="361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750" u="none" cap="none" strike="noStrike">
                <a:solidFill>
                  <a:srgbClr val="FFB020"/>
                </a:solidFill>
                <a:latin typeface="Inter"/>
                <a:ea typeface="Inter"/>
                <a:cs typeface="Inter"/>
                <a:sym typeface="Inter"/>
              </a:rPr>
              <a:t>Hardware-grade eye tracking</a:t>
            </a:r>
            <a:endParaRPr b="0" i="0" sz="1400" u="none" cap="none" strike="noStrike">
              <a:solidFill>
                <a:srgbClr val="000000"/>
              </a:solidFill>
              <a:latin typeface="Arial"/>
              <a:ea typeface="Arial"/>
              <a:cs typeface="Arial"/>
              <a:sym typeface="Arial"/>
            </a:endParaRPr>
          </a:p>
        </p:txBody>
      </p:sp>
      <p:sp>
        <p:nvSpPr>
          <p:cNvPr id="1120" name="Google Shape;1120;p41"/>
          <p:cNvSpPr txBox="1"/>
          <p:nvPr/>
        </p:nvSpPr>
        <p:spPr>
          <a:xfrm>
            <a:off x="822960" y="6138236"/>
            <a:ext cx="10515600" cy="554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500" u="none" cap="none" strike="noStrike">
                <a:solidFill>
                  <a:srgbClr val="CDD5E2"/>
                </a:solidFill>
                <a:latin typeface="Inter"/>
                <a:ea typeface="Inter"/>
                <a:cs typeface="Inter"/>
                <a:sym typeface="Inter"/>
              </a:rPr>
              <a:t>• Uses 120Hz binocular cameras for sub-pixel gaze; IRIS uses multi-beam IR + IMU for drift-free tile &amp; cursor control.</a:t>
            </a:r>
            <a:endParaRPr b="0" i="0" sz="1400" u="none" cap="none" strike="noStrike">
              <a:solidFill>
                <a:srgbClr val="000000"/>
              </a:solidFill>
              <a:latin typeface="Arial"/>
              <a:ea typeface="Arial"/>
              <a:cs typeface="Arial"/>
              <a:sym typeface="Arial"/>
            </a:endParaRPr>
          </a:p>
        </p:txBody>
      </p:sp>
    </p:spTree>
  </p:cSld>
  <p:clrMapOvr>
    <a:masterClrMapping/>
  </p:clrMapOvr>
  <p:transition spd="med">
    <p:fade/>
  </p:transition>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5" name="Shape 1125"/>
        <p:cNvGrpSpPr/>
        <p:nvPr/>
      </p:nvGrpSpPr>
      <p:grpSpPr>
        <a:xfrm>
          <a:off x="0" y="0"/>
          <a:ext cx="0" cy="0"/>
          <a:chOff x="0" y="0"/>
          <a:chExt cx="0" cy="0"/>
        </a:xfrm>
      </p:grpSpPr>
      <p:sp>
        <p:nvSpPr>
          <p:cNvPr id="1126" name="Google Shape;1126;p30"/>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1127" name="Google Shape;1127;p30"/>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28" name="Google Shape;1128;p30"/>
          <p:cNvSpPr/>
          <p:nvPr/>
        </p:nvSpPr>
        <p:spPr>
          <a:xfrm>
            <a:off x="502920" y="868680"/>
            <a:ext cx="1051560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400" u="none" cap="none" strike="noStrike">
                <a:solidFill>
                  <a:srgbClr val="22D3EE"/>
                </a:solidFill>
                <a:latin typeface="Inter"/>
                <a:ea typeface="Inter"/>
                <a:cs typeface="Inter"/>
                <a:sym typeface="Inter"/>
              </a:rPr>
              <a:t>RESULTS</a:t>
            </a:r>
            <a:endParaRPr b="0" i="0" sz="1100" u="none" cap="none" strike="noStrike">
              <a:solidFill>
                <a:schemeClr val="dk1"/>
              </a:solidFill>
              <a:latin typeface="Calibri"/>
              <a:ea typeface="Calibri"/>
              <a:cs typeface="Calibri"/>
              <a:sym typeface="Calibri"/>
            </a:endParaRPr>
          </a:p>
        </p:txBody>
      </p:sp>
      <p:sp>
        <p:nvSpPr>
          <p:cNvPr id="1129" name="Google Shape;1129;p30"/>
          <p:cNvSpPr/>
          <p:nvPr/>
        </p:nvSpPr>
        <p:spPr>
          <a:xfrm>
            <a:off x="502920" y="1280160"/>
            <a:ext cx="109728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3200"/>
              <a:buFont typeface="Arial"/>
              <a:buNone/>
            </a:pPr>
            <a:r>
              <a:rPr b="1" i="0" lang="en-US" sz="3600" u="none" cap="none" strike="noStrike">
                <a:solidFill>
                  <a:srgbClr val="FFFFFF"/>
                </a:solidFill>
                <a:latin typeface="Inter"/>
                <a:ea typeface="Inter"/>
                <a:cs typeface="Inter"/>
                <a:sym typeface="Inter"/>
              </a:rPr>
              <a:t>Positives and Limitations</a:t>
            </a:r>
            <a:endParaRPr b="0" i="0" sz="3200" u="none" cap="none" strike="noStrike">
              <a:solidFill>
                <a:schemeClr val="dk1"/>
              </a:solidFill>
              <a:latin typeface="Calibri"/>
              <a:ea typeface="Calibri"/>
              <a:cs typeface="Calibri"/>
              <a:sym typeface="Calibri"/>
            </a:endParaRPr>
          </a:p>
        </p:txBody>
      </p:sp>
      <p:sp>
        <p:nvSpPr>
          <p:cNvPr id="1130" name="Google Shape;1130;p30"/>
          <p:cNvSpPr/>
          <p:nvPr/>
        </p:nvSpPr>
        <p:spPr>
          <a:xfrm>
            <a:off x="449428" y="2468880"/>
            <a:ext cx="5440680" cy="4023360"/>
          </a:xfrm>
          <a:prstGeom prst="roundRect">
            <a:avLst>
              <a:gd fmla="val 1818"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131" name="Google Shape;1131;p30"/>
          <p:cNvSpPr/>
          <p:nvPr/>
        </p:nvSpPr>
        <p:spPr>
          <a:xfrm>
            <a:off x="723748" y="2743200"/>
            <a:ext cx="27432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600"/>
              <a:buFont typeface="Calibri"/>
              <a:buNone/>
            </a:pPr>
            <a:r>
              <a:rPr b="1" i="0" lang="en-US" sz="1900" u="none" cap="none" strike="noStrike">
                <a:solidFill>
                  <a:srgbClr val="22D3EE"/>
                </a:solidFill>
                <a:latin typeface="Inter"/>
                <a:ea typeface="Inter"/>
                <a:cs typeface="Inter"/>
                <a:sym typeface="Inter"/>
              </a:rPr>
              <a:t>✓  POSITIVES</a:t>
            </a:r>
            <a:endParaRPr b="0" i="0" sz="1600" u="none" cap="none" strike="noStrike">
              <a:solidFill>
                <a:schemeClr val="dk1"/>
              </a:solidFill>
              <a:latin typeface="Calibri"/>
              <a:ea typeface="Calibri"/>
              <a:cs typeface="Calibri"/>
              <a:sym typeface="Calibri"/>
            </a:endParaRPr>
          </a:p>
        </p:txBody>
      </p:sp>
      <p:sp>
        <p:nvSpPr>
          <p:cNvPr id="1132" name="Google Shape;1132;p30"/>
          <p:cNvSpPr/>
          <p:nvPr/>
        </p:nvSpPr>
        <p:spPr>
          <a:xfrm>
            <a:off x="769468" y="3337560"/>
            <a:ext cx="27432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2000"/>
              <a:buFont typeface="Arial"/>
              <a:buNone/>
            </a:pPr>
            <a:r>
              <a:rPr b="1" i="0" lang="en-US" sz="2100" u="none" cap="none" strike="noStrike">
                <a:solidFill>
                  <a:srgbClr val="22D3EE"/>
                </a:solidFill>
                <a:latin typeface="Inter"/>
                <a:ea typeface="Inter"/>
                <a:cs typeface="Inter"/>
                <a:sym typeface="Inter"/>
              </a:rPr>
              <a:t>✓</a:t>
            </a:r>
            <a:endParaRPr b="0" i="0" sz="2000" u="none" cap="none" strike="noStrike">
              <a:solidFill>
                <a:schemeClr val="dk1"/>
              </a:solidFill>
              <a:latin typeface="Calibri"/>
              <a:ea typeface="Calibri"/>
              <a:cs typeface="Calibri"/>
              <a:sym typeface="Calibri"/>
            </a:endParaRPr>
          </a:p>
        </p:txBody>
      </p:sp>
      <p:sp>
        <p:nvSpPr>
          <p:cNvPr id="1133" name="Google Shape;1133;p30"/>
          <p:cNvSpPr/>
          <p:nvPr/>
        </p:nvSpPr>
        <p:spPr>
          <a:xfrm>
            <a:off x="1089508" y="3337560"/>
            <a:ext cx="461772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Calibri"/>
              <a:buNone/>
            </a:pPr>
            <a:r>
              <a:rPr b="0" i="0" lang="en-US" sz="1900" u="none" cap="none" strike="noStrike">
                <a:solidFill>
                  <a:srgbClr val="FFFFFF"/>
                </a:solidFill>
                <a:latin typeface="Inter"/>
                <a:ea typeface="Inter"/>
                <a:cs typeface="Inter"/>
                <a:sym typeface="Inter"/>
              </a:rPr>
              <a:t>Dual wireless — BLE 5.0 with automatic Wi-Fi failover</a:t>
            </a:r>
            <a:endParaRPr b="0" i="0" sz="1800" u="none" cap="none" strike="noStrike">
              <a:solidFill>
                <a:schemeClr val="dk1"/>
              </a:solidFill>
              <a:latin typeface="Calibri"/>
              <a:ea typeface="Calibri"/>
              <a:cs typeface="Calibri"/>
              <a:sym typeface="Calibri"/>
            </a:endParaRPr>
          </a:p>
        </p:txBody>
      </p:sp>
      <p:sp>
        <p:nvSpPr>
          <p:cNvPr id="1134" name="Google Shape;1134;p30"/>
          <p:cNvSpPr/>
          <p:nvPr/>
        </p:nvSpPr>
        <p:spPr>
          <a:xfrm>
            <a:off x="769468" y="3913632"/>
            <a:ext cx="27432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2000"/>
              <a:buFont typeface="Arial"/>
              <a:buNone/>
            </a:pPr>
            <a:r>
              <a:rPr b="1" i="0" lang="en-US" sz="2100" u="none" cap="none" strike="noStrike">
                <a:solidFill>
                  <a:srgbClr val="22D3EE"/>
                </a:solidFill>
                <a:latin typeface="Inter"/>
                <a:ea typeface="Inter"/>
                <a:cs typeface="Inter"/>
                <a:sym typeface="Inter"/>
              </a:rPr>
              <a:t>✓</a:t>
            </a:r>
            <a:endParaRPr b="0" i="0" sz="2000" u="none" cap="none" strike="noStrike">
              <a:solidFill>
                <a:schemeClr val="dk1"/>
              </a:solidFill>
              <a:latin typeface="Calibri"/>
              <a:ea typeface="Calibri"/>
              <a:cs typeface="Calibri"/>
              <a:sym typeface="Calibri"/>
            </a:endParaRPr>
          </a:p>
        </p:txBody>
      </p:sp>
      <p:sp>
        <p:nvSpPr>
          <p:cNvPr id="1135" name="Google Shape;1135;p30"/>
          <p:cNvSpPr/>
          <p:nvPr/>
        </p:nvSpPr>
        <p:spPr>
          <a:xfrm>
            <a:off x="1089508" y="3913632"/>
            <a:ext cx="461772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Calibri"/>
              <a:buNone/>
            </a:pPr>
            <a:r>
              <a:rPr b="0" i="0" lang="en-US" sz="1900" u="none" cap="none" strike="noStrike">
                <a:solidFill>
                  <a:srgbClr val="FFFFFF"/>
                </a:solidFill>
                <a:latin typeface="Inter"/>
                <a:ea typeface="Inter"/>
                <a:cs typeface="Inter"/>
                <a:sym typeface="Inter"/>
              </a:rPr>
              <a:t>Works in any lighting (hardware mode)</a:t>
            </a:r>
            <a:endParaRPr b="0" i="0" sz="1800" u="none" cap="none" strike="noStrike">
              <a:solidFill>
                <a:schemeClr val="dk1"/>
              </a:solidFill>
              <a:latin typeface="Calibri"/>
              <a:ea typeface="Calibri"/>
              <a:cs typeface="Calibri"/>
              <a:sym typeface="Calibri"/>
            </a:endParaRPr>
          </a:p>
        </p:txBody>
      </p:sp>
      <p:sp>
        <p:nvSpPr>
          <p:cNvPr id="1136" name="Google Shape;1136;p30"/>
          <p:cNvSpPr/>
          <p:nvPr/>
        </p:nvSpPr>
        <p:spPr>
          <a:xfrm>
            <a:off x="769468" y="4489704"/>
            <a:ext cx="27432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2000"/>
              <a:buFont typeface="Arial"/>
              <a:buNone/>
            </a:pPr>
            <a:r>
              <a:rPr b="1" i="0" lang="en-US" sz="2100" u="none" cap="none" strike="noStrike">
                <a:solidFill>
                  <a:srgbClr val="22D3EE"/>
                </a:solidFill>
                <a:latin typeface="Inter"/>
                <a:ea typeface="Inter"/>
                <a:cs typeface="Inter"/>
                <a:sym typeface="Inter"/>
              </a:rPr>
              <a:t>✓</a:t>
            </a:r>
            <a:endParaRPr b="0" i="0" sz="2000" u="none" cap="none" strike="noStrike">
              <a:solidFill>
                <a:schemeClr val="dk1"/>
              </a:solidFill>
              <a:latin typeface="Calibri"/>
              <a:ea typeface="Calibri"/>
              <a:cs typeface="Calibri"/>
              <a:sym typeface="Calibri"/>
            </a:endParaRPr>
          </a:p>
        </p:txBody>
      </p:sp>
      <p:sp>
        <p:nvSpPr>
          <p:cNvPr id="1137" name="Google Shape;1137;p30"/>
          <p:cNvSpPr/>
          <p:nvPr/>
        </p:nvSpPr>
        <p:spPr>
          <a:xfrm>
            <a:off x="1089508" y="4489704"/>
            <a:ext cx="461772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Calibri"/>
              <a:buNone/>
            </a:pPr>
            <a:r>
              <a:rPr b="0" i="0" lang="en-US" sz="1900" u="none" cap="none" strike="noStrike">
                <a:solidFill>
                  <a:srgbClr val="FFFFFF"/>
                </a:solidFill>
                <a:latin typeface="Inter"/>
                <a:ea typeface="Inter"/>
                <a:cs typeface="Inter"/>
                <a:sym typeface="Inter"/>
              </a:rPr>
              <a:t>Multi-beam IR + live Python eye simulation &amp; deterministic clicks</a:t>
            </a:r>
            <a:endParaRPr b="0" i="0" sz="1800" u="none" cap="none" strike="noStrike">
              <a:solidFill>
                <a:schemeClr val="dk1"/>
              </a:solidFill>
              <a:latin typeface="Calibri"/>
              <a:ea typeface="Calibri"/>
              <a:cs typeface="Calibri"/>
              <a:sym typeface="Calibri"/>
            </a:endParaRPr>
          </a:p>
        </p:txBody>
      </p:sp>
      <p:sp>
        <p:nvSpPr>
          <p:cNvPr id="1138" name="Google Shape;1138;p30"/>
          <p:cNvSpPr/>
          <p:nvPr/>
        </p:nvSpPr>
        <p:spPr>
          <a:xfrm>
            <a:off x="769468" y="5065776"/>
            <a:ext cx="27432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2000"/>
              <a:buFont typeface="Arial"/>
              <a:buNone/>
            </a:pPr>
            <a:r>
              <a:rPr b="1" i="0" lang="en-US" sz="2100" u="none" cap="none" strike="noStrike">
                <a:solidFill>
                  <a:srgbClr val="22D3EE"/>
                </a:solidFill>
                <a:latin typeface="Inter"/>
                <a:ea typeface="Inter"/>
                <a:cs typeface="Inter"/>
                <a:sym typeface="Inter"/>
              </a:rPr>
              <a:t>✓</a:t>
            </a:r>
            <a:endParaRPr b="0" i="0" sz="2000" u="none" cap="none" strike="noStrike">
              <a:solidFill>
                <a:schemeClr val="dk1"/>
              </a:solidFill>
              <a:latin typeface="Calibri"/>
              <a:ea typeface="Calibri"/>
              <a:cs typeface="Calibri"/>
              <a:sym typeface="Calibri"/>
            </a:endParaRPr>
          </a:p>
        </p:txBody>
      </p:sp>
      <p:sp>
        <p:nvSpPr>
          <p:cNvPr id="1139" name="Google Shape;1139;p30"/>
          <p:cNvSpPr/>
          <p:nvPr/>
        </p:nvSpPr>
        <p:spPr>
          <a:xfrm>
            <a:off x="1089508" y="5065776"/>
            <a:ext cx="461772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Calibri"/>
              <a:buNone/>
            </a:pPr>
            <a:r>
              <a:rPr b="0" i="0" lang="en-US" sz="1900" u="none" cap="none" strike="noStrike">
                <a:solidFill>
                  <a:srgbClr val="FFFFFF"/>
                </a:solidFill>
                <a:latin typeface="Inter"/>
                <a:ea typeface="Inter"/>
                <a:cs typeface="Inter"/>
                <a:sym typeface="Inter"/>
              </a:rPr>
              <a:t>Blink logic filters out natural blinks reliably</a:t>
            </a:r>
            <a:endParaRPr b="0" i="0" sz="1800" u="none" cap="none" strike="noStrike">
              <a:solidFill>
                <a:schemeClr val="dk1"/>
              </a:solidFill>
              <a:latin typeface="Calibri"/>
              <a:ea typeface="Calibri"/>
              <a:cs typeface="Calibri"/>
              <a:sym typeface="Calibri"/>
            </a:endParaRPr>
          </a:p>
        </p:txBody>
      </p:sp>
      <p:sp>
        <p:nvSpPr>
          <p:cNvPr id="1140" name="Google Shape;1140;p30"/>
          <p:cNvSpPr/>
          <p:nvPr/>
        </p:nvSpPr>
        <p:spPr>
          <a:xfrm>
            <a:off x="769468" y="5641848"/>
            <a:ext cx="27432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2000"/>
              <a:buFont typeface="Arial"/>
              <a:buNone/>
            </a:pPr>
            <a:r>
              <a:rPr b="1" i="0" lang="en-US" sz="2100" u="none" cap="none" strike="noStrike">
                <a:solidFill>
                  <a:srgbClr val="22D3EE"/>
                </a:solidFill>
                <a:latin typeface="Inter"/>
                <a:ea typeface="Inter"/>
                <a:cs typeface="Inter"/>
                <a:sym typeface="Inter"/>
              </a:rPr>
              <a:t>✓</a:t>
            </a:r>
            <a:endParaRPr b="0" i="0" sz="2000" u="none" cap="none" strike="noStrike">
              <a:solidFill>
                <a:schemeClr val="dk1"/>
              </a:solidFill>
              <a:latin typeface="Calibri"/>
              <a:ea typeface="Calibri"/>
              <a:cs typeface="Calibri"/>
              <a:sym typeface="Calibri"/>
            </a:endParaRPr>
          </a:p>
        </p:txBody>
      </p:sp>
      <p:sp>
        <p:nvSpPr>
          <p:cNvPr id="1141" name="Google Shape;1141;p30"/>
          <p:cNvSpPr/>
          <p:nvPr/>
        </p:nvSpPr>
        <p:spPr>
          <a:xfrm>
            <a:off x="1089508" y="5641848"/>
            <a:ext cx="461772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Calibri"/>
              <a:buNone/>
            </a:pPr>
            <a:r>
              <a:rPr b="0" i="0" lang="en-US" sz="1900" u="none" cap="none" strike="noStrike">
                <a:solidFill>
                  <a:srgbClr val="FFFFFF"/>
                </a:solidFill>
                <a:latin typeface="Inter"/>
                <a:ea typeface="Inter"/>
                <a:cs typeface="Inter"/>
                <a:sym typeface="Inter"/>
              </a:rPr>
              <a:t>Restores independent communication for the user</a:t>
            </a:r>
            <a:endParaRPr b="0" i="0" sz="1800" u="none" cap="none" strike="noStrike">
              <a:solidFill>
                <a:schemeClr val="dk1"/>
              </a:solidFill>
              <a:latin typeface="Calibri"/>
              <a:ea typeface="Calibri"/>
              <a:cs typeface="Calibri"/>
              <a:sym typeface="Calibri"/>
            </a:endParaRPr>
          </a:p>
        </p:txBody>
      </p:sp>
      <p:sp>
        <p:nvSpPr>
          <p:cNvPr id="1142" name="Google Shape;1142;p30"/>
          <p:cNvSpPr/>
          <p:nvPr/>
        </p:nvSpPr>
        <p:spPr>
          <a:xfrm>
            <a:off x="6301588" y="2468880"/>
            <a:ext cx="5440680" cy="4023360"/>
          </a:xfrm>
          <a:prstGeom prst="roundRect">
            <a:avLst>
              <a:gd fmla="val 1818"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143" name="Google Shape;1143;p30"/>
          <p:cNvSpPr/>
          <p:nvPr/>
        </p:nvSpPr>
        <p:spPr>
          <a:xfrm>
            <a:off x="6575908" y="2743200"/>
            <a:ext cx="29260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B020"/>
              </a:buClr>
              <a:buSzPts val="1600"/>
              <a:buFont typeface="Calibri"/>
              <a:buNone/>
            </a:pPr>
            <a:r>
              <a:rPr b="1" i="0" lang="en-US" sz="1900" u="none" cap="none" strike="noStrike">
                <a:solidFill>
                  <a:srgbClr val="FFB020"/>
                </a:solidFill>
                <a:latin typeface="Inter"/>
                <a:ea typeface="Inter"/>
                <a:cs typeface="Inter"/>
                <a:sym typeface="Inter"/>
              </a:rPr>
              <a:t>⚠  LIMITATIONS</a:t>
            </a:r>
            <a:endParaRPr b="0" i="0" sz="1600" u="none" cap="none" strike="noStrike">
              <a:solidFill>
                <a:schemeClr val="dk1"/>
              </a:solidFill>
              <a:latin typeface="Calibri"/>
              <a:ea typeface="Calibri"/>
              <a:cs typeface="Calibri"/>
              <a:sym typeface="Calibri"/>
            </a:endParaRPr>
          </a:p>
        </p:txBody>
      </p:sp>
      <p:sp>
        <p:nvSpPr>
          <p:cNvPr id="1144" name="Google Shape;1144;p30"/>
          <p:cNvSpPr/>
          <p:nvPr/>
        </p:nvSpPr>
        <p:spPr>
          <a:xfrm>
            <a:off x="6620256" y="3337560"/>
            <a:ext cx="3200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2000"/>
              <a:buFont typeface="Arial"/>
              <a:buNone/>
            </a:pPr>
            <a:r>
              <a:rPr b="1" i="0" lang="en-US" sz="2100" u="none" cap="none" strike="noStrike">
                <a:solidFill>
                  <a:srgbClr val="FFB020"/>
                </a:solidFill>
                <a:latin typeface="Inter"/>
                <a:ea typeface="Inter"/>
                <a:cs typeface="Inter"/>
                <a:sym typeface="Inter"/>
              </a:rPr>
              <a:t>⚠</a:t>
            </a:r>
            <a:endParaRPr b="0" i="0" sz="2000" u="none" cap="none" strike="noStrike">
              <a:solidFill>
                <a:schemeClr val="dk1"/>
              </a:solidFill>
              <a:latin typeface="Calibri"/>
              <a:ea typeface="Calibri"/>
              <a:cs typeface="Calibri"/>
              <a:sym typeface="Calibri"/>
            </a:endParaRPr>
          </a:p>
        </p:txBody>
      </p:sp>
      <p:sp>
        <p:nvSpPr>
          <p:cNvPr id="1145" name="Google Shape;1145;p30"/>
          <p:cNvSpPr/>
          <p:nvPr/>
        </p:nvSpPr>
        <p:spPr>
          <a:xfrm>
            <a:off x="6967728" y="3337560"/>
            <a:ext cx="461772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Calibri"/>
              <a:buNone/>
            </a:pPr>
            <a:r>
              <a:rPr b="0" i="0" lang="en-US" sz="1900" u="none" cap="none" strike="noStrike">
                <a:solidFill>
                  <a:srgbClr val="FFFFFF"/>
                </a:solidFill>
                <a:latin typeface="Inter"/>
                <a:ea typeface="Inter"/>
                <a:cs typeface="Inter"/>
                <a:sym typeface="Inter"/>
              </a:rPr>
              <a:t>Quick 2–3 second calibration check per new user</a:t>
            </a:r>
            <a:endParaRPr b="0" i="0" sz="1800" u="none" cap="none" strike="noStrike">
              <a:solidFill>
                <a:schemeClr val="dk1"/>
              </a:solidFill>
              <a:latin typeface="Calibri"/>
              <a:ea typeface="Calibri"/>
              <a:cs typeface="Calibri"/>
              <a:sym typeface="Calibri"/>
            </a:endParaRPr>
          </a:p>
        </p:txBody>
      </p:sp>
      <p:sp>
        <p:nvSpPr>
          <p:cNvPr id="1146" name="Google Shape;1146;p30"/>
          <p:cNvSpPr/>
          <p:nvPr/>
        </p:nvSpPr>
        <p:spPr>
          <a:xfrm>
            <a:off x="6620256" y="4160520"/>
            <a:ext cx="3200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2000"/>
              <a:buFont typeface="Arial"/>
              <a:buNone/>
            </a:pPr>
            <a:r>
              <a:rPr b="1" i="0" lang="en-US" sz="2100" u="none" cap="none" strike="noStrike">
                <a:solidFill>
                  <a:srgbClr val="FFB020"/>
                </a:solidFill>
                <a:latin typeface="Inter"/>
                <a:ea typeface="Inter"/>
                <a:cs typeface="Inter"/>
                <a:sym typeface="Inter"/>
              </a:rPr>
              <a:t>⚠</a:t>
            </a:r>
            <a:endParaRPr b="0" i="0" sz="2000" u="none" cap="none" strike="noStrike">
              <a:solidFill>
                <a:schemeClr val="dk1"/>
              </a:solidFill>
              <a:latin typeface="Calibri"/>
              <a:ea typeface="Calibri"/>
              <a:cs typeface="Calibri"/>
              <a:sym typeface="Calibri"/>
            </a:endParaRPr>
          </a:p>
        </p:txBody>
      </p:sp>
      <p:sp>
        <p:nvSpPr>
          <p:cNvPr id="1147" name="Google Shape;1147;p30"/>
          <p:cNvSpPr/>
          <p:nvPr/>
        </p:nvSpPr>
        <p:spPr>
          <a:xfrm>
            <a:off x="6967728" y="4160520"/>
            <a:ext cx="461772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Calibri"/>
              <a:buNone/>
            </a:pPr>
            <a:r>
              <a:rPr b="0" i="0" lang="en-US" sz="1900" u="none" cap="none" strike="noStrike">
                <a:solidFill>
                  <a:srgbClr val="FFFFFF"/>
                </a:solidFill>
                <a:latin typeface="Inter"/>
                <a:ea typeface="Inter"/>
                <a:cs typeface="Inter"/>
                <a:sym typeface="Inter"/>
              </a:rPr>
              <a:t>Long continuous use can cause mild eye or neck strain</a:t>
            </a:r>
            <a:endParaRPr b="0" i="0" sz="1800" u="none" cap="none" strike="noStrike">
              <a:solidFill>
                <a:schemeClr val="dk1"/>
              </a:solidFill>
              <a:latin typeface="Calibri"/>
              <a:ea typeface="Calibri"/>
              <a:cs typeface="Calibri"/>
              <a:sym typeface="Calibri"/>
            </a:endParaRPr>
          </a:p>
        </p:txBody>
      </p:sp>
      <p:sp>
        <p:nvSpPr>
          <p:cNvPr id="1148" name="Google Shape;1148;p30"/>
          <p:cNvSpPr/>
          <p:nvPr/>
        </p:nvSpPr>
        <p:spPr>
          <a:xfrm>
            <a:off x="6620256" y="4983480"/>
            <a:ext cx="3200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2000"/>
              <a:buFont typeface="Arial"/>
              <a:buNone/>
            </a:pPr>
            <a:r>
              <a:rPr b="1" i="0" lang="en-US" sz="2100" u="none" cap="none" strike="noStrike">
                <a:solidFill>
                  <a:srgbClr val="FFB020"/>
                </a:solidFill>
                <a:latin typeface="Inter"/>
                <a:ea typeface="Inter"/>
                <a:cs typeface="Inter"/>
                <a:sym typeface="Inter"/>
              </a:rPr>
              <a:t>⚠</a:t>
            </a:r>
            <a:endParaRPr b="0" i="0" sz="2000" u="none" cap="none" strike="noStrike">
              <a:solidFill>
                <a:schemeClr val="dk1"/>
              </a:solidFill>
              <a:latin typeface="Calibri"/>
              <a:ea typeface="Calibri"/>
              <a:cs typeface="Calibri"/>
              <a:sym typeface="Calibri"/>
            </a:endParaRPr>
          </a:p>
        </p:txBody>
      </p:sp>
      <p:sp>
        <p:nvSpPr>
          <p:cNvPr id="1149" name="Google Shape;1149;p30"/>
          <p:cNvSpPr/>
          <p:nvPr/>
        </p:nvSpPr>
        <p:spPr>
          <a:xfrm>
            <a:off x="6967728" y="4983480"/>
            <a:ext cx="461772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Calibri"/>
              <a:buNone/>
            </a:pPr>
            <a:r>
              <a:rPr b="0" i="0" lang="en-US" sz="1900" u="none" cap="none" strike="noStrike">
                <a:solidFill>
                  <a:srgbClr val="FFFFFF"/>
                </a:solidFill>
                <a:latin typeface="Inter"/>
                <a:ea typeface="Inter"/>
                <a:cs typeface="Inter"/>
                <a:sym typeface="Inter"/>
              </a:rPr>
              <a:t>2.4GHz band can face interference in crowded wards</a:t>
            </a:r>
            <a:endParaRPr b="0" i="0" sz="1800" u="none" cap="none" strike="noStrike">
              <a:solidFill>
                <a:schemeClr val="dk1"/>
              </a:solidFill>
              <a:latin typeface="Calibri"/>
              <a:ea typeface="Calibri"/>
              <a:cs typeface="Calibri"/>
              <a:sym typeface="Calibri"/>
            </a:endParaRPr>
          </a:p>
        </p:txBody>
      </p:sp>
    </p:spTree>
  </p:cSld>
  <p:clrMapOvr>
    <a:masterClrMapping/>
  </p:clrMapOvr>
  <p:transition spd="med">
    <p:fade/>
  </p:transition>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3" name="Shape 1153"/>
        <p:cNvGrpSpPr/>
        <p:nvPr/>
      </p:nvGrpSpPr>
      <p:grpSpPr>
        <a:xfrm>
          <a:off x="0" y="0"/>
          <a:ext cx="0" cy="0"/>
          <a:chOff x="0" y="0"/>
          <a:chExt cx="0" cy="0"/>
        </a:xfrm>
      </p:grpSpPr>
      <p:sp>
        <p:nvSpPr>
          <p:cNvPr id="1154" name="Google Shape;1154;p31"/>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1155" name="Google Shape;1155;p31"/>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56" name="Google Shape;1156;p31"/>
          <p:cNvSpPr/>
          <p:nvPr/>
        </p:nvSpPr>
        <p:spPr>
          <a:xfrm>
            <a:off x="502920" y="868680"/>
            <a:ext cx="1051560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400" u="none" cap="none" strike="noStrike">
                <a:solidFill>
                  <a:srgbClr val="22D3EE"/>
                </a:solidFill>
                <a:latin typeface="Inter"/>
                <a:ea typeface="Inter"/>
                <a:cs typeface="Inter"/>
                <a:sym typeface="Inter"/>
              </a:rPr>
              <a:t>DEEPER HONESTY</a:t>
            </a:r>
            <a:endParaRPr b="0" i="0" sz="1100" u="none" cap="none" strike="noStrike">
              <a:solidFill>
                <a:schemeClr val="dk1"/>
              </a:solidFill>
              <a:latin typeface="Calibri"/>
              <a:ea typeface="Calibri"/>
              <a:cs typeface="Calibri"/>
              <a:sym typeface="Calibri"/>
            </a:endParaRPr>
          </a:p>
        </p:txBody>
      </p:sp>
      <p:sp>
        <p:nvSpPr>
          <p:cNvPr id="1157" name="Google Shape;1157;p31"/>
          <p:cNvSpPr/>
          <p:nvPr/>
        </p:nvSpPr>
        <p:spPr>
          <a:xfrm>
            <a:off x="502920" y="1280160"/>
            <a:ext cx="109728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3200"/>
              <a:buFont typeface="Arial"/>
              <a:buNone/>
            </a:pPr>
            <a:r>
              <a:rPr b="1" i="0" lang="en-US" sz="3600" u="none" cap="none" strike="noStrike">
                <a:solidFill>
                  <a:srgbClr val="FFFFFF"/>
                </a:solidFill>
                <a:latin typeface="Inter"/>
                <a:ea typeface="Inter"/>
                <a:cs typeface="Inter"/>
                <a:sym typeface="Inter"/>
              </a:rPr>
              <a:t>More positives. More limitations.</a:t>
            </a:r>
            <a:endParaRPr b="0" i="0" sz="3200" u="none" cap="none" strike="noStrike">
              <a:solidFill>
                <a:schemeClr val="dk1"/>
              </a:solidFill>
              <a:latin typeface="Calibri"/>
              <a:ea typeface="Calibri"/>
              <a:cs typeface="Calibri"/>
              <a:sym typeface="Calibri"/>
            </a:endParaRPr>
          </a:p>
        </p:txBody>
      </p:sp>
      <p:sp>
        <p:nvSpPr>
          <p:cNvPr id="1158" name="Google Shape;1158;p31"/>
          <p:cNvSpPr/>
          <p:nvPr/>
        </p:nvSpPr>
        <p:spPr>
          <a:xfrm>
            <a:off x="449428" y="2468880"/>
            <a:ext cx="5440680" cy="4023360"/>
          </a:xfrm>
          <a:prstGeom prst="roundRect">
            <a:avLst>
              <a:gd fmla="val 1818"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159" name="Google Shape;1159;p31"/>
          <p:cNvSpPr/>
          <p:nvPr/>
        </p:nvSpPr>
        <p:spPr>
          <a:xfrm>
            <a:off x="723748" y="2743200"/>
            <a:ext cx="36576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600"/>
              <a:buFont typeface="Calibri"/>
              <a:buNone/>
            </a:pPr>
            <a:r>
              <a:rPr b="1" i="0" lang="en-US" sz="1900" u="none" cap="none" strike="noStrike">
                <a:solidFill>
                  <a:srgbClr val="22D3EE"/>
                </a:solidFill>
                <a:latin typeface="Inter"/>
                <a:ea typeface="Inter"/>
                <a:cs typeface="Inter"/>
                <a:sym typeface="Inter"/>
              </a:rPr>
              <a:t>✓  MORE POSITIVES</a:t>
            </a:r>
            <a:endParaRPr b="0" i="0" sz="1600" u="none" cap="none" strike="noStrike">
              <a:solidFill>
                <a:schemeClr val="dk1"/>
              </a:solidFill>
              <a:latin typeface="Calibri"/>
              <a:ea typeface="Calibri"/>
              <a:cs typeface="Calibri"/>
              <a:sym typeface="Calibri"/>
            </a:endParaRPr>
          </a:p>
        </p:txBody>
      </p:sp>
      <p:sp>
        <p:nvSpPr>
          <p:cNvPr id="1160" name="Google Shape;1160;p31"/>
          <p:cNvSpPr/>
          <p:nvPr/>
        </p:nvSpPr>
        <p:spPr>
          <a:xfrm>
            <a:off x="6301588" y="2468880"/>
            <a:ext cx="5440680" cy="4023360"/>
          </a:xfrm>
          <a:prstGeom prst="roundRect">
            <a:avLst>
              <a:gd fmla="val 1818"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161" name="Google Shape;1161;p31"/>
          <p:cNvSpPr/>
          <p:nvPr/>
        </p:nvSpPr>
        <p:spPr>
          <a:xfrm>
            <a:off x="6575908" y="2743200"/>
            <a:ext cx="38404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B020"/>
              </a:buClr>
              <a:buSzPts val="1600"/>
              <a:buFont typeface="Calibri"/>
              <a:buNone/>
            </a:pPr>
            <a:r>
              <a:rPr b="1" i="0" lang="en-US" sz="1900" u="none" cap="none" strike="noStrike">
                <a:solidFill>
                  <a:srgbClr val="FFB020"/>
                </a:solidFill>
                <a:latin typeface="Inter"/>
                <a:ea typeface="Inter"/>
                <a:cs typeface="Inter"/>
                <a:sym typeface="Inter"/>
              </a:rPr>
              <a:t>⚠  MORE LIMITATIONS</a:t>
            </a:r>
            <a:endParaRPr b="0" i="0" sz="1600" u="none" cap="none" strike="noStrike">
              <a:solidFill>
                <a:schemeClr val="dk1"/>
              </a:solidFill>
              <a:latin typeface="Calibri"/>
              <a:ea typeface="Calibri"/>
              <a:cs typeface="Calibri"/>
              <a:sym typeface="Calibri"/>
            </a:endParaRPr>
          </a:p>
        </p:txBody>
      </p:sp>
      <p:sp>
        <p:nvSpPr>
          <p:cNvPr id="1162" name="Google Shape;1162;p31"/>
          <p:cNvSpPr/>
          <p:nvPr/>
        </p:nvSpPr>
        <p:spPr>
          <a:xfrm>
            <a:off x="768096" y="3180806"/>
            <a:ext cx="2925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2000"/>
              <a:buFont typeface="Arial"/>
              <a:buNone/>
            </a:pPr>
            <a:r>
              <a:rPr b="1" i="0" lang="en-US" sz="1800" u="none" cap="none" strike="noStrike">
                <a:solidFill>
                  <a:srgbClr val="22D3EE"/>
                </a:solidFill>
                <a:latin typeface="Inter"/>
                <a:ea typeface="Inter"/>
                <a:cs typeface="Inter"/>
                <a:sym typeface="Inter"/>
              </a:rPr>
              <a:t>✓</a:t>
            </a:r>
            <a:endParaRPr b="0" i="0" sz="2000" u="none" cap="none" strike="noStrike">
              <a:solidFill>
                <a:schemeClr val="dk1"/>
              </a:solidFill>
              <a:latin typeface="Calibri"/>
              <a:ea typeface="Calibri"/>
              <a:cs typeface="Calibri"/>
              <a:sym typeface="Calibri"/>
            </a:endParaRPr>
          </a:p>
        </p:txBody>
      </p:sp>
      <p:sp>
        <p:nvSpPr>
          <p:cNvPr id="1163" name="Google Shape;1163;p31"/>
          <p:cNvSpPr/>
          <p:nvPr/>
        </p:nvSpPr>
        <p:spPr>
          <a:xfrm>
            <a:off x="1088136" y="3180806"/>
            <a:ext cx="46176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Calibri"/>
              <a:buNone/>
            </a:pPr>
            <a:r>
              <a:rPr b="0" i="0" lang="en-US" sz="1650" u="none" cap="none" strike="noStrike">
                <a:solidFill>
                  <a:srgbClr val="FFFFFF"/>
                </a:solidFill>
                <a:latin typeface="Inter"/>
                <a:ea typeface="Inter"/>
                <a:cs typeface="Inter"/>
                <a:sym typeface="Inter"/>
              </a:rPr>
              <a:t>Works in any lighting (multi-beam IR + IMU)</a:t>
            </a:r>
            <a:endParaRPr b="0" i="0" sz="1800" u="none" cap="none" strike="noStrike">
              <a:solidFill>
                <a:schemeClr val="dk1"/>
              </a:solidFill>
              <a:latin typeface="Calibri"/>
              <a:ea typeface="Calibri"/>
              <a:cs typeface="Calibri"/>
              <a:sym typeface="Calibri"/>
            </a:endParaRPr>
          </a:p>
        </p:txBody>
      </p:sp>
      <p:sp>
        <p:nvSpPr>
          <p:cNvPr id="1164" name="Google Shape;1164;p31"/>
          <p:cNvSpPr/>
          <p:nvPr/>
        </p:nvSpPr>
        <p:spPr>
          <a:xfrm>
            <a:off x="768096" y="3610573"/>
            <a:ext cx="2925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2000"/>
              <a:buFont typeface="Arial"/>
              <a:buNone/>
            </a:pPr>
            <a:r>
              <a:rPr b="1" i="0" lang="en-US" sz="1800" u="none" cap="none" strike="noStrike">
                <a:solidFill>
                  <a:srgbClr val="22D3EE"/>
                </a:solidFill>
                <a:latin typeface="Inter"/>
                <a:ea typeface="Inter"/>
                <a:cs typeface="Inter"/>
                <a:sym typeface="Inter"/>
              </a:rPr>
              <a:t>✓</a:t>
            </a:r>
            <a:endParaRPr b="0" i="0" sz="2000" u="none" cap="none" strike="noStrike">
              <a:solidFill>
                <a:schemeClr val="dk1"/>
              </a:solidFill>
              <a:latin typeface="Calibri"/>
              <a:ea typeface="Calibri"/>
              <a:cs typeface="Calibri"/>
              <a:sym typeface="Calibri"/>
            </a:endParaRPr>
          </a:p>
        </p:txBody>
      </p:sp>
      <p:sp>
        <p:nvSpPr>
          <p:cNvPr id="1165" name="Google Shape;1165;p31"/>
          <p:cNvSpPr/>
          <p:nvPr/>
        </p:nvSpPr>
        <p:spPr>
          <a:xfrm>
            <a:off x="1088125" y="3610561"/>
            <a:ext cx="47247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Calibri"/>
              <a:buNone/>
            </a:pPr>
            <a:r>
              <a:rPr b="0" i="0" lang="en-US" sz="1650" u="none" cap="none" strike="noStrike">
                <a:solidFill>
                  <a:srgbClr val="FFFFFF"/>
                </a:solidFill>
                <a:latin typeface="Inter"/>
                <a:ea typeface="Inter"/>
                <a:cs typeface="Inter"/>
                <a:sym typeface="Inter"/>
              </a:rPr>
              <a:t>Seeed Studio XIAO ESP32C3 — BLE + Wi-Fi built in</a:t>
            </a:r>
            <a:endParaRPr b="0" i="0" sz="1800" u="none" cap="none" strike="noStrike">
              <a:solidFill>
                <a:schemeClr val="dk1"/>
              </a:solidFill>
              <a:latin typeface="Calibri"/>
              <a:ea typeface="Calibri"/>
              <a:cs typeface="Calibri"/>
              <a:sym typeface="Calibri"/>
            </a:endParaRPr>
          </a:p>
        </p:txBody>
      </p:sp>
      <p:sp>
        <p:nvSpPr>
          <p:cNvPr id="1166" name="Google Shape;1166;p31"/>
          <p:cNvSpPr/>
          <p:nvPr/>
        </p:nvSpPr>
        <p:spPr>
          <a:xfrm>
            <a:off x="768096" y="4105656"/>
            <a:ext cx="292608"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2000"/>
              <a:buFont typeface="Arial"/>
              <a:buNone/>
            </a:pPr>
            <a:r>
              <a:rPr b="1" i="0" lang="en-US" sz="1800" u="none" cap="none" strike="noStrike">
                <a:solidFill>
                  <a:srgbClr val="22D3EE"/>
                </a:solidFill>
                <a:latin typeface="Inter"/>
                <a:ea typeface="Inter"/>
                <a:cs typeface="Inter"/>
                <a:sym typeface="Inter"/>
              </a:rPr>
              <a:t>✓</a:t>
            </a:r>
            <a:endParaRPr b="0" i="0" sz="2000" u="none" cap="none" strike="noStrike">
              <a:solidFill>
                <a:schemeClr val="dk1"/>
              </a:solidFill>
              <a:latin typeface="Calibri"/>
              <a:ea typeface="Calibri"/>
              <a:cs typeface="Calibri"/>
              <a:sym typeface="Calibri"/>
            </a:endParaRPr>
          </a:p>
        </p:txBody>
      </p:sp>
      <p:sp>
        <p:nvSpPr>
          <p:cNvPr id="1167" name="Google Shape;1167;p31"/>
          <p:cNvSpPr/>
          <p:nvPr/>
        </p:nvSpPr>
        <p:spPr>
          <a:xfrm>
            <a:off x="1088136" y="4105656"/>
            <a:ext cx="46177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Calibri"/>
              <a:buNone/>
            </a:pPr>
            <a:r>
              <a:rPr b="0" i="0" lang="en-US" sz="1650" u="none" cap="none" strike="noStrike">
                <a:solidFill>
                  <a:srgbClr val="FFFFFF"/>
                </a:solidFill>
                <a:latin typeface="Inter"/>
                <a:ea typeface="Inter"/>
                <a:cs typeface="Inter"/>
                <a:sym typeface="Inter"/>
              </a:rPr>
              <a:t>3.7V Li-Po direct XIAO charge — 12h Deep Sleep</a:t>
            </a:r>
            <a:endParaRPr b="0" i="0" sz="1800" u="none" cap="none" strike="noStrike">
              <a:solidFill>
                <a:schemeClr val="dk1"/>
              </a:solidFill>
              <a:latin typeface="Calibri"/>
              <a:ea typeface="Calibri"/>
              <a:cs typeface="Calibri"/>
              <a:sym typeface="Calibri"/>
            </a:endParaRPr>
          </a:p>
        </p:txBody>
      </p:sp>
      <p:sp>
        <p:nvSpPr>
          <p:cNvPr id="1168" name="Google Shape;1168;p31"/>
          <p:cNvSpPr/>
          <p:nvPr/>
        </p:nvSpPr>
        <p:spPr>
          <a:xfrm>
            <a:off x="768096" y="4535424"/>
            <a:ext cx="292608"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2000"/>
              <a:buFont typeface="Arial"/>
              <a:buNone/>
            </a:pPr>
            <a:r>
              <a:rPr b="1" i="0" lang="en-US" sz="1800" u="none" cap="none" strike="noStrike">
                <a:solidFill>
                  <a:srgbClr val="22D3EE"/>
                </a:solidFill>
                <a:latin typeface="Inter"/>
                <a:ea typeface="Inter"/>
                <a:cs typeface="Inter"/>
                <a:sym typeface="Inter"/>
              </a:rPr>
              <a:t>✓</a:t>
            </a:r>
            <a:endParaRPr b="0" i="0" sz="2000" u="none" cap="none" strike="noStrike">
              <a:solidFill>
                <a:schemeClr val="dk1"/>
              </a:solidFill>
              <a:latin typeface="Calibri"/>
              <a:ea typeface="Calibri"/>
              <a:cs typeface="Calibri"/>
              <a:sym typeface="Calibri"/>
            </a:endParaRPr>
          </a:p>
        </p:txBody>
      </p:sp>
      <p:sp>
        <p:nvSpPr>
          <p:cNvPr id="1169" name="Google Shape;1169;p31"/>
          <p:cNvSpPr/>
          <p:nvPr/>
        </p:nvSpPr>
        <p:spPr>
          <a:xfrm>
            <a:off x="1088136" y="4535424"/>
            <a:ext cx="46177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Calibri"/>
              <a:buNone/>
            </a:pPr>
            <a:r>
              <a:rPr b="0" i="0" lang="en-US" sz="1650" u="none" cap="none" strike="noStrike">
                <a:solidFill>
                  <a:srgbClr val="FFFFFF"/>
                </a:solidFill>
                <a:latin typeface="Inter"/>
                <a:ea typeface="Inter"/>
                <a:cs typeface="Inter"/>
                <a:sym typeface="Inter"/>
              </a:rPr>
              <a:t>Magnetic nut-bolt pivot fits any ±7D Rx glasses</a:t>
            </a:r>
            <a:endParaRPr b="0" i="0" sz="1800" u="none" cap="none" strike="noStrike">
              <a:solidFill>
                <a:schemeClr val="dk1"/>
              </a:solidFill>
              <a:latin typeface="Calibri"/>
              <a:ea typeface="Calibri"/>
              <a:cs typeface="Calibri"/>
              <a:sym typeface="Calibri"/>
            </a:endParaRPr>
          </a:p>
        </p:txBody>
      </p:sp>
      <p:sp>
        <p:nvSpPr>
          <p:cNvPr id="1170" name="Google Shape;1170;p31"/>
          <p:cNvSpPr/>
          <p:nvPr/>
        </p:nvSpPr>
        <p:spPr>
          <a:xfrm>
            <a:off x="768096" y="4965192"/>
            <a:ext cx="292608"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2000"/>
              <a:buFont typeface="Arial"/>
              <a:buNone/>
            </a:pPr>
            <a:r>
              <a:rPr b="1" i="0" lang="en-US" sz="1800" u="none" cap="none" strike="noStrike">
                <a:solidFill>
                  <a:srgbClr val="22D3EE"/>
                </a:solidFill>
                <a:latin typeface="Inter"/>
                <a:ea typeface="Inter"/>
                <a:cs typeface="Inter"/>
                <a:sym typeface="Inter"/>
              </a:rPr>
              <a:t>✓</a:t>
            </a:r>
            <a:endParaRPr b="0" i="0" sz="2000" u="none" cap="none" strike="noStrike">
              <a:solidFill>
                <a:schemeClr val="dk1"/>
              </a:solidFill>
              <a:latin typeface="Calibri"/>
              <a:ea typeface="Calibri"/>
              <a:cs typeface="Calibri"/>
              <a:sym typeface="Calibri"/>
            </a:endParaRPr>
          </a:p>
        </p:txBody>
      </p:sp>
      <p:sp>
        <p:nvSpPr>
          <p:cNvPr id="1171" name="Google Shape;1171;p31"/>
          <p:cNvSpPr/>
          <p:nvPr/>
        </p:nvSpPr>
        <p:spPr>
          <a:xfrm>
            <a:off x="1088124" y="4965200"/>
            <a:ext cx="48021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Calibri"/>
              <a:buNone/>
            </a:pPr>
            <a:r>
              <a:rPr b="0" i="0" lang="en-US" sz="1650" u="none" cap="none" strike="noStrike">
                <a:solidFill>
                  <a:srgbClr val="FFFFFF"/>
                </a:solidFill>
                <a:latin typeface="Inter"/>
                <a:ea typeface="Inter"/>
                <a:cs typeface="Inter"/>
                <a:sym typeface="Inter"/>
              </a:rPr>
              <a:t>Open-source — anyone can build or improve it</a:t>
            </a:r>
            <a:endParaRPr b="0" i="0" sz="1800" u="none" cap="none" strike="noStrike">
              <a:solidFill>
                <a:schemeClr val="dk1"/>
              </a:solidFill>
              <a:latin typeface="Calibri"/>
              <a:ea typeface="Calibri"/>
              <a:cs typeface="Calibri"/>
              <a:sym typeface="Calibri"/>
            </a:endParaRPr>
          </a:p>
        </p:txBody>
      </p:sp>
      <p:sp>
        <p:nvSpPr>
          <p:cNvPr id="1172" name="Google Shape;1172;p31"/>
          <p:cNvSpPr/>
          <p:nvPr/>
        </p:nvSpPr>
        <p:spPr>
          <a:xfrm>
            <a:off x="768096" y="5394959"/>
            <a:ext cx="292608"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2000"/>
              <a:buFont typeface="Arial"/>
              <a:buNone/>
            </a:pPr>
            <a:r>
              <a:rPr b="1" i="0" lang="en-US" sz="1800" u="none" cap="none" strike="noStrike">
                <a:solidFill>
                  <a:srgbClr val="22D3EE"/>
                </a:solidFill>
                <a:latin typeface="Inter"/>
                <a:ea typeface="Inter"/>
                <a:cs typeface="Inter"/>
                <a:sym typeface="Inter"/>
              </a:rPr>
              <a:t>✓</a:t>
            </a:r>
            <a:endParaRPr b="0" i="0" sz="2000" u="none" cap="none" strike="noStrike">
              <a:solidFill>
                <a:schemeClr val="dk1"/>
              </a:solidFill>
              <a:latin typeface="Calibri"/>
              <a:ea typeface="Calibri"/>
              <a:cs typeface="Calibri"/>
              <a:sym typeface="Calibri"/>
            </a:endParaRPr>
          </a:p>
        </p:txBody>
      </p:sp>
      <p:sp>
        <p:nvSpPr>
          <p:cNvPr id="1173" name="Google Shape;1173;p31"/>
          <p:cNvSpPr/>
          <p:nvPr/>
        </p:nvSpPr>
        <p:spPr>
          <a:xfrm>
            <a:off x="1088136" y="5394959"/>
            <a:ext cx="46177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Calibri"/>
              <a:buNone/>
            </a:pPr>
            <a:r>
              <a:rPr b="0" i="0" lang="en-US" sz="1650" u="none" cap="none" strike="noStrike">
                <a:solidFill>
                  <a:srgbClr val="FFFFFF"/>
                </a:solidFill>
                <a:latin typeface="Inter"/>
                <a:ea typeface="Inter"/>
                <a:cs typeface="Inter"/>
                <a:sym typeface="Inter"/>
              </a:rPr>
              <a:t>Universal App: 4 core tiles + 5 Settings menus</a:t>
            </a:r>
            <a:endParaRPr b="0" i="0" sz="1800" u="none" cap="none" strike="noStrike">
              <a:solidFill>
                <a:schemeClr val="dk1"/>
              </a:solidFill>
              <a:latin typeface="Calibri"/>
              <a:ea typeface="Calibri"/>
              <a:cs typeface="Calibri"/>
              <a:sym typeface="Calibri"/>
            </a:endParaRPr>
          </a:p>
        </p:txBody>
      </p:sp>
      <p:sp>
        <p:nvSpPr>
          <p:cNvPr id="1174" name="Google Shape;1174;p31"/>
          <p:cNvSpPr/>
          <p:nvPr/>
        </p:nvSpPr>
        <p:spPr>
          <a:xfrm>
            <a:off x="768096" y="5824727"/>
            <a:ext cx="292608"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2000"/>
              <a:buFont typeface="Arial"/>
              <a:buNone/>
            </a:pPr>
            <a:r>
              <a:rPr b="1" i="0" lang="en-US" sz="1800" u="none" cap="none" strike="noStrike">
                <a:solidFill>
                  <a:srgbClr val="22D3EE"/>
                </a:solidFill>
                <a:latin typeface="Inter"/>
                <a:ea typeface="Inter"/>
                <a:cs typeface="Inter"/>
                <a:sym typeface="Inter"/>
              </a:rPr>
              <a:t>✓</a:t>
            </a:r>
            <a:endParaRPr b="0" i="0" sz="2000" u="none" cap="none" strike="noStrike">
              <a:solidFill>
                <a:schemeClr val="dk1"/>
              </a:solidFill>
              <a:latin typeface="Calibri"/>
              <a:ea typeface="Calibri"/>
              <a:cs typeface="Calibri"/>
              <a:sym typeface="Calibri"/>
            </a:endParaRPr>
          </a:p>
        </p:txBody>
      </p:sp>
      <p:sp>
        <p:nvSpPr>
          <p:cNvPr id="1175" name="Google Shape;1175;p31"/>
          <p:cNvSpPr/>
          <p:nvPr/>
        </p:nvSpPr>
        <p:spPr>
          <a:xfrm>
            <a:off x="1088136" y="5824727"/>
            <a:ext cx="46177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Calibri"/>
              <a:buNone/>
            </a:pPr>
            <a:r>
              <a:rPr b="0" i="0" lang="en-US" sz="1650" u="none" cap="none" strike="noStrike">
                <a:solidFill>
                  <a:srgbClr val="FFFFFF"/>
                </a:solidFill>
                <a:latin typeface="Inter"/>
                <a:ea typeface="Inter"/>
                <a:cs typeface="Inter"/>
                <a:sym typeface="Inter"/>
              </a:rPr>
              <a:t>Local-first privacy — zero eye video uploaded</a:t>
            </a:r>
            <a:endParaRPr b="0" i="0" sz="1800" u="none" cap="none" strike="noStrike">
              <a:solidFill>
                <a:schemeClr val="dk1"/>
              </a:solidFill>
              <a:latin typeface="Calibri"/>
              <a:ea typeface="Calibri"/>
              <a:cs typeface="Calibri"/>
              <a:sym typeface="Calibri"/>
            </a:endParaRPr>
          </a:p>
        </p:txBody>
      </p:sp>
      <p:sp>
        <p:nvSpPr>
          <p:cNvPr id="1176" name="Google Shape;1176;p31"/>
          <p:cNvSpPr/>
          <p:nvPr/>
        </p:nvSpPr>
        <p:spPr>
          <a:xfrm>
            <a:off x="6620256" y="3291840"/>
            <a:ext cx="292608"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2000"/>
              <a:buFont typeface="Arial"/>
              <a:buNone/>
            </a:pPr>
            <a:r>
              <a:rPr b="1" i="0" lang="en-US" sz="1800" u="none" cap="none" strike="noStrike">
                <a:solidFill>
                  <a:srgbClr val="FFB020"/>
                </a:solidFill>
                <a:latin typeface="Inter"/>
                <a:ea typeface="Inter"/>
                <a:cs typeface="Inter"/>
                <a:sym typeface="Inter"/>
              </a:rPr>
              <a:t>⚠</a:t>
            </a:r>
            <a:endParaRPr b="0" i="0" sz="2000" u="none" cap="none" strike="noStrike">
              <a:solidFill>
                <a:schemeClr val="dk1"/>
              </a:solidFill>
              <a:latin typeface="Calibri"/>
              <a:ea typeface="Calibri"/>
              <a:cs typeface="Calibri"/>
              <a:sym typeface="Calibri"/>
            </a:endParaRPr>
          </a:p>
        </p:txBody>
      </p:sp>
      <p:sp>
        <p:nvSpPr>
          <p:cNvPr id="1177" name="Google Shape;1177;p31"/>
          <p:cNvSpPr/>
          <p:nvPr/>
        </p:nvSpPr>
        <p:spPr>
          <a:xfrm>
            <a:off x="6967728" y="3291840"/>
            <a:ext cx="461772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Calibri"/>
              <a:buNone/>
            </a:pPr>
            <a:r>
              <a:rPr b="0" i="0" lang="en-US" sz="1650" u="none" cap="none" strike="noStrike">
                <a:solidFill>
                  <a:srgbClr val="FFFFFF"/>
                </a:solidFill>
                <a:latin typeface="Inter"/>
                <a:ea typeface="Inter"/>
                <a:cs typeface="Inter"/>
                <a:sym typeface="Inter"/>
              </a:rPr>
              <a:t>Requires voluntary eyelid control on one eye</a:t>
            </a:r>
            <a:endParaRPr b="0" i="0" sz="1800" u="none" cap="none" strike="noStrike">
              <a:solidFill>
                <a:schemeClr val="dk1"/>
              </a:solidFill>
              <a:latin typeface="Calibri"/>
              <a:ea typeface="Calibri"/>
              <a:cs typeface="Calibri"/>
              <a:sym typeface="Calibri"/>
            </a:endParaRPr>
          </a:p>
        </p:txBody>
      </p:sp>
      <p:sp>
        <p:nvSpPr>
          <p:cNvPr id="1178" name="Google Shape;1178;p31"/>
          <p:cNvSpPr/>
          <p:nvPr/>
        </p:nvSpPr>
        <p:spPr>
          <a:xfrm>
            <a:off x="6620256" y="3840480"/>
            <a:ext cx="292608"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2000"/>
              <a:buFont typeface="Arial"/>
              <a:buNone/>
            </a:pPr>
            <a:r>
              <a:rPr b="1" i="0" lang="en-US" sz="1800" u="none" cap="none" strike="noStrike">
                <a:solidFill>
                  <a:srgbClr val="FFB020"/>
                </a:solidFill>
                <a:latin typeface="Inter"/>
                <a:ea typeface="Inter"/>
                <a:cs typeface="Inter"/>
                <a:sym typeface="Inter"/>
              </a:rPr>
              <a:t>⚠</a:t>
            </a:r>
            <a:endParaRPr b="0" i="0" sz="2000" u="none" cap="none" strike="noStrike">
              <a:solidFill>
                <a:schemeClr val="dk1"/>
              </a:solidFill>
              <a:latin typeface="Calibri"/>
              <a:ea typeface="Calibri"/>
              <a:cs typeface="Calibri"/>
              <a:sym typeface="Calibri"/>
            </a:endParaRPr>
          </a:p>
        </p:txBody>
      </p:sp>
      <p:sp>
        <p:nvSpPr>
          <p:cNvPr id="1179" name="Google Shape;1179;p31"/>
          <p:cNvSpPr/>
          <p:nvPr/>
        </p:nvSpPr>
        <p:spPr>
          <a:xfrm>
            <a:off x="6967728" y="3840480"/>
            <a:ext cx="461772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Calibri"/>
              <a:buNone/>
            </a:pPr>
            <a:r>
              <a:rPr b="0" i="0" lang="en-US" sz="1650" u="none" cap="none" strike="noStrike">
                <a:solidFill>
                  <a:srgbClr val="FFFFFF"/>
                </a:solidFill>
                <a:latin typeface="Inter"/>
                <a:ea typeface="Inter"/>
                <a:cs typeface="Inter"/>
                <a:sym typeface="Inter"/>
              </a:rPr>
              <a:t>2.4GHz band can face interference in crowded wards</a:t>
            </a:r>
            <a:endParaRPr b="0" i="0" sz="1800" u="none" cap="none" strike="noStrike">
              <a:solidFill>
                <a:schemeClr val="dk1"/>
              </a:solidFill>
              <a:latin typeface="Calibri"/>
              <a:ea typeface="Calibri"/>
              <a:cs typeface="Calibri"/>
              <a:sym typeface="Calibri"/>
            </a:endParaRPr>
          </a:p>
        </p:txBody>
      </p:sp>
      <p:sp>
        <p:nvSpPr>
          <p:cNvPr id="1180" name="Google Shape;1180;p31"/>
          <p:cNvSpPr/>
          <p:nvPr/>
        </p:nvSpPr>
        <p:spPr>
          <a:xfrm>
            <a:off x="6620256" y="4389120"/>
            <a:ext cx="292608"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2000"/>
              <a:buFont typeface="Arial"/>
              <a:buNone/>
            </a:pPr>
            <a:r>
              <a:rPr b="1" i="0" lang="en-US" sz="1800" u="none" cap="none" strike="noStrike">
                <a:solidFill>
                  <a:srgbClr val="FFB020"/>
                </a:solidFill>
                <a:latin typeface="Inter"/>
                <a:ea typeface="Inter"/>
                <a:cs typeface="Inter"/>
                <a:sym typeface="Inter"/>
              </a:rPr>
              <a:t>⚠</a:t>
            </a:r>
            <a:endParaRPr b="0" i="0" sz="2000" u="none" cap="none" strike="noStrike">
              <a:solidFill>
                <a:schemeClr val="dk1"/>
              </a:solidFill>
              <a:latin typeface="Calibri"/>
              <a:ea typeface="Calibri"/>
              <a:cs typeface="Calibri"/>
              <a:sym typeface="Calibri"/>
            </a:endParaRPr>
          </a:p>
        </p:txBody>
      </p:sp>
      <p:sp>
        <p:nvSpPr>
          <p:cNvPr id="1181" name="Google Shape;1181;p31"/>
          <p:cNvSpPr/>
          <p:nvPr/>
        </p:nvSpPr>
        <p:spPr>
          <a:xfrm>
            <a:off x="6967728" y="4389120"/>
            <a:ext cx="461772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Calibri"/>
              <a:buNone/>
            </a:pPr>
            <a:r>
              <a:rPr b="0" i="0" lang="en-US" sz="1650" u="none" cap="none" strike="noStrike">
                <a:solidFill>
                  <a:srgbClr val="FFFFFF"/>
                </a:solidFill>
                <a:latin typeface="Inter"/>
                <a:ea typeface="Inter"/>
                <a:cs typeface="Inter"/>
                <a:sym typeface="Inter"/>
              </a:rPr>
              <a:t>Gemini AI expansion needs Wi-Fi (basic tiles offline)</a:t>
            </a:r>
            <a:endParaRPr b="0" i="0" sz="1800" u="none" cap="none" strike="noStrike">
              <a:solidFill>
                <a:schemeClr val="dk1"/>
              </a:solidFill>
              <a:latin typeface="Calibri"/>
              <a:ea typeface="Calibri"/>
              <a:cs typeface="Calibri"/>
              <a:sym typeface="Calibri"/>
            </a:endParaRPr>
          </a:p>
        </p:txBody>
      </p:sp>
      <p:sp>
        <p:nvSpPr>
          <p:cNvPr id="1182" name="Google Shape;1182;p31"/>
          <p:cNvSpPr/>
          <p:nvPr/>
        </p:nvSpPr>
        <p:spPr>
          <a:xfrm>
            <a:off x="6620256" y="4937760"/>
            <a:ext cx="292608"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2000"/>
              <a:buFont typeface="Arial"/>
              <a:buNone/>
            </a:pPr>
            <a:r>
              <a:rPr b="1" i="0" lang="en-US" sz="1800" u="none" cap="none" strike="noStrike">
                <a:solidFill>
                  <a:srgbClr val="FFB020"/>
                </a:solidFill>
                <a:latin typeface="Inter"/>
                <a:ea typeface="Inter"/>
                <a:cs typeface="Inter"/>
                <a:sym typeface="Inter"/>
              </a:rPr>
              <a:t>⚠</a:t>
            </a:r>
            <a:endParaRPr b="0" i="0" sz="2000" u="none" cap="none" strike="noStrike">
              <a:solidFill>
                <a:schemeClr val="dk1"/>
              </a:solidFill>
              <a:latin typeface="Calibri"/>
              <a:ea typeface="Calibri"/>
              <a:cs typeface="Calibri"/>
              <a:sym typeface="Calibri"/>
            </a:endParaRPr>
          </a:p>
        </p:txBody>
      </p:sp>
      <p:sp>
        <p:nvSpPr>
          <p:cNvPr id="1183" name="Google Shape;1183;p31"/>
          <p:cNvSpPr/>
          <p:nvPr/>
        </p:nvSpPr>
        <p:spPr>
          <a:xfrm>
            <a:off x="6967728" y="4937760"/>
            <a:ext cx="461772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Calibri"/>
              <a:buNone/>
            </a:pPr>
            <a:r>
              <a:rPr b="0" i="0" lang="en-US" sz="1650" u="none" cap="none" strike="noStrike">
                <a:solidFill>
                  <a:srgbClr val="FFFFFF"/>
                </a:solidFill>
                <a:latin typeface="Inter"/>
                <a:ea typeface="Inter"/>
                <a:cs typeface="Inter"/>
                <a:sym typeface="Inter"/>
              </a:rPr>
              <a:t>Magnetic pivot needs one-time angle setup per frame</a:t>
            </a:r>
            <a:endParaRPr b="0" i="0" sz="1800" u="none" cap="none" strike="noStrike">
              <a:solidFill>
                <a:schemeClr val="dk1"/>
              </a:solidFill>
              <a:latin typeface="Calibri"/>
              <a:ea typeface="Calibri"/>
              <a:cs typeface="Calibri"/>
              <a:sym typeface="Calibri"/>
            </a:endParaRPr>
          </a:p>
        </p:txBody>
      </p:sp>
      <p:sp>
        <p:nvSpPr>
          <p:cNvPr id="1184" name="Google Shape;1184;p31"/>
          <p:cNvSpPr/>
          <p:nvPr/>
        </p:nvSpPr>
        <p:spPr>
          <a:xfrm>
            <a:off x="6620256" y="5486400"/>
            <a:ext cx="292608"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2000"/>
              <a:buFont typeface="Arial"/>
              <a:buNone/>
            </a:pPr>
            <a:r>
              <a:rPr b="1" i="0" lang="en-US" sz="1800" u="none" cap="none" strike="noStrike">
                <a:solidFill>
                  <a:srgbClr val="FFB020"/>
                </a:solidFill>
                <a:latin typeface="Inter"/>
                <a:ea typeface="Inter"/>
                <a:cs typeface="Inter"/>
                <a:sym typeface="Inter"/>
              </a:rPr>
              <a:t>⚠</a:t>
            </a:r>
            <a:endParaRPr b="0" i="0" sz="2000" u="none" cap="none" strike="noStrike">
              <a:solidFill>
                <a:schemeClr val="dk1"/>
              </a:solidFill>
              <a:latin typeface="Calibri"/>
              <a:ea typeface="Calibri"/>
              <a:cs typeface="Calibri"/>
              <a:sym typeface="Calibri"/>
            </a:endParaRPr>
          </a:p>
        </p:txBody>
      </p:sp>
      <p:sp>
        <p:nvSpPr>
          <p:cNvPr id="1185" name="Google Shape;1185;p31"/>
          <p:cNvSpPr/>
          <p:nvPr/>
        </p:nvSpPr>
        <p:spPr>
          <a:xfrm>
            <a:off x="6967728" y="5486400"/>
            <a:ext cx="461772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Calibri"/>
              <a:buNone/>
            </a:pPr>
            <a:r>
              <a:rPr b="0" i="0" lang="en-US" sz="1650" u="none" cap="none" strike="noStrike">
                <a:solidFill>
                  <a:srgbClr val="FFFFFF"/>
                </a:solidFill>
                <a:latin typeface="Inter"/>
                <a:ea typeface="Inter"/>
                <a:cs typeface="Inter"/>
                <a:sym typeface="Inter"/>
              </a:rPr>
              <a:t>Formal clinical certification planned via NGO pilots</a:t>
            </a:r>
            <a:endParaRPr b="0" i="0" sz="1800" u="none" cap="none" strike="noStrike">
              <a:solidFill>
                <a:schemeClr val="dk1"/>
              </a:solidFill>
              <a:latin typeface="Calibri"/>
              <a:ea typeface="Calibri"/>
              <a:cs typeface="Calibri"/>
              <a:sym typeface="Calibri"/>
            </a:endParaRPr>
          </a:p>
        </p:txBody>
      </p:sp>
    </p:spTree>
  </p:cSld>
  <p:clrMapOvr>
    <a:masterClrMapping/>
  </p:clrMapOvr>
  <p:transition spd="med">
    <p:fade/>
  </p:transition>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9" name="Shape 1189"/>
        <p:cNvGrpSpPr/>
        <p:nvPr/>
      </p:nvGrpSpPr>
      <p:grpSpPr>
        <a:xfrm>
          <a:off x="0" y="0"/>
          <a:ext cx="0" cy="0"/>
          <a:chOff x="0" y="0"/>
          <a:chExt cx="0" cy="0"/>
        </a:xfrm>
      </p:grpSpPr>
      <p:sp>
        <p:nvSpPr>
          <p:cNvPr id="1190" name="Google Shape;1190;p61"/>
          <p:cNvSpPr/>
          <p:nvPr/>
        </p:nvSpPr>
        <p:spPr>
          <a:xfrm>
            <a:off x="0" y="0"/>
            <a:ext cx="12191695" cy="6858000"/>
          </a:xfrm>
          <a:prstGeom prst="rect">
            <a:avLst/>
          </a:prstGeom>
          <a:solidFill>
            <a:srgbClr val="070B1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91" name="Google Shape;1191;p61"/>
          <p:cNvSpPr txBox="1"/>
          <p:nvPr/>
        </p:nvSpPr>
        <p:spPr>
          <a:xfrm>
            <a:off x="502920" y="274320"/>
            <a:ext cx="4572000"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00E5FF"/>
                </a:solidFill>
                <a:latin typeface="Inter"/>
                <a:ea typeface="Inter"/>
                <a:cs typeface="Inter"/>
                <a:sym typeface="Inter"/>
              </a:rPr>
              <a:t>●  IRIS   ·   SECTION 05 OF 06</a:t>
            </a:r>
            <a:endParaRPr/>
          </a:p>
        </p:txBody>
      </p:sp>
      <p:sp>
        <p:nvSpPr>
          <p:cNvPr id="1192" name="Google Shape;1192;p61"/>
          <p:cNvSpPr/>
          <p:nvPr/>
        </p:nvSpPr>
        <p:spPr>
          <a:xfrm>
            <a:off x="502920" y="658368"/>
            <a:ext cx="11183112" cy="18288"/>
          </a:xfrm>
          <a:prstGeom prst="rect">
            <a:avLst/>
          </a:prstGeom>
          <a:solidFill>
            <a:srgbClr val="1E305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93" name="Google Shape;1193;p61"/>
          <p:cNvSpPr txBox="1"/>
          <p:nvPr/>
        </p:nvSpPr>
        <p:spPr>
          <a:xfrm>
            <a:off x="504445" y="2844142"/>
            <a:ext cx="11183100" cy="1169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7000" u="none" cap="none" strike="noStrike">
                <a:solidFill>
                  <a:srgbClr val="F5F8FF"/>
                </a:solidFill>
                <a:latin typeface="Inter"/>
                <a:ea typeface="Inter"/>
                <a:cs typeface="Inter"/>
                <a:sym typeface="Inter"/>
              </a:rPr>
              <a:t>ECONOMIC SPHERE</a:t>
            </a:r>
            <a:endParaRPr sz="7000"/>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7" name="Shape 1197"/>
        <p:cNvGrpSpPr/>
        <p:nvPr/>
      </p:nvGrpSpPr>
      <p:grpSpPr>
        <a:xfrm>
          <a:off x="0" y="0"/>
          <a:ext cx="0" cy="0"/>
          <a:chOff x="0" y="0"/>
          <a:chExt cx="0" cy="0"/>
        </a:xfrm>
      </p:grpSpPr>
      <p:sp>
        <p:nvSpPr>
          <p:cNvPr id="1198" name="Google Shape;1198;p38"/>
          <p:cNvSpPr txBox="1"/>
          <p:nvPr/>
        </p:nvSpPr>
        <p:spPr>
          <a:xfrm>
            <a:off x="502920" y="274320"/>
            <a:ext cx="36576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1150" u="none" cap="none" strike="noStrike">
                <a:solidFill>
                  <a:srgbClr val="CDD5E2"/>
                </a:solidFill>
                <a:latin typeface="Inter"/>
                <a:ea typeface="Inter"/>
                <a:cs typeface="Inter"/>
                <a:sym typeface="Inter"/>
              </a:rPr>
              <a:t>● IRIS</a:t>
            </a:r>
            <a:endParaRPr b="0" i="0" sz="1400" u="none" cap="none" strike="noStrike">
              <a:solidFill>
                <a:srgbClr val="000000"/>
              </a:solidFill>
              <a:latin typeface="Arial"/>
              <a:ea typeface="Arial"/>
              <a:cs typeface="Arial"/>
              <a:sym typeface="Arial"/>
            </a:endParaRPr>
          </a:p>
        </p:txBody>
      </p:sp>
      <p:sp>
        <p:nvSpPr>
          <p:cNvPr id="1199" name="Google Shape;1199;p38"/>
          <p:cNvSpPr txBox="1"/>
          <p:nvPr/>
        </p:nvSpPr>
        <p:spPr>
          <a:xfrm>
            <a:off x="502920" y="274320"/>
            <a:ext cx="18288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0" name="Google Shape;1200;p38"/>
          <p:cNvSpPr txBox="1"/>
          <p:nvPr/>
        </p:nvSpPr>
        <p:spPr>
          <a:xfrm>
            <a:off x="502920" y="868680"/>
            <a:ext cx="10515600"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400" u="none" cap="none" strike="noStrike">
                <a:solidFill>
                  <a:srgbClr val="22D3EE"/>
                </a:solidFill>
                <a:latin typeface="Inter"/>
                <a:ea typeface="Inter"/>
                <a:cs typeface="Inter"/>
                <a:sym typeface="Inter"/>
              </a:rPr>
              <a:t>MARKET OPPORTUNITY</a:t>
            </a:r>
            <a:endParaRPr b="0" i="0" sz="1400" u="none" cap="none" strike="noStrike">
              <a:solidFill>
                <a:srgbClr val="000000"/>
              </a:solidFill>
              <a:latin typeface="Arial"/>
              <a:ea typeface="Arial"/>
              <a:cs typeface="Arial"/>
              <a:sym typeface="Arial"/>
            </a:endParaRPr>
          </a:p>
        </p:txBody>
      </p:sp>
      <p:sp>
        <p:nvSpPr>
          <p:cNvPr id="1201" name="Google Shape;1201;p38"/>
          <p:cNvSpPr txBox="1"/>
          <p:nvPr/>
        </p:nvSpPr>
        <p:spPr>
          <a:xfrm>
            <a:off x="502920" y="1280160"/>
            <a:ext cx="10972800" cy="914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FFFFFF"/>
                </a:solidFill>
                <a:latin typeface="Inter"/>
                <a:ea typeface="Inter"/>
                <a:cs typeface="Inter"/>
                <a:sym typeface="Inter"/>
              </a:rPr>
              <a:t>A market that's growing fast.</a:t>
            </a:r>
            <a:endParaRPr b="0" i="0" sz="1400" u="none" cap="none" strike="noStrike">
              <a:solidFill>
                <a:srgbClr val="000000"/>
              </a:solidFill>
              <a:latin typeface="Arial"/>
              <a:ea typeface="Arial"/>
              <a:cs typeface="Arial"/>
              <a:sym typeface="Arial"/>
            </a:endParaRPr>
          </a:p>
        </p:txBody>
      </p:sp>
      <p:sp>
        <p:nvSpPr>
          <p:cNvPr id="1202" name="Google Shape;1202;p38"/>
          <p:cNvSpPr txBox="1"/>
          <p:nvPr/>
        </p:nvSpPr>
        <p:spPr>
          <a:xfrm>
            <a:off x="502920" y="2194560"/>
            <a:ext cx="10515600" cy="5486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1" lang="en-US" sz="1800" u="none" cap="none" strike="noStrike">
                <a:solidFill>
                  <a:srgbClr val="CDD5E2"/>
                </a:solidFill>
                <a:latin typeface="Inter"/>
                <a:ea typeface="Inter"/>
                <a:cs typeface="Inter"/>
                <a:sym typeface="Inter"/>
              </a:rPr>
              <a:t>The global assistive technology market is projected to grow at 8% CAGR.</a:t>
            </a:r>
            <a:endParaRPr b="0" i="0" sz="1400" u="none" cap="none" strike="noStrike">
              <a:solidFill>
                <a:srgbClr val="000000"/>
              </a:solidFill>
              <a:latin typeface="Arial"/>
              <a:ea typeface="Arial"/>
              <a:cs typeface="Arial"/>
              <a:sym typeface="Arial"/>
            </a:endParaRPr>
          </a:p>
        </p:txBody>
      </p:sp>
      <p:graphicFrame>
        <p:nvGraphicFramePr>
          <p:cNvPr id="1203" name="Google Shape;1203;p38"/>
          <p:cNvGraphicFramePr/>
          <p:nvPr/>
        </p:nvGraphicFramePr>
        <p:xfrm>
          <a:off x="502920" y="2926080"/>
          <a:ext cx="6858000" cy="3200400"/>
        </p:xfrm>
        <a:graphic>
          <a:graphicData uri="http://schemas.openxmlformats.org/drawingml/2006/chart">
            <c:chart r:id="rId3"/>
          </a:graphicData>
        </a:graphic>
      </p:graphicFrame>
      <p:sp>
        <p:nvSpPr>
          <p:cNvPr id="1204" name="Google Shape;1204;p38"/>
          <p:cNvSpPr/>
          <p:nvPr/>
        </p:nvSpPr>
        <p:spPr>
          <a:xfrm>
            <a:off x="7772400" y="2926080"/>
            <a:ext cx="3931920" cy="914400"/>
          </a:xfrm>
          <a:prstGeom prst="roundRect">
            <a:avLst>
              <a:gd fmla="val 16667" name="adj"/>
            </a:avLst>
          </a:prstGeom>
          <a:solidFill>
            <a:srgbClr val="0F2440"/>
          </a:solidFill>
          <a:ln cap="flat" cmpd="sng" w="9525">
            <a:solidFill>
              <a:srgbClr val="0E7490"/>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05" name="Google Shape;1205;p38"/>
          <p:cNvSpPr txBox="1"/>
          <p:nvPr/>
        </p:nvSpPr>
        <p:spPr>
          <a:xfrm>
            <a:off x="8001000" y="3017520"/>
            <a:ext cx="237744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3400" u="none" cap="none" strike="noStrike">
                <a:solidFill>
                  <a:srgbClr val="22D3EE"/>
                </a:solidFill>
                <a:latin typeface="Inter"/>
                <a:ea typeface="Inter"/>
                <a:cs typeface="Inter"/>
                <a:sym typeface="Inter"/>
              </a:rPr>
              <a:t>$20B</a:t>
            </a:r>
            <a:endParaRPr b="0" i="0" sz="1400" u="none" cap="none" strike="noStrike">
              <a:solidFill>
                <a:srgbClr val="000000"/>
              </a:solidFill>
              <a:latin typeface="Arial"/>
              <a:ea typeface="Arial"/>
              <a:cs typeface="Arial"/>
              <a:sym typeface="Arial"/>
            </a:endParaRPr>
          </a:p>
        </p:txBody>
      </p:sp>
      <p:sp>
        <p:nvSpPr>
          <p:cNvPr id="1206" name="Google Shape;1206;p38"/>
          <p:cNvSpPr txBox="1"/>
          <p:nvPr/>
        </p:nvSpPr>
        <p:spPr>
          <a:xfrm>
            <a:off x="8001000" y="3529584"/>
            <a:ext cx="347472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550" u="none" cap="none" strike="noStrike">
                <a:solidFill>
                  <a:srgbClr val="CDD5E2"/>
                </a:solidFill>
                <a:latin typeface="Inter"/>
                <a:ea typeface="Inter"/>
                <a:cs typeface="Inter"/>
                <a:sym typeface="Inter"/>
              </a:rPr>
              <a:t>Global AT market 2025</a:t>
            </a:r>
            <a:endParaRPr b="0" i="0" sz="1400" u="none" cap="none" strike="noStrike">
              <a:solidFill>
                <a:srgbClr val="000000"/>
              </a:solidFill>
              <a:latin typeface="Arial"/>
              <a:ea typeface="Arial"/>
              <a:cs typeface="Arial"/>
              <a:sym typeface="Arial"/>
            </a:endParaRPr>
          </a:p>
        </p:txBody>
      </p:sp>
      <p:sp>
        <p:nvSpPr>
          <p:cNvPr id="1207" name="Google Shape;1207;p38"/>
          <p:cNvSpPr/>
          <p:nvPr/>
        </p:nvSpPr>
        <p:spPr>
          <a:xfrm>
            <a:off x="7772400" y="4023360"/>
            <a:ext cx="3931920" cy="914400"/>
          </a:xfrm>
          <a:prstGeom prst="roundRect">
            <a:avLst>
              <a:gd fmla="val 16667" name="adj"/>
            </a:avLst>
          </a:prstGeom>
          <a:solidFill>
            <a:srgbClr val="0F2440"/>
          </a:solidFill>
          <a:ln cap="flat" cmpd="sng" w="9525">
            <a:solidFill>
              <a:srgbClr val="0E7490"/>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08" name="Google Shape;1208;p38"/>
          <p:cNvSpPr txBox="1"/>
          <p:nvPr/>
        </p:nvSpPr>
        <p:spPr>
          <a:xfrm>
            <a:off x="8001000" y="4114800"/>
            <a:ext cx="237744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3400" u="none" cap="none" strike="noStrike">
                <a:solidFill>
                  <a:srgbClr val="22D3EE"/>
                </a:solidFill>
                <a:latin typeface="Inter"/>
                <a:ea typeface="Inter"/>
                <a:cs typeface="Inter"/>
                <a:sym typeface="Inter"/>
              </a:rPr>
              <a:t>$43B</a:t>
            </a:r>
            <a:endParaRPr b="0" i="0" sz="1400" u="none" cap="none" strike="noStrike">
              <a:solidFill>
                <a:srgbClr val="000000"/>
              </a:solidFill>
              <a:latin typeface="Arial"/>
              <a:ea typeface="Arial"/>
              <a:cs typeface="Arial"/>
              <a:sym typeface="Arial"/>
            </a:endParaRPr>
          </a:p>
        </p:txBody>
      </p:sp>
      <p:sp>
        <p:nvSpPr>
          <p:cNvPr id="1209" name="Google Shape;1209;p38"/>
          <p:cNvSpPr txBox="1"/>
          <p:nvPr/>
        </p:nvSpPr>
        <p:spPr>
          <a:xfrm>
            <a:off x="8001000" y="4626864"/>
            <a:ext cx="347472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550" u="none" cap="none" strike="noStrike">
                <a:solidFill>
                  <a:srgbClr val="CDD5E2"/>
                </a:solidFill>
                <a:latin typeface="Inter"/>
                <a:ea typeface="Inter"/>
                <a:cs typeface="Inter"/>
                <a:sym typeface="Inter"/>
              </a:rPr>
              <a:t>Projected 2035</a:t>
            </a:r>
            <a:endParaRPr b="0" i="0" sz="1400" u="none" cap="none" strike="noStrike">
              <a:solidFill>
                <a:srgbClr val="000000"/>
              </a:solidFill>
              <a:latin typeface="Arial"/>
              <a:ea typeface="Arial"/>
              <a:cs typeface="Arial"/>
              <a:sym typeface="Arial"/>
            </a:endParaRPr>
          </a:p>
        </p:txBody>
      </p:sp>
      <p:sp>
        <p:nvSpPr>
          <p:cNvPr id="1210" name="Google Shape;1210;p38"/>
          <p:cNvSpPr/>
          <p:nvPr/>
        </p:nvSpPr>
        <p:spPr>
          <a:xfrm>
            <a:off x="7772400" y="5120640"/>
            <a:ext cx="3931920" cy="914400"/>
          </a:xfrm>
          <a:prstGeom prst="roundRect">
            <a:avLst>
              <a:gd fmla="val 16667" name="adj"/>
            </a:avLst>
          </a:prstGeom>
          <a:solidFill>
            <a:srgbClr val="0F2440"/>
          </a:solidFill>
          <a:ln cap="flat" cmpd="sng" w="9525">
            <a:solidFill>
              <a:srgbClr val="0E7490"/>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11" name="Google Shape;1211;p38"/>
          <p:cNvSpPr txBox="1"/>
          <p:nvPr/>
        </p:nvSpPr>
        <p:spPr>
          <a:xfrm>
            <a:off x="8001000" y="5212079"/>
            <a:ext cx="237744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3400" u="none" cap="none" strike="noStrike">
                <a:solidFill>
                  <a:srgbClr val="22D3EE"/>
                </a:solidFill>
                <a:latin typeface="Inter"/>
                <a:ea typeface="Inter"/>
                <a:cs typeface="Inter"/>
                <a:sym typeface="Inter"/>
              </a:rPr>
              <a:t>8%</a:t>
            </a:r>
            <a:endParaRPr b="0" i="0" sz="1400" u="none" cap="none" strike="noStrike">
              <a:solidFill>
                <a:srgbClr val="000000"/>
              </a:solidFill>
              <a:latin typeface="Arial"/>
              <a:ea typeface="Arial"/>
              <a:cs typeface="Arial"/>
              <a:sym typeface="Arial"/>
            </a:endParaRPr>
          </a:p>
        </p:txBody>
      </p:sp>
      <p:sp>
        <p:nvSpPr>
          <p:cNvPr id="1212" name="Google Shape;1212;p38"/>
          <p:cNvSpPr txBox="1"/>
          <p:nvPr/>
        </p:nvSpPr>
        <p:spPr>
          <a:xfrm>
            <a:off x="8001000" y="5724143"/>
            <a:ext cx="347472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US" sz="1550" u="none" cap="none" strike="noStrike">
                <a:solidFill>
                  <a:srgbClr val="CDD5E2"/>
                </a:solidFill>
                <a:latin typeface="Inter"/>
                <a:ea typeface="Inter"/>
                <a:cs typeface="Inter"/>
                <a:sym typeface="Inter"/>
              </a:rPr>
              <a:t>CAGR 2025–2035</a:t>
            </a:r>
            <a:endParaRPr b="0" i="0" sz="1400" u="none" cap="none" strike="noStrike">
              <a:solidFill>
                <a:srgbClr val="000000"/>
              </a:solidFill>
              <a:latin typeface="Arial"/>
              <a:ea typeface="Arial"/>
              <a:cs typeface="Arial"/>
              <a:sym typeface="Arial"/>
            </a:endParaRPr>
          </a:p>
        </p:txBody>
      </p:sp>
      <p:sp>
        <p:nvSpPr>
          <p:cNvPr id="1213" name="Google Shape;1213;p38"/>
          <p:cNvSpPr txBox="1"/>
          <p:nvPr/>
        </p:nvSpPr>
        <p:spPr>
          <a:xfrm>
            <a:off x="502920" y="6446520"/>
            <a:ext cx="1115568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1" lang="en-US" sz="1250" u="none" cap="none" strike="noStrike">
                <a:solidFill>
                  <a:srgbClr val="94A3B8"/>
                </a:solidFill>
                <a:latin typeface="Inter"/>
                <a:ea typeface="Inter"/>
                <a:cs typeface="Inter"/>
                <a:sym typeface="Inter"/>
              </a:rPr>
              <a:t>Sources: Vantage Market Research 2025 (Assistive Technology Market Report); Custom Market Insights 2026; WHO 2024</a:t>
            </a:r>
            <a:endParaRPr b="0" i="0" sz="1400" u="none" cap="none" strike="noStrike">
              <a:solidFill>
                <a:srgbClr val="000000"/>
              </a:solidFill>
              <a:latin typeface="Arial"/>
              <a:ea typeface="Arial"/>
              <a:cs typeface="Arial"/>
              <a:sym typeface="Arial"/>
            </a:endParaRPr>
          </a:p>
        </p:txBody>
      </p:sp>
    </p:spTree>
  </p:cSld>
  <p:clrMapOvr>
    <a:masterClrMapping/>
  </p:clrMapOvr>
  <p:transition spd="med">
    <p:fade/>
  </p:transition>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8" name="Shape 1218"/>
        <p:cNvGrpSpPr/>
        <p:nvPr/>
      </p:nvGrpSpPr>
      <p:grpSpPr>
        <a:xfrm>
          <a:off x="0" y="0"/>
          <a:ext cx="0" cy="0"/>
          <a:chOff x="0" y="0"/>
          <a:chExt cx="0" cy="0"/>
        </a:xfrm>
      </p:grpSpPr>
      <p:sp>
        <p:nvSpPr>
          <p:cNvPr id="1219" name="Google Shape;1219;p28"/>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1220" name="Google Shape;1220;p28"/>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21" name="Google Shape;1221;p28"/>
          <p:cNvSpPr/>
          <p:nvPr/>
        </p:nvSpPr>
        <p:spPr>
          <a:xfrm>
            <a:off x="502920" y="868680"/>
            <a:ext cx="1051560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400" u="none" cap="none" strike="noStrike">
                <a:solidFill>
                  <a:srgbClr val="22D3EE"/>
                </a:solidFill>
                <a:latin typeface="Inter"/>
                <a:ea typeface="Inter"/>
                <a:cs typeface="Inter"/>
                <a:sym typeface="Inter"/>
              </a:rPr>
              <a:t>BUILD COST &amp; ROADMAP</a:t>
            </a:r>
            <a:endParaRPr b="0" i="0" sz="1100" u="none" cap="none" strike="noStrike">
              <a:solidFill>
                <a:schemeClr val="dk1"/>
              </a:solidFill>
              <a:latin typeface="Calibri"/>
              <a:ea typeface="Calibri"/>
              <a:cs typeface="Calibri"/>
              <a:sym typeface="Calibri"/>
            </a:endParaRPr>
          </a:p>
        </p:txBody>
      </p:sp>
      <p:sp>
        <p:nvSpPr>
          <p:cNvPr id="1222" name="Google Shape;1222;p28"/>
          <p:cNvSpPr/>
          <p:nvPr/>
        </p:nvSpPr>
        <p:spPr>
          <a:xfrm>
            <a:off x="502920" y="1280160"/>
            <a:ext cx="109728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3600"/>
              <a:buFont typeface="Arial"/>
              <a:buNone/>
            </a:pPr>
            <a:r>
              <a:rPr b="1" i="0" lang="en-US" sz="3600" u="none" cap="none" strike="noStrike">
                <a:solidFill>
                  <a:srgbClr val="FFFFFF"/>
                </a:solidFill>
                <a:latin typeface="Inter"/>
                <a:ea typeface="Inter"/>
                <a:cs typeface="Inter"/>
                <a:sym typeface="Inter"/>
              </a:rPr>
              <a:t>From prototype to public good.</a:t>
            </a:r>
            <a:endParaRPr b="0" i="0" sz="3600" u="none" cap="none" strike="noStrike">
              <a:solidFill>
                <a:schemeClr val="dk1"/>
              </a:solidFill>
              <a:latin typeface="Calibri"/>
              <a:ea typeface="Calibri"/>
              <a:cs typeface="Calibri"/>
              <a:sym typeface="Calibri"/>
            </a:endParaRPr>
          </a:p>
        </p:txBody>
      </p:sp>
      <p:sp>
        <p:nvSpPr>
          <p:cNvPr id="1223" name="Google Shape;1223;p28"/>
          <p:cNvSpPr/>
          <p:nvPr/>
        </p:nvSpPr>
        <p:spPr>
          <a:xfrm>
            <a:off x="502920" y="2468880"/>
            <a:ext cx="5852160" cy="365760"/>
          </a:xfrm>
          <a:prstGeom prst="roundRect">
            <a:avLst>
              <a:gd fmla="val 12500" name="adj"/>
            </a:avLst>
          </a:prstGeom>
          <a:solidFill>
            <a:srgbClr val="050E1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1224" name="Google Shape;1224;p28"/>
          <p:cNvSpPr/>
          <p:nvPr/>
        </p:nvSpPr>
        <p:spPr>
          <a:xfrm>
            <a:off x="685800" y="2468880"/>
            <a:ext cx="32004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050"/>
              <a:buFont typeface="Calibri"/>
              <a:buNone/>
            </a:pPr>
            <a:r>
              <a:rPr b="1" i="0" lang="en-US" sz="1350" u="none" cap="none" strike="noStrike">
                <a:solidFill>
                  <a:srgbClr val="22D3EE"/>
                </a:solidFill>
                <a:latin typeface="Inter"/>
                <a:ea typeface="Inter"/>
                <a:cs typeface="Inter"/>
                <a:sym typeface="Inter"/>
              </a:rPr>
              <a:t>COMPONENT</a:t>
            </a:r>
            <a:endParaRPr b="0" i="0" sz="1050" u="none" cap="none" strike="noStrike">
              <a:solidFill>
                <a:schemeClr val="dk1"/>
              </a:solidFill>
              <a:latin typeface="Calibri"/>
              <a:ea typeface="Calibri"/>
              <a:cs typeface="Calibri"/>
              <a:sym typeface="Calibri"/>
            </a:endParaRPr>
          </a:p>
        </p:txBody>
      </p:sp>
      <p:sp>
        <p:nvSpPr>
          <p:cNvPr id="1225" name="Google Shape;1225;p28"/>
          <p:cNvSpPr/>
          <p:nvPr/>
        </p:nvSpPr>
        <p:spPr>
          <a:xfrm>
            <a:off x="4160520" y="2468880"/>
            <a:ext cx="7315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050"/>
              <a:buFont typeface="Calibri"/>
              <a:buNone/>
            </a:pPr>
            <a:r>
              <a:rPr b="1" i="0" lang="en-US" sz="1350" u="none" cap="none" strike="noStrike">
                <a:solidFill>
                  <a:srgbClr val="22D3EE"/>
                </a:solidFill>
                <a:latin typeface="Inter"/>
                <a:ea typeface="Inter"/>
                <a:cs typeface="Inter"/>
                <a:sym typeface="Inter"/>
              </a:rPr>
              <a:t>QTY</a:t>
            </a:r>
            <a:endParaRPr b="0" i="0" sz="1050" u="none" cap="none" strike="noStrike">
              <a:solidFill>
                <a:schemeClr val="dk1"/>
              </a:solidFill>
              <a:latin typeface="Calibri"/>
              <a:ea typeface="Calibri"/>
              <a:cs typeface="Calibri"/>
              <a:sym typeface="Calibri"/>
            </a:endParaRPr>
          </a:p>
        </p:txBody>
      </p:sp>
      <p:sp>
        <p:nvSpPr>
          <p:cNvPr id="1226" name="Google Shape;1226;p28"/>
          <p:cNvSpPr/>
          <p:nvPr/>
        </p:nvSpPr>
        <p:spPr>
          <a:xfrm>
            <a:off x="4983480" y="2468880"/>
            <a:ext cx="128016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050"/>
              <a:buFont typeface="Calibri"/>
              <a:buNone/>
            </a:pPr>
            <a:r>
              <a:rPr b="1" i="0" lang="en-US" sz="1350" u="none" cap="none" strike="noStrike">
                <a:solidFill>
                  <a:srgbClr val="22D3EE"/>
                </a:solidFill>
                <a:latin typeface="Inter"/>
                <a:ea typeface="Inter"/>
                <a:cs typeface="Inter"/>
                <a:sym typeface="Inter"/>
              </a:rPr>
              <a:t>COST (₹)</a:t>
            </a:r>
            <a:endParaRPr b="0" i="0" sz="1050" u="none" cap="none" strike="noStrike">
              <a:solidFill>
                <a:schemeClr val="dk1"/>
              </a:solidFill>
              <a:latin typeface="Calibri"/>
              <a:ea typeface="Calibri"/>
              <a:cs typeface="Calibri"/>
              <a:sym typeface="Calibri"/>
            </a:endParaRPr>
          </a:p>
        </p:txBody>
      </p:sp>
      <p:sp>
        <p:nvSpPr>
          <p:cNvPr id="1227" name="Google Shape;1227;p28"/>
          <p:cNvSpPr/>
          <p:nvPr/>
        </p:nvSpPr>
        <p:spPr>
          <a:xfrm>
            <a:off x="502920" y="2834640"/>
            <a:ext cx="5852160" cy="320040"/>
          </a:xfrm>
          <a:prstGeom prst="rect">
            <a:avLst/>
          </a:prstGeom>
          <a:solidFill>
            <a:srgbClr val="0F2440"/>
          </a:solidFill>
          <a:ln cap="flat" cmpd="sng" w="9525">
            <a:solidFill>
              <a:srgbClr val="1E3A5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1228" name="Google Shape;1228;p28"/>
          <p:cNvSpPr/>
          <p:nvPr/>
        </p:nvSpPr>
        <p:spPr>
          <a:xfrm>
            <a:off x="685800" y="2834640"/>
            <a:ext cx="34290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0" i="0" lang="en-US" sz="1350" u="none" cap="none" strike="noStrike">
                <a:solidFill>
                  <a:srgbClr val="FFFFFF"/>
                </a:solidFill>
                <a:latin typeface="Inter"/>
                <a:ea typeface="Inter"/>
                <a:cs typeface="Inter"/>
                <a:sym typeface="Inter"/>
              </a:rPr>
              <a:t>Seeed Studio XIAO ESP32C3</a:t>
            </a:r>
            <a:endParaRPr b="0" i="0" sz="1100" u="none" cap="none" strike="noStrike">
              <a:solidFill>
                <a:schemeClr val="dk1"/>
              </a:solidFill>
              <a:latin typeface="Calibri"/>
              <a:ea typeface="Calibri"/>
              <a:cs typeface="Calibri"/>
              <a:sym typeface="Calibri"/>
            </a:endParaRPr>
          </a:p>
        </p:txBody>
      </p:sp>
      <p:sp>
        <p:nvSpPr>
          <p:cNvPr id="1229" name="Google Shape;1229;p28"/>
          <p:cNvSpPr/>
          <p:nvPr/>
        </p:nvSpPr>
        <p:spPr>
          <a:xfrm>
            <a:off x="4160520" y="2834640"/>
            <a:ext cx="73152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DD5E2"/>
              </a:buClr>
              <a:buSzPts val="1100"/>
              <a:buFont typeface="Calibri"/>
              <a:buNone/>
            </a:pPr>
            <a:r>
              <a:rPr b="0" i="0" lang="en-US" sz="1350" u="none" cap="none" strike="noStrike">
                <a:solidFill>
                  <a:srgbClr val="CDD5E2"/>
                </a:solidFill>
                <a:latin typeface="Inter"/>
                <a:ea typeface="Inter"/>
                <a:cs typeface="Inter"/>
                <a:sym typeface="Inter"/>
              </a:rPr>
              <a:t>1</a:t>
            </a:r>
            <a:endParaRPr b="0" i="0" sz="1100" u="none" cap="none" strike="noStrike">
              <a:solidFill>
                <a:schemeClr val="dk1"/>
              </a:solidFill>
              <a:latin typeface="Calibri"/>
              <a:ea typeface="Calibri"/>
              <a:cs typeface="Calibri"/>
              <a:sym typeface="Calibri"/>
            </a:endParaRPr>
          </a:p>
        </p:txBody>
      </p:sp>
      <p:sp>
        <p:nvSpPr>
          <p:cNvPr id="1230" name="Google Shape;1230;p28"/>
          <p:cNvSpPr/>
          <p:nvPr/>
        </p:nvSpPr>
        <p:spPr>
          <a:xfrm>
            <a:off x="4983480" y="2834640"/>
            <a:ext cx="128016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0" i="0" lang="en-US" sz="1350" u="none" cap="none" strike="noStrike">
                <a:solidFill>
                  <a:srgbClr val="FFFFFF"/>
                </a:solidFill>
                <a:latin typeface="Inter"/>
                <a:ea typeface="Inter"/>
                <a:cs typeface="Inter"/>
                <a:sym typeface="Inter"/>
              </a:rPr>
              <a:t>500</a:t>
            </a:r>
            <a:endParaRPr b="0" i="0" sz="1100" u="none" cap="none" strike="noStrike">
              <a:solidFill>
                <a:schemeClr val="dk1"/>
              </a:solidFill>
              <a:latin typeface="Calibri"/>
              <a:ea typeface="Calibri"/>
              <a:cs typeface="Calibri"/>
              <a:sym typeface="Calibri"/>
            </a:endParaRPr>
          </a:p>
        </p:txBody>
      </p:sp>
      <p:sp>
        <p:nvSpPr>
          <p:cNvPr id="1231" name="Google Shape;1231;p28"/>
          <p:cNvSpPr/>
          <p:nvPr/>
        </p:nvSpPr>
        <p:spPr>
          <a:xfrm>
            <a:off x="502920" y="3154680"/>
            <a:ext cx="5852160" cy="320040"/>
          </a:xfrm>
          <a:prstGeom prst="rect">
            <a:avLst/>
          </a:prstGeom>
          <a:solidFill>
            <a:srgbClr val="050E1C"/>
          </a:solidFill>
          <a:ln cap="flat" cmpd="sng" w="9525">
            <a:solidFill>
              <a:srgbClr val="1E3A5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1232" name="Google Shape;1232;p28"/>
          <p:cNvSpPr/>
          <p:nvPr/>
        </p:nvSpPr>
        <p:spPr>
          <a:xfrm>
            <a:off x="685800" y="3154680"/>
            <a:ext cx="34290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0" i="0" lang="en-US" sz="1350" u="none" cap="none" strike="noStrike">
                <a:solidFill>
                  <a:srgbClr val="FFFFFF"/>
                </a:solidFill>
                <a:latin typeface="Inter"/>
                <a:ea typeface="Inter"/>
                <a:cs typeface="Inter"/>
                <a:sym typeface="Inter"/>
              </a:rPr>
              <a:t>MPU6050 6-DOF Sensor</a:t>
            </a:r>
            <a:endParaRPr b="0" i="0" sz="1100" u="none" cap="none" strike="noStrike">
              <a:solidFill>
                <a:schemeClr val="dk1"/>
              </a:solidFill>
              <a:latin typeface="Calibri"/>
              <a:ea typeface="Calibri"/>
              <a:cs typeface="Calibri"/>
              <a:sym typeface="Calibri"/>
            </a:endParaRPr>
          </a:p>
        </p:txBody>
      </p:sp>
      <p:sp>
        <p:nvSpPr>
          <p:cNvPr id="1233" name="Google Shape;1233;p28"/>
          <p:cNvSpPr/>
          <p:nvPr/>
        </p:nvSpPr>
        <p:spPr>
          <a:xfrm>
            <a:off x="4160520" y="3154680"/>
            <a:ext cx="73152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DD5E2"/>
              </a:buClr>
              <a:buSzPts val="1100"/>
              <a:buFont typeface="Calibri"/>
              <a:buNone/>
            </a:pPr>
            <a:r>
              <a:rPr b="0" i="0" lang="en-US" sz="1350" u="none" cap="none" strike="noStrike">
                <a:solidFill>
                  <a:srgbClr val="CDD5E2"/>
                </a:solidFill>
                <a:latin typeface="Inter"/>
                <a:ea typeface="Inter"/>
                <a:cs typeface="Inter"/>
                <a:sym typeface="Inter"/>
              </a:rPr>
              <a:t>1</a:t>
            </a:r>
            <a:endParaRPr b="0" i="0" sz="1100" u="none" cap="none" strike="noStrike">
              <a:solidFill>
                <a:schemeClr val="dk1"/>
              </a:solidFill>
              <a:latin typeface="Calibri"/>
              <a:ea typeface="Calibri"/>
              <a:cs typeface="Calibri"/>
              <a:sym typeface="Calibri"/>
            </a:endParaRPr>
          </a:p>
        </p:txBody>
      </p:sp>
      <p:sp>
        <p:nvSpPr>
          <p:cNvPr id="1234" name="Google Shape;1234;p28"/>
          <p:cNvSpPr/>
          <p:nvPr/>
        </p:nvSpPr>
        <p:spPr>
          <a:xfrm>
            <a:off x="4983480" y="3154680"/>
            <a:ext cx="12801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0" i="0" lang="en-US" sz="1350" u="none" cap="none" strike="noStrike">
                <a:solidFill>
                  <a:srgbClr val="FFFFFF"/>
                </a:solidFill>
                <a:latin typeface="Inter"/>
                <a:ea typeface="Inter"/>
                <a:cs typeface="Inter"/>
                <a:sym typeface="Inter"/>
              </a:rPr>
              <a:t>100</a:t>
            </a:r>
            <a:endParaRPr b="0" i="0" sz="1100" u="none" cap="none" strike="noStrike">
              <a:solidFill>
                <a:schemeClr val="dk1"/>
              </a:solidFill>
              <a:latin typeface="Calibri"/>
              <a:ea typeface="Calibri"/>
              <a:cs typeface="Calibri"/>
              <a:sym typeface="Calibri"/>
            </a:endParaRPr>
          </a:p>
        </p:txBody>
      </p:sp>
      <p:sp>
        <p:nvSpPr>
          <p:cNvPr id="1235" name="Google Shape;1235;p28"/>
          <p:cNvSpPr/>
          <p:nvPr/>
        </p:nvSpPr>
        <p:spPr>
          <a:xfrm>
            <a:off x="502920" y="3474720"/>
            <a:ext cx="5852160" cy="320040"/>
          </a:xfrm>
          <a:prstGeom prst="rect">
            <a:avLst/>
          </a:prstGeom>
          <a:solidFill>
            <a:srgbClr val="0F2440"/>
          </a:solidFill>
          <a:ln cap="flat" cmpd="sng" w="9525">
            <a:solidFill>
              <a:srgbClr val="1E3A5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1236" name="Google Shape;1236;p28"/>
          <p:cNvSpPr/>
          <p:nvPr/>
        </p:nvSpPr>
        <p:spPr>
          <a:xfrm>
            <a:off x="685800" y="3474720"/>
            <a:ext cx="34290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0" i="0" lang="en-US" sz="1350" u="none" cap="none" strike="noStrike">
                <a:solidFill>
                  <a:srgbClr val="FFFFFF"/>
                </a:solidFill>
                <a:latin typeface="Inter"/>
                <a:ea typeface="Inter"/>
                <a:cs typeface="Inter"/>
                <a:sym typeface="Inter"/>
              </a:rPr>
              <a:t>Multi-Beam IR Sensor</a:t>
            </a:r>
            <a:endParaRPr b="0" i="0" sz="1100" u="none" cap="none" strike="noStrike">
              <a:solidFill>
                <a:schemeClr val="dk1"/>
              </a:solidFill>
              <a:latin typeface="Calibri"/>
              <a:ea typeface="Calibri"/>
              <a:cs typeface="Calibri"/>
              <a:sym typeface="Calibri"/>
            </a:endParaRPr>
          </a:p>
        </p:txBody>
      </p:sp>
      <p:sp>
        <p:nvSpPr>
          <p:cNvPr id="1237" name="Google Shape;1237;p28"/>
          <p:cNvSpPr/>
          <p:nvPr/>
        </p:nvSpPr>
        <p:spPr>
          <a:xfrm>
            <a:off x="4160520" y="3474720"/>
            <a:ext cx="73152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DD5E2"/>
              </a:buClr>
              <a:buSzPts val="1100"/>
              <a:buFont typeface="Calibri"/>
              <a:buNone/>
            </a:pPr>
            <a:r>
              <a:rPr b="0" i="0" lang="en-US" sz="1350" u="none" cap="none" strike="noStrike">
                <a:solidFill>
                  <a:srgbClr val="CDD5E2"/>
                </a:solidFill>
                <a:latin typeface="Inter"/>
                <a:ea typeface="Inter"/>
                <a:cs typeface="Inter"/>
                <a:sym typeface="Inter"/>
              </a:rPr>
              <a:t>1</a:t>
            </a:r>
            <a:endParaRPr b="0" i="0" sz="1100" u="none" cap="none" strike="noStrike">
              <a:solidFill>
                <a:schemeClr val="dk1"/>
              </a:solidFill>
              <a:latin typeface="Calibri"/>
              <a:ea typeface="Calibri"/>
              <a:cs typeface="Calibri"/>
              <a:sym typeface="Calibri"/>
            </a:endParaRPr>
          </a:p>
        </p:txBody>
      </p:sp>
      <p:sp>
        <p:nvSpPr>
          <p:cNvPr id="1238" name="Google Shape;1238;p28"/>
          <p:cNvSpPr/>
          <p:nvPr/>
        </p:nvSpPr>
        <p:spPr>
          <a:xfrm>
            <a:off x="4983480" y="3474720"/>
            <a:ext cx="128016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0" i="0" lang="en-US" sz="1350" u="none" cap="none" strike="noStrike">
                <a:solidFill>
                  <a:srgbClr val="FFFFFF"/>
                </a:solidFill>
                <a:latin typeface="Inter"/>
                <a:ea typeface="Inter"/>
                <a:cs typeface="Inter"/>
                <a:sym typeface="Inter"/>
              </a:rPr>
              <a:t>30</a:t>
            </a:r>
            <a:endParaRPr b="0" i="0" sz="1100" u="none" cap="none" strike="noStrike">
              <a:solidFill>
                <a:schemeClr val="dk1"/>
              </a:solidFill>
              <a:latin typeface="Calibri"/>
              <a:ea typeface="Calibri"/>
              <a:cs typeface="Calibri"/>
              <a:sym typeface="Calibri"/>
            </a:endParaRPr>
          </a:p>
        </p:txBody>
      </p:sp>
      <p:sp>
        <p:nvSpPr>
          <p:cNvPr id="1239" name="Google Shape;1239;p28"/>
          <p:cNvSpPr/>
          <p:nvPr/>
        </p:nvSpPr>
        <p:spPr>
          <a:xfrm>
            <a:off x="502920" y="3794760"/>
            <a:ext cx="5852160" cy="320040"/>
          </a:xfrm>
          <a:prstGeom prst="rect">
            <a:avLst/>
          </a:prstGeom>
          <a:solidFill>
            <a:srgbClr val="050E1C"/>
          </a:solidFill>
          <a:ln cap="flat" cmpd="sng" w="9525">
            <a:solidFill>
              <a:srgbClr val="1E3A5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1240" name="Google Shape;1240;p28"/>
          <p:cNvSpPr/>
          <p:nvPr/>
        </p:nvSpPr>
        <p:spPr>
          <a:xfrm>
            <a:off x="685800" y="3794760"/>
            <a:ext cx="34290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0" i="0" lang="en-US" sz="1350" u="none" cap="none" strike="noStrike">
                <a:solidFill>
                  <a:srgbClr val="FFFFFF"/>
                </a:solidFill>
                <a:latin typeface="Inter"/>
                <a:ea typeface="Inter"/>
                <a:cs typeface="Inter"/>
                <a:sym typeface="Inter"/>
              </a:rPr>
              <a:t>Magnet + Nut-Bolt Pivot + RGB LED</a:t>
            </a:r>
            <a:endParaRPr b="0" i="0" sz="1100" u="none" cap="none" strike="noStrike">
              <a:solidFill>
                <a:schemeClr val="dk1"/>
              </a:solidFill>
              <a:latin typeface="Calibri"/>
              <a:ea typeface="Calibri"/>
              <a:cs typeface="Calibri"/>
              <a:sym typeface="Calibri"/>
            </a:endParaRPr>
          </a:p>
        </p:txBody>
      </p:sp>
      <p:sp>
        <p:nvSpPr>
          <p:cNvPr id="1241" name="Google Shape;1241;p28"/>
          <p:cNvSpPr/>
          <p:nvPr/>
        </p:nvSpPr>
        <p:spPr>
          <a:xfrm>
            <a:off x="4160520" y="3794760"/>
            <a:ext cx="73152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DD5E2"/>
              </a:buClr>
              <a:buSzPts val="1100"/>
              <a:buFont typeface="Calibri"/>
              <a:buNone/>
            </a:pPr>
            <a:r>
              <a:rPr b="0" i="0" lang="en-US" sz="1350" u="none" cap="none" strike="noStrike">
                <a:solidFill>
                  <a:srgbClr val="CDD5E2"/>
                </a:solidFill>
                <a:latin typeface="Inter"/>
                <a:ea typeface="Inter"/>
                <a:cs typeface="Inter"/>
                <a:sym typeface="Inter"/>
              </a:rPr>
              <a:t>1 set</a:t>
            </a:r>
            <a:endParaRPr b="0" i="0" sz="1100" u="none" cap="none" strike="noStrike">
              <a:solidFill>
                <a:schemeClr val="dk1"/>
              </a:solidFill>
              <a:latin typeface="Calibri"/>
              <a:ea typeface="Calibri"/>
              <a:cs typeface="Calibri"/>
              <a:sym typeface="Calibri"/>
            </a:endParaRPr>
          </a:p>
        </p:txBody>
      </p:sp>
      <p:sp>
        <p:nvSpPr>
          <p:cNvPr id="1242" name="Google Shape;1242;p28"/>
          <p:cNvSpPr/>
          <p:nvPr/>
        </p:nvSpPr>
        <p:spPr>
          <a:xfrm>
            <a:off x="4983480" y="3794760"/>
            <a:ext cx="128016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0" i="0" lang="en-US" sz="1350" u="none" cap="none" strike="noStrike">
                <a:solidFill>
                  <a:srgbClr val="FFFFFF"/>
                </a:solidFill>
                <a:latin typeface="Inter"/>
                <a:ea typeface="Inter"/>
                <a:cs typeface="Inter"/>
                <a:sym typeface="Inter"/>
              </a:rPr>
              <a:t>20</a:t>
            </a:r>
            <a:endParaRPr b="0" i="0" sz="1100" u="none" cap="none" strike="noStrike">
              <a:solidFill>
                <a:schemeClr val="dk1"/>
              </a:solidFill>
              <a:latin typeface="Calibri"/>
              <a:ea typeface="Calibri"/>
              <a:cs typeface="Calibri"/>
              <a:sym typeface="Calibri"/>
            </a:endParaRPr>
          </a:p>
        </p:txBody>
      </p:sp>
      <p:sp>
        <p:nvSpPr>
          <p:cNvPr id="1243" name="Google Shape;1243;p28"/>
          <p:cNvSpPr/>
          <p:nvPr/>
        </p:nvSpPr>
        <p:spPr>
          <a:xfrm>
            <a:off x="502920" y="4114800"/>
            <a:ext cx="5852160" cy="320040"/>
          </a:xfrm>
          <a:prstGeom prst="rect">
            <a:avLst/>
          </a:prstGeom>
          <a:solidFill>
            <a:srgbClr val="0F2440"/>
          </a:solidFill>
          <a:ln cap="flat" cmpd="sng" w="9525">
            <a:solidFill>
              <a:srgbClr val="1E3A5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1244" name="Google Shape;1244;p28"/>
          <p:cNvSpPr/>
          <p:nvPr/>
        </p:nvSpPr>
        <p:spPr>
          <a:xfrm>
            <a:off x="685800" y="4114800"/>
            <a:ext cx="34290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0" i="0" lang="en-US" sz="1350" u="none" cap="none" strike="noStrike">
                <a:solidFill>
                  <a:srgbClr val="FFFFFF"/>
                </a:solidFill>
                <a:latin typeface="Inter"/>
                <a:ea typeface="Inter"/>
                <a:cs typeface="Inter"/>
                <a:sym typeface="Inter"/>
              </a:rPr>
              <a:t>3.7V 1000mAh Li-Po Battery (XIAO)</a:t>
            </a:r>
            <a:endParaRPr b="0" i="0" sz="1100" u="none" cap="none" strike="noStrike">
              <a:solidFill>
                <a:schemeClr val="dk1"/>
              </a:solidFill>
              <a:latin typeface="Calibri"/>
              <a:ea typeface="Calibri"/>
              <a:cs typeface="Calibri"/>
              <a:sym typeface="Calibri"/>
            </a:endParaRPr>
          </a:p>
        </p:txBody>
      </p:sp>
      <p:sp>
        <p:nvSpPr>
          <p:cNvPr id="1245" name="Google Shape;1245;p28"/>
          <p:cNvSpPr/>
          <p:nvPr/>
        </p:nvSpPr>
        <p:spPr>
          <a:xfrm>
            <a:off x="4160520" y="4114800"/>
            <a:ext cx="73152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DD5E2"/>
              </a:buClr>
              <a:buSzPts val="1100"/>
              <a:buFont typeface="Calibri"/>
              <a:buNone/>
            </a:pPr>
            <a:r>
              <a:rPr b="0" i="0" lang="en-US" sz="1350" u="none" cap="none" strike="noStrike">
                <a:solidFill>
                  <a:srgbClr val="CDD5E2"/>
                </a:solidFill>
                <a:latin typeface="Inter"/>
                <a:ea typeface="Inter"/>
                <a:cs typeface="Inter"/>
                <a:sym typeface="Inter"/>
              </a:rPr>
              <a:t>1</a:t>
            </a:r>
            <a:endParaRPr b="0" i="0" sz="1100" u="none" cap="none" strike="noStrike">
              <a:solidFill>
                <a:schemeClr val="dk1"/>
              </a:solidFill>
              <a:latin typeface="Calibri"/>
              <a:ea typeface="Calibri"/>
              <a:cs typeface="Calibri"/>
              <a:sym typeface="Calibri"/>
            </a:endParaRPr>
          </a:p>
        </p:txBody>
      </p:sp>
      <p:sp>
        <p:nvSpPr>
          <p:cNvPr id="1246" name="Google Shape;1246;p28"/>
          <p:cNvSpPr/>
          <p:nvPr/>
        </p:nvSpPr>
        <p:spPr>
          <a:xfrm>
            <a:off x="4983480" y="4114800"/>
            <a:ext cx="128016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0" i="0" lang="en-US" sz="1350" u="none" cap="none" strike="noStrike">
                <a:solidFill>
                  <a:srgbClr val="FFFFFF"/>
                </a:solidFill>
                <a:latin typeface="Inter"/>
                <a:ea typeface="Inter"/>
                <a:cs typeface="Inter"/>
                <a:sym typeface="Inter"/>
              </a:rPr>
              <a:t>80</a:t>
            </a:r>
            <a:endParaRPr b="0" i="0" sz="1100" u="none" cap="none" strike="noStrike">
              <a:solidFill>
                <a:schemeClr val="dk1"/>
              </a:solidFill>
              <a:latin typeface="Calibri"/>
              <a:ea typeface="Calibri"/>
              <a:cs typeface="Calibri"/>
              <a:sym typeface="Calibri"/>
            </a:endParaRPr>
          </a:p>
        </p:txBody>
      </p:sp>
      <p:sp>
        <p:nvSpPr>
          <p:cNvPr id="1247" name="Google Shape;1247;p28"/>
          <p:cNvSpPr/>
          <p:nvPr/>
        </p:nvSpPr>
        <p:spPr>
          <a:xfrm>
            <a:off x="502920" y="4434840"/>
            <a:ext cx="5852160" cy="320040"/>
          </a:xfrm>
          <a:prstGeom prst="rect">
            <a:avLst/>
          </a:prstGeom>
          <a:solidFill>
            <a:srgbClr val="050E1C"/>
          </a:solidFill>
          <a:ln cap="flat" cmpd="sng" w="9525">
            <a:solidFill>
              <a:srgbClr val="1E3A5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1248" name="Google Shape;1248;p28"/>
          <p:cNvSpPr/>
          <p:nvPr/>
        </p:nvSpPr>
        <p:spPr>
          <a:xfrm>
            <a:off x="685800" y="4434840"/>
            <a:ext cx="34290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0" i="0" lang="en-US" sz="1350" u="none" cap="none" strike="noStrike">
                <a:solidFill>
                  <a:srgbClr val="FFFFFF"/>
                </a:solidFill>
                <a:latin typeface="Inter"/>
                <a:ea typeface="Inter"/>
                <a:cs typeface="Inter"/>
                <a:sym typeface="Inter"/>
              </a:rPr>
              <a:t>Breathable Velcro Belt + Glasses</a:t>
            </a:r>
            <a:endParaRPr b="0" i="0" sz="1100" u="none" cap="none" strike="noStrike">
              <a:solidFill>
                <a:schemeClr val="dk1"/>
              </a:solidFill>
              <a:latin typeface="Calibri"/>
              <a:ea typeface="Calibri"/>
              <a:cs typeface="Calibri"/>
              <a:sym typeface="Calibri"/>
            </a:endParaRPr>
          </a:p>
        </p:txBody>
      </p:sp>
      <p:sp>
        <p:nvSpPr>
          <p:cNvPr id="1249" name="Google Shape;1249;p28"/>
          <p:cNvSpPr/>
          <p:nvPr/>
        </p:nvSpPr>
        <p:spPr>
          <a:xfrm>
            <a:off x="4160520" y="4434840"/>
            <a:ext cx="73152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DD5E2"/>
              </a:buClr>
              <a:buSzPts val="1100"/>
              <a:buFont typeface="Calibri"/>
              <a:buNone/>
            </a:pPr>
            <a:r>
              <a:rPr b="0" i="0" lang="en-US" sz="1350" u="none" cap="none" strike="noStrike">
                <a:solidFill>
                  <a:srgbClr val="CDD5E2"/>
                </a:solidFill>
                <a:latin typeface="Inter"/>
                <a:ea typeface="Inter"/>
                <a:cs typeface="Inter"/>
                <a:sym typeface="Inter"/>
              </a:rPr>
              <a:t>1 set</a:t>
            </a:r>
            <a:endParaRPr b="0" i="0" sz="1100" u="none" cap="none" strike="noStrike">
              <a:solidFill>
                <a:schemeClr val="dk1"/>
              </a:solidFill>
              <a:latin typeface="Calibri"/>
              <a:ea typeface="Calibri"/>
              <a:cs typeface="Calibri"/>
              <a:sym typeface="Calibri"/>
            </a:endParaRPr>
          </a:p>
        </p:txBody>
      </p:sp>
      <p:sp>
        <p:nvSpPr>
          <p:cNvPr id="1250" name="Google Shape;1250;p28"/>
          <p:cNvSpPr/>
          <p:nvPr/>
        </p:nvSpPr>
        <p:spPr>
          <a:xfrm>
            <a:off x="4983480" y="4434840"/>
            <a:ext cx="128016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0" i="0" lang="en-US" sz="1350" u="none" cap="none" strike="noStrike">
                <a:solidFill>
                  <a:srgbClr val="FFFFFF"/>
                </a:solidFill>
                <a:latin typeface="Inter"/>
                <a:ea typeface="Inter"/>
                <a:cs typeface="Inter"/>
                <a:sym typeface="Inter"/>
              </a:rPr>
              <a:t>130</a:t>
            </a:r>
            <a:endParaRPr b="0" i="0" sz="1100" u="none" cap="none" strike="noStrike">
              <a:solidFill>
                <a:schemeClr val="dk1"/>
              </a:solidFill>
              <a:latin typeface="Calibri"/>
              <a:ea typeface="Calibri"/>
              <a:cs typeface="Calibri"/>
              <a:sym typeface="Calibri"/>
            </a:endParaRPr>
          </a:p>
        </p:txBody>
      </p:sp>
      <p:sp>
        <p:nvSpPr>
          <p:cNvPr id="1251" name="Google Shape;1251;p28"/>
          <p:cNvSpPr/>
          <p:nvPr/>
        </p:nvSpPr>
        <p:spPr>
          <a:xfrm>
            <a:off x="502920" y="4754880"/>
            <a:ext cx="5852160" cy="320040"/>
          </a:xfrm>
          <a:prstGeom prst="rect">
            <a:avLst/>
          </a:prstGeom>
          <a:solidFill>
            <a:srgbClr val="0F2440"/>
          </a:solidFill>
          <a:ln cap="flat" cmpd="sng" w="9525">
            <a:solidFill>
              <a:srgbClr val="1E3A5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1252" name="Google Shape;1252;p28"/>
          <p:cNvSpPr/>
          <p:nvPr/>
        </p:nvSpPr>
        <p:spPr>
          <a:xfrm>
            <a:off x="685800" y="4754880"/>
            <a:ext cx="34290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0" i="0" lang="en-US" sz="1350" u="none" cap="none" strike="noStrike">
                <a:solidFill>
                  <a:srgbClr val="FFFFFF"/>
                </a:solidFill>
                <a:latin typeface="Inter"/>
                <a:ea typeface="Inter"/>
                <a:cs typeface="Inter"/>
                <a:sym typeface="Inter"/>
              </a:rPr>
              <a:t>Wires + Passive Components</a:t>
            </a:r>
            <a:endParaRPr b="0" i="0" sz="1100" u="none" cap="none" strike="noStrike">
              <a:solidFill>
                <a:schemeClr val="dk1"/>
              </a:solidFill>
              <a:latin typeface="Calibri"/>
              <a:ea typeface="Calibri"/>
              <a:cs typeface="Calibri"/>
              <a:sym typeface="Calibri"/>
            </a:endParaRPr>
          </a:p>
        </p:txBody>
      </p:sp>
      <p:sp>
        <p:nvSpPr>
          <p:cNvPr id="1253" name="Google Shape;1253;p28"/>
          <p:cNvSpPr/>
          <p:nvPr/>
        </p:nvSpPr>
        <p:spPr>
          <a:xfrm>
            <a:off x="4160520" y="4754880"/>
            <a:ext cx="73152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DD5E2"/>
              </a:buClr>
              <a:buSzPts val="1100"/>
              <a:buFont typeface="Calibri"/>
              <a:buNone/>
            </a:pPr>
            <a:r>
              <a:rPr b="0" i="0" lang="en-US" sz="1350" u="none" cap="none" strike="noStrike">
                <a:solidFill>
                  <a:srgbClr val="CDD5E2"/>
                </a:solidFill>
                <a:latin typeface="Inter"/>
                <a:ea typeface="Inter"/>
                <a:cs typeface="Inter"/>
                <a:sym typeface="Inter"/>
              </a:rPr>
              <a:t>1</a:t>
            </a:r>
            <a:endParaRPr b="0" i="0" sz="1100" u="none" cap="none" strike="noStrike">
              <a:solidFill>
                <a:schemeClr val="dk1"/>
              </a:solidFill>
              <a:latin typeface="Calibri"/>
              <a:ea typeface="Calibri"/>
              <a:cs typeface="Calibri"/>
              <a:sym typeface="Calibri"/>
            </a:endParaRPr>
          </a:p>
        </p:txBody>
      </p:sp>
      <p:sp>
        <p:nvSpPr>
          <p:cNvPr id="1254" name="Google Shape;1254;p28"/>
          <p:cNvSpPr/>
          <p:nvPr/>
        </p:nvSpPr>
        <p:spPr>
          <a:xfrm>
            <a:off x="4983480" y="4754880"/>
            <a:ext cx="128016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0" i="0" lang="en-US" sz="1350" u="none" cap="none" strike="noStrike">
                <a:solidFill>
                  <a:srgbClr val="FFFFFF"/>
                </a:solidFill>
                <a:latin typeface="Inter"/>
                <a:ea typeface="Inter"/>
                <a:cs typeface="Inter"/>
                <a:sym typeface="Inter"/>
              </a:rPr>
              <a:t>25</a:t>
            </a:r>
            <a:endParaRPr b="0" i="0" sz="1100" u="none" cap="none" strike="noStrike">
              <a:solidFill>
                <a:schemeClr val="dk1"/>
              </a:solidFill>
              <a:latin typeface="Calibri"/>
              <a:ea typeface="Calibri"/>
              <a:cs typeface="Calibri"/>
              <a:sym typeface="Calibri"/>
            </a:endParaRPr>
          </a:p>
        </p:txBody>
      </p:sp>
      <p:sp>
        <p:nvSpPr>
          <p:cNvPr id="1255" name="Google Shape;1255;p28"/>
          <p:cNvSpPr/>
          <p:nvPr/>
        </p:nvSpPr>
        <p:spPr>
          <a:xfrm>
            <a:off x="502920" y="5212080"/>
            <a:ext cx="5852160" cy="1143000"/>
          </a:xfrm>
          <a:prstGeom prst="roundRect">
            <a:avLst>
              <a:gd fmla="val 6400"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56" name="Google Shape;1256;p28"/>
          <p:cNvSpPr/>
          <p:nvPr/>
        </p:nvSpPr>
        <p:spPr>
          <a:xfrm>
            <a:off x="777240" y="53035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900"/>
              <a:buFont typeface="Calibri"/>
              <a:buNone/>
            </a:pPr>
            <a:r>
              <a:rPr b="1" i="0" lang="en-US" sz="1300" u="none" cap="none" strike="noStrike">
                <a:solidFill>
                  <a:srgbClr val="22D3EE"/>
                </a:solidFill>
                <a:latin typeface="Inter"/>
                <a:ea typeface="Inter"/>
                <a:cs typeface="Inter"/>
                <a:sym typeface="Inter"/>
              </a:rPr>
              <a:t>TOTAL BUILD COST</a:t>
            </a:r>
            <a:endParaRPr b="0" i="0" sz="900" u="none" cap="none" strike="noStrike">
              <a:solidFill>
                <a:schemeClr val="dk1"/>
              </a:solidFill>
              <a:latin typeface="Calibri"/>
              <a:ea typeface="Calibri"/>
              <a:cs typeface="Calibri"/>
              <a:sym typeface="Calibri"/>
            </a:endParaRPr>
          </a:p>
        </p:txBody>
      </p:sp>
      <p:sp>
        <p:nvSpPr>
          <p:cNvPr id="1257" name="Google Shape;1257;p28"/>
          <p:cNvSpPr/>
          <p:nvPr/>
        </p:nvSpPr>
        <p:spPr>
          <a:xfrm>
            <a:off x="777240" y="5577840"/>
            <a:ext cx="274320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3800"/>
              <a:buFont typeface="Arial"/>
              <a:buNone/>
            </a:pPr>
            <a:r>
              <a:rPr b="1" i="0" lang="en-US" sz="3800" u="none" cap="none" strike="noStrike">
                <a:solidFill>
                  <a:srgbClr val="FFFFFF"/>
                </a:solidFill>
                <a:latin typeface="Inter"/>
                <a:ea typeface="Inter"/>
                <a:cs typeface="Inter"/>
                <a:sym typeface="Inter"/>
              </a:rPr>
              <a:t>₹885</a:t>
            </a:r>
            <a:endParaRPr b="0" i="0" sz="3800" u="none" cap="none" strike="noStrike">
              <a:solidFill>
                <a:schemeClr val="dk1"/>
              </a:solidFill>
              <a:latin typeface="Calibri"/>
              <a:ea typeface="Calibri"/>
              <a:cs typeface="Calibri"/>
              <a:sym typeface="Calibri"/>
            </a:endParaRPr>
          </a:p>
        </p:txBody>
      </p:sp>
      <p:sp>
        <p:nvSpPr>
          <p:cNvPr id="1258" name="Google Shape;1258;p28"/>
          <p:cNvSpPr/>
          <p:nvPr/>
        </p:nvSpPr>
        <p:spPr>
          <a:xfrm>
            <a:off x="3703320" y="5715000"/>
            <a:ext cx="2377440" cy="384048"/>
          </a:xfrm>
          <a:prstGeom prst="roundRect">
            <a:avLst>
              <a:gd fmla="val 119048" name="adj"/>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59" name="Google Shape;1259;p28"/>
          <p:cNvSpPr/>
          <p:nvPr/>
        </p:nvSpPr>
        <p:spPr>
          <a:xfrm>
            <a:off x="3703320" y="5715000"/>
            <a:ext cx="2377440" cy="38404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A2E"/>
              </a:buClr>
              <a:buSzPts val="900"/>
              <a:buFont typeface="Calibri"/>
              <a:buNone/>
            </a:pPr>
            <a:r>
              <a:rPr b="1" i="0" lang="en-US" sz="1300" u="none" cap="none" strike="noStrike">
                <a:solidFill>
                  <a:srgbClr val="0B1A2E"/>
                </a:solidFill>
                <a:latin typeface="Inter"/>
                <a:ea typeface="Inter"/>
                <a:cs typeface="Inter"/>
                <a:sym typeface="Inter"/>
              </a:rPr>
              <a:t>99.96% CHEAPER vs ₹25L</a:t>
            </a:r>
            <a:endParaRPr b="0" i="0" sz="900" u="none" cap="none" strike="noStrike">
              <a:solidFill>
                <a:schemeClr val="dk1"/>
              </a:solidFill>
              <a:latin typeface="Calibri"/>
              <a:ea typeface="Calibri"/>
              <a:cs typeface="Calibri"/>
              <a:sym typeface="Calibri"/>
            </a:endParaRPr>
          </a:p>
        </p:txBody>
      </p:sp>
      <p:sp>
        <p:nvSpPr>
          <p:cNvPr id="1260" name="Google Shape;1260;p28"/>
          <p:cNvSpPr/>
          <p:nvPr/>
        </p:nvSpPr>
        <p:spPr>
          <a:xfrm>
            <a:off x="6858000" y="2468880"/>
            <a:ext cx="48463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900"/>
              <a:buFont typeface="Calibri"/>
              <a:buNone/>
            </a:pPr>
            <a:r>
              <a:rPr b="1" i="0" lang="en-US" sz="1300" u="none" cap="none" strike="noStrike">
                <a:solidFill>
                  <a:srgbClr val="22D3EE"/>
                </a:solidFill>
                <a:latin typeface="Inter"/>
                <a:ea typeface="Inter"/>
                <a:cs typeface="Inter"/>
                <a:sym typeface="Inter"/>
              </a:rPr>
              <a:t>ROADMAP</a:t>
            </a:r>
            <a:endParaRPr b="0" i="0" sz="900" u="none" cap="none" strike="noStrike">
              <a:solidFill>
                <a:schemeClr val="dk1"/>
              </a:solidFill>
              <a:latin typeface="Calibri"/>
              <a:ea typeface="Calibri"/>
              <a:cs typeface="Calibri"/>
              <a:sym typeface="Calibri"/>
            </a:endParaRPr>
          </a:p>
        </p:txBody>
      </p:sp>
      <p:sp>
        <p:nvSpPr>
          <p:cNvPr id="1261" name="Google Shape;1261;p28"/>
          <p:cNvSpPr/>
          <p:nvPr/>
        </p:nvSpPr>
        <p:spPr>
          <a:xfrm>
            <a:off x="6858000" y="2834640"/>
            <a:ext cx="4846320" cy="1143000"/>
          </a:xfrm>
          <a:prstGeom prst="roundRect">
            <a:avLst>
              <a:gd fmla="val 6400"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62" name="Google Shape;1262;p28"/>
          <p:cNvSpPr/>
          <p:nvPr/>
        </p:nvSpPr>
        <p:spPr>
          <a:xfrm>
            <a:off x="7086600" y="3127248"/>
            <a:ext cx="228600" cy="228600"/>
          </a:xfrm>
          <a:prstGeom prst="ellipse">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63" name="Google Shape;1263;p28"/>
          <p:cNvSpPr/>
          <p:nvPr/>
        </p:nvSpPr>
        <p:spPr>
          <a:xfrm>
            <a:off x="7452360" y="2971800"/>
            <a:ext cx="1371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000"/>
              <a:buFont typeface="Calibri"/>
              <a:buNone/>
            </a:pPr>
            <a:r>
              <a:rPr b="1" i="0" lang="en-US" sz="1250" u="none" cap="none" strike="noStrike">
                <a:solidFill>
                  <a:srgbClr val="22D3EE"/>
                </a:solidFill>
                <a:latin typeface="Inter"/>
                <a:ea typeface="Inter"/>
                <a:cs typeface="Inter"/>
                <a:sym typeface="Inter"/>
              </a:rPr>
              <a:t>TODAY</a:t>
            </a:r>
            <a:endParaRPr b="0" i="0" sz="1000" u="none" cap="none" strike="noStrike">
              <a:solidFill>
                <a:schemeClr val="dk1"/>
              </a:solidFill>
              <a:latin typeface="Calibri"/>
              <a:ea typeface="Calibri"/>
              <a:cs typeface="Calibri"/>
              <a:sym typeface="Calibri"/>
            </a:endParaRPr>
          </a:p>
        </p:txBody>
      </p:sp>
      <p:sp>
        <p:nvSpPr>
          <p:cNvPr id="1264" name="Google Shape;1264;p28"/>
          <p:cNvSpPr/>
          <p:nvPr/>
        </p:nvSpPr>
        <p:spPr>
          <a:xfrm>
            <a:off x="7452360" y="3264408"/>
            <a:ext cx="41605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Arial"/>
              <a:buNone/>
            </a:pPr>
            <a:r>
              <a:rPr b="1" i="0" lang="en-US" sz="1500" u="none" cap="none" strike="noStrike">
                <a:solidFill>
                  <a:srgbClr val="FFFFFF"/>
                </a:solidFill>
                <a:latin typeface="Inter"/>
                <a:ea typeface="Inter"/>
                <a:cs typeface="Inter"/>
                <a:sym typeface="Inter"/>
              </a:rPr>
              <a:t>Working XIAO + Magnet Glasses Rig</a:t>
            </a:r>
            <a:endParaRPr b="0" i="0" sz="1300" u="none" cap="none" strike="noStrike">
              <a:solidFill>
                <a:schemeClr val="dk1"/>
              </a:solidFill>
              <a:latin typeface="Calibri"/>
              <a:ea typeface="Calibri"/>
              <a:cs typeface="Calibri"/>
              <a:sym typeface="Calibri"/>
            </a:endParaRPr>
          </a:p>
        </p:txBody>
      </p:sp>
      <p:sp>
        <p:nvSpPr>
          <p:cNvPr id="1265" name="Google Shape;1265;p28"/>
          <p:cNvSpPr/>
          <p:nvPr/>
        </p:nvSpPr>
        <p:spPr>
          <a:xfrm>
            <a:off x="7452360" y="3547872"/>
            <a:ext cx="4160520" cy="4389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400"/>
              <a:buFont typeface="Calibri"/>
              <a:buNone/>
            </a:pPr>
            <a:r>
              <a:rPr b="0" i="0" lang="en-US" sz="1350" u="none" cap="none" strike="noStrike">
                <a:solidFill>
                  <a:srgbClr val="CDD5E2"/>
                </a:solidFill>
                <a:latin typeface="Inter"/>
                <a:ea typeface="Inter"/>
                <a:cs typeface="Inter"/>
                <a:sym typeface="Inter"/>
              </a:rPr>
              <a:t>• Functional ₹885 rig with live Python eye twin &amp; 2–3s setup.</a:t>
            </a:r>
            <a:endParaRPr b="0" i="0" sz="1400" u="none" cap="none" strike="noStrike">
              <a:solidFill>
                <a:schemeClr val="dk1"/>
              </a:solidFill>
              <a:latin typeface="Calibri"/>
              <a:ea typeface="Calibri"/>
              <a:cs typeface="Calibri"/>
              <a:sym typeface="Calibri"/>
            </a:endParaRPr>
          </a:p>
        </p:txBody>
      </p:sp>
      <p:sp>
        <p:nvSpPr>
          <p:cNvPr id="1266" name="Google Shape;1266;p28"/>
          <p:cNvSpPr/>
          <p:nvPr/>
        </p:nvSpPr>
        <p:spPr>
          <a:xfrm>
            <a:off x="6858000" y="4114800"/>
            <a:ext cx="4846320" cy="1143000"/>
          </a:xfrm>
          <a:prstGeom prst="roundRect">
            <a:avLst>
              <a:gd fmla="val 6400"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67" name="Google Shape;1267;p28"/>
          <p:cNvSpPr/>
          <p:nvPr/>
        </p:nvSpPr>
        <p:spPr>
          <a:xfrm>
            <a:off x="7086600" y="4407408"/>
            <a:ext cx="228600" cy="228600"/>
          </a:xfrm>
          <a:prstGeom prst="ellipse">
            <a:avLst/>
          </a:prstGeom>
          <a:solidFill>
            <a:srgbClr val="FFB02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68" name="Google Shape;1268;p28"/>
          <p:cNvSpPr/>
          <p:nvPr/>
        </p:nvSpPr>
        <p:spPr>
          <a:xfrm>
            <a:off x="7452360" y="4251960"/>
            <a:ext cx="1371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B020"/>
              </a:buClr>
              <a:buSzPts val="1000"/>
              <a:buFont typeface="Calibri"/>
              <a:buNone/>
            </a:pPr>
            <a:r>
              <a:rPr b="1" i="0" lang="en-US" sz="1250" u="none" cap="none" strike="noStrike">
                <a:solidFill>
                  <a:srgbClr val="FFB020"/>
                </a:solidFill>
                <a:latin typeface="Inter"/>
                <a:ea typeface="Inter"/>
                <a:cs typeface="Inter"/>
                <a:sym typeface="Inter"/>
              </a:rPr>
              <a:t>NEXT</a:t>
            </a:r>
            <a:endParaRPr b="0" i="0" sz="1000" u="none" cap="none" strike="noStrike">
              <a:solidFill>
                <a:schemeClr val="dk1"/>
              </a:solidFill>
              <a:latin typeface="Calibri"/>
              <a:ea typeface="Calibri"/>
              <a:cs typeface="Calibri"/>
              <a:sym typeface="Calibri"/>
            </a:endParaRPr>
          </a:p>
        </p:txBody>
      </p:sp>
      <p:sp>
        <p:nvSpPr>
          <p:cNvPr id="1269" name="Google Shape;1269;p28"/>
          <p:cNvSpPr/>
          <p:nvPr/>
        </p:nvSpPr>
        <p:spPr>
          <a:xfrm>
            <a:off x="7452360" y="4544568"/>
            <a:ext cx="41605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Arial"/>
              <a:buNone/>
            </a:pPr>
            <a:r>
              <a:rPr b="1" i="0" lang="en-US" sz="1500" u="none" cap="none" strike="noStrike">
                <a:solidFill>
                  <a:srgbClr val="FFFFFF"/>
                </a:solidFill>
                <a:latin typeface="Inter"/>
                <a:ea typeface="Inter"/>
                <a:cs typeface="Inter"/>
                <a:sym typeface="Inter"/>
              </a:rPr>
              <a:t>Custom Flex-PCB + 3D Enclosure</a:t>
            </a:r>
            <a:endParaRPr b="0" i="0" sz="1300" u="none" cap="none" strike="noStrike">
              <a:solidFill>
                <a:schemeClr val="dk1"/>
              </a:solidFill>
              <a:latin typeface="Calibri"/>
              <a:ea typeface="Calibri"/>
              <a:cs typeface="Calibri"/>
              <a:sym typeface="Calibri"/>
            </a:endParaRPr>
          </a:p>
        </p:txBody>
      </p:sp>
      <p:sp>
        <p:nvSpPr>
          <p:cNvPr id="1270" name="Google Shape;1270;p28"/>
          <p:cNvSpPr/>
          <p:nvPr/>
        </p:nvSpPr>
        <p:spPr>
          <a:xfrm>
            <a:off x="7452360" y="4828032"/>
            <a:ext cx="4160520" cy="4389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100"/>
              <a:buFont typeface="Calibri"/>
              <a:buNone/>
            </a:pPr>
            <a:r>
              <a:rPr b="0" i="0" lang="en-US" sz="1350" u="none" cap="none" strike="noStrike">
                <a:solidFill>
                  <a:srgbClr val="CDD5E2"/>
                </a:solidFill>
                <a:latin typeface="Inter"/>
                <a:ea typeface="Inter"/>
                <a:cs typeface="Inter"/>
                <a:sym typeface="Inter"/>
              </a:rPr>
              <a:t>• Will miniaturize casing for hospital &amp; NGO field validation.</a:t>
            </a:r>
            <a:endParaRPr b="0" i="0" sz="1100" u="none" cap="none" strike="noStrike">
              <a:solidFill>
                <a:schemeClr val="dk1"/>
              </a:solidFill>
              <a:latin typeface="Calibri"/>
              <a:ea typeface="Calibri"/>
              <a:cs typeface="Calibri"/>
              <a:sym typeface="Calibri"/>
            </a:endParaRPr>
          </a:p>
        </p:txBody>
      </p:sp>
      <p:sp>
        <p:nvSpPr>
          <p:cNvPr id="1271" name="Google Shape;1271;p28"/>
          <p:cNvSpPr/>
          <p:nvPr/>
        </p:nvSpPr>
        <p:spPr>
          <a:xfrm>
            <a:off x="6858000" y="5394960"/>
            <a:ext cx="4846320" cy="1143000"/>
          </a:xfrm>
          <a:prstGeom prst="roundRect">
            <a:avLst>
              <a:gd fmla="val 6400"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72" name="Google Shape;1272;p28"/>
          <p:cNvSpPr/>
          <p:nvPr/>
        </p:nvSpPr>
        <p:spPr>
          <a:xfrm>
            <a:off x="7086600" y="5687568"/>
            <a:ext cx="228600" cy="228600"/>
          </a:xfrm>
          <a:prstGeom prst="ellipse">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73" name="Google Shape;1273;p28"/>
          <p:cNvSpPr/>
          <p:nvPr/>
        </p:nvSpPr>
        <p:spPr>
          <a:xfrm>
            <a:off x="7452360" y="5532120"/>
            <a:ext cx="1371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000"/>
              <a:buFont typeface="Calibri"/>
              <a:buNone/>
            </a:pPr>
            <a:r>
              <a:rPr b="1" i="0" lang="en-US" sz="1250" u="none" cap="none" strike="noStrike">
                <a:solidFill>
                  <a:srgbClr val="22D3EE"/>
                </a:solidFill>
                <a:latin typeface="Inter"/>
                <a:ea typeface="Inter"/>
                <a:cs typeface="Inter"/>
                <a:sym typeface="Inter"/>
              </a:rPr>
              <a:t>MISSION</a:t>
            </a:r>
            <a:endParaRPr b="0" i="0" sz="1000" u="none" cap="none" strike="noStrike">
              <a:solidFill>
                <a:schemeClr val="dk1"/>
              </a:solidFill>
              <a:latin typeface="Calibri"/>
              <a:ea typeface="Calibri"/>
              <a:cs typeface="Calibri"/>
              <a:sym typeface="Calibri"/>
            </a:endParaRPr>
          </a:p>
        </p:txBody>
      </p:sp>
      <p:sp>
        <p:nvSpPr>
          <p:cNvPr id="1274" name="Google Shape;1274;p28"/>
          <p:cNvSpPr/>
          <p:nvPr/>
        </p:nvSpPr>
        <p:spPr>
          <a:xfrm>
            <a:off x="7452360" y="5824728"/>
            <a:ext cx="41605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Arial"/>
              <a:buNone/>
            </a:pPr>
            <a:r>
              <a:rPr b="1" i="0" lang="en-US" sz="1500" u="none" cap="none" strike="noStrike">
                <a:solidFill>
                  <a:srgbClr val="FFFFFF"/>
                </a:solidFill>
                <a:latin typeface="Inter"/>
                <a:ea typeface="Inter"/>
                <a:cs typeface="Inter"/>
                <a:sym typeface="Inter"/>
              </a:rPr>
              <a:t>Open Hardware &amp; Future Rollout</a:t>
            </a:r>
            <a:endParaRPr b="0" i="0" sz="1300" u="none" cap="none" strike="noStrike">
              <a:solidFill>
                <a:schemeClr val="dk1"/>
              </a:solidFill>
              <a:latin typeface="Calibri"/>
              <a:ea typeface="Calibri"/>
              <a:cs typeface="Calibri"/>
              <a:sym typeface="Calibri"/>
            </a:endParaRPr>
          </a:p>
        </p:txBody>
      </p:sp>
      <p:sp>
        <p:nvSpPr>
          <p:cNvPr id="1275" name="Google Shape;1275;p28"/>
          <p:cNvSpPr/>
          <p:nvPr/>
        </p:nvSpPr>
        <p:spPr>
          <a:xfrm>
            <a:off x="7452350" y="6108200"/>
            <a:ext cx="4251900" cy="43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100"/>
              <a:buFont typeface="Calibri"/>
              <a:buNone/>
            </a:pPr>
            <a:r>
              <a:rPr b="0" i="0" lang="en-US" sz="1250" u="none" cap="none" strike="noStrike">
                <a:solidFill>
                  <a:srgbClr val="CDD5E2"/>
                </a:solidFill>
                <a:latin typeface="Inter"/>
                <a:ea typeface="Inter"/>
                <a:cs typeface="Inter"/>
                <a:sym typeface="Inter"/>
              </a:rPr>
              <a:t>• Will distribute through hospitals &amp; NGOs at ₹3,000–₹3,500.</a:t>
            </a:r>
            <a:endParaRPr b="0" i="0" sz="1000" u="none" cap="none" strike="noStrike">
              <a:solidFill>
                <a:schemeClr val="dk1"/>
              </a:solidFill>
              <a:latin typeface="Calibri"/>
              <a:ea typeface="Calibri"/>
              <a:cs typeface="Calibri"/>
              <a:sym typeface="Calibri"/>
            </a:endParaRPr>
          </a:p>
        </p:txBody>
      </p:sp>
    </p:spTree>
  </p:cSld>
  <p:clrMapOvr>
    <a:masterClrMapping/>
  </p:clrMapOvr>
  <p:transition spd="med">
    <p:fade/>
  </p:transition>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9" name="Shape 1279"/>
        <p:cNvGrpSpPr/>
        <p:nvPr/>
      </p:nvGrpSpPr>
      <p:grpSpPr>
        <a:xfrm>
          <a:off x="0" y="0"/>
          <a:ext cx="0" cy="0"/>
          <a:chOff x="0" y="0"/>
          <a:chExt cx="0" cy="0"/>
        </a:xfrm>
      </p:grpSpPr>
      <p:sp>
        <p:nvSpPr>
          <p:cNvPr id="1280" name="Google Shape;1280;p59"/>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1281" name="Google Shape;1281;p59"/>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82" name="Google Shape;1282;p59"/>
          <p:cNvSpPr/>
          <p:nvPr/>
        </p:nvSpPr>
        <p:spPr>
          <a:xfrm>
            <a:off x="502920" y="868680"/>
            <a:ext cx="1051560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400" u="none" cap="none" strike="noStrike">
                <a:solidFill>
                  <a:srgbClr val="22D3EE"/>
                </a:solidFill>
                <a:latin typeface="Inter"/>
                <a:ea typeface="Inter"/>
                <a:cs typeface="Inter"/>
                <a:sym typeface="Inter"/>
              </a:rPr>
              <a:t>FUTURE SYSTEM ECONOMICS  ·  PRICING JUSTIFICATION</a:t>
            </a:r>
            <a:endParaRPr b="0" i="0" sz="1100" u="none" cap="none" strike="noStrike">
              <a:solidFill>
                <a:schemeClr val="dk1"/>
              </a:solidFill>
              <a:latin typeface="Calibri"/>
              <a:ea typeface="Calibri"/>
              <a:cs typeface="Calibri"/>
              <a:sym typeface="Calibri"/>
            </a:endParaRPr>
          </a:p>
        </p:txBody>
      </p:sp>
      <p:sp>
        <p:nvSpPr>
          <p:cNvPr id="1283" name="Google Shape;1283;p59"/>
          <p:cNvSpPr/>
          <p:nvPr/>
        </p:nvSpPr>
        <p:spPr>
          <a:xfrm>
            <a:off x="502925" y="1280150"/>
            <a:ext cx="114906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3600"/>
              <a:buFont typeface="Arial"/>
              <a:buNone/>
            </a:pPr>
            <a:r>
              <a:rPr b="1" i="0" lang="en-US" sz="3200" u="none" cap="none" strike="noStrike">
                <a:solidFill>
                  <a:srgbClr val="FFFFFF"/>
                </a:solidFill>
                <a:latin typeface="Inter"/>
                <a:ea typeface="Inter"/>
                <a:cs typeface="Inter"/>
                <a:sym typeface="Inter"/>
              </a:rPr>
              <a:t>How the ₹885 prototype will scale to a ₹3,000–₹3,500 kit.</a:t>
            </a:r>
            <a:endParaRPr b="0" i="0" sz="3500" u="none" cap="none" strike="noStrike">
              <a:solidFill>
                <a:schemeClr val="dk1"/>
              </a:solidFill>
              <a:latin typeface="Calibri"/>
              <a:ea typeface="Calibri"/>
              <a:cs typeface="Calibri"/>
              <a:sym typeface="Calibri"/>
            </a:endParaRPr>
          </a:p>
        </p:txBody>
      </p:sp>
      <p:sp>
        <p:nvSpPr>
          <p:cNvPr id="1284" name="Google Shape;1284;p59"/>
          <p:cNvSpPr/>
          <p:nvPr/>
        </p:nvSpPr>
        <p:spPr>
          <a:xfrm>
            <a:off x="502920" y="2194560"/>
            <a:ext cx="1051560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C5D6"/>
              </a:buClr>
              <a:buSzPts val="1400"/>
              <a:buFont typeface="Calibri"/>
              <a:buNone/>
            </a:pPr>
            <a:r>
              <a:rPr b="0" i="1" lang="en-US" sz="1750" u="none" cap="none" strike="noStrike">
                <a:solidFill>
                  <a:srgbClr val="B7C5D6"/>
                </a:solidFill>
                <a:latin typeface="Inter"/>
                <a:ea typeface="Inter"/>
                <a:cs typeface="Inter"/>
                <a:sym typeface="Inter"/>
              </a:rPr>
              <a:t>IRIS is not on the market yet — here is how the future complete commercial kit will be priced and sustained.</a:t>
            </a:r>
            <a:endParaRPr b="0" i="0" sz="1400" u="none" cap="none" strike="noStrike">
              <a:solidFill>
                <a:schemeClr val="dk1"/>
              </a:solidFill>
              <a:latin typeface="Calibri"/>
              <a:ea typeface="Calibri"/>
              <a:cs typeface="Calibri"/>
              <a:sym typeface="Calibri"/>
            </a:endParaRPr>
          </a:p>
        </p:txBody>
      </p:sp>
      <p:sp>
        <p:nvSpPr>
          <p:cNvPr id="1285" name="Google Shape;1285;p59"/>
          <p:cNvSpPr/>
          <p:nvPr/>
        </p:nvSpPr>
        <p:spPr>
          <a:xfrm>
            <a:off x="472288" y="2880360"/>
            <a:ext cx="5440680" cy="1691640"/>
          </a:xfrm>
          <a:prstGeom prst="roundRect">
            <a:avLst>
              <a:gd fmla="val 4324"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86" name="Google Shape;1286;p59"/>
          <p:cNvSpPr/>
          <p:nvPr/>
        </p:nvSpPr>
        <p:spPr>
          <a:xfrm>
            <a:off x="700888" y="3154680"/>
            <a:ext cx="777240" cy="777240"/>
          </a:xfrm>
          <a:prstGeom prst="rect">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87" name="Google Shape;1287;p59"/>
          <p:cNvSpPr/>
          <p:nvPr/>
        </p:nvSpPr>
        <p:spPr>
          <a:xfrm>
            <a:off x="700888" y="3154680"/>
            <a:ext cx="777240" cy="7772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A2E"/>
              </a:buClr>
              <a:buSzPts val="2400"/>
              <a:buFont typeface="Arial"/>
              <a:buNone/>
            </a:pPr>
            <a:r>
              <a:rPr b="1" i="0" lang="en-US" sz="2000" u="none" cap="none" strike="noStrike">
                <a:solidFill>
                  <a:srgbClr val="0B1A2E"/>
                </a:solidFill>
                <a:latin typeface="Inter"/>
                <a:ea typeface="Inter"/>
                <a:cs typeface="Inter"/>
                <a:sym typeface="Inter"/>
              </a:rPr>
              <a:t>01</a:t>
            </a:r>
            <a:endParaRPr b="0" i="0" sz="2400" u="none" cap="none" strike="noStrike">
              <a:solidFill>
                <a:schemeClr val="dk1"/>
              </a:solidFill>
              <a:latin typeface="Calibri"/>
              <a:ea typeface="Calibri"/>
              <a:cs typeface="Calibri"/>
              <a:sym typeface="Calibri"/>
            </a:endParaRPr>
          </a:p>
        </p:txBody>
      </p:sp>
      <p:sp>
        <p:nvSpPr>
          <p:cNvPr id="1288" name="Google Shape;1288;p59"/>
          <p:cNvSpPr/>
          <p:nvPr/>
        </p:nvSpPr>
        <p:spPr>
          <a:xfrm>
            <a:off x="1615288" y="3154680"/>
            <a:ext cx="429768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500" u="none" cap="none" strike="noStrike">
                <a:solidFill>
                  <a:srgbClr val="22D3EE"/>
                </a:solidFill>
                <a:latin typeface="Inter"/>
                <a:ea typeface="Inter"/>
                <a:cs typeface="Inter"/>
                <a:sym typeface="Inter"/>
              </a:rPr>
              <a:t>₹885 CORE PROTOTYPE BOM</a:t>
            </a:r>
            <a:endParaRPr b="0" i="0" sz="1100" u="none" cap="none" strike="noStrike">
              <a:solidFill>
                <a:schemeClr val="dk1"/>
              </a:solidFill>
              <a:latin typeface="Calibri"/>
              <a:ea typeface="Calibri"/>
              <a:cs typeface="Calibri"/>
              <a:sym typeface="Calibri"/>
            </a:endParaRPr>
          </a:p>
        </p:txBody>
      </p:sp>
      <p:sp>
        <p:nvSpPr>
          <p:cNvPr id="1289" name="Google Shape;1289;p59"/>
          <p:cNvSpPr/>
          <p:nvPr/>
        </p:nvSpPr>
        <p:spPr>
          <a:xfrm>
            <a:off x="1615288" y="3438144"/>
            <a:ext cx="4315968" cy="11155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600"/>
              <a:buFont typeface="Calibri"/>
              <a:buNone/>
            </a:pPr>
            <a:r>
              <a:rPr b="0" i="0" lang="en-US" sz="1400" u="none" cap="none" strike="noStrike">
                <a:solidFill>
                  <a:srgbClr val="B4C3DC"/>
                </a:solidFill>
                <a:latin typeface="Inter"/>
                <a:ea typeface="Inter"/>
                <a:cs typeface="Inter"/>
                <a:sym typeface="Inter"/>
              </a:rPr>
              <a:t>•  XIAO C3 (₹500) + MPU6050 (₹100) + IR (₹30)</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Magnet + LED (₹20) + 1000mAh Li-Po (₹80)</a:t>
            </a:r>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Velcro Belt + Glasses (₹130) + Wires (₹25)</a:t>
            </a:r>
            <a:endParaRPr/>
          </a:p>
        </p:txBody>
      </p:sp>
      <p:sp>
        <p:nvSpPr>
          <p:cNvPr id="1290" name="Google Shape;1290;p59"/>
          <p:cNvSpPr/>
          <p:nvPr/>
        </p:nvSpPr>
        <p:spPr>
          <a:xfrm>
            <a:off x="6278728" y="2880360"/>
            <a:ext cx="5440680" cy="1691640"/>
          </a:xfrm>
          <a:prstGeom prst="roundRect">
            <a:avLst>
              <a:gd fmla="val 4324"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91" name="Google Shape;1291;p59"/>
          <p:cNvSpPr/>
          <p:nvPr/>
        </p:nvSpPr>
        <p:spPr>
          <a:xfrm>
            <a:off x="6507328" y="3154680"/>
            <a:ext cx="777240" cy="777240"/>
          </a:xfrm>
          <a:prstGeom prst="rect">
            <a:avLst/>
          </a:prstGeom>
          <a:solidFill>
            <a:srgbClr val="FFB02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92" name="Google Shape;1292;p59"/>
          <p:cNvSpPr/>
          <p:nvPr/>
        </p:nvSpPr>
        <p:spPr>
          <a:xfrm>
            <a:off x="6507328" y="3154680"/>
            <a:ext cx="777240" cy="7772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A2E"/>
              </a:buClr>
              <a:buSzPts val="2400"/>
              <a:buFont typeface="Arial"/>
              <a:buNone/>
            </a:pPr>
            <a:r>
              <a:rPr b="1" i="0" lang="en-US" sz="2000" u="none" cap="none" strike="noStrike">
                <a:solidFill>
                  <a:srgbClr val="0B1A2E"/>
                </a:solidFill>
                <a:latin typeface="Inter"/>
                <a:ea typeface="Inter"/>
                <a:cs typeface="Inter"/>
                <a:sym typeface="Inter"/>
              </a:rPr>
              <a:t>02</a:t>
            </a:r>
            <a:endParaRPr b="0" i="0" sz="2400" u="none" cap="none" strike="noStrike">
              <a:solidFill>
                <a:schemeClr val="dk1"/>
              </a:solidFill>
              <a:latin typeface="Calibri"/>
              <a:ea typeface="Calibri"/>
              <a:cs typeface="Calibri"/>
              <a:sym typeface="Calibri"/>
            </a:endParaRPr>
          </a:p>
        </p:txBody>
      </p:sp>
      <p:sp>
        <p:nvSpPr>
          <p:cNvPr id="1293" name="Google Shape;1293;p59"/>
          <p:cNvSpPr/>
          <p:nvPr/>
        </p:nvSpPr>
        <p:spPr>
          <a:xfrm>
            <a:off x="7421728" y="3154680"/>
            <a:ext cx="429768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B020"/>
              </a:buClr>
              <a:buSzPts val="1100"/>
              <a:buFont typeface="Calibri"/>
              <a:buNone/>
            </a:pPr>
            <a:r>
              <a:rPr b="1" i="0" lang="en-US" sz="1500" u="none" cap="none" strike="noStrike">
                <a:solidFill>
                  <a:srgbClr val="FFB020"/>
                </a:solidFill>
                <a:latin typeface="Inter"/>
                <a:ea typeface="Inter"/>
                <a:cs typeface="Inter"/>
                <a:sym typeface="Inter"/>
              </a:rPr>
              <a:t>+₹1,300 PRODUCTION &amp; QUALITY BUILD</a:t>
            </a:r>
            <a:endParaRPr b="0" i="0" sz="1100" u="none" cap="none" strike="noStrike">
              <a:solidFill>
                <a:schemeClr val="dk1"/>
              </a:solidFill>
              <a:latin typeface="Calibri"/>
              <a:ea typeface="Calibri"/>
              <a:cs typeface="Calibri"/>
              <a:sym typeface="Calibri"/>
            </a:endParaRPr>
          </a:p>
        </p:txBody>
      </p:sp>
      <p:sp>
        <p:nvSpPr>
          <p:cNvPr id="1294" name="Google Shape;1294;p59"/>
          <p:cNvSpPr/>
          <p:nvPr/>
        </p:nvSpPr>
        <p:spPr>
          <a:xfrm>
            <a:off x="7421728" y="3438144"/>
            <a:ext cx="4315968" cy="11155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600"/>
              <a:buFont typeface="Calibri"/>
              <a:buNone/>
            </a:pPr>
            <a:r>
              <a:rPr b="0" i="0" lang="en-US" sz="1400" u="none" cap="none" strike="noStrike">
                <a:solidFill>
                  <a:srgbClr val="B4C3DC"/>
                </a:solidFill>
                <a:latin typeface="Inter"/>
                <a:ea typeface="Inter"/>
                <a:cs typeface="Inter"/>
                <a:sym typeface="Inter"/>
              </a:rPr>
              <a:t>•  Custom flex-PCB &amp; 3D enclosure (+₹450)</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QA testing, 1-yr warranty &amp; box (+₹350)</a:t>
            </a:r>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GST, shipping &amp; NGO onboarding (+₹500)</a:t>
            </a:r>
            <a:endParaRPr/>
          </a:p>
        </p:txBody>
      </p:sp>
      <p:sp>
        <p:nvSpPr>
          <p:cNvPr id="1295" name="Google Shape;1295;p59"/>
          <p:cNvSpPr/>
          <p:nvPr/>
        </p:nvSpPr>
        <p:spPr>
          <a:xfrm>
            <a:off x="472288" y="4800600"/>
            <a:ext cx="5440680" cy="1691640"/>
          </a:xfrm>
          <a:prstGeom prst="roundRect">
            <a:avLst>
              <a:gd fmla="val 4324"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96" name="Google Shape;1296;p59"/>
          <p:cNvSpPr/>
          <p:nvPr/>
        </p:nvSpPr>
        <p:spPr>
          <a:xfrm>
            <a:off x="700888" y="5074920"/>
            <a:ext cx="777240" cy="777240"/>
          </a:xfrm>
          <a:prstGeom prst="rect">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97" name="Google Shape;1297;p59"/>
          <p:cNvSpPr/>
          <p:nvPr/>
        </p:nvSpPr>
        <p:spPr>
          <a:xfrm>
            <a:off x="700888" y="5074920"/>
            <a:ext cx="777240" cy="7772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A2E"/>
              </a:buClr>
              <a:buSzPts val="2400"/>
              <a:buFont typeface="Arial"/>
              <a:buNone/>
            </a:pPr>
            <a:r>
              <a:rPr b="1" i="0" lang="en-US" sz="2000" u="none" cap="none" strike="noStrike">
                <a:solidFill>
                  <a:srgbClr val="0B1A2E"/>
                </a:solidFill>
                <a:latin typeface="Inter"/>
                <a:ea typeface="Inter"/>
                <a:cs typeface="Inter"/>
                <a:sym typeface="Inter"/>
              </a:rPr>
              <a:t>03</a:t>
            </a:r>
            <a:endParaRPr b="0" i="0" sz="2400" u="none" cap="none" strike="noStrike">
              <a:solidFill>
                <a:schemeClr val="dk1"/>
              </a:solidFill>
              <a:latin typeface="Calibri"/>
              <a:ea typeface="Calibri"/>
              <a:cs typeface="Calibri"/>
              <a:sym typeface="Calibri"/>
            </a:endParaRPr>
          </a:p>
        </p:txBody>
      </p:sp>
      <p:sp>
        <p:nvSpPr>
          <p:cNvPr id="1298" name="Google Shape;1298;p59"/>
          <p:cNvSpPr/>
          <p:nvPr/>
        </p:nvSpPr>
        <p:spPr>
          <a:xfrm>
            <a:off x="1615288" y="5074920"/>
            <a:ext cx="429768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500" u="none" cap="none" strike="noStrike">
                <a:solidFill>
                  <a:srgbClr val="22D3EE"/>
                </a:solidFill>
                <a:latin typeface="Inter"/>
                <a:ea typeface="Inter"/>
                <a:cs typeface="Inter"/>
                <a:sym typeface="Inter"/>
              </a:rPr>
              <a:t>₹3,000–₹3,500 PLANNED FUTURE PRICE</a:t>
            </a:r>
            <a:endParaRPr b="0" i="0" sz="1100" u="none" cap="none" strike="noStrike">
              <a:solidFill>
                <a:schemeClr val="dk1"/>
              </a:solidFill>
              <a:latin typeface="Calibri"/>
              <a:ea typeface="Calibri"/>
              <a:cs typeface="Calibri"/>
              <a:sym typeface="Calibri"/>
            </a:endParaRPr>
          </a:p>
        </p:txBody>
      </p:sp>
      <p:sp>
        <p:nvSpPr>
          <p:cNvPr id="1299" name="Google Shape;1299;p59"/>
          <p:cNvSpPr/>
          <p:nvPr/>
        </p:nvSpPr>
        <p:spPr>
          <a:xfrm>
            <a:off x="1615288" y="5358384"/>
            <a:ext cx="4315968" cy="11155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600"/>
              <a:buFont typeface="Calibri"/>
              <a:buNone/>
            </a:pPr>
            <a:r>
              <a:rPr b="0" i="0" lang="en-US" sz="1400" u="none" cap="none" strike="noStrike">
                <a:solidFill>
                  <a:srgbClr val="B4C3DC"/>
                </a:solidFill>
                <a:latin typeface="Inter"/>
                <a:ea typeface="Inter"/>
                <a:cs typeface="Inter"/>
                <a:sym typeface="Inter"/>
              </a:rPr>
              <a:t>•  Landed production cost of kit: ~₹2,185</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Planned ₹2,500–₹3,500 price sustains R&amp;D</a:t>
            </a:r>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Still 99.8% cheaper than ₹25L+ systems</a:t>
            </a:r>
            <a:endParaRPr/>
          </a:p>
        </p:txBody>
      </p:sp>
      <p:sp>
        <p:nvSpPr>
          <p:cNvPr id="1300" name="Google Shape;1300;p59"/>
          <p:cNvSpPr/>
          <p:nvPr/>
        </p:nvSpPr>
        <p:spPr>
          <a:xfrm>
            <a:off x="6278728" y="4800600"/>
            <a:ext cx="5440680" cy="1691640"/>
          </a:xfrm>
          <a:prstGeom prst="roundRect">
            <a:avLst>
              <a:gd fmla="val 4324"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01" name="Google Shape;1301;p59"/>
          <p:cNvSpPr/>
          <p:nvPr/>
        </p:nvSpPr>
        <p:spPr>
          <a:xfrm>
            <a:off x="6507328" y="5074920"/>
            <a:ext cx="777240" cy="777240"/>
          </a:xfrm>
          <a:prstGeom prst="rect">
            <a:avLst/>
          </a:prstGeom>
          <a:solidFill>
            <a:srgbClr val="FFB02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02" name="Google Shape;1302;p59"/>
          <p:cNvSpPr/>
          <p:nvPr/>
        </p:nvSpPr>
        <p:spPr>
          <a:xfrm>
            <a:off x="6507328" y="5074920"/>
            <a:ext cx="777240" cy="7772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A2E"/>
              </a:buClr>
              <a:buSzPts val="2400"/>
              <a:buFont typeface="Arial"/>
              <a:buNone/>
            </a:pPr>
            <a:r>
              <a:rPr b="1" i="0" lang="en-US" sz="2000" u="none" cap="none" strike="noStrike">
                <a:solidFill>
                  <a:srgbClr val="0B1A2E"/>
                </a:solidFill>
                <a:latin typeface="Inter"/>
                <a:ea typeface="Inter"/>
                <a:cs typeface="Inter"/>
                <a:sym typeface="Inter"/>
              </a:rPr>
              <a:t>04</a:t>
            </a:r>
            <a:endParaRPr b="0" i="0" sz="2400" u="none" cap="none" strike="noStrike">
              <a:solidFill>
                <a:schemeClr val="dk1"/>
              </a:solidFill>
              <a:latin typeface="Calibri"/>
              <a:ea typeface="Calibri"/>
              <a:cs typeface="Calibri"/>
              <a:sym typeface="Calibri"/>
            </a:endParaRPr>
          </a:p>
        </p:txBody>
      </p:sp>
      <p:sp>
        <p:nvSpPr>
          <p:cNvPr id="1303" name="Google Shape;1303;p59"/>
          <p:cNvSpPr/>
          <p:nvPr/>
        </p:nvSpPr>
        <p:spPr>
          <a:xfrm>
            <a:off x="7421728" y="5074920"/>
            <a:ext cx="429768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B020"/>
              </a:buClr>
              <a:buSzPts val="1100"/>
              <a:buFont typeface="Calibri"/>
              <a:buNone/>
            </a:pPr>
            <a:r>
              <a:rPr b="1" i="0" lang="en-US" sz="1500" u="none" cap="none" strike="noStrike">
                <a:solidFill>
                  <a:srgbClr val="FFB020"/>
                </a:solidFill>
                <a:latin typeface="Inter"/>
                <a:ea typeface="Inter"/>
                <a:cs typeface="Inter"/>
                <a:sym typeface="Inter"/>
              </a:rPr>
              <a:t>NGO VALIDATION &amp; SUBSIDIZED ACCESS</a:t>
            </a:r>
            <a:endParaRPr b="0" i="0" sz="1100" u="none" cap="none" strike="noStrike">
              <a:solidFill>
                <a:schemeClr val="dk1"/>
              </a:solidFill>
              <a:latin typeface="Calibri"/>
              <a:ea typeface="Calibri"/>
              <a:cs typeface="Calibri"/>
              <a:sym typeface="Calibri"/>
            </a:endParaRPr>
          </a:p>
        </p:txBody>
      </p:sp>
      <p:sp>
        <p:nvSpPr>
          <p:cNvPr id="1304" name="Google Shape;1304;p59"/>
          <p:cNvSpPr/>
          <p:nvPr/>
        </p:nvSpPr>
        <p:spPr>
          <a:xfrm>
            <a:off x="7421728" y="5358384"/>
            <a:ext cx="4315968" cy="11155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600"/>
              <a:buFont typeface="Calibri"/>
              <a:buNone/>
            </a:pPr>
            <a:r>
              <a:rPr b="0" i="0" lang="en-US" sz="1400" u="none" cap="none" strike="noStrike">
                <a:solidFill>
                  <a:srgbClr val="B4C3DC"/>
                </a:solidFill>
                <a:latin typeface="Inter"/>
                <a:ea typeface="Inter"/>
                <a:cs typeface="Inter"/>
                <a:sym typeface="Inter"/>
              </a:rPr>
              <a:t>•  Margins &amp; CSR fund kits for poor homes</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NGOs: APD, Amar Seva &amp; Spinal Found.</a:t>
            </a:r>
            <a:endParaRPr/>
          </a:p>
          <a:p>
            <a:pPr indent="0" lvl="0" marL="0" marR="0" rtl="0" algn="l">
              <a:lnSpc>
                <a:spcPct val="100000"/>
              </a:lnSpc>
              <a:spcBef>
                <a:spcPts val="500"/>
              </a:spcBef>
              <a:spcAft>
                <a:spcPts val="0"/>
              </a:spcAft>
              <a:buNone/>
            </a:pPr>
            <a:r>
              <a:rPr b="0" i="0" lang="en-US" sz="1400" u="none" cap="none" strike="noStrike">
                <a:solidFill>
                  <a:srgbClr val="B4C3DC"/>
                </a:solidFill>
                <a:latin typeface="Inter"/>
                <a:ea typeface="Inter"/>
                <a:cs typeface="Inter"/>
                <a:sym typeface="Inter"/>
              </a:rPr>
              <a:t>•  Clinical pilots at AIIMS Delhi &amp; NIMHANS</a:t>
            </a:r>
            <a:endParaRPr/>
          </a:p>
        </p:txBody>
      </p:sp>
    </p:spTree>
  </p:cSld>
  <p:clrMapOvr>
    <a:masterClrMapping/>
  </p:clrMapOvr>
  <p:transition spd="med">
    <p:fade/>
  </p:transition>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9" name="Shape 1309"/>
        <p:cNvGrpSpPr/>
        <p:nvPr/>
      </p:nvGrpSpPr>
      <p:grpSpPr>
        <a:xfrm>
          <a:off x="0" y="0"/>
          <a:ext cx="0" cy="0"/>
          <a:chOff x="0" y="0"/>
          <a:chExt cx="0" cy="0"/>
        </a:xfrm>
      </p:grpSpPr>
      <p:sp>
        <p:nvSpPr>
          <p:cNvPr id="1310" name="Google Shape;1310;p37"/>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1311" name="Google Shape;1311;p37"/>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12" name="Google Shape;1312;p37"/>
          <p:cNvSpPr/>
          <p:nvPr/>
        </p:nvSpPr>
        <p:spPr>
          <a:xfrm>
            <a:off x="502920" y="868680"/>
            <a:ext cx="1051560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400" u="none" cap="none" strike="noStrike">
                <a:solidFill>
                  <a:srgbClr val="22D3EE"/>
                </a:solidFill>
                <a:latin typeface="Inter"/>
                <a:ea typeface="Inter"/>
                <a:cs typeface="Inter"/>
                <a:sym typeface="Inter"/>
              </a:rPr>
              <a:t>FUTURE VIABILITY &amp; SCALE</a:t>
            </a:r>
            <a:endParaRPr b="0" i="0" sz="1100" u="none" cap="none" strike="noStrike">
              <a:solidFill>
                <a:schemeClr val="dk1"/>
              </a:solidFill>
              <a:latin typeface="Calibri"/>
              <a:ea typeface="Calibri"/>
              <a:cs typeface="Calibri"/>
              <a:sym typeface="Calibri"/>
            </a:endParaRPr>
          </a:p>
        </p:txBody>
      </p:sp>
      <p:sp>
        <p:nvSpPr>
          <p:cNvPr id="1313" name="Google Shape;1313;p37"/>
          <p:cNvSpPr/>
          <p:nvPr/>
        </p:nvSpPr>
        <p:spPr>
          <a:xfrm>
            <a:off x="502920" y="1280160"/>
            <a:ext cx="109728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3200"/>
              <a:buFont typeface="Arial"/>
              <a:buNone/>
            </a:pPr>
            <a:r>
              <a:rPr b="1" i="0" lang="en-US" sz="3200" u="none" cap="none" strike="noStrike">
                <a:solidFill>
                  <a:srgbClr val="FFFFFF"/>
                </a:solidFill>
                <a:latin typeface="Inter"/>
                <a:ea typeface="Inter"/>
                <a:cs typeface="Inter"/>
                <a:sym typeface="Inter"/>
              </a:rPr>
              <a:t>Engineered to scale into a complete system.</a:t>
            </a:r>
            <a:endParaRPr b="0" i="0" sz="3200" u="none" cap="none" strike="noStrike">
              <a:solidFill>
                <a:schemeClr val="dk1"/>
              </a:solidFill>
              <a:latin typeface="Calibri"/>
              <a:ea typeface="Calibri"/>
              <a:cs typeface="Calibri"/>
              <a:sym typeface="Calibri"/>
            </a:endParaRPr>
          </a:p>
        </p:txBody>
      </p:sp>
      <p:sp>
        <p:nvSpPr>
          <p:cNvPr id="1314" name="Google Shape;1314;p37"/>
          <p:cNvSpPr/>
          <p:nvPr/>
        </p:nvSpPr>
        <p:spPr>
          <a:xfrm>
            <a:off x="502920" y="2194560"/>
            <a:ext cx="1051560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C5D6"/>
              </a:buClr>
              <a:buSzPts val="1400"/>
              <a:buFont typeface="Calibri"/>
              <a:buNone/>
            </a:pPr>
            <a:r>
              <a:rPr b="0" i="1" lang="en-US" sz="1750" u="none" cap="none" strike="noStrike">
                <a:solidFill>
                  <a:srgbClr val="B7C5D6"/>
                </a:solidFill>
                <a:latin typeface="Inter"/>
                <a:ea typeface="Inter"/>
                <a:cs typeface="Inter"/>
                <a:sym typeface="Inter"/>
              </a:rPr>
              <a:t>Once clinical &amp; NGO validations complete, IRIS will scale through a sustainable hardware + app model.</a:t>
            </a:r>
            <a:endParaRPr b="0" i="0" sz="1400" u="none" cap="none" strike="noStrike">
              <a:solidFill>
                <a:schemeClr val="dk1"/>
              </a:solidFill>
              <a:latin typeface="Calibri"/>
              <a:ea typeface="Calibri"/>
              <a:cs typeface="Calibri"/>
              <a:sym typeface="Calibri"/>
            </a:endParaRPr>
          </a:p>
        </p:txBody>
      </p:sp>
      <p:sp>
        <p:nvSpPr>
          <p:cNvPr id="1315" name="Google Shape;1315;p37"/>
          <p:cNvSpPr/>
          <p:nvPr/>
        </p:nvSpPr>
        <p:spPr>
          <a:xfrm>
            <a:off x="502920" y="2680739"/>
            <a:ext cx="3657600" cy="1143000"/>
          </a:xfrm>
          <a:prstGeom prst="roundRect">
            <a:avLst>
              <a:gd fmla="val 6400"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1316" name="Google Shape;1316;p37"/>
          <p:cNvSpPr/>
          <p:nvPr/>
        </p:nvSpPr>
        <p:spPr>
          <a:xfrm>
            <a:off x="731520" y="2790467"/>
            <a:ext cx="32004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3600"/>
              <a:buFont typeface="Arial"/>
              <a:buNone/>
            </a:pPr>
            <a:r>
              <a:rPr b="1" i="0" lang="en-US" sz="3600" u="none" cap="none" strike="noStrike">
                <a:solidFill>
                  <a:srgbClr val="22D3EE"/>
                </a:solidFill>
                <a:latin typeface="Inter"/>
                <a:ea typeface="Inter"/>
                <a:cs typeface="Inter"/>
                <a:sym typeface="Inter"/>
              </a:rPr>
              <a:t>₹15 Cr+</a:t>
            </a:r>
            <a:endParaRPr b="0" i="0" sz="3600" u="none" cap="none" strike="noStrike">
              <a:solidFill>
                <a:schemeClr val="dk1"/>
              </a:solidFill>
              <a:latin typeface="Calibri"/>
              <a:ea typeface="Calibri"/>
              <a:cs typeface="Calibri"/>
              <a:sym typeface="Calibri"/>
            </a:endParaRPr>
          </a:p>
        </p:txBody>
      </p:sp>
      <p:sp>
        <p:nvSpPr>
          <p:cNvPr id="1317" name="Google Shape;1317;p37"/>
          <p:cNvSpPr/>
          <p:nvPr/>
        </p:nvSpPr>
        <p:spPr>
          <a:xfrm>
            <a:off x="731525" y="3277950"/>
            <a:ext cx="34290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400"/>
              <a:buFont typeface="Calibri"/>
              <a:buNone/>
            </a:pPr>
            <a:r>
              <a:rPr b="0" i="0" lang="en-US" sz="1300" u="none" cap="none" strike="noStrike">
                <a:solidFill>
                  <a:srgbClr val="CDD5E2"/>
                </a:solidFill>
                <a:latin typeface="Inter"/>
                <a:ea typeface="Inter"/>
                <a:cs typeface="Inter"/>
                <a:sym typeface="Inter"/>
              </a:rPr>
              <a:t>India TAM — ~100K severe-motor-disability users × ₹1,500 retail</a:t>
            </a:r>
            <a:endParaRPr b="0" i="0" sz="1100" u="none" cap="none" strike="noStrike">
              <a:solidFill>
                <a:schemeClr val="dk1"/>
              </a:solidFill>
              <a:latin typeface="Calibri"/>
              <a:ea typeface="Calibri"/>
              <a:cs typeface="Calibri"/>
              <a:sym typeface="Calibri"/>
            </a:endParaRPr>
          </a:p>
        </p:txBody>
      </p:sp>
      <p:sp>
        <p:nvSpPr>
          <p:cNvPr id="1318" name="Google Shape;1318;p37"/>
          <p:cNvSpPr/>
          <p:nvPr/>
        </p:nvSpPr>
        <p:spPr>
          <a:xfrm>
            <a:off x="502920" y="3960899"/>
            <a:ext cx="3657600" cy="1143000"/>
          </a:xfrm>
          <a:prstGeom prst="roundRect">
            <a:avLst>
              <a:gd fmla="val 6400"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1319" name="Google Shape;1319;p37"/>
          <p:cNvSpPr/>
          <p:nvPr/>
        </p:nvSpPr>
        <p:spPr>
          <a:xfrm>
            <a:off x="731520" y="4070627"/>
            <a:ext cx="32004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3600"/>
              <a:buFont typeface="Arial"/>
              <a:buNone/>
            </a:pPr>
            <a:r>
              <a:rPr b="1" i="0" lang="en-US" sz="3600" u="none" cap="none" strike="noStrike">
                <a:solidFill>
                  <a:srgbClr val="22D3EE"/>
                </a:solidFill>
                <a:latin typeface="Inter"/>
                <a:ea typeface="Inter"/>
                <a:cs typeface="Inter"/>
                <a:sym typeface="Inter"/>
              </a:rPr>
              <a:t>$20B</a:t>
            </a:r>
            <a:endParaRPr b="0" i="0" sz="3600" u="none" cap="none" strike="noStrike">
              <a:solidFill>
                <a:schemeClr val="dk1"/>
              </a:solidFill>
              <a:latin typeface="Calibri"/>
              <a:ea typeface="Calibri"/>
              <a:cs typeface="Calibri"/>
              <a:sym typeface="Calibri"/>
            </a:endParaRPr>
          </a:p>
        </p:txBody>
      </p:sp>
      <p:sp>
        <p:nvSpPr>
          <p:cNvPr id="1320" name="Google Shape;1320;p37"/>
          <p:cNvSpPr/>
          <p:nvPr/>
        </p:nvSpPr>
        <p:spPr>
          <a:xfrm>
            <a:off x="731525" y="4600975"/>
            <a:ext cx="34290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400"/>
              <a:buFont typeface="Calibri"/>
              <a:buNone/>
            </a:pPr>
            <a:r>
              <a:rPr b="0" i="0" lang="en-US" sz="1500" u="none" cap="none" strike="noStrike">
                <a:solidFill>
                  <a:srgbClr val="CDD5E2"/>
                </a:solidFill>
                <a:latin typeface="Inter"/>
                <a:ea typeface="Inter"/>
                <a:cs typeface="Inter"/>
                <a:sym typeface="Inter"/>
              </a:rPr>
              <a:t>Global assistive-tech market, growing at 8% CAGR</a:t>
            </a:r>
            <a:endParaRPr b="0" i="0" sz="1400" u="none" cap="none" strike="noStrike">
              <a:solidFill>
                <a:schemeClr val="dk1"/>
              </a:solidFill>
              <a:latin typeface="Calibri"/>
              <a:ea typeface="Calibri"/>
              <a:cs typeface="Calibri"/>
              <a:sym typeface="Calibri"/>
            </a:endParaRPr>
          </a:p>
        </p:txBody>
      </p:sp>
      <p:sp>
        <p:nvSpPr>
          <p:cNvPr id="1321" name="Google Shape;1321;p37"/>
          <p:cNvSpPr/>
          <p:nvPr/>
        </p:nvSpPr>
        <p:spPr>
          <a:xfrm>
            <a:off x="502920" y="5241059"/>
            <a:ext cx="3657600" cy="1143000"/>
          </a:xfrm>
          <a:prstGeom prst="roundRect">
            <a:avLst>
              <a:gd fmla="val 6400"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1322" name="Google Shape;1322;p37"/>
          <p:cNvSpPr/>
          <p:nvPr/>
        </p:nvSpPr>
        <p:spPr>
          <a:xfrm>
            <a:off x="731520" y="5350787"/>
            <a:ext cx="32004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3600"/>
              <a:buFont typeface="Arial"/>
              <a:buNone/>
            </a:pPr>
            <a:r>
              <a:rPr b="1" i="0" lang="en-US" sz="3600" u="none" cap="none" strike="noStrike">
                <a:solidFill>
                  <a:srgbClr val="22D3EE"/>
                </a:solidFill>
                <a:latin typeface="Inter"/>
                <a:ea typeface="Inter"/>
                <a:cs typeface="Inter"/>
                <a:sym typeface="Inter"/>
              </a:rPr>
              <a:t>99.96%</a:t>
            </a:r>
            <a:endParaRPr b="0" i="0" sz="3600" u="none" cap="none" strike="noStrike">
              <a:solidFill>
                <a:schemeClr val="dk1"/>
              </a:solidFill>
              <a:latin typeface="Calibri"/>
              <a:ea typeface="Calibri"/>
              <a:cs typeface="Calibri"/>
              <a:sym typeface="Calibri"/>
            </a:endParaRPr>
          </a:p>
        </p:txBody>
      </p:sp>
      <p:sp>
        <p:nvSpPr>
          <p:cNvPr id="1323" name="Google Shape;1323;p37"/>
          <p:cNvSpPr/>
          <p:nvPr/>
        </p:nvSpPr>
        <p:spPr>
          <a:xfrm>
            <a:off x="731525" y="5881150"/>
            <a:ext cx="34290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400"/>
              <a:buFont typeface="Calibri"/>
              <a:buNone/>
            </a:pPr>
            <a:r>
              <a:rPr b="0" i="0" lang="en-US" sz="1500" u="none" cap="none" strike="noStrike">
                <a:solidFill>
                  <a:srgbClr val="CDD5E2"/>
                </a:solidFill>
                <a:latin typeface="Inter"/>
                <a:ea typeface="Inter"/>
                <a:cs typeface="Inter"/>
                <a:sym typeface="Inter"/>
              </a:rPr>
              <a:t>Price advantage vs commercial eye-tracker (Tobii ~₹25L)</a:t>
            </a:r>
            <a:endParaRPr b="0" i="0" sz="1400" u="none" cap="none" strike="noStrike">
              <a:solidFill>
                <a:schemeClr val="dk1"/>
              </a:solidFill>
              <a:latin typeface="Calibri"/>
              <a:ea typeface="Calibri"/>
              <a:cs typeface="Calibri"/>
              <a:sym typeface="Calibri"/>
            </a:endParaRPr>
          </a:p>
        </p:txBody>
      </p:sp>
      <p:sp>
        <p:nvSpPr>
          <p:cNvPr id="1324" name="Google Shape;1324;p37"/>
          <p:cNvSpPr/>
          <p:nvPr/>
        </p:nvSpPr>
        <p:spPr>
          <a:xfrm>
            <a:off x="4572000" y="2738466"/>
            <a:ext cx="7132200" cy="1691700"/>
          </a:xfrm>
          <a:prstGeom prst="roundRect">
            <a:avLst>
              <a:gd fmla="val 4324"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900" u="none" cap="none" strike="noStrike">
              <a:solidFill>
                <a:schemeClr val="dk1"/>
              </a:solidFill>
              <a:latin typeface="Calibri"/>
              <a:ea typeface="Calibri"/>
              <a:cs typeface="Calibri"/>
              <a:sym typeface="Calibri"/>
            </a:endParaRPr>
          </a:p>
        </p:txBody>
      </p:sp>
      <p:sp>
        <p:nvSpPr>
          <p:cNvPr id="1325" name="Google Shape;1325;p37"/>
          <p:cNvSpPr/>
          <p:nvPr/>
        </p:nvSpPr>
        <p:spPr>
          <a:xfrm>
            <a:off x="4846320" y="2875626"/>
            <a:ext cx="3657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900"/>
              <a:buFont typeface="Calibri"/>
              <a:buNone/>
            </a:pPr>
            <a:r>
              <a:rPr b="1" i="0" lang="en-US" sz="1350" u="none" cap="none" strike="noStrike">
                <a:solidFill>
                  <a:srgbClr val="22D3EE"/>
                </a:solidFill>
                <a:latin typeface="Inter"/>
                <a:ea typeface="Inter"/>
                <a:cs typeface="Inter"/>
                <a:sym typeface="Inter"/>
              </a:rPr>
              <a:t>PLANNED FUTURE MODEL</a:t>
            </a:r>
            <a:endParaRPr b="0" i="0" sz="1000" u="none" cap="none" strike="noStrike">
              <a:solidFill>
                <a:schemeClr val="dk1"/>
              </a:solidFill>
              <a:latin typeface="Calibri"/>
              <a:ea typeface="Calibri"/>
              <a:cs typeface="Calibri"/>
              <a:sym typeface="Calibri"/>
            </a:endParaRPr>
          </a:p>
        </p:txBody>
      </p:sp>
      <p:sp>
        <p:nvSpPr>
          <p:cNvPr id="1326" name="Google Shape;1326;p37"/>
          <p:cNvSpPr/>
          <p:nvPr/>
        </p:nvSpPr>
        <p:spPr>
          <a:xfrm>
            <a:off x="4846320" y="3149946"/>
            <a:ext cx="65838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Arial"/>
              <a:buNone/>
            </a:pPr>
            <a:r>
              <a:rPr b="1" i="0" lang="en-US" sz="1900" u="none" cap="none" strike="noStrike">
                <a:solidFill>
                  <a:srgbClr val="FFFFFF"/>
                </a:solidFill>
                <a:latin typeface="Inter"/>
                <a:ea typeface="Inter"/>
                <a:cs typeface="Inter"/>
                <a:sym typeface="Inter"/>
              </a:rPr>
              <a:t>Hardware + Companion App SaaS</a:t>
            </a:r>
            <a:endParaRPr b="0" i="0" sz="1600" u="none" cap="none" strike="noStrike">
              <a:solidFill>
                <a:schemeClr val="dk1"/>
              </a:solidFill>
              <a:latin typeface="Calibri"/>
              <a:ea typeface="Calibri"/>
              <a:cs typeface="Calibri"/>
              <a:sym typeface="Calibri"/>
            </a:endParaRPr>
          </a:p>
        </p:txBody>
      </p:sp>
      <p:sp>
        <p:nvSpPr>
          <p:cNvPr id="1327" name="Google Shape;1327;p37"/>
          <p:cNvSpPr/>
          <p:nvPr/>
        </p:nvSpPr>
        <p:spPr>
          <a:xfrm>
            <a:off x="4846320" y="3479783"/>
            <a:ext cx="6583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300" u="none" cap="none" strike="noStrike">
                <a:solidFill>
                  <a:srgbClr val="22D3EE"/>
                </a:solidFill>
                <a:latin typeface="Inter"/>
                <a:ea typeface="Inter"/>
                <a:cs typeface="Inter"/>
                <a:sym typeface="Inter"/>
              </a:rPr>
              <a:t>• Future Complete Kit: ₹3,000–₹3,500 planned price (₹885 prototype BOM + custom PCB, case &amp; warranty).</a:t>
            </a:r>
            <a:endParaRPr b="0" i="0" sz="1100" u="none" cap="none" strike="noStrike">
              <a:solidFill>
                <a:schemeClr val="dk1"/>
              </a:solidFill>
              <a:latin typeface="Calibri"/>
              <a:ea typeface="Calibri"/>
              <a:cs typeface="Calibri"/>
              <a:sym typeface="Calibri"/>
            </a:endParaRPr>
          </a:p>
        </p:txBody>
      </p:sp>
      <p:sp>
        <p:nvSpPr>
          <p:cNvPr id="1328" name="Google Shape;1328;p37"/>
          <p:cNvSpPr/>
          <p:nvPr/>
        </p:nvSpPr>
        <p:spPr>
          <a:xfrm>
            <a:off x="4846320" y="3927186"/>
            <a:ext cx="6583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300" u="none" cap="none" strike="noStrike">
                <a:solidFill>
                  <a:srgbClr val="22D3EE"/>
                </a:solidFill>
                <a:latin typeface="Inter"/>
                <a:ea typeface="Inter"/>
                <a:cs typeface="Inter"/>
                <a:sym typeface="Inter"/>
              </a:rPr>
              <a:t>• Companion App: Free core tiles + optional ₹99/month advanced telemetry &amp; cloud pack.</a:t>
            </a:r>
            <a:endParaRPr b="0" i="0" sz="1100" u="none" cap="none" strike="noStrike">
              <a:solidFill>
                <a:schemeClr val="dk1"/>
              </a:solidFill>
              <a:latin typeface="Calibri"/>
              <a:ea typeface="Calibri"/>
              <a:cs typeface="Calibri"/>
              <a:sym typeface="Calibri"/>
            </a:endParaRPr>
          </a:p>
        </p:txBody>
      </p:sp>
      <p:sp>
        <p:nvSpPr>
          <p:cNvPr id="1329" name="Google Shape;1329;p37"/>
          <p:cNvSpPr/>
          <p:nvPr/>
        </p:nvSpPr>
        <p:spPr>
          <a:xfrm>
            <a:off x="4572000" y="4612986"/>
            <a:ext cx="7132200" cy="1783200"/>
          </a:xfrm>
          <a:prstGeom prst="roundRect">
            <a:avLst>
              <a:gd fmla="val 4103"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900" u="none" cap="none" strike="noStrike">
              <a:solidFill>
                <a:schemeClr val="dk1"/>
              </a:solidFill>
              <a:latin typeface="Calibri"/>
              <a:ea typeface="Calibri"/>
              <a:cs typeface="Calibri"/>
              <a:sym typeface="Calibri"/>
            </a:endParaRPr>
          </a:p>
        </p:txBody>
      </p:sp>
      <p:sp>
        <p:nvSpPr>
          <p:cNvPr id="1330" name="Google Shape;1330;p37"/>
          <p:cNvSpPr/>
          <p:nvPr/>
        </p:nvSpPr>
        <p:spPr>
          <a:xfrm>
            <a:off x="4846320" y="4750146"/>
            <a:ext cx="3657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900"/>
              <a:buFont typeface="Calibri"/>
              <a:buNone/>
            </a:pPr>
            <a:r>
              <a:rPr b="1" i="0" lang="en-US" sz="1350" u="none" cap="none" strike="noStrike">
                <a:solidFill>
                  <a:srgbClr val="22D3EE"/>
                </a:solidFill>
                <a:latin typeface="Inter"/>
                <a:ea typeface="Inter"/>
                <a:cs typeface="Inter"/>
                <a:sym typeface="Inter"/>
              </a:rPr>
              <a:t>PLANNED DISTRIBUTION CHANNELS</a:t>
            </a:r>
            <a:endParaRPr b="0" i="0" sz="1000" u="none" cap="none" strike="noStrike">
              <a:solidFill>
                <a:schemeClr val="dk1"/>
              </a:solidFill>
              <a:latin typeface="Calibri"/>
              <a:ea typeface="Calibri"/>
              <a:cs typeface="Calibri"/>
              <a:sym typeface="Calibri"/>
            </a:endParaRPr>
          </a:p>
        </p:txBody>
      </p:sp>
      <p:sp>
        <p:nvSpPr>
          <p:cNvPr id="1331" name="Google Shape;1331;p37"/>
          <p:cNvSpPr/>
          <p:nvPr/>
        </p:nvSpPr>
        <p:spPr>
          <a:xfrm>
            <a:off x="4846320" y="5024466"/>
            <a:ext cx="65838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Arial"/>
              <a:buNone/>
            </a:pPr>
            <a:r>
              <a:rPr b="1" i="0" lang="en-US" sz="1900" u="none" cap="none" strike="noStrike">
                <a:solidFill>
                  <a:srgbClr val="FFFFFF"/>
                </a:solidFill>
                <a:latin typeface="Inter"/>
                <a:ea typeface="Inter"/>
                <a:cs typeface="Inter"/>
                <a:sym typeface="Inter"/>
              </a:rPr>
              <a:t>Hospitals + rehab centres + NGOs</a:t>
            </a:r>
            <a:endParaRPr b="0" i="0" sz="1600" u="none" cap="none" strike="noStrike">
              <a:solidFill>
                <a:schemeClr val="dk1"/>
              </a:solidFill>
              <a:latin typeface="Calibri"/>
              <a:ea typeface="Calibri"/>
              <a:cs typeface="Calibri"/>
              <a:sym typeface="Calibri"/>
            </a:endParaRPr>
          </a:p>
        </p:txBody>
      </p:sp>
      <p:sp>
        <p:nvSpPr>
          <p:cNvPr id="1332" name="Google Shape;1332;p37"/>
          <p:cNvSpPr/>
          <p:nvPr/>
        </p:nvSpPr>
        <p:spPr>
          <a:xfrm>
            <a:off x="4846320" y="5435946"/>
            <a:ext cx="17373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000"/>
              <a:buFont typeface="Calibri"/>
              <a:buNone/>
            </a:pPr>
            <a:r>
              <a:rPr b="1" i="0" lang="en-US" sz="1400" u="none" cap="none" strike="noStrike">
                <a:solidFill>
                  <a:srgbClr val="22D3EE"/>
                </a:solidFill>
                <a:latin typeface="Inter"/>
                <a:ea typeface="Inter"/>
                <a:cs typeface="Inter"/>
                <a:sym typeface="Inter"/>
              </a:rPr>
              <a:t>Tier-1 hospitals</a:t>
            </a:r>
            <a:endParaRPr b="0" i="0" sz="1100" u="none" cap="none" strike="noStrike">
              <a:solidFill>
                <a:schemeClr val="dk1"/>
              </a:solidFill>
              <a:latin typeface="Calibri"/>
              <a:ea typeface="Calibri"/>
              <a:cs typeface="Calibri"/>
              <a:sym typeface="Calibri"/>
            </a:endParaRPr>
          </a:p>
        </p:txBody>
      </p:sp>
      <p:sp>
        <p:nvSpPr>
          <p:cNvPr id="1333" name="Google Shape;1333;p37"/>
          <p:cNvSpPr/>
          <p:nvPr/>
        </p:nvSpPr>
        <p:spPr>
          <a:xfrm>
            <a:off x="6675120" y="5435946"/>
            <a:ext cx="47550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DD5E2"/>
              </a:buClr>
              <a:buSzPts val="1000"/>
              <a:buFont typeface="Calibri"/>
              <a:buNone/>
            </a:pPr>
            <a:r>
              <a:rPr b="0" i="0" lang="en-US" sz="1400" u="none" cap="none" strike="noStrike">
                <a:solidFill>
                  <a:srgbClr val="CDD5E2"/>
                </a:solidFill>
                <a:latin typeface="Inter"/>
                <a:ea typeface="Inter"/>
                <a:cs typeface="Inter"/>
                <a:sym typeface="Inter"/>
              </a:rPr>
              <a:t>Apollo, AIIMS &amp; NIMHANS neurology + rehab wards</a:t>
            </a:r>
            <a:endParaRPr b="0" i="0" sz="1100" u="none" cap="none" strike="noStrike">
              <a:solidFill>
                <a:schemeClr val="dk1"/>
              </a:solidFill>
              <a:latin typeface="Calibri"/>
              <a:ea typeface="Calibri"/>
              <a:cs typeface="Calibri"/>
              <a:sym typeface="Calibri"/>
            </a:endParaRPr>
          </a:p>
        </p:txBody>
      </p:sp>
      <p:sp>
        <p:nvSpPr>
          <p:cNvPr id="1334" name="Google Shape;1334;p37"/>
          <p:cNvSpPr/>
          <p:nvPr/>
        </p:nvSpPr>
        <p:spPr>
          <a:xfrm>
            <a:off x="4846320" y="5728554"/>
            <a:ext cx="17373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000"/>
              <a:buFont typeface="Calibri"/>
              <a:buNone/>
            </a:pPr>
            <a:r>
              <a:rPr b="1" i="0" lang="en-US" sz="1400" u="none" cap="none" strike="noStrike">
                <a:solidFill>
                  <a:srgbClr val="22D3EE"/>
                </a:solidFill>
                <a:latin typeface="Inter"/>
                <a:ea typeface="Inter"/>
                <a:cs typeface="Inter"/>
                <a:sym typeface="Inter"/>
              </a:rPr>
              <a:t>Inclusive access</a:t>
            </a:r>
            <a:endParaRPr b="0" i="0" sz="1100" u="none" cap="none" strike="noStrike">
              <a:solidFill>
                <a:schemeClr val="dk1"/>
              </a:solidFill>
              <a:latin typeface="Calibri"/>
              <a:ea typeface="Calibri"/>
              <a:cs typeface="Calibri"/>
              <a:sym typeface="Calibri"/>
            </a:endParaRPr>
          </a:p>
        </p:txBody>
      </p:sp>
      <p:sp>
        <p:nvSpPr>
          <p:cNvPr id="1335" name="Google Shape;1335;p37"/>
          <p:cNvSpPr/>
          <p:nvPr/>
        </p:nvSpPr>
        <p:spPr>
          <a:xfrm>
            <a:off x="6675120" y="5728554"/>
            <a:ext cx="47550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DD5E2"/>
              </a:buClr>
              <a:buSzPts val="1000"/>
              <a:buFont typeface="Calibri"/>
              <a:buNone/>
            </a:pPr>
            <a:r>
              <a:rPr b="0" i="0" lang="en-US" sz="1400" u="none" cap="none" strike="noStrike">
                <a:solidFill>
                  <a:srgbClr val="CDD5E2"/>
                </a:solidFill>
                <a:latin typeface="Inter"/>
                <a:ea typeface="Inter"/>
                <a:cs typeface="Inter"/>
                <a:sym typeface="Inter"/>
              </a:rPr>
              <a:t>NGO validation &amp; subsidized access (APD, Amar Seva Sangam, Spinal Foundation)</a:t>
            </a:r>
            <a:endParaRPr b="0" i="0" sz="1100" u="none" cap="none" strike="noStrike">
              <a:solidFill>
                <a:schemeClr val="dk1"/>
              </a:solidFill>
              <a:latin typeface="Calibri"/>
              <a:ea typeface="Calibri"/>
              <a:cs typeface="Calibri"/>
              <a:sym typeface="Calibri"/>
            </a:endParaRPr>
          </a:p>
        </p:txBody>
      </p:sp>
      <p:sp>
        <p:nvSpPr>
          <p:cNvPr id="1336" name="Google Shape;1336;p37"/>
          <p:cNvSpPr/>
          <p:nvPr/>
        </p:nvSpPr>
        <p:spPr>
          <a:xfrm>
            <a:off x="4846320" y="6021162"/>
            <a:ext cx="17373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000"/>
              <a:buFont typeface="Calibri"/>
              <a:buNone/>
            </a:pPr>
            <a:r>
              <a:rPr b="1" i="0" lang="en-US" sz="1400" u="none" cap="none" strike="noStrike">
                <a:solidFill>
                  <a:srgbClr val="22D3EE"/>
                </a:solidFill>
                <a:latin typeface="Inter"/>
                <a:ea typeface="Inter"/>
                <a:cs typeface="Inter"/>
                <a:sym typeface="Inter"/>
              </a:rPr>
              <a:t>Long tail</a:t>
            </a:r>
            <a:endParaRPr b="0" i="0" sz="1100" u="none" cap="none" strike="noStrike">
              <a:solidFill>
                <a:schemeClr val="dk1"/>
              </a:solidFill>
              <a:latin typeface="Calibri"/>
              <a:ea typeface="Calibri"/>
              <a:cs typeface="Calibri"/>
              <a:sym typeface="Calibri"/>
            </a:endParaRPr>
          </a:p>
        </p:txBody>
      </p:sp>
      <p:sp>
        <p:nvSpPr>
          <p:cNvPr id="1337" name="Google Shape;1337;p37"/>
          <p:cNvSpPr/>
          <p:nvPr/>
        </p:nvSpPr>
        <p:spPr>
          <a:xfrm>
            <a:off x="6675120" y="6021162"/>
            <a:ext cx="47550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DD5E2"/>
              </a:buClr>
              <a:buSzPts val="1000"/>
              <a:buFont typeface="Calibri"/>
              <a:buNone/>
            </a:pPr>
            <a:r>
              <a:rPr b="0" i="0" lang="en-US" sz="1400" u="none" cap="none" strike="noStrike">
                <a:solidFill>
                  <a:srgbClr val="CDD5E2"/>
                </a:solidFill>
                <a:latin typeface="Inter"/>
                <a:ea typeface="Inter"/>
                <a:cs typeface="Inter"/>
                <a:sym typeface="Inter"/>
              </a:rPr>
              <a:t>IRIS website (projectiris.dev) + future hands-free gaming expansion</a:t>
            </a:r>
            <a:endParaRPr b="0" i="0" sz="1100" u="none" cap="none" strike="noStrike">
              <a:solidFill>
                <a:schemeClr val="dk1"/>
              </a:solidFill>
              <a:latin typeface="Calibri"/>
              <a:ea typeface="Calibri"/>
              <a:cs typeface="Calibri"/>
              <a:sym typeface="Calibri"/>
            </a:endParaRPr>
          </a:p>
        </p:txBody>
      </p:sp>
      <p:sp>
        <p:nvSpPr>
          <p:cNvPr id="1338" name="Google Shape;1338;p37"/>
          <p:cNvSpPr txBox="1"/>
          <p:nvPr/>
        </p:nvSpPr>
        <p:spPr>
          <a:xfrm>
            <a:off x="502920" y="6546536"/>
            <a:ext cx="11155680" cy="25391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1" lang="en-US" sz="1250" u="none" cap="none" strike="noStrike">
                <a:solidFill>
                  <a:srgbClr val="94A3B8"/>
                </a:solidFill>
                <a:latin typeface="Inter"/>
                <a:ea typeface="Inter"/>
                <a:cs typeface="Inter"/>
                <a:sym typeface="Inter"/>
              </a:rPr>
              <a:t>Sources: Derived from ~100K severe-motor-disability users × ₹1,500 retail; Vantage Market Research 2025; Tobii Dynavox retail India 2024</a:t>
            </a:r>
            <a:endParaRPr b="0" i="0" sz="1400" u="none" cap="none" strike="noStrike">
              <a:solidFill>
                <a:srgbClr val="000000"/>
              </a:solidFill>
              <a:latin typeface="Arial"/>
              <a:ea typeface="Arial"/>
              <a:cs typeface="Arial"/>
              <a:sym typeface="Arial"/>
            </a:endParaRPr>
          </a:p>
        </p:txBody>
      </p:sp>
    </p:spTree>
  </p:cSld>
  <p:clrMapOvr>
    <a:masterClrMapping/>
  </p:clrMapOvr>
  <p:transition spd="med">
    <p:fade/>
  </p:transition>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2" name="Shape 1342"/>
        <p:cNvGrpSpPr/>
        <p:nvPr/>
      </p:nvGrpSpPr>
      <p:grpSpPr>
        <a:xfrm>
          <a:off x="0" y="0"/>
          <a:ext cx="0" cy="0"/>
          <a:chOff x="0" y="0"/>
          <a:chExt cx="0" cy="0"/>
        </a:xfrm>
      </p:grpSpPr>
      <p:sp>
        <p:nvSpPr>
          <p:cNvPr id="1343" name="Google Shape;1343;p57"/>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1344" name="Google Shape;1344;p57"/>
          <p:cNvSpPr/>
          <p:nvPr/>
        </p:nvSpPr>
        <p:spPr>
          <a:xfrm>
            <a:off x="502920" y="640080"/>
            <a:ext cx="11185855" cy="10973"/>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45" name="Google Shape;1345;p57"/>
          <p:cNvSpPr/>
          <p:nvPr/>
        </p:nvSpPr>
        <p:spPr>
          <a:xfrm>
            <a:off x="502920" y="868680"/>
            <a:ext cx="1051560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400" u="none" cap="none" strike="noStrike">
                <a:solidFill>
                  <a:srgbClr val="22D3EE"/>
                </a:solidFill>
                <a:latin typeface="Inter"/>
                <a:ea typeface="Inter"/>
                <a:cs typeface="Inter"/>
                <a:sym typeface="Inter"/>
              </a:rPr>
              <a:t>FUTURE MARKET DIVERSIFICATION  ·  BEYOND HEALTHCARE</a:t>
            </a:r>
            <a:endParaRPr b="0" i="0" sz="1100" u="none" cap="none" strike="noStrike">
              <a:solidFill>
                <a:schemeClr val="dk1"/>
              </a:solidFill>
              <a:latin typeface="Calibri"/>
              <a:ea typeface="Calibri"/>
              <a:cs typeface="Calibri"/>
              <a:sym typeface="Calibri"/>
            </a:endParaRPr>
          </a:p>
        </p:txBody>
      </p:sp>
      <p:sp>
        <p:nvSpPr>
          <p:cNvPr id="1346" name="Google Shape;1346;p57"/>
          <p:cNvSpPr/>
          <p:nvPr/>
        </p:nvSpPr>
        <p:spPr>
          <a:xfrm>
            <a:off x="502925" y="1280150"/>
            <a:ext cx="116892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3600"/>
              <a:buFont typeface="Arial"/>
              <a:buNone/>
            </a:pPr>
            <a:r>
              <a:rPr b="1" i="0" lang="en-US" sz="3400" u="none" cap="none" strike="noStrike">
                <a:solidFill>
                  <a:srgbClr val="FFFFFF"/>
                </a:solidFill>
                <a:latin typeface="Inter"/>
                <a:ea typeface="Inter"/>
                <a:cs typeface="Inter"/>
                <a:sym typeface="Inter"/>
              </a:rPr>
              <a:t>Expanding into hands-free gaming &amp; consumer tech.</a:t>
            </a:r>
            <a:endParaRPr b="0" i="0" sz="3600" u="none" cap="none" strike="noStrike">
              <a:solidFill>
                <a:schemeClr val="dk1"/>
              </a:solidFill>
              <a:latin typeface="Calibri"/>
              <a:ea typeface="Calibri"/>
              <a:cs typeface="Calibri"/>
              <a:sym typeface="Calibri"/>
            </a:endParaRPr>
          </a:p>
        </p:txBody>
      </p:sp>
      <p:sp>
        <p:nvSpPr>
          <p:cNvPr id="1347" name="Google Shape;1347;p57"/>
          <p:cNvSpPr/>
          <p:nvPr/>
        </p:nvSpPr>
        <p:spPr>
          <a:xfrm>
            <a:off x="502920" y="2111430"/>
            <a:ext cx="1051560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C5D6"/>
              </a:buClr>
              <a:buSzPts val="1800"/>
              <a:buFont typeface="Calibri"/>
              <a:buNone/>
            </a:pPr>
            <a:r>
              <a:rPr b="0" i="1" lang="en-US" sz="1750" u="none" cap="none" strike="noStrike">
                <a:solidFill>
                  <a:srgbClr val="B7C5D6"/>
                </a:solidFill>
                <a:latin typeface="Inter"/>
                <a:ea typeface="Inter"/>
                <a:cs typeface="Inter"/>
                <a:sym typeface="Inter"/>
              </a:rPr>
              <a:t>Diversifying into gaming will unlock high-volume adoption that cross-subsidizes medical units.</a:t>
            </a:r>
            <a:endParaRPr b="0" i="0" sz="1800" u="none" cap="none" strike="noStrike">
              <a:solidFill>
                <a:schemeClr val="dk1"/>
              </a:solidFill>
              <a:latin typeface="Calibri"/>
              <a:ea typeface="Calibri"/>
              <a:cs typeface="Calibri"/>
              <a:sym typeface="Calibri"/>
            </a:endParaRPr>
          </a:p>
        </p:txBody>
      </p:sp>
      <p:sp>
        <p:nvSpPr>
          <p:cNvPr id="1348" name="Google Shape;1348;p57"/>
          <p:cNvSpPr/>
          <p:nvPr/>
        </p:nvSpPr>
        <p:spPr>
          <a:xfrm>
            <a:off x="472288" y="2926080"/>
            <a:ext cx="5440680" cy="3474720"/>
          </a:xfrm>
          <a:prstGeom prst="roundRect">
            <a:avLst>
              <a:gd fmla="val 2105"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49" name="Google Shape;1349;p57"/>
          <p:cNvSpPr/>
          <p:nvPr/>
        </p:nvSpPr>
        <p:spPr>
          <a:xfrm>
            <a:off x="792328" y="3246120"/>
            <a:ext cx="685800" cy="685800"/>
          </a:xfrm>
          <a:prstGeom prst="ellipse">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50" name="Google Shape;1350;p57"/>
          <p:cNvSpPr/>
          <p:nvPr/>
        </p:nvSpPr>
        <p:spPr>
          <a:xfrm>
            <a:off x="792328" y="3246120"/>
            <a:ext cx="6858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51" name="Google Shape;1351;p57"/>
          <p:cNvSpPr/>
          <p:nvPr/>
        </p:nvSpPr>
        <p:spPr>
          <a:xfrm>
            <a:off x="1661008" y="3242413"/>
            <a:ext cx="4069200"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300" u="none" cap="none" strike="noStrike">
                <a:solidFill>
                  <a:srgbClr val="22D3EE"/>
                </a:solidFill>
                <a:latin typeface="Inter"/>
                <a:ea typeface="Inter"/>
                <a:cs typeface="Inter"/>
                <a:sym typeface="Inter"/>
              </a:rPr>
              <a:t>HANDS-FREE PC, WEB &amp; ARCADE GAMING</a:t>
            </a:r>
            <a:endParaRPr b="0" i="0" sz="1100" u="none" cap="none" strike="noStrike">
              <a:solidFill>
                <a:schemeClr val="dk1"/>
              </a:solidFill>
              <a:latin typeface="Calibri"/>
              <a:ea typeface="Calibri"/>
              <a:cs typeface="Calibri"/>
              <a:sym typeface="Calibri"/>
            </a:endParaRPr>
          </a:p>
        </p:txBody>
      </p:sp>
      <p:sp>
        <p:nvSpPr>
          <p:cNvPr id="1352" name="Google Shape;1352;p57"/>
          <p:cNvSpPr/>
          <p:nvPr/>
        </p:nvSpPr>
        <p:spPr>
          <a:xfrm>
            <a:off x="1661008" y="3566160"/>
            <a:ext cx="4114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1900" u="none" cap="none" strike="noStrike">
                <a:solidFill>
                  <a:srgbClr val="FFFFFF"/>
                </a:solidFill>
                <a:latin typeface="Inter"/>
                <a:ea typeface="Inter"/>
                <a:cs typeface="Inter"/>
                <a:sym typeface="Inter"/>
              </a:rPr>
              <a:t>Head-tilt aiming. Blink-to-fire triggers.</a:t>
            </a:r>
            <a:endParaRPr b="0" i="0" sz="2000" u="none" cap="none" strike="noStrike">
              <a:solidFill>
                <a:schemeClr val="dk1"/>
              </a:solidFill>
              <a:latin typeface="Calibri"/>
              <a:ea typeface="Calibri"/>
              <a:cs typeface="Calibri"/>
              <a:sym typeface="Calibri"/>
            </a:endParaRPr>
          </a:p>
        </p:txBody>
      </p:sp>
      <p:sp>
        <p:nvSpPr>
          <p:cNvPr id="1353" name="Google Shape;1353;p57"/>
          <p:cNvSpPr/>
          <p:nvPr/>
        </p:nvSpPr>
        <p:spPr>
          <a:xfrm>
            <a:off x="792328" y="4280044"/>
            <a:ext cx="5010900" cy="160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1800"/>
              <a:buFont typeface="Calibri"/>
              <a:buNone/>
            </a:pPr>
            <a:r>
              <a:rPr b="0" i="0" lang="en-US" sz="1450" u="none" cap="none" strike="noStrike">
                <a:solidFill>
                  <a:srgbClr val="B4C3DC"/>
                </a:solidFill>
                <a:latin typeface="Inter"/>
                <a:ea typeface="Inter"/>
                <a:cs typeface="Inter"/>
                <a:sym typeface="Inter"/>
              </a:rPr>
              <a:t>•  MPU6050 head tilt maps to 360° crosshair aim.</a:t>
            </a:r>
            <a:endParaRPr b="0" i="0" sz="19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Single &amp; double blinks act as fire triggers.</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Lets injured &amp; amputee players game hands-free.</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Affordable ₹3,000–₹3,500 wearable for gamers.</a:t>
            </a:r>
            <a:endParaRPr/>
          </a:p>
        </p:txBody>
      </p:sp>
      <p:sp>
        <p:nvSpPr>
          <p:cNvPr id="1354" name="Google Shape;1354;p57"/>
          <p:cNvSpPr/>
          <p:nvPr/>
        </p:nvSpPr>
        <p:spPr>
          <a:xfrm>
            <a:off x="792328" y="5897880"/>
            <a:ext cx="4663440" cy="347472"/>
          </a:xfrm>
          <a:prstGeom prst="roundRect">
            <a:avLst>
              <a:gd fmla="val 142857" name="adj"/>
            </a:avLst>
          </a:prstGeom>
          <a:solidFill>
            <a:srgbClr val="0B25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1355" name="Google Shape;1355;p57"/>
          <p:cNvSpPr/>
          <p:nvPr/>
        </p:nvSpPr>
        <p:spPr>
          <a:xfrm>
            <a:off x="792328" y="5897880"/>
            <a:ext cx="466344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200"/>
              <a:buFont typeface="Calibri"/>
              <a:buNone/>
            </a:pPr>
            <a:r>
              <a:rPr b="1" i="0" lang="en-US" sz="1300" u="none" cap="none" strike="noStrike">
                <a:solidFill>
                  <a:srgbClr val="22D3EE"/>
                </a:solidFill>
                <a:latin typeface="Inter"/>
                <a:ea typeface="Inter"/>
                <a:cs typeface="Inter"/>
                <a:sym typeface="Inter"/>
              </a:rPr>
              <a:t>Zero-Lag Head Aim · Blink Triggers</a:t>
            </a:r>
            <a:endParaRPr b="0" i="0" sz="1100" u="none" cap="none" strike="noStrike">
              <a:solidFill>
                <a:schemeClr val="dk1"/>
              </a:solidFill>
              <a:latin typeface="Calibri"/>
              <a:ea typeface="Calibri"/>
              <a:cs typeface="Calibri"/>
              <a:sym typeface="Calibri"/>
            </a:endParaRPr>
          </a:p>
        </p:txBody>
      </p:sp>
      <p:sp>
        <p:nvSpPr>
          <p:cNvPr id="1356" name="Google Shape;1356;p57"/>
          <p:cNvSpPr/>
          <p:nvPr/>
        </p:nvSpPr>
        <p:spPr>
          <a:xfrm>
            <a:off x="6278728" y="2926080"/>
            <a:ext cx="5440680" cy="3474720"/>
          </a:xfrm>
          <a:prstGeom prst="roundRect">
            <a:avLst>
              <a:gd fmla="val 2105" name="adj"/>
            </a:avLst>
          </a:prstGeom>
          <a:solidFill>
            <a:srgbClr val="0F2440"/>
          </a:solidFill>
          <a:ln cap="flat" cmpd="sng" w="9525">
            <a:solidFill>
              <a:srgbClr val="0E7490">
                <a:alpha val="40000"/>
              </a:srgbClr>
            </a:solidFill>
            <a:prstDash val="solid"/>
            <a:round/>
            <a:headEnd len="sm" w="sm" type="none"/>
            <a:tailEnd len="sm" w="sm" type="none"/>
          </a:ln>
          <a:effectLst>
            <a:outerShdw blurRad="127000" rotWithShape="0" algn="bl" dir="54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57" name="Google Shape;1357;p57"/>
          <p:cNvSpPr/>
          <p:nvPr/>
        </p:nvSpPr>
        <p:spPr>
          <a:xfrm>
            <a:off x="6598768" y="3246120"/>
            <a:ext cx="685800" cy="685800"/>
          </a:xfrm>
          <a:prstGeom prst="ellipse">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58" name="Google Shape;1358;p57"/>
          <p:cNvSpPr/>
          <p:nvPr/>
        </p:nvSpPr>
        <p:spPr>
          <a:xfrm>
            <a:off x="6598768" y="3246120"/>
            <a:ext cx="68580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B02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59" name="Google Shape;1359;p57"/>
          <p:cNvSpPr/>
          <p:nvPr/>
        </p:nvSpPr>
        <p:spPr>
          <a:xfrm>
            <a:off x="7467448" y="3242413"/>
            <a:ext cx="4069200"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B020"/>
              </a:buClr>
              <a:buSzPts val="1100"/>
              <a:buFont typeface="Calibri"/>
              <a:buNone/>
            </a:pPr>
            <a:r>
              <a:rPr b="1" i="0" lang="en-US" sz="1300" u="none" cap="none" strike="noStrike">
                <a:solidFill>
                  <a:srgbClr val="FFB020"/>
                </a:solidFill>
                <a:latin typeface="Inter"/>
                <a:ea typeface="Inter"/>
                <a:cs typeface="Inter"/>
                <a:sym typeface="Inter"/>
              </a:rPr>
              <a:t>CROSS-SUBSIDY &amp; SMART HOME ECOSYSTEM</a:t>
            </a:r>
            <a:endParaRPr b="0" i="0" sz="1100" u="none" cap="none" strike="noStrike">
              <a:solidFill>
                <a:schemeClr val="dk1"/>
              </a:solidFill>
              <a:latin typeface="Calibri"/>
              <a:ea typeface="Calibri"/>
              <a:cs typeface="Calibri"/>
              <a:sym typeface="Calibri"/>
            </a:endParaRPr>
          </a:p>
        </p:txBody>
      </p:sp>
      <p:sp>
        <p:nvSpPr>
          <p:cNvPr id="1360" name="Google Shape;1360;p57"/>
          <p:cNvSpPr/>
          <p:nvPr/>
        </p:nvSpPr>
        <p:spPr>
          <a:xfrm>
            <a:off x="7467448" y="3566160"/>
            <a:ext cx="4114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1900" u="none" cap="none" strike="noStrike">
                <a:solidFill>
                  <a:srgbClr val="FFFFFF"/>
                </a:solidFill>
                <a:latin typeface="Inter"/>
                <a:ea typeface="Inter"/>
                <a:cs typeface="Inter"/>
                <a:sym typeface="Inter"/>
              </a:rPr>
              <a:t>Gamer volume will fund patient access.</a:t>
            </a:r>
            <a:endParaRPr b="0" i="0" sz="2000" u="none" cap="none" strike="noStrike">
              <a:solidFill>
                <a:schemeClr val="dk1"/>
              </a:solidFill>
              <a:latin typeface="Calibri"/>
              <a:ea typeface="Calibri"/>
              <a:cs typeface="Calibri"/>
              <a:sym typeface="Calibri"/>
            </a:endParaRPr>
          </a:p>
        </p:txBody>
      </p:sp>
      <p:sp>
        <p:nvSpPr>
          <p:cNvPr id="1361" name="Google Shape;1361;p57"/>
          <p:cNvSpPr/>
          <p:nvPr/>
        </p:nvSpPr>
        <p:spPr>
          <a:xfrm>
            <a:off x="6598768" y="4280044"/>
            <a:ext cx="5010900" cy="160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DD5E2"/>
              </a:buClr>
              <a:buSzPts val="2000"/>
              <a:buFont typeface="Calibri"/>
              <a:buNone/>
            </a:pPr>
            <a:r>
              <a:rPr b="0" i="0" lang="en-US" sz="1450" u="none" cap="none" strike="noStrike">
                <a:solidFill>
                  <a:srgbClr val="B4C3DC"/>
                </a:solidFill>
                <a:latin typeface="Inter"/>
                <a:ea typeface="Inter"/>
                <a:cs typeface="Inter"/>
                <a:sym typeface="Inter"/>
              </a:rPr>
              <a:t>•  Assistive devices face low production volume.</a:t>
            </a:r>
            <a:endParaRPr b="0" i="0" sz="21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Gaming demand drives bulk PCB manufacturing.</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Gaming sales cross-subsidize patient kits.</a:t>
            </a:r>
            <a:endParaRPr/>
          </a:p>
          <a:p>
            <a:pPr indent="0" lvl="0" marL="0" marR="0" rtl="0" algn="l">
              <a:lnSpc>
                <a:spcPct val="100000"/>
              </a:lnSpc>
              <a:spcBef>
                <a:spcPts val="500"/>
              </a:spcBef>
              <a:spcAft>
                <a:spcPts val="0"/>
              </a:spcAft>
              <a:buNone/>
            </a:pPr>
            <a:r>
              <a:rPr b="0" i="0" lang="en-US" sz="1450" u="none" cap="none" strike="noStrike">
                <a:solidFill>
                  <a:srgbClr val="B4C3DC"/>
                </a:solidFill>
                <a:latin typeface="Inter"/>
                <a:ea typeface="Inter"/>
                <a:cs typeface="Inter"/>
                <a:sym typeface="Inter"/>
              </a:rPr>
              <a:t>•  Unifies medical care, gaming &amp; smart home.</a:t>
            </a:r>
            <a:endParaRPr/>
          </a:p>
        </p:txBody>
      </p:sp>
      <p:sp>
        <p:nvSpPr>
          <p:cNvPr id="1362" name="Google Shape;1362;p57"/>
          <p:cNvSpPr/>
          <p:nvPr/>
        </p:nvSpPr>
        <p:spPr>
          <a:xfrm>
            <a:off x="6598768" y="5897880"/>
            <a:ext cx="4663440" cy="347472"/>
          </a:xfrm>
          <a:prstGeom prst="roundRect">
            <a:avLst>
              <a:gd fmla="val 142857" name="adj"/>
            </a:avLst>
          </a:prstGeom>
          <a:solidFill>
            <a:srgbClr val="2A1F0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1363" name="Google Shape;1363;p57"/>
          <p:cNvSpPr/>
          <p:nvPr/>
        </p:nvSpPr>
        <p:spPr>
          <a:xfrm>
            <a:off x="6598768" y="5897880"/>
            <a:ext cx="466344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B020"/>
              </a:buClr>
              <a:buSzPts val="1050"/>
              <a:buFont typeface="Calibri"/>
              <a:buNone/>
            </a:pPr>
            <a:r>
              <a:rPr b="1" i="0" lang="en-US" sz="1300" u="none" cap="none" strike="noStrike">
                <a:solidFill>
                  <a:srgbClr val="FFB020"/>
                </a:solidFill>
                <a:latin typeface="Inter"/>
                <a:ea typeface="Inter"/>
                <a:cs typeface="Inter"/>
                <a:sym typeface="Inter"/>
              </a:rPr>
              <a:t>High-Volume Scale · Cross-Subsidy Impact</a:t>
            </a:r>
            <a:endParaRPr b="0" i="0" sz="1050" u="none" cap="none" strike="noStrike">
              <a:solidFill>
                <a:schemeClr val="dk1"/>
              </a:solidFill>
              <a:latin typeface="Calibri"/>
              <a:ea typeface="Calibri"/>
              <a:cs typeface="Calibri"/>
              <a:sym typeface="Calibri"/>
            </a:endParaRPr>
          </a:p>
        </p:txBody>
      </p:sp>
      <p:pic>
        <p:nvPicPr>
          <p:cNvPr descr="icon_gamepad.png" id="1364" name="Google Shape;1364;p57"/>
          <p:cNvPicPr preferRelativeResize="0"/>
          <p:nvPr/>
        </p:nvPicPr>
        <p:blipFill rotWithShape="1">
          <a:blip r:embed="rId3">
            <a:alphaModFix/>
          </a:blip>
          <a:srcRect b="0" l="0" r="0" t="0"/>
          <a:stretch/>
        </p:blipFill>
        <p:spPr>
          <a:xfrm>
            <a:off x="792328" y="3246120"/>
            <a:ext cx="685800" cy="685800"/>
          </a:xfrm>
          <a:prstGeom prst="rect">
            <a:avLst/>
          </a:prstGeom>
          <a:noFill/>
          <a:ln>
            <a:noFill/>
          </a:ln>
        </p:spPr>
      </p:pic>
      <p:pic>
        <p:nvPicPr>
          <p:cNvPr descr="icon_wifi.png" id="1365" name="Google Shape;1365;p57"/>
          <p:cNvPicPr preferRelativeResize="0"/>
          <p:nvPr/>
        </p:nvPicPr>
        <p:blipFill rotWithShape="1">
          <a:blip r:embed="rId4">
            <a:alphaModFix/>
          </a:blip>
          <a:srcRect b="0" l="0" r="0" t="0"/>
          <a:stretch/>
        </p:blipFill>
        <p:spPr>
          <a:xfrm>
            <a:off x="6598768" y="3246120"/>
            <a:ext cx="685800" cy="685800"/>
          </a:xfrm>
          <a:prstGeom prst="rect">
            <a:avLst/>
          </a:prstGeom>
          <a:noFill/>
          <a:ln>
            <a:noFill/>
          </a:ln>
        </p:spPr>
      </p:pic>
    </p:spTree>
  </p:cSld>
  <p:clrMapOvr>
    <a:masterClrMapping/>
  </p:clrMapOvr>
  <p:transition spd="med">
    <p:fade/>
  </p:transition>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9" name="Shape 1369"/>
        <p:cNvGrpSpPr/>
        <p:nvPr/>
      </p:nvGrpSpPr>
      <p:grpSpPr>
        <a:xfrm>
          <a:off x="0" y="0"/>
          <a:ext cx="0" cy="0"/>
          <a:chOff x="0" y="0"/>
          <a:chExt cx="0" cy="0"/>
        </a:xfrm>
      </p:grpSpPr>
      <p:sp>
        <p:nvSpPr>
          <p:cNvPr id="1370" name="Google Shape;1370;p62"/>
          <p:cNvSpPr/>
          <p:nvPr/>
        </p:nvSpPr>
        <p:spPr>
          <a:xfrm>
            <a:off x="0" y="0"/>
            <a:ext cx="12191695" cy="6858000"/>
          </a:xfrm>
          <a:prstGeom prst="rect">
            <a:avLst/>
          </a:prstGeom>
          <a:solidFill>
            <a:srgbClr val="070B1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71" name="Google Shape;1371;p62"/>
          <p:cNvSpPr txBox="1"/>
          <p:nvPr/>
        </p:nvSpPr>
        <p:spPr>
          <a:xfrm>
            <a:off x="502920" y="274320"/>
            <a:ext cx="4572000"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00E5FF"/>
                </a:solidFill>
                <a:latin typeface="Inter"/>
                <a:ea typeface="Inter"/>
                <a:cs typeface="Inter"/>
                <a:sym typeface="Inter"/>
              </a:rPr>
              <a:t>●  IRIS   ·   SECTION 06 OF 06</a:t>
            </a:r>
            <a:endParaRPr/>
          </a:p>
        </p:txBody>
      </p:sp>
      <p:sp>
        <p:nvSpPr>
          <p:cNvPr id="1372" name="Google Shape;1372;p62"/>
          <p:cNvSpPr/>
          <p:nvPr/>
        </p:nvSpPr>
        <p:spPr>
          <a:xfrm>
            <a:off x="502920" y="658368"/>
            <a:ext cx="11183112" cy="18288"/>
          </a:xfrm>
          <a:prstGeom prst="rect">
            <a:avLst/>
          </a:prstGeom>
          <a:solidFill>
            <a:srgbClr val="1E305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73" name="Google Shape;1373;p62"/>
          <p:cNvSpPr txBox="1"/>
          <p:nvPr/>
        </p:nvSpPr>
        <p:spPr>
          <a:xfrm>
            <a:off x="502920" y="2305349"/>
            <a:ext cx="11183100" cy="2247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7000" u="none" cap="none" strike="noStrike">
                <a:solidFill>
                  <a:srgbClr val="F5F8FF"/>
                </a:solidFill>
                <a:latin typeface="Inter"/>
                <a:ea typeface="Inter"/>
                <a:cs typeface="Inter"/>
                <a:sym typeface="Inter"/>
              </a:rPr>
              <a:t>TESTING &amp; VERIFIED NUMBERS</a:t>
            </a:r>
            <a:endParaRPr sz="7000"/>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A2E"/>
        </a:solidFill>
      </p:bgPr>
    </p:bg>
    <p:spTree>
      <p:nvGrpSpPr>
        <p:cNvPr id="1377" name="Shape 1377"/>
        <p:cNvGrpSpPr/>
        <p:nvPr/>
      </p:nvGrpSpPr>
      <p:grpSpPr>
        <a:xfrm>
          <a:off x="0" y="0"/>
          <a:ext cx="0" cy="0"/>
          <a:chOff x="0" y="0"/>
          <a:chExt cx="0" cy="0"/>
        </a:xfrm>
      </p:grpSpPr>
      <p:sp>
        <p:nvSpPr>
          <p:cNvPr id="1378" name="Google Shape;1378;p32"/>
          <p:cNvSpPr txBox="1"/>
          <p:nvPr/>
        </p:nvSpPr>
        <p:spPr>
          <a:xfrm>
            <a:off x="502920" y="274320"/>
            <a:ext cx="18288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5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379" name="Google Shape;1379;p32"/>
          <p:cNvSpPr txBox="1"/>
          <p:nvPr/>
        </p:nvSpPr>
        <p:spPr>
          <a:xfrm>
            <a:off x="685800" y="274320"/>
            <a:ext cx="36576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1150" u="none" cap="none" strike="noStrike">
                <a:solidFill>
                  <a:srgbClr val="CDD5E2"/>
                </a:solidFill>
                <a:latin typeface="Inter"/>
                <a:ea typeface="Inter"/>
                <a:cs typeface="Inter"/>
                <a:sym typeface="Inter"/>
              </a:rPr>
              <a:t>IRIS</a:t>
            </a:r>
            <a:endParaRPr b="0" i="0" sz="1400" u="none" cap="none" strike="noStrike">
              <a:solidFill>
                <a:srgbClr val="000000"/>
              </a:solidFill>
              <a:latin typeface="Arial"/>
              <a:ea typeface="Arial"/>
              <a:cs typeface="Arial"/>
              <a:sym typeface="Arial"/>
            </a:endParaRPr>
          </a:p>
        </p:txBody>
      </p:sp>
      <p:sp>
        <p:nvSpPr>
          <p:cNvPr id="1380" name="Google Shape;1380;p32"/>
          <p:cNvSpPr txBox="1"/>
          <p:nvPr/>
        </p:nvSpPr>
        <p:spPr>
          <a:xfrm>
            <a:off x="502920" y="777240"/>
            <a:ext cx="10515600"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400" u="none" cap="none" strike="noStrike">
                <a:solidFill>
                  <a:srgbClr val="22D3EE"/>
                </a:solidFill>
                <a:latin typeface="Inter"/>
                <a:ea typeface="Inter"/>
                <a:cs typeface="Inter"/>
                <a:sym typeface="Inter"/>
              </a:rPr>
              <a:t>BUILDING &amp; TESTING</a:t>
            </a:r>
            <a:endParaRPr b="0" i="0" sz="1400" u="none" cap="none" strike="noStrike">
              <a:solidFill>
                <a:srgbClr val="000000"/>
              </a:solidFill>
              <a:latin typeface="Arial"/>
              <a:ea typeface="Arial"/>
              <a:cs typeface="Arial"/>
              <a:sym typeface="Arial"/>
            </a:endParaRPr>
          </a:p>
        </p:txBody>
      </p:sp>
      <p:sp>
        <p:nvSpPr>
          <p:cNvPr id="1381" name="Google Shape;1381;p32"/>
          <p:cNvSpPr txBox="1"/>
          <p:nvPr/>
        </p:nvSpPr>
        <p:spPr>
          <a:xfrm>
            <a:off x="502920" y="1188720"/>
            <a:ext cx="10972800" cy="914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600" u="none" cap="none" strike="noStrike">
                <a:solidFill>
                  <a:srgbClr val="FFFFFF"/>
                </a:solidFill>
                <a:latin typeface="Inter"/>
                <a:ea typeface="Inter"/>
                <a:cs typeface="Inter"/>
                <a:sym typeface="Inter"/>
              </a:rPr>
              <a:t>Built by hand. Tested with real patients.</a:t>
            </a:r>
            <a:endParaRPr b="0" i="0" sz="1400" u="none" cap="none" strike="noStrike">
              <a:solidFill>
                <a:srgbClr val="000000"/>
              </a:solidFill>
              <a:latin typeface="Arial"/>
              <a:ea typeface="Arial"/>
              <a:cs typeface="Arial"/>
              <a:sym typeface="Arial"/>
            </a:endParaRPr>
          </a:p>
        </p:txBody>
      </p:sp>
      <p:sp>
        <p:nvSpPr>
          <p:cNvPr id="1382" name="Google Shape;1382;p32"/>
          <p:cNvSpPr txBox="1"/>
          <p:nvPr/>
        </p:nvSpPr>
        <p:spPr>
          <a:xfrm>
            <a:off x="502920" y="2103120"/>
            <a:ext cx="105156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1" lang="en-US" sz="1800" u="none" cap="none" strike="noStrike">
                <a:solidFill>
                  <a:srgbClr val="CDD5E2"/>
                </a:solidFill>
                <a:latin typeface="Inter"/>
                <a:ea typeface="Inter"/>
                <a:cs typeface="Inter"/>
                <a:sym typeface="Inter"/>
              </a:rPr>
              <a:t>From bedroom workbench to hospital pilot — every IRIS unit is hand-assembled and tested with the people who'll actually use it.</a:t>
            </a:r>
            <a:endParaRPr b="0" i="0" sz="1400" u="none" cap="none" strike="noStrike">
              <a:solidFill>
                <a:srgbClr val="000000"/>
              </a:solidFill>
              <a:latin typeface="Arial"/>
              <a:ea typeface="Arial"/>
              <a:cs typeface="Arial"/>
              <a:sym typeface="Arial"/>
            </a:endParaRPr>
          </a:p>
        </p:txBody>
      </p:sp>
      <p:pic>
        <p:nvPicPr>
          <p:cNvPr id="1383" name="Google Shape;1383;p32"/>
          <p:cNvPicPr preferRelativeResize="0"/>
          <p:nvPr/>
        </p:nvPicPr>
        <p:blipFill rotWithShape="1">
          <a:blip r:embed="rId3">
            <a:alphaModFix/>
          </a:blip>
          <a:srcRect b="12000" l="0" r="0" t="10666"/>
          <a:stretch/>
        </p:blipFill>
        <p:spPr>
          <a:xfrm>
            <a:off x="924029" y="2649434"/>
            <a:ext cx="2123971" cy="3662251"/>
          </a:xfrm>
          <a:prstGeom prst="rect">
            <a:avLst/>
          </a:prstGeom>
          <a:noFill/>
          <a:ln>
            <a:noFill/>
          </a:ln>
        </p:spPr>
      </p:pic>
      <p:pic>
        <p:nvPicPr>
          <p:cNvPr id="1384" name="Google Shape;1384;p32"/>
          <p:cNvPicPr preferRelativeResize="0"/>
          <p:nvPr/>
        </p:nvPicPr>
        <p:blipFill rotWithShape="1">
          <a:blip r:embed="rId4">
            <a:alphaModFix/>
          </a:blip>
          <a:srcRect b="-10127" l="0" r="0" t="9058"/>
          <a:stretch/>
        </p:blipFill>
        <p:spPr>
          <a:xfrm>
            <a:off x="3688080" y="2701414"/>
            <a:ext cx="2026920" cy="4106932"/>
          </a:xfrm>
          <a:prstGeom prst="rect">
            <a:avLst/>
          </a:prstGeom>
          <a:noFill/>
          <a:ln>
            <a:noFill/>
          </a:ln>
        </p:spPr>
      </p:pic>
      <p:pic>
        <p:nvPicPr>
          <p:cNvPr id="1385" name="Google Shape;1385;p32"/>
          <p:cNvPicPr preferRelativeResize="0"/>
          <p:nvPr/>
        </p:nvPicPr>
        <p:blipFill rotWithShape="1">
          <a:blip r:embed="rId5">
            <a:alphaModFix/>
          </a:blip>
          <a:srcRect b="0" l="0" r="0" t="0"/>
          <a:stretch/>
        </p:blipFill>
        <p:spPr>
          <a:xfrm>
            <a:off x="6917579" y="2742409"/>
            <a:ext cx="2877589" cy="3551747"/>
          </a:xfrm>
          <a:prstGeom prst="rect">
            <a:avLst/>
          </a:prstGeom>
          <a:noFill/>
          <a:ln>
            <a:noFill/>
          </a:ln>
        </p:spPr>
      </p:pic>
    </p:spTree>
  </p:cSld>
  <p:clrMapOvr>
    <a:masterClrMapping/>
  </p:clrMapOvr>
  <p:transition spd="med">
    <p:fade/>
  </p:transition>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A2E"/>
        </a:solidFill>
      </p:bgPr>
    </p:bg>
    <p:spTree>
      <p:nvGrpSpPr>
        <p:cNvPr id="1389" name="Shape 1389"/>
        <p:cNvGrpSpPr/>
        <p:nvPr/>
      </p:nvGrpSpPr>
      <p:grpSpPr>
        <a:xfrm>
          <a:off x="0" y="0"/>
          <a:ext cx="0" cy="0"/>
          <a:chOff x="0" y="0"/>
          <a:chExt cx="0" cy="0"/>
        </a:xfrm>
      </p:grpSpPr>
      <p:sp>
        <p:nvSpPr>
          <p:cNvPr id="1390" name="Google Shape;1390;p43"/>
          <p:cNvSpPr txBox="1"/>
          <p:nvPr/>
        </p:nvSpPr>
        <p:spPr>
          <a:xfrm>
            <a:off x="502920" y="274320"/>
            <a:ext cx="18288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50" u="none" cap="none" strike="noStrike">
                <a:solidFill>
                  <a:srgbClr val="22D3EE"/>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391" name="Google Shape;1391;p43"/>
          <p:cNvSpPr txBox="1"/>
          <p:nvPr/>
        </p:nvSpPr>
        <p:spPr>
          <a:xfrm>
            <a:off x="685800" y="274320"/>
            <a:ext cx="365760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1150" u="none" cap="none" strike="noStrike">
                <a:solidFill>
                  <a:srgbClr val="CDD5E2"/>
                </a:solidFill>
                <a:latin typeface="Inter"/>
                <a:ea typeface="Inter"/>
                <a:cs typeface="Inter"/>
                <a:sym typeface="Inter"/>
              </a:rPr>
              <a:t>IRIS</a:t>
            </a:r>
            <a:endParaRPr b="0" i="0" sz="1400" u="none" cap="none" strike="noStrike">
              <a:solidFill>
                <a:srgbClr val="000000"/>
              </a:solidFill>
              <a:latin typeface="Arial"/>
              <a:ea typeface="Arial"/>
              <a:cs typeface="Arial"/>
              <a:sym typeface="Arial"/>
            </a:endParaRPr>
          </a:p>
        </p:txBody>
      </p:sp>
      <p:sp>
        <p:nvSpPr>
          <p:cNvPr id="1392" name="Google Shape;1392;p43"/>
          <p:cNvSpPr txBox="1"/>
          <p:nvPr/>
        </p:nvSpPr>
        <p:spPr>
          <a:xfrm>
            <a:off x="502920" y="777240"/>
            <a:ext cx="10515600"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400" u="none" cap="none" strike="noStrike">
                <a:solidFill>
                  <a:srgbClr val="22D3EE"/>
                </a:solidFill>
                <a:latin typeface="Inter"/>
                <a:ea typeface="Inter"/>
                <a:cs typeface="Inter"/>
                <a:sym typeface="Inter"/>
              </a:rPr>
              <a:t>EXPERIMENTAL EVALUATION</a:t>
            </a:r>
            <a:endParaRPr b="0" i="0" sz="1400" u="none" cap="none" strike="noStrike">
              <a:solidFill>
                <a:srgbClr val="000000"/>
              </a:solidFill>
              <a:latin typeface="Arial"/>
              <a:ea typeface="Arial"/>
              <a:cs typeface="Arial"/>
              <a:sym typeface="Arial"/>
            </a:endParaRPr>
          </a:p>
        </p:txBody>
      </p:sp>
      <p:sp>
        <p:nvSpPr>
          <p:cNvPr id="1393" name="Google Shape;1393;p43"/>
          <p:cNvSpPr txBox="1"/>
          <p:nvPr/>
        </p:nvSpPr>
        <p:spPr>
          <a:xfrm>
            <a:off x="502920" y="1188720"/>
            <a:ext cx="10972800" cy="914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FFFFFF"/>
                </a:solidFill>
                <a:latin typeface="Inter"/>
                <a:ea typeface="Inter"/>
                <a:cs typeface="Inter"/>
                <a:sym typeface="Inter"/>
              </a:rPr>
              <a:t>The numbers. Verified.</a:t>
            </a:r>
            <a:endParaRPr b="0" i="0" sz="1400" u="none" cap="none" strike="noStrike">
              <a:solidFill>
                <a:srgbClr val="000000"/>
              </a:solidFill>
              <a:latin typeface="Arial"/>
              <a:ea typeface="Arial"/>
              <a:cs typeface="Arial"/>
              <a:sym typeface="Arial"/>
            </a:endParaRPr>
          </a:p>
        </p:txBody>
      </p:sp>
      <p:sp>
        <p:nvSpPr>
          <p:cNvPr id="1394" name="Google Shape;1394;p43"/>
          <p:cNvSpPr txBox="1"/>
          <p:nvPr/>
        </p:nvSpPr>
        <p:spPr>
          <a:xfrm>
            <a:off x="502920" y="2103120"/>
            <a:ext cx="105156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1" lang="en-US" sz="1750" u="none" cap="none" strike="noStrike">
                <a:solidFill>
                  <a:srgbClr val="CDD5E2"/>
                </a:solidFill>
                <a:latin typeface="Inter"/>
                <a:ea typeface="Inter"/>
                <a:cs typeface="Inter"/>
                <a:sym typeface="Inter"/>
              </a:rPr>
              <a:t>IRIS benchmarked across accuracy, latency, computational overhead, and clinical caregiver response.</a:t>
            </a:r>
            <a:endParaRPr b="0" i="0" sz="1400" u="none" cap="none" strike="noStrike">
              <a:solidFill>
                <a:srgbClr val="000000"/>
              </a:solidFill>
              <a:latin typeface="Arial"/>
              <a:ea typeface="Arial"/>
              <a:cs typeface="Arial"/>
              <a:sym typeface="Arial"/>
            </a:endParaRPr>
          </a:p>
        </p:txBody>
      </p:sp>
      <p:graphicFrame>
        <p:nvGraphicFramePr>
          <p:cNvPr id="1395" name="Google Shape;1395;p43"/>
          <p:cNvGraphicFramePr/>
          <p:nvPr/>
        </p:nvGraphicFramePr>
        <p:xfrm>
          <a:off x="502920" y="2834640"/>
          <a:ext cx="3000000" cy="3000000"/>
        </p:xfrm>
        <a:graphic>
          <a:graphicData uri="http://schemas.openxmlformats.org/drawingml/2006/table">
            <a:tbl>
              <a:tblPr bandRow="1" firstRow="1">
                <a:noFill/>
                <a:tableStyleId>{FF6A089E-0E2F-413F-AAF4-4182F4D1E65C}</a:tableStyleId>
              </a:tblPr>
              <a:tblGrid>
                <a:gridCol w="4572000"/>
                <a:gridCol w="3291850"/>
                <a:gridCol w="3291850"/>
              </a:tblGrid>
              <a:tr h="411475">
                <a:tc>
                  <a:txBody>
                    <a:bodyPr/>
                    <a:lstStyle/>
                    <a:p>
                      <a:pPr indent="0" lvl="0" marL="0" marR="0" rtl="0" algn="l">
                        <a:lnSpc>
                          <a:spcPct val="100000"/>
                        </a:lnSpc>
                        <a:spcBef>
                          <a:spcPts val="0"/>
                        </a:spcBef>
                        <a:spcAft>
                          <a:spcPts val="0"/>
                        </a:spcAft>
                        <a:buClr>
                          <a:srgbClr val="000000"/>
                        </a:buClr>
                        <a:buSzPts val="1300"/>
                        <a:buFont typeface="Arial"/>
                        <a:buNone/>
                      </a:pPr>
                      <a:r>
                        <a:rPr b="1" lang="en-US" sz="1750" u="none" cap="none" strike="noStrike">
                          <a:solidFill>
                            <a:srgbClr val="22D3EE"/>
                          </a:solidFill>
                          <a:latin typeface="Arial"/>
                          <a:ea typeface="Arial"/>
                          <a:cs typeface="Arial"/>
                          <a:sym typeface="Arial"/>
                        </a:rPr>
                        <a:t>Metric</a:t>
                      </a:r>
                      <a:endParaRPr sz="1400" u="none" cap="none" strike="noStrike"/>
                    </a:p>
                  </a:txBody>
                  <a:tcPr marT="45725" marB="45725" marR="91450" marL="91450">
                    <a:solidFill>
                      <a:srgbClr val="050E1C"/>
                    </a:solidFill>
                  </a:tcPr>
                </a:tc>
                <a:tc>
                  <a:txBody>
                    <a:bodyPr/>
                    <a:lstStyle/>
                    <a:p>
                      <a:pPr indent="0" lvl="0" marL="0" marR="0" rtl="0" algn="l">
                        <a:lnSpc>
                          <a:spcPct val="100000"/>
                        </a:lnSpc>
                        <a:spcBef>
                          <a:spcPts val="0"/>
                        </a:spcBef>
                        <a:spcAft>
                          <a:spcPts val="0"/>
                        </a:spcAft>
                        <a:buClr>
                          <a:srgbClr val="000000"/>
                        </a:buClr>
                        <a:buSzPts val="1300"/>
                        <a:buFont typeface="Arial"/>
                        <a:buNone/>
                      </a:pPr>
                      <a:r>
                        <a:rPr b="1" lang="en-US" sz="1750" u="none" cap="none" strike="noStrike">
                          <a:solidFill>
                            <a:srgbClr val="22D3EE"/>
                          </a:solidFill>
                          <a:latin typeface="Arial"/>
                          <a:ea typeface="Arial"/>
                          <a:cs typeface="Arial"/>
                          <a:sym typeface="Arial"/>
                        </a:rPr>
                        <a:t>IRIS</a:t>
                      </a:r>
                      <a:endParaRPr sz="1400" u="none" cap="none" strike="noStrike"/>
                    </a:p>
                  </a:txBody>
                  <a:tcPr marT="45725" marB="45725" marR="91450" marL="91450">
                    <a:solidFill>
                      <a:srgbClr val="050E1C"/>
                    </a:solidFill>
                  </a:tcPr>
                </a:tc>
                <a:tc>
                  <a:txBody>
                    <a:bodyPr/>
                    <a:lstStyle/>
                    <a:p>
                      <a:pPr indent="0" lvl="0" marL="0" marR="0" rtl="0" algn="l">
                        <a:lnSpc>
                          <a:spcPct val="100000"/>
                        </a:lnSpc>
                        <a:spcBef>
                          <a:spcPts val="0"/>
                        </a:spcBef>
                        <a:spcAft>
                          <a:spcPts val="0"/>
                        </a:spcAft>
                        <a:buClr>
                          <a:srgbClr val="000000"/>
                        </a:buClr>
                        <a:buSzPts val="1300"/>
                        <a:buFont typeface="Arial"/>
                        <a:buNone/>
                      </a:pPr>
                      <a:r>
                        <a:rPr b="1" lang="en-US" sz="1750" u="none" cap="none" strike="noStrike">
                          <a:solidFill>
                            <a:srgbClr val="22D3EE"/>
                          </a:solidFill>
                          <a:latin typeface="Arial"/>
                          <a:ea typeface="Arial"/>
                          <a:cs typeface="Arial"/>
                          <a:sym typeface="Arial"/>
                        </a:rPr>
                        <a:t>Commercial Baseline</a:t>
                      </a:r>
                      <a:endParaRPr sz="1400" u="none" cap="none" strike="noStrike"/>
                    </a:p>
                  </a:txBody>
                  <a:tcPr marT="45725" marB="45725" marR="91450" marL="91450">
                    <a:solidFill>
                      <a:srgbClr val="050E1C"/>
                    </a:solidFill>
                  </a:tcPr>
                </a:tc>
              </a:tr>
              <a:tr h="411475">
                <a:tc>
                  <a:txBody>
                    <a:bodyPr/>
                    <a:lstStyle/>
                    <a:p>
                      <a:pPr indent="0" lvl="0" marL="0" marR="0" rtl="0" algn="l">
                        <a:lnSpc>
                          <a:spcPct val="100000"/>
                        </a:lnSpc>
                        <a:spcBef>
                          <a:spcPts val="0"/>
                        </a:spcBef>
                        <a:spcAft>
                          <a:spcPts val="0"/>
                        </a:spcAft>
                        <a:buClr>
                          <a:srgbClr val="000000"/>
                        </a:buClr>
                        <a:buSzPts val="1200"/>
                        <a:buFont typeface="Arial"/>
                        <a:buNone/>
                      </a:pPr>
                      <a:r>
                        <a:rPr b="1" lang="en-US" sz="1600" u="none" cap="none" strike="noStrike">
                          <a:solidFill>
                            <a:srgbClr val="FFFFFF"/>
                          </a:solidFill>
                          <a:latin typeface="Arial"/>
                          <a:ea typeface="Arial"/>
                          <a:cs typeface="Arial"/>
                          <a:sym typeface="Arial"/>
                        </a:rPr>
                        <a:t>Target Acquisition Accuracy</a:t>
                      </a:r>
                      <a:endParaRPr sz="1400" u="none" cap="none" strike="noStrike"/>
                    </a:p>
                  </a:txBody>
                  <a:tcPr marT="45725" marB="45725" marR="91450" marL="91450">
                    <a:solidFill>
                      <a:srgbClr val="050E1C"/>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lang="en-US" sz="1600" u="none" cap="none" strike="noStrike">
                          <a:solidFill>
                            <a:srgbClr val="22D3EE"/>
                          </a:solidFill>
                          <a:latin typeface="Arial"/>
                          <a:ea typeface="Arial"/>
                          <a:cs typeface="Arial"/>
                          <a:sym typeface="Arial"/>
                        </a:rPr>
                        <a:t>98.4%</a:t>
                      </a:r>
                      <a:endParaRPr sz="1400" u="none" cap="none" strike="noStrike"/>
                    </a:p>
                  </a:txBody>
                  <a:tcPr marT="45725" marB="45725" marR="91450" marL="91450">
                    <a:solidFill>
                      <a:srgbClr val="050E1C"/>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0" lang="en-US" sz="1600" u="none" cap="none" strike="noStrike">
                          <a:solidFill>
                            <a:srgbClr val="CDD5E2"/>
                          </a:solidFill>
                          <a:latin typeface="Arial"/>
                          <a:ea typeface="Arial"/>
                          <a:cs typeface="Arial"/>
                          <a:sym typeface="Arial"/>
                        </a:rPr>
                        <a:t>92.1% (Tobii)</a:t>
                      </a:r>
                      <a:endParaRPr sz="1400" u="none" cap="none" strike="noStrike"/>
                    </a:p>
                  </a:txBody>
                  <a:tcPr marT="45725" marB="45725" marR="91450" marL="91450">
                    <a:solidFill>
                      <a:srgbClr val="050E1C"/>
                    </a:solidFill>
                  </a:tcPr>
                </a:tc>
              </a:tr>
              <a:tr h="411475">
                <a:tc>
                  <a:txBody>
                    <a:bodyPr/>
                    <a:lstStyle/>
                    <a:p>
                      <a:pPr indent="0" lvl="0" marL="0" marR="0" rtl="0" algn="l">
                        <a:lnSpc>
                          <a:spcPct val="100000"/>
                        </a:lnSpc>
                        <a:spcBef>
                          <a:spcPts val="0"/>
                        </a:spcBef>
                        <a:spcAft>
                          <a:spcPts val="0"/>
                        </a:spcAft>
                        <a:buClr>
                          <a:srgbClr val="000000"/>
                        </a:buClr>
                        <a:buSzPts val="1200"/>
                        <a:buFont typeface="Arial"/>
                        <a:buNone/>
                      </a:pPr>
                      <a:r>
                        <a:rPr b="1" lang="en-US" sz="1600" u="none" cap="none" strike="noStrike">
                          <a:solidFill>
                            <a:srgbClr val="FFFFFF"/>
                          </a:solidFill>
                          <a:latin typeface="Arial"/>
                          <a:ea typeface="Arial"/>
                          <a:cs typeface="Arial"/>
                          <a:sym typeface="Arial"/>
                        </a:rPr>
                        <a:t>Alert Dispatch Latency (cellular)</a:t>
                      </a:r>
                      <a:endParaRPr sz="1400" u="none" cap="none" strike="noStrike"/>
                    </a:p>
                  </a:txBody>
                  <a:tcPr marT="45725" marB="45725" marR="91450" marL="91450">
                    <a:solidFill>
                      <a:srgbClr val="0F2440"/>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lang="en-US" sz="1600" u="none" cap="none" strike="noStrike">
                          <a:solidFill>
                            <a:srgbClr val="22D3EE"/>
                          </a:solidFill>
                          <a:latin typeface="Arial"/>
                          <a:ea typeface="Arial"/>
                          <a:cs typeface="Arial"/>
                          <a:sym typeface="Arial"/>
                        </a:rPr>
                        <a:t>280ms</a:t>
                      </a:r>
                      <a:endParaRPr sz="1400" u="none" cap="none" strike="noStrike"/>
                    </a:p>
                  </a:txBody>
                  <a:tcPr marT="45725" marB="45725" marR="91450" marL="91450">
                    <a:solidFill>
                      <a:srgbClr val="0F2440"/>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0" lang="en-US" sz="1600" u="none" cap="none" strike="noStrike">
                          <a:solidFill>
                            <a:srgbClr val="CDD5E2"/>
                          </a:solidFill>
                          <a:latin typeface="Arial"/>
                          <a:ea typeface="Arial"/>
                          <a:cs typeface="Arial"/>
                          <a:sym typeface="Arial"/>
                        </a:rPr>
                        <a:t>Manual call bell</a:t>
                      </a:r>
                      <a:endParaRPr sz="1400" u="none" cap="none" strike="noStrike"/>
                    </a:p>
                  </a:txBody>
                  <a:tcPr marT="45725" marB="45725" marR="91450" marL="91450">
                    <a:solidFill>
                      <a:srgbClr val="0F2440"/>
                    </a:solidFill>
                  </a:tcPr>
                </a:tc>
              </a:tr>
              <a:tr h="411475">
                <a:tc>
                  <a:txBody>
                    <a:bodyPr/>
                    <a:lstStyle/>
                    <a:p>
                      <a:pPr indent="0" lvl="0" marL="0" marR="0" rtl="0" algn="l">
                        <a:lnSpc>
                          <a:spcPct val="100000"/>
                        </a:lnSpc>
                        <a:spcBef>
                          <a:spcPts val="0"/>
                        </a:spcBef>
                        <a:spcAft>
                          <a:spcPts val="0"/>
                        </a:spcAft>
                        <a:buClr>
                          <a:srgbClr val="000000"/>
                        </a:buClr>
                        <a:buSzPts val="1200"/>
                        <a:buFont typeface="Arial"/>
                        <a:buNone/>
                      </a:pPr>
                      <a:r>
                        <a:rPr b="1" lang="en-US" sz="1600" u="none" cap="none" strike="noStrike">
                          <a:solidFill>
                            <a:srgbClr val="FFFFFF"/>
                          </a:solidFill>
                          <a:latin typeface="Arial"/>
                          <a:ea typeface="Arial"/>
                          <a:cs typeface="Arial"/>
                          <a:sym typeface="Arial"/>
                        </a:rPr>
                        <a:t>Caregiver Response Latency</a:t>
                      </a:r>
                      <a:endParaRPr sz="1400" u="none" cap="none" strike="noStrike"/>
                    </a:p>
                  </a:txBody>
                  <a:tcPr marT="45725" marB="45725" marR="91450" marL="91450">
                    <a:solidFill>
                      <a:srgbClr val="050E1C"/>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lang="en-US" sz="1600" u="none" cap="none" strike="noStrike">
                          <a:solidFill>
                            <a:srgbClr val="22D3EE"/>
                          </a:solidFill>
                          <a:latin typeface="Arial"/>
                          <a:ea typeface="Arial"/>
                          <a:cs typeface="Arial"/>
                          <a:sym typeface="Arial"/>
                        </a:rPr>
                        <a:t>18.2 seconds</a:t>
                      </a:r>
                      <a:endParaRPr sz="1400" u="none" cap="none" strike="noStrike"/>
                    </a:p>
                  </a:txBody>
                  <a:tcPr marT="45725" marB="45725" marR="91450" marL="91450">
                    <a:solidFill>
                      <a:srgbClr val="050E1C"/>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0" lang="en-US" sz="1600" u="none" cap="none" strike="noStrike">
                          <a:solidFill>
                            <a:srgbClr val="CDD5E2"/>
                          </a:solidFill>
                          <a:latin typeface="Arial"/>
                          <a:ea typeface="Arial"/>
                          <a:cs typeface="Arial"/>
                          <a:sym typeface="Arial"/>
                        </a:rPr>
                        <a:t>4.2 minutes</a:t>
                      </a:r>
                      <a:endParaRPr sz="1400" u="none" cap="none" strike="noStrike"/>
                    </a:p>
                  </a:txBody>
                  <a:tcPr marT="45725" marB="45725" marR="91450" marL="91450">
                    <a:solidFill>
                      <a:srgbClr val="050E1C"/>
                    </a:solidFill>
                  </a:tcPr>
                </a:tc>
              </a:tr>
              <a:tr h="411475">
                <a:tc>
                  <a:txBody>
                    <a:bodyPr/>
                    <a:lstStyle/>
                    <a:p>
                      <a:pPr indent="0" lvl="0" marL="0" marR="0" rtl="0" algn="l">
                        <a:lnSpc>
                          <a:spcPct val="100000"/>
                        </a:lnSpc>
                        <a:spcBef>
                          <a:spcPts val="0"/>
                        </a:spcBef>
                        <a:spcAft>
                          <a:spcPts val="0"/>
                        </a:spcAft>
                        <a:buClr>
                          <a:srgbClr val="000000"/>
                        </a:buClr>
                        <a:buSzPts val="1200"/>
                        <a:buFont typeface="Arial"/>
                        <a:buNone/>
                      </a:pPr>
                      <a:r>
                        <a:rPr b="1" lang="en-US" sz="1600" u="none" cap="none" strike="noStrike">
                          <a:solidFill>
                            <a:srgbClr val="FFFFFF"/>
                          </a:solidFill>
                          <a:latin typeface="Arial"/>
                          <a:ea typeface="Arial"/>
                          <a:cs typeface="Arial"/>
                          <a:sym typeface="Arial"/>
                        </a:rPr>
                        <a:t>Flight Simulator Frame Rate</a:t>
                      </a:r>
                      <a:endParaRPr sz="1400" u="none" cap="none" strike="noStrike"/>
                    </a:p>
                  </a:txBody>
                  <a:tcPr marT="45725" marB="45725" marR="91450" marL="91450">
                    <a:solidFill>
                      <a:srgbClr val="0F2440"/>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lang="en-US" sz="1600" u="none" cap="none" strike="noStrike">
                          <a:solidFill>
                            <a:srgbClr val="22D3EE"/>
                          </a:solidFill>
                          <a:latin typeface="Arial"/>
                          <a:ea typeface="Arial"/>
                          <a:cs typeface="Arial"/>
                          <a:sym typeface="Arial"/>
                        </a:rPr>
                        <a:t>60 FPS</a:t>
                      </a:r>
                      <a:endParaRPr sz="1400" u="none" cap="none" strike="noStrike"/>
                    </a:p>
                  </a:txBody>
                  <a:tcPr marT="45725" marB="45725" marR="91450" marL="91450">
                    <a:solidFill>
                      <a:srgbClr val="0F2440"/>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0" lang="en-US" sz="1600" u="none" cap="none" strike="noStrike">
                          <a:solidFill>
                            <a:srgbClr val="CDD5E2"/>
                          </a:solidFill>
                          <a:latin typeface="Arial"/>
                          <a:ea typeface="Arial"/>
                          <a:cs typeface="Arial"/>
                          <a:sym typeface="Arial"/>
                        </a:rPr>
                        <a:t>30-45 FPS (WebVR)</a:t>
                      </a:r>
                      <a:endParaRPr sz="1400" u="none" cap="none" strike="noStrike"/>
                    </a:p>
                  </a:txBody>
                  <a:tcPr marT="45725" marB="45725" marR="91450" marL="91450">
                    <a:solidFill>
                      <a:srgbClr val="0F2440"/>
                    </a:solidFill>
                  </a:tcPr>
                </a:tc>
              </a:tr>
              <a:tr h="411475">
                <a:tc>
                  <a:txBody>
                    <a:bodyPr/>
                    <a:lstStyle/>
                    <a:p>
                      <a:pPr indent="0" lvl="0" marL="0" marR="0" rtl="0" algn="l">
                        <a:lnSpc>
                          <a:spcPct val="100000"/>
                        </a:lnSpc>
                        <a:spcBef>
                          <a:spcPts val="0"/>
                        </a:spcBef>
                        <a:spcAft>
                          <a:spcPts val="0"/>
                        </a:spcAft>
                        <a:buClr>
                          <a:srgbClr val="000000"/>
                        </a:buClr>
                        <a:buSzPts val="1200"/>
                        <a:buFont typeface="Arial"/>
                        <a:buNone/>
                      </a:pPr>
                      <a:r>
                        <a:rPr b="1" lang="en-US" sz="1600" u="none" cap="none" strike="noStrike">
                          <a:solidFill>
                            <a:srgbClr val="FFFFFF"/>
                          </a:solidFill>
                          <a:latin typeface="Arial"/>
                          <a:ea typeface="Arial"/>
                          <a:cs typeface="Arial"/>
                          <a:sym typeface="Arial"/>
                        </a:rPr>
                        <a:t>Client CPU Utilization</a:t>
                      </a:r>
                      <a:endParaRPr sz="1400" u="none" cap="none" strike="noStrike"/>
                    </a:p>
                  </a:txBody>
                  <a:tcPr marT="45725" marB="45725" marR="91450" marL="91450">
                    <a:solidFill>
                      <a:srgbClr val="050E1C"/>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lang="en-US" sz="1600" u="none" cap="none" strike="noStrike">
                          <a:solidFill>
                            <a:srgbClr val="22D3EE"/>
                          </a:solidFill>
                          <a:latin typeface="Arial"/>
                          <a:ea typeface="Arial"/>
                          <a:cs typeface="Arial"/>
                          <a:sym typeface="Arial"/>
                        </a:rPr>
                        <a:t>4.8-7.2%</a:t>
                      </a:r>
                      <a:endParaRPr sz="1400" u="none" cap="none" strike="noStrike"/>
                    </a:p>
                  </a:txBody>
                  <a:tcPr marT="45725" marB="45725" marR="91450" marL="91450">
                    <a:solidFill>
                      <a:srgbClr val="050E1C"/>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0" lang="en-US" sz="1600" u="none" cap="none" strike="noStrike">
                          <a:solidFill>
                            <a:srgbClr val="CDD5E2"/>
                          </a:solidFill>
                          <a:latin typeface="Arial"/>
                          <a:ea typeface="Arial"/>
                          <a:cs typeface="Arial"/>
                          <a:sym typeface="Arial"/>
                        </a:rPr>
                        <a:t>22-35% (Electron)</a:t>
                      </a:r>
                      <a:endParaRPr sz="1400" u="none" cap="none" strike="noStrike"/>
                    </a:p>
                  </a:txBody>
                  <a:tcPr marT="45725" marB="45725" marR="91450" marL="91450">
                    <a:solidFill>
                      <a:srgbClr val="050E1C"/>
                    </a:solidFill>
                  </a:tcPr>
                </a:tc>
              </a:tr>
              <a:tr h="411475">
                <a:tc>
                  <a:txBody>
                    <a:bodyPr/>
                    <a:lstStyle/>
                    <a:p>
                      <a:pPr indent="0" lvl="0" marL="0" marR="0" rtl="0" algn="l">
                        <a:lnSpc>
                          <a:spcPct val="100000"/>
                        </a:lnSpc>
                        <a:spcBef>
                          <a:spcPts val="0"/>
                        </a:spcBef>
                        <a:spcAft>
                          <a:spcPts val="0"/>
                        </a:spcAft>
                        <a:buClr>
                          <a:srgbClr val="000000"/>
                        </a:buClr>
                        <a:buSzPts val="1200"/>
                        <a:buFont typeface="Arial"/>
                        <a:buNone/>
                      </a:pPr>
                      <a:r>
                        <a:rPr b="1" lang="en-US" sz="1600" u="none" cap="none" strike="noStrike">
                          <a:solidFill>
                            <a:srgbClr val="FFFFFF"/>
                          </a:solidFill>
                          <a:latin typeface="Arial"/>
                          <a:ea typeface="Arial"/>
                          <a:cs typeface="Arial"/>
                          <a:sym typeface="Arial"/>
                        </a:rPr>
                        <a:t>Back Button Hit Rate</a:t>
                      </a:r>
                      <a:endParaRPr sz="1400" u="none" cap="none" strike="noStrike"/>
                    </a:p>
                  </a:txBody>
                  <a:tcPr marT="45725" marB="45725" marR="91450" marL="91450">
                    <a:solidFill>
                      <a:srgbClr val="0F2440"/>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lang="en-US" sz="1600" u="none" cap="none" strike="noStrike">
                          <a:solidFill>
                            <a:srgbClr val="22D3EE"/>
                          </a:solidFill>
                          <a:latin typeface="Arial"/>
                          <a:ea typeface="Arial"/>
                          <a:cs typeface="Arial"/>
                          <a:sym typeface="Arial"/>
                        </a:rPr>
                        <a:t>99.6%</a:t>
                      </a:r>
                      <a:endParaRPr sz="1400" u="none" cap="none" strike="noStrike"/>
                    </a:p>
                  </a:txBody>
                  <a:tcPr marT="45725" marB="45725" marR="91450" marL="91450">
                    <a:solidFill>
                      <a:srgbClr val="0F2440"/>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0" lang="en-US" sz="1600" u="none" cap="none" strike="noStrike">
                          <a:solidFill>
                            <a:srgbClr val="CDD5E2"/>
                          </a:solidFill>
                          <a:latin typeface="Arial"/>
                          <a:ea typeface="Arial"/>
                          <a:cs typeface="Arial"/>
                          <a:sym typeface="Arial"/>
                        </a:rPr>
                        <a:t>74.3%</a:t>
                      </a:r>
                      <a:endParaRPr sz="1400" u="none" cap="none" strike="noStrike"/>
                    </a:p>
                  </a:txBody>
                  <a:tcPr marT="45725" marB="45725" marR="91450" marL="91450">
                    <a:solidFill>
                      <a:srgbClr val="0F2440"/>
                    </a:solidFill>
                  </a:tcPr>
                </a:tc>
              </a:tr>
              <a:tr h="411475">
                <a:tc>
                  <a:txBody>
                    <a:bodyPr/>
                    <a:lstStyle/>
                    <a:p>
                      <a:pPr indent="0" lvl="0" marL="0" marR="0" rtl="0" algn="l">
                        <a:lnSpc>
                          <a:spcPct val="100000"/>
                        </a:lnSpc>
                        <a:spcBef>
                          <a:spcPts val="0"/>
                        </a:spcBef>
                        <a:spcAft>
                          <a:spcPts val="0"/>
                        </a:spcAft>
                        <a:buClr>
                          <a:srgbClr val="000000"/>
                        </a:buClr>
                        <a:buSzPts val="1200"/>
                        <a:buFont typeface="Arial"/>
                        <a:buNone/>
                      </a:pPr>
                      <a:r>
                        <a:rPr b="1" lang="en-US" sz="1600" u="none" cap="none" strike="noStrike">
                          <a:solidFill>
                            <a:srgbClr val="FFFFFF"/>
                          </a:solidFill>
                          <a:latin typeface="Arial"/>
                          <a:ea typeface="Arial"/>
                          <a:cs typeface="Arial"/>
                          <a:sym typeface="Arial"/>
                        </a:rPr>
                        <a:t>System Usability Scale (SUS)</a:t>
                      </a:r>
                      <a:endParaRPr sz="1400" u="none" cap="none" strike="noStrike"/>
                    </a:p>
                  </a:txBody>
                  <a:tcPr marT="45725" marB="45725" marR="91450" marL="91450">
                    <a:solidFill>
                      <a:srgbClr val="050E1C"/>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lang="en-US" sz="1600" u="none" cap="none" strike="noStrike">
                          <a:solidFill>
                            <a:srgbClr val="22D3EE"/>
                          </a:solidFill>
                          <a:latin typeface="Arial"/>
                          <a:ea typeface="Arial"/>
                          <a:cs typeface="Arial"/>
                          <a:sym typeface="Arial"/>
                        </a:rPr>
                        <a:t>91.5 / 100 (A+)</a:t>
                      </a:r>
                      <a:endParaRPr sz="1400" u="none" cap="none" strike="noStrike"/>
                    </a:p>
                  </a:txBody>
                  <a:tcPr marT="45725" marB="45725" marR="91450" marL="91450">
                    <a:solidFill>
                      <a:srgbClr val="050E1C"/>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0" lang="en-US" sz="1600" u="none" cap="none" strike="noStrike">
                          <a:solidFill>
                            <a:srgbClr val="CDD5E2"/>
                          </a:solidFill>
                          <a:latin typeface="Arial"/>
                          <a:ea typeface="Arial"/>
                          <a:cs typeface="Arial"/>
                          <a:sym typeface="Arial"/>
                        </a:rPr>
                        <a:t>68.4 / 100</a:t>
                      </a:r>
                      <a:endParaRPr sz="1400" u="none" cap="none" strike="noStrike"/>
                    </a:p>
                  </a:txBody>
                  <a:tcPr marT="45725" marB="45725" marR="91450" marL="91450">
                    <a:solidFill>
                      <a:srgbClr val="050E1C"/>
                    </a:solidFill>
                  </a:tcPr>
                </a:tc>
              </a:tr>
            </a:tbl>
          </a:graphicData>
        </a:graphic>
      </p:graphicFrame>
      <p:sp>
        <p:nvSpPr>
          <p:cNvPr id="1396" name="Google Shape;1396;p43"/>
          <p:cNvSpPr/>
          <p:nvPr/>
        </p:nvSpPr>
        <p:spPr>
          <a:xfrm>
            <a:off x="502920" y="6355080"/>
            <a:ext cx="11155680" cy="411480"/>
          </a:xfrm>
          <a:prstGeom prst="roundRect">
            <a:avLst>
              <a:gd fmla="val 16667" name="adj"/>
            </a:avLst>
          </a:prstGeom>
          <a:solidFill>
            <a:srgbClr val="0F2440"/>
          </a:solidFill>
          <a:ln cap="flat" cmpd="sng" w="9525">
            <a:solidFill>
              <a:srgbClr val="22D3EE"/>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97" name="Google Shape;1397;p43"/>
          <p:cNvSpPr txBox="1"/>
          <p:nvPr/>
        </p:nvSpPr>
        <p:spPr>
          <a:xfrm>
            <a:off x="685800" y="6382512"/>
            <a:ext cx="10789920" cy="36576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450" u="none" cap="none" strike="noStrike">
                <a:solidFill>
                  <a:srgbClr val="FFFFFF"/>
                </a:solidFill>
                <a:latin typeface="Inter"/>
                <a:ea typeface="Inter"/>
                <a:cs typeface="Inter"/>
                <a:sym typeface="Inter"/>
              </a:rPr>
              <a:t>87.2% reduction in caregiver response time. In a choking emergency, that's the difference between life and death.</a:t>
            </a:r>
            <a:endParaRPr b="0" i="0" sz="1400" u="none" cap="none" strike="noStrike">
              <a:solidFill>
                <a:srgbClr val="000000"/>
              </a:solidFill>
              <a:latin typeface="Arial"/>
              <a:ea typeface="Arial"/>
              <a:cs typeface="Arial"/>
              <a:sym typeface="Arial"/>
            </a:endParaRPr>
          </a:p>
        </p:txBody>
      </p:sp>
    </p:spTree>
  </p:cSld>
  <p:clrMapOvr>
    <a:masterClrMapping/>
  </p:clrMapOvr>
  <p:transition spd="med">
    <p:fade/>
  </p:transition>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2" name="Shape 1402"/>
        <p:cNvGrpSpPr/>
        <p:nvPr/>
      </p:nvGrpSpPr>
      <p:grpSpPr>
        <a:xfrm>
          <a:off x="0" y="0"/>
          <a:ext cx="0" cy="0"/>
          <a:chOff x="0" y="0"/>
          <a:chExt cx="0" cy="0"/>
        </a:xfrm>
      </p:grpSpPr>
      <p:sp>
        <p:nvSpPr>
          <p:cNvPr id="1403" name="Google Shape;1403;p40"/>
          <p:cNvSpPr/>
          <p:nvPr/>
        </p:nvSpPr>
        <p:spPr>
          <a:xfrm>
            <a:off x="502920" y="27432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1100"/>
              <a:buFont typeface="Calibri"/>
              <a:buNone/>
            </a:pPr>
            <a:r>
              <a:rPr b="1" i="0" lang="en-US" sz="1150" u="none" cap="none" strike="noStrike">
                <a:solidFill>
                  <a:srgbClr val="22D3EE"/>
                </a:solidFill>
                <a:latin typeface="Inter"/>
                <a:ea typeface="Inter"/>
                <a:cs typeface="Inter"/>
                <a:sym typeface="Inter"/>
              </a:rPr>
              <a:t>● </a:t>
            </a:r>
            <a:r>
              <a:rPr b="1" i="0" lang="en-US" sz="1150" u="none" cap="none" strike="noStrike">
                <a:solidFill>
                  <a:srgbClr val="94A3B8"/>
                </a:solidFill>
                <a:latin typeface="Inter"/>
                <a:ea typeface="Inter"/>
                <a:cs typeface="Inter"/>
                <a:sym typeface="Inter"/>
              </a:rPr>
              <a:t>IRIS</a:t>
            </a:r>
            <a:endParaRPr b="0" i="0" sz="1100" u="none" cap="none" strike="noStrike">
              <a:solidFill>
                <a:schemeClr val="dk1"/>
              </a:solidFill>
              <a:latin typeface="Calibri"/>
              <a:ea typeface="Calibri"/>
              <a:cs typeface="Calibri"/>
              <a:sym typeface="Calibri"/>
            </a:endParaRPr>
          </a:p>
        </p:txBody>
      </p:sp>
      <p:sp>
        <p:nvSpPr>
          <p:cNvPr id="1404" name="Google Shape;1404;p40"/>
          <p:cNvSpPr/>
          <p:nvPr/>
        </p:nvSpPr>
        <p:spPr>
          <a:xfrm>
            <a:off x="502920" y="847902"/>
            <a:ext cx="10515600" cy="329184"/>
          </a:xfrm>
          <a:prstGeom prst="rect">
            <a:avLst/>
          </a:prstGeom>
          <a:solidFill>
            <a:srgbClr val="22D3EE">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05" name="Google Shape;1405;p40"/>
          <p:cNvSpPr/>
          <p:nvPr/>
        </p:nvSpPr>
        <p:spPr>
          <a:xfrm>
            <a:off x="4354490" y="1602982"/>
            <a:ext cx="73152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D3EE"/>
              </a:buClr>
              <a:buSzPts val="4400"/>
              <a:buFont typeface="Calibri"/>
              <a:buNone/>
            </a:pPr>
            <a:r>
              <a:rPr b="1" i="0" lang="en-US" sz="4400" u="none" cap="none" strike="noStrike">
                <a:solidFill>
                  <a:srgbClr val="22D3EE"/>
                </a:solidFill>
                <a:latin typeface="Inter"/>
                <a:ea typeface="Inter"/>
                <a:cs typeface="Inter"/>
                <a:sym typeface="Inter"/>
              </a:rPr>
              <a:t>THANK YOU</a:t>
            </a:r>
            <a:endParaRPr b="0" i="0" sz="4400" u="none" cap="none" strike="noStrike">
              <a:solidFill>
                <a:schemeClr val="dk1"/>
              </a:solidFill>
              <a:latin typeface="Calibri"/>
              <a:ea typeface="Calibri"/>
              <a:cs typeface="Calibri"/>
              <a:sym typeface="Calibri"/>
            </a:endParaRPr>
          </a:p>
        </p:txBody>
      </p:sp>
      <p:sp>
        <p:nvSpPr>
          <p:cNvPr id="1406" name="Google Shape;1406;p40"/>
          <p:cNvSpPr/>
          <p:nvPr/>
        </p:nvSpPr>
        <p:spPr>
          <a:xfrm>
            <a:off x="502920" y="2036622"/>
            <a:ext cx="11185855" cy="11887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4000"/>
              <a:buFont typeface="Arial"/>
              <a:buNone/>
            </a:pPr>
            <a:r>
              <a:rPr b="1" i="1" lang="en-US" sz="4000" u="none" cap="none" strike="noStrike">
                <a:solidFill>
                  <a:srgbClr val="FFFFFF"/>
                </a:solidFill>
                <a:latin typeface="Inter"/>
                <a:ea typeface="Inter"/>
                <a:cs typeface="Inter"/>
                <a:sym typeface="Inter"/>
              </a:rPr>
              <a:t>Technology should be a bridge, not a wall.</a:t>
            </a:r>
            <a:endParaRPr b="0" i="0" sz="4000" u="none" cap="none" strike="noStrike">
              <a:solidFill>
                <a:schemeClr val="dk1"/>
              </a:solidFill>
              <a:latin typeface="Calibri"/>
              <a:ea typeface="Calibri"/>
              <a:cs typeface="Calibri"/>
              <a:sym typeface="Calibri"/>
            </a:endParaRPr>
          </a:p>
        </p:txBody>
      </p:sp>
      <p:sp>
        <p:nvSpPr>
          <p:cNvPr id="1407" name="Google Shape;1407;p40"/>
          <p:cNvSpPr/>
          <p:nvPr/>
        </p:nvSpPr>
        <p:spPr>
          <a:xfrm>
            <a:off x="5410048" y="3316782"/>
            <a:ext cx="1371600" cy="36576"/>
          </a:xfrm>
          <a:prstGeom prst="rect">
            <a:avLst/>
          </a:prstGeom>
          <a:solidFill>
            <a:srgbClr val="22D3E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08" name="Google Shape;1408;p40"/>
          <p:cNvSpPr/>
          <p:nvPr/>
        </p:nvSpPr>
        <p:spPr>
          <a:xfrm>
            <a:off x="502920" y="3682542"/>
            <a:ext cx="11185855"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D3EE"/>
              </a:buClr>
              <a:buSzPts val="1800"/>
              <a:buFont typeface="Arial"/>
              <a:buNone/>
            </a:pPr>
            <a:r>
              <a:rPr b="1" i="0" lang="en-US" sz="1800" u="none" cap="none" strike="noStrike">
                <a:solidFill>
                  <a:srgbClr val="22D3EE"/>
                </a:solidFill>
                <a:latin typeface="Inter"/>
                <a:ea typeface="Inter"/>
                <a:cs typeface="Inter"/>
                <a:sym typeface="Inter"/>
              </a:rPr>
              <a:t>IRIS — built by Ayushman Choudhary.</a:t>
            </a:r>
            <a:endParaRPr b="0" i="0" sz="1800" u="none" cap="none" strike="noStrike">
              <a:solidFill>
                <a:schemeClr val="dk1"/>
              </a:solidFill>
              <a:latin typeface="Calibri"/>
              <a:ea typeface="Calibri"/>
              <a:cs typeface="Calibri"/>
              <a:sym typeface="Calibri"/>
            </a:endParaRPr>
          </a:p>
        </p:txBody>
      </p:sp>
      <p:sp>
        <p:nvSpPr>
          <p:cNvPr id="1409" name="Google Shape;1409;p40"/>
          <p:cNvSpPr/>
          <p:nvPr/>
        </p:nvSpPr>
        <p:spPr>
          <a:xfrm>
            <a:off x="502920" y="4185462"/>
            <a:ext cx="11185855"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7C5D6"/>
              </a:buClr>
              <a:buSzPts val="1400"/>
              <a:buFont typeface="Calibri"/>
              <a:buNone/>
            </a:pPr>
            <a:r>
              <a:rPr b="0" i="1" lang="en-US" sz="1800" u="none" cap="none" strike="noStrike">
                <a:solidFill>
                  <a:srgbClr val="B7C5D6"/>
                </a:solidFill>
                <a:latin typeface="Inter"/>
                <a:ea typeface="Inter"/>
                <a:cs typeface="Inter"/>
                <a:sym typeface="Inter"/>
              </a:rPr>
              <a:t>Headband, glasses, and a mission: independence for everyone who needs it.</a:t>
            </a:r>
            <a:endParaRPr b="0" i="0" sz="1400" u="none" cap="none" strike="noStrike">
              <a:solidFill>
                <a:schemeClr val="dk1"/>
              </a:solidFill>
              <a:latin typeface="Calibri"/>
              <a:ea typeface="Calibri"/>
              <a:cs typeface="Calibri"/>
              <a:sym typeface="Calibri"/>
            </a:endParaRPr>
          </a:p>
        </p:txBody>
      </p:sp>
      <p:sp>
        <p:nvSpPr>
          <p:cNvPr id="1410" name="Google Shape;1410;p40"/>
          <p:cNvSpPr/>
          <p:nvPr/>
        </p:nvSpPr>
        <p:spPr>
          <a:xfrm>
            <a:off x="502920" y="6105702"/>
            <a:ext cx="11185855"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transition spd="med">
    <p:fade/>
  </p:transition>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2026-08-19T14:14:33Z</dcterms:created>
  <dc:creator>Ayushman Choudhary</dc:creator>
</cp:coreProperties>
</file>